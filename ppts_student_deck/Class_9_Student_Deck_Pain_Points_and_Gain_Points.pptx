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ZENITH SCHOOL OF AI · CUSTOMER DISCOVERY · CLASS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2371725"/>
            <a:ext cx="16192500" cy="2390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900" b="1" i="0" spc="-346">
                <a:solidFill>
                  <a:srgbClr val="F5F1E9"/>
                </a:solidFill>
                <a:latin typeface="Arial"/>
              </a:rPr>
              <a:t>Pain Points and Gain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5181600"/>
            <a:ext cx="123825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900" b="0" i="1">
                <a:solidFill>
                  <a:srgbClr val="C1B5AB"/>
                </a:solidFill>
                <a:latin typeface="Georgia"/>
              </a:rPr>
              <a:t>A customer running away from something and a customer running towards something are two different customers.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7750" y="8877300"/>
            <a:ext cx="16192500" cy="19050"/>
          </a:xfrm>
          <a:prstGeom prst="rect">
            <a:avLst/>
          </a:prstGeom>
          <a:solidFill>
            <a:srgbClr val="504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9239250"/>
            <a:ext cx="144452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AEA298"/>
                </a:solidFill>
                <a:latin typeface="Arial"/>
              </a:rPr>
              <a:t>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4726" y="9239250"/>
            <a:ext cx="147414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AEA298"/>
                </a:solidFill>
                <a:latin typeface="Arial"/>
              </a:rPr>
              <a:t>Gain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1318" y="9239250"/>
            <a:ext cx="367873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AEA298"/>
                </a:solidFill>
                <a:latin typeface="Arial"/>
              </a:rPr>
              <a:t>The Value Proposition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02502" y="9239250"/>
            <a:ext cx="39156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AEA298"/>
                </a:solidFill>
                <a:latin typeface="Arial"/>
              </a:rPr>
              <a:t>Fit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WHERE WE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Five tools. Not one of them has your product in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933825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The persona and the empathy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933950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One named human being, and the four things true in their head at a single moment.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933825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The journey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933950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The same person across a sequence, with the friction marked at the step where it happened.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933825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Today, both halves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933950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What they are running from, what they are running towards — and then, finally, your idea.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8439150"/>
            <a:ext cx="161925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Five tools describe the customer. The sixth one finally asks what you are going to do about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EF806F"/>
                </a:solidFill>
                <a:latin typeface="Arial"/>
              </a:rPr>
              <a:t>PAUSE AND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4500" y="4314825"/>
            <a:ext cx="1485900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0" b="1" i="0" spc="-250">
                <a:solidFill>
                  <a:srgbClr val="F5F1E9"/>
                </a:solidFill>
                <a:latin typeface="Arial"/>
              </a:rPr>
              <a:t>What is the most annoying part of getting around your city?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EIGHT MOST PEOPLE NAME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You just produced eight pain points in ninety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933825"/>
            <a:ext cx="37623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Too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724400"/>
            <a:ext cx="3762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Functional. Costs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91125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91125" y="3933825"/>
            <a:ext cx="37623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Takes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1125" y="4724400"/>
            <a:ext cx="3762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Functional. Costs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3450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0" y="3933825"/>
            <a:ext cx="37623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Never available when you need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0" y="4724400"/>
            <a:ext cx="3762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Functional. Costs certainty.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77875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77875" y="3933825"/>
            <a:ext cx="37623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The argument about the fare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77875" y="4724400"/>
            <a:ext cx="3762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Nobody said this one out loud.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843915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Nobody here has been taught the phrase 'pain point'. Customers are not shy about them — they hand you this list for 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6029325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CASE STUDY · BANGALORE, 2010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6581775"/>
            <a:ext cx="1619250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900" b="1" i="0" spc="-450">
                <a:solidFill>
                  <a:srgbClr val="F5F1E9"/>
                </a:solidFill>
                <a:latin typeface="Arial"/>
              </a:rPr>
              <a:t>The side of a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8086725"/>
            <a:ext cx="14287500" cy="1247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900" b="0" i="1">
                <a:solidFill>
                  <a:srgbClr val="C1B5AB"/>
                </a:solidFill>
                <a:latin typeface="Georgia"/>
              </a:rPr>
              <a:t>Six kilometres away in forty minutes, no app on your phone, and your hand in the 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2010 · NO APP EXISTS FOR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One ride, six separate things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16192500" cy="10858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2550" y="2933700"/>
            <a:ext cx="367665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Three pass, the fourth stops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933700"/>
            <a:ext cx="1137285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He tilts his head at the destination, says nothing, and drives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4076700"/>
            <a:ext cx="16192500" cy="10858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4171950"/>
            <a:ext cx="367665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The fifth names a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2600" y="4171950"/>
            <a:ext cx="1137285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Roughly double what the meter would have read, which he has not agreed to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7750" y="5314950"/>
            <a:ext cx="16192500" cy="1057275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2550" y="5410200"/>
            <a:ext cx="3676650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You say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2600" y="5410200"/>
            <a:ext cx="11372850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Twenty-eight minutes left and the sun directly overhead. You are losing a negotiation you started from behind.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750" y="6524625"/>
            <a:ext cx="16192500" cy="7620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2550" y="6619875"/>
            <a:ext cx="3676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He stops for fuel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6619875"/>
            <a:ext cx="113728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With you sitting in the back, watching the twenty-eight minutes become twenty-one.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7439025"/>
            <a:ext cx="16192500" cy="7620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2550" y="7534275"/>
            <a:ext cx="3676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No change at the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2600" y="7534275"/>
            <a:ext cx="113728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The fare quietly rises again by ten rupees. You get 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7750" y="8353425"/>
            <a:ext cx="16192500" cy="10858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2550" y="8448675"/>
            <a:ext cx="367665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And it happened in 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2600" y="8448675"/>
            <a:ext cx="1137285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Sometimes in front of your mother, sometimes in front of a colleague. You lost the argument in front of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SORT THESE · FUNCTIONAL, EMOTIONAL OR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Six problems. They are not the same kind of 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3629025"/>
            <a:ext cx="6096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WENT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8100" y="3629025"/>
            <a:ext cx="5905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IT REALLY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11250" y="3629025"/>
            <a:ext cx="2857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4076700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418147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Not knowing whether a ride was coming at all, or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8100" y="418147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Uncertainty about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0" y="418147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49815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7750" y="49815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507682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Discovering the price inside a negotiation you were losing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8100" y="507682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Price opacity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1250" y="507682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58769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4450" y="597217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Being refused, for reasons never explained to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8100" y="597217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Somebody else's discretion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0" y="597217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750" y="67722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7750" y="67722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4450" y="686752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The fare moving after the ride was over, for want of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8100" y="686752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A small, reliable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0" y="686752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7750" y="76676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50" y="776287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Nobody knowing where you were, or with whom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100" y="776287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Unmanaged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1250" y="776287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7750" y="85629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7750" y="85629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14450" y="865822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Losing an argument on a public road, in front of somebody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8100" y="865822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You lost it in front of them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11250" y="865822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Six problems. They are not the same kind of 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3629025"/>
            <a:ext cx="6096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WENT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8100" y="3629025"/>
            <a:ext cx="5905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IT REALLY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11250" y="3629025"/>
            <a:ext cx="2857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4076700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418147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Not knowing whether a ride was coming at all, or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8100" y="418147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Uncertainty about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0" y="418147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Functional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49815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7750" y="49815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507682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Discovering the price inside a negotiation you were losing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8100" y="507682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Price opacity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1250" y="507682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Functional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58769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4450" y="597217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Being refused, for reasons never explained to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8100" y="597217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Somebody else's discretion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0" y="597217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Emotional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750" y="67722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7750" y="67722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4450" y="686752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The fare moving after the ride was over, for want of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8100" y="686752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A small, reliable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0" y="686752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Functional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7750" y="76676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50" y="776287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Nobody knowing where you were, or with whom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100" y="776287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Unmanaged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1250" y="776287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Emotional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7750" y="85629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7750" y="85629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14450" y="8658225"/>
            <a:ext cx="6096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Losing an argument on a public road, in front of somebody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8100" y="8658225"/>
            <a:ext cx="5905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You lost it in front of them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11250" y="8658225"/>
            <a:ext cx="28575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Social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FRAMEWORK 1 · KEEP THESE COLOURS THROUGHOUT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Three types of pain, and only one of them gets said out 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3629025"/>
            <a:ext cx="2857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0" y="3629025"/>
            <a:ext cx="5334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IT COSTS THE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0" y="3629025"/>
            <a:ext cx="6667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FROM THE 2010 ROAD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4076700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4181475"/>
            <a:ext cx="28575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4181475"/>
            <a:ext cx="53340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Time, money, effort, steps, things that do not work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0" y="4181475"/>
            <a:ext cx="66675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Twice the meter rate; no change at the end; forty minutes of your day gone on six kilometres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5848350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7750" y="5848350"/>
            <a:ext cx="16192500" cy="176212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5943600"/>
            <a:ext cx="28575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Emotional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5943600"/>
            <a:ext cx="53340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Anxiety, frustration, helplessness, fear, feeling stupid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0" y="5943600"/>
            <a:ext cx="66675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Not knowing whether a ride is coming; not knowing whether the price is fair; no idea who is driving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76104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4450" y="7705725"/>
            <a:ext cx="28575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00" y="7705725"/>
            <a:ext cx="53340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How the customer believes they look to other 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0" y="7705725"/>
            <a:ext cx="6667500" cy="1571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Losing an argument on a public road in front of your mother, your colleague, or somebody you wanted to impress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LAST WEEK VERSUS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Friction is yours. A pain was already theirs.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2838450"/>
            <a:ext cx="3238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838450"/>
            <a:ext cx="5524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FRICTION (LECTURE 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0" y="2838450"/>
            <a:ext cx="6096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PAIN (TODAY)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3286125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3390900"/>
            <a:ext cx="32385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Where it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390900"/>
            <a:ext cx="55245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At a step inside YOUR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0" y="3390900"/>
            <a:ext cx="60960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In the customer's life, whether you exist or not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53244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7750" y="5324475"/>
            <a:ext cx="16192500" cy="202882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5419725"/>
            <a:ext cx="32385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Who can see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5419725"/>
            <a:ext cx="55245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You can, in your own data — drop-offs, delays, complaints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0" y="5419725"/>
            <a:ext cx="60960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Only the customer can, until you 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7353300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4450" y="7448550"/>
            <a:ext cx="32385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If they stop using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7448550"/>
            <a:ext cx="55245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It disappears. It was yours.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0" y="7448550"/>
            <a:ext cx="6096000" cy="1838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It is still there. It was theirs.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Bhavish Aggarwal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IIT Bombay, 2008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14337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Computer science. Then Microsoft Research in Bangalore — two years, two patents filed, three research papers published.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He left to sell weekend trips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14337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Olatrip.com: holiday packages and getaways booked online, for people leaving Bangalore on a Friday evening.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A travel agent with a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143375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That is all it was. Nothing about it suggested the company that came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EF806F"/>
                </a:solidFill>
                <a:latin typeface="Arial"/>
              </a:rPr>
              <a:t>BANGALORE TO BANDIPUR · FIVE AND A HALF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4500" y="4276725"/>
            <a:ext cx="14859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500" b="1" i="0" spc="-200">
                <a:solidFill>
                  <a:srgbClr val="F5F1E9"/>
                </a:solidFill>
                <a:latin typeface="Arial"/>
              </a:rPr>
              <a:t>Somewhere in the middle of the journey the driver stopped the car and said the agreed fare was no longer the fare.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BEFORE YOU SAY 'THERE WAS NOTHING'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Radio taxis already existed, and they were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Meru Cabs, from about 2006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143375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Metered fares, printed receipts, a call centre. A genuine improvement on the road, and not a small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Expensive and thin on the 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143375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Something you booked hours in advance, usually for an airport run rather than for getting across town.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The volume was somewhere else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14337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The ordinary six-kilometre trip somebody needed in the next four minutes had not been addressed at 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843915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'There was nothing before' is almost never true. Ask instead which customer the existing answer was built for.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OLACABS · THE FIRST SIX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A six-person company answering its own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3219450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3 Dec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4114800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incorporated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4657725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Ankit Bhati, also IIT Bombay, joined that November and built the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2250" y="2838450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1350" y="3219450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1350" y="4114800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founding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350" y="4657725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That is the entire company in the first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96750" y="2838450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15850" y="3219450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$330,000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15850" y="4114800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angel round, April 2011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15850" y="4657725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From Kunal Bahl of Snapdeal, with Anupam Mittal and Rehan Yar Khan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828675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It did not start with a technology insight or a market-size spreadsheet. It started with an itemised list of things that were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READ THE PRODUCT AS A REPLY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Six pains. Guess what Ola built against each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3629025"/>
            <a:ext cx="6858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THE PAIN,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0100" y="3629025"/>
            <a:ext cx="8096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OLA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7750" y="4076700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418147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You did not know whether a ride was coming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0100" y="418147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7750" y="49815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7750" y="49815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507682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You did not know what it would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507682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750" y="58769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50" y="597217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You could be refused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0100" y="597217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67722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750" y="67722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4450" y="686752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The fare moved at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686752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750" y="76676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50" y="776287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Nobody knew where you were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776287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7750" y="85629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85629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4450" y="865822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The argument in 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0100" y="865822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Six pains. Six mechanisms. Not a slogan among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3629025"/>
            <a:ext cx="6858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THE PAIN,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0100" y="3629025"/>
            <a:ext cx="8096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OLA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7750" y="4076700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4450" y="418147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You did not know whether a ride was coming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0100" y="418147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A map with a car moving towards you, and a number of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7750" y="49815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7750" y="49815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507682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You did not know what it would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507682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The fare shown before you booked — the company takes the traffic risk onto its own books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750" y="58769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50" y="597217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You could be refused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0100" y="597217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The driver accepts before knowing much, and cancelling has a cost attached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67722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750" y="67722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4450" y="686752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The fare moved at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686752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Cashless payment. No change, no rounding up, no negotiation on the pavement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750" y="76676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50" y="776287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Nobody knew where you were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776287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A name, a photograph, a registration number, and a trip you could share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7750" y="85629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8562975"/>
            <a:ext cx="16192500" cy="8953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4450" y="8658225"/>
            <a:ext cx="68580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The argument in 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0100" y="8658225"/>
            <a:ext cx="8096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The price was agreed by a machine before anybody arrived. Nothing left to argue about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AND THREE THINGS THAT WERE NOT THE ABSENCE OF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Nobody complained about these, because nobody had ever had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933825"/>
            <a:ext cx="5143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543425"/>
            <a:ext cx="51435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Watching a car come towards you on a map is not the removal of a wait. It is the addition of a feeling that you are the one arranging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933825"/>
            <a:ext cx="5143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543425"/>
            <a:ext cx="51435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For a very large number of Indians, the first time a booked cab carried their name was the first time they were treated as a customer rather than as somebody asking a favour.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933825"/>
            <a:ext cx="5143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A small social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54342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Arriving in a booked cab said something slightly different about you than arriving after an argument with an auto driver.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843915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If removing pain were the whole story, a ride-hailing app would be a utility — useful, unloved, and switched the moment something cheaper appeared.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HOW TO TELL A GAIN FROM A RELIEVED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The test is behavioural, not verbal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16192500" cy="20764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2550" y="2933700"/>
            <a:ext cx="3676650" cy="1885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Watch the dot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933700"/>
            <a:ext cx="11372850" cy="1885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People check the moving car far more often than the information justifies. If it were only information, they would look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5067300"/>
            <a:ext cx="16192500" cy="20764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5162550"/>
            <a:ext cx="3676650" cy="1885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The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2600" y="5162550"/>
            <a:ext cx="11372850" cy="1885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A feature used far more often than its informational content justifies is usually delivering a feeling.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7750" y="7296150"/>
            <a:ext cx="16192500" cy="20764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2550" y="7391400"/>
            <a:ext cx="3676650" cy="1885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Why it matters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2600" y="7391400"/>
            <a:ext cx="11372850" cy="1885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That feeling is the thing worth protecting when somebody proposes removing the feature to save money.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EF806F"/>
                </a:solidFill>
                <a:latin typeface="Arial"/>
              </a:rPr>
              <a:t>PAUSE AND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4500" y="3733800"/>
            <a:ext cx="14859000" cy="2828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700" b="1" i="0" spc="-250">
                <a:solidFill>
                  <a:srgbClr val="F5F1E9"/>
                </a:solidFill>
                <a:latin typeface="Arial"/>
              </a:rPr>
              <a:t>Ola built its brand on how bad autos were. Then it launched Ola Auto and put autos on the app. How does that make any sense?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GO BACK AND CHECK THE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Not one of the six pains was about the vehicle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7905750" cy="5372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3219450"/>
            <a:ext cx="7067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C35141"/>
                </a:solidFill>
                <a:latin typeface="Arial"/>
              </a:rPr>
              <a:t>WHAT THE SIX PAINS WERE ACTUALLY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3933825"/>
            <a:ext cx="7067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The price you could not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4514850"/>
            <a:ext cx="7067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The refusal you could not predict.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5095875"/>
            <a:ext cx="7067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The wait you could not bound.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5676900"/>
            <a:ext cx="7067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The change he did not have.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50" y="6257925"/>
            <a:ext cx="7067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The stranger nobody could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6838950"/>
            <a:ext cx="7067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The argument you had in public.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34500" y="2838450"/>
            <a:ext cx="7905750" cy="537210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3600" y="3219450"/>
            <a:ext cx="7067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EF806F"/>
                </a:solidFill>
                <a:latin typeface="Arial"/>
              </a:rPr>
              <a:t>SO FIX THE 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0" y="3933825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Every one of them is about the transaction, not the machine.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0" y="4838700"/>
            <a:ext cx="706755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Fix the transaction and the three-wheeler is fine — cheaper, better in traffic, and for short distances the thing the customer wanted all along.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3600" y="6076950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A company that read this wrongly would have built a nicer car.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8382000"/>
            <a:ext cx="161925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The object the customer complains near is rarely the thing they are complaining about.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AN HONEST NUMBER TO END THE SECTION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Relief moved tens of millions of people. It did not build a wall.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4010025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₹2,844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4905375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FY20 mobility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5448300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The business at close to its peak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2250" y="3629025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1350" y="4010025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₹2,800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1350" y="4905375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FY24 mobility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350" y="5448300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Four years later, at about the same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96750" y="3629025"/>
            <a:ext cx="5143500" cy="3524250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15850" y="4010025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F5F1E9"/>
                </a:solidFill>
                <a:latin typeface="Arial"/>
              </a:rPr>
              <a:t>$2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15850" y="4905375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5F1E9"/>
                </a:solidFill>
                <a:latin typeface="Arial"/>
              </a:rPr>
              <a:t>valuation, Nov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15850" y="5448300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F5F1E9"/>
                </a:solidFill>
                <a:latin typeface="Arial"/>
              </a:rPr>
              <a:t>Well below its peak, after a pandemic and aggressive competition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828675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Relieving pain built a market of tens of millions in a handful of years. It did not, on its own, build a position that could not be attacked.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6029325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CASE STUDY · GIRGAON, 1942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6581775"/>
            <a:ext cx="1619250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900" b="1" i="0" spc="-450">
                <a:solidFill>
                  <a:srgbClr val="F5F1E9"/>
                </a:solidFill>
                <a:latin typeface="Arial"/>
              </a:rPr>
              <a:t>Asian Paints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8086725"/>
            <a:ext cx="14287500" cy="1247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900" b="0" i="1">
                <a:solidFill>
                  <a:srgbClr val="C1B5AB"/>
                </a:solidFill>
                <a:latin typeface="Georgia"/>
              </a:rPr>
              <a:t>Four friends in a garage, a war that stopped imports, and eighty years spent on the other half of the canvas.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FEBRUARY 1942 · GAIWADI, GIRGAON, BOMBAY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Four friends started making paint in a garage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Champaklal, Chimanlal, Suryakant and Arvind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143375"/>
            <a:ext cx="51435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Two Chokseys, a Dani and a Vakil. The Second World War had restricted imports and the foreign paint companies serving India were short of stock.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Largest in the country by 1967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143375"/>
            <a:ext cx="5143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Twenty-five years from a garage to the biggest paint manufacturer in India.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Still roughly half the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14337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About half of India's decorative paint market today — a share now under real attack from new entrants.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843915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Paint looks like a product business. It is a pain-and-gain business, and this company worked on both halves for eighty years.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PAINT HAS ALMOST NOTHING TO DO WITH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What the customer is escaping, and what they are actually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7905750" cy="4581525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4010025"/>
            <a:ext cx="70675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C35141"/>
                </a:solidFill>
                <a:latin typeface="Arial"/>
              </a:rPr>
              <a:t>THE PAINS — NONE OF THEM ABOUT PAINT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4438650"/>
            <a:ext cx="70675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Furniture in the middle of your home for four days, and dust on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5219700"/>
            <a:ext cx="7067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Strangers walking through your home while your family is 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5734050"/>
            <a:ext cx="70675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You choose a colour from a chip two inches wide and find out whether you were right only after an entire wall is that colour.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6515100"/>
            <a:ext cx="7067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You cannot judge the quality of what is being applied.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50" y="7029450"/>
            <a:ext cx="70675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The constant small worry of being overcharged by somebody who knows more than you 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34500" y="3629025"/>
            <a:ext cx="7905750" cy="458152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3600" y="4010025"/>
            <a:ext cx="70675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EF806F"/>
                </a:solidFill>
                <a:latin typeface="Arial"/>
              </a:rPr>
              <a:t>THE GAIN — NOBODY WANTS PAINT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0" y="4438650"/>
            <a:ext cx="70675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What they want is to bring somebody home and watch that person look around.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0" y="5219700"/>
            <a:ext cx="70675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Asian Paints understood this early enough to build an entire advertising history on it rather than on durability or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0" y="6000750"/>
            <a:ext cx="70675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'Har Ghar Kuch Kehta Hai' is a statement about the owner, not about the coating.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838200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No customer surveyed about paint has ever asked for that — and it underpins roughly half of India's decorative market.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SELLING THE GAIN FOR EIGHTY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A cartoon boy and a line about houses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Gattu, 1954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143375"/>
            <a:ext cx="51435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A mischievous boy with a paint bucket, drawn by the cartoonist R. K. Laxman. He made a chemical product feel like it belonged to an ordinary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'Har Ghar Kuch Kehta Hai'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14337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Every home says something. A statement about the person who lives there, never about the coating on the wall.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What is missing from both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14337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Durability. Coverage. Washability. Price per litre. Everything a paint survey would have told you to advertise.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8439150"/>
            <a:ext cx="161925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Eighty years of advertising a feeling, and not one claim about the coating on the wall.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NOT ADVERTISING —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Both halves, built into how the company actually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933825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Tinting machines, from the late 1990s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933950"/>
            <a:ext cx="5143500" cy="2171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A small dealer can offer thousands of shades mixed in front of the customer instead of stocking a few dozen tins. Relieves a dealer's pain and creates a customer gain with the same machine.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933825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The Safe Painting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933950"/>
            <a:ext cx="51435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Trained, certified applicators with hygiene and quality protocols in your house — aimed squarely at strangers-in-my-home and can-I-judge-the-work.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3629025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933825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Beautiful Homes,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933950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A personalised interior design service. It sells the finished feeling directly, with the paint as a component of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843915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A value proposition that lives only in the advertising is a slogan. This one is in the equipment, the training and the service 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ASIAN PAINTS · FY24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Eighty years on the gain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3219450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₹35,382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4114800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consolidated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4657725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Reported for FY24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2250" y="2838450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1350" y="3219450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1.6 lakh+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1350" y="4114800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retail touchpoints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350" y="4657725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The distribution nobody can buy their way past quickly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96750" y="2838450"/>
            <a:ext cx="5143500" cy="35242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15850" y="3219450"/>
            <a:ext cx="43053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 i="0" spc="-200">
                <a:solidFill>
                  <a:srgbClr val="201914"/>
                </a:solidFill>
                <a:latin typeface="Arial"/>
              </a:rPr>
              <a:t>~50%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15850" y="4114800"/>
            <a:ext cx="43053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of decorative paint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15850" y="4657725"/>
            <a:ext cx="43053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India's decorative market share — now under attack from new entrants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TWO COMPANIES, TWO HALVES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Neither one is the complete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7905750" cy="5372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3219450"/>
            <a:ext cx="7067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C35141"/>
                </a:solidFill>
                <a:latin typeface="Arial"/>
              </a:rPr>
              <a:t>OLA — BUILT BY REMOVING SIX INJURIES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3933825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Fast. Pain relief creates urgency, and urgency is what a company nobody has heard of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4838700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A relieved pain is a solved problem, and solved problems become the minimum everybody offers.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5743575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Cheap to copy. Every competitor now shows an upfront fare.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34500" y="2838450"/>
            <a:ext cx="7905750" cy="537210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600" y="3219450"/>
            <a:ext cx="7067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EF806F"/>
                </a:solidFill>
                <a:latin typeface="Arial"/>
              </a:rPr>
              <a:t>ASIAN PAINTS — BUILT BY SELLING AN ASPIRATION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0" y="3933825"/>
            <a:ext cx="706755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Slow. Decades, not years. Gains are unmeasurable in the short run and impossible to defend in a spreadsheet.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0" y="5172075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A gain is tied to what a customer believes about themselves when they use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0" y="6076950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That does not transfer when a competitor copies a feature.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838200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Relieve an acute pain to earn the first transaction. Then build the gain that makes the customer stop comparing.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EF806F"/>
                </a:solidFill>
                <a:latin typeface="Arial"/>
              </a:rPr>
              <a:t>WRITE THIS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4500" y="4219575"/>
            <a:ext cx="1485900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0" b="1" i="0" spc="-200">
                <a:solidFill>
                  <a:srgbClr val="F5F1E9"/>
                </a:solidFill>
                <a:latin typeface="Arial"/>
              </a:rPr>
              <a:t>PAIN REMOVED  ≠  GAIN CREATED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TEST, AND IT IS MECHANICAL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If you can write it as 'no more X', it is a pain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16192500" cy="18669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2550" y="2933700"/>
            <a:ext cx="3676650" cy="167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'The driver does not refuse my route'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2933700"/>
            <a:ext cx="11372850" cy="167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A relieved pain, wearing a gain's clothes. It describes an absence.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4857750"/>
            <a:ext cx="16192500" cy="2505075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4953000"/>
            <a:ext cx="3676650" cy="2314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'I can watch the car coming and I feel like the one arranging this'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2600" y="4953000"/>
            <a:ext cx="11372850" cy="2314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A gain. It describes something new that the customer was not previously in a position to ask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7750" y="7515225"/>
            <a:ext cx="16192500" cy="18669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2550" y="7610475"/>
            <a:ext cx="3676650" cy="167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Why the column comes back 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2600" y="7610475"/>
            <a:ext cx="11372850" cy="167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Nobody standing on a road in 2010 wrote down 'I wish I could feel in charge'. They could not have. That is why the gain side cannot be filled by collecting complaints.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TRY THESE YOURSELF · RELIEVER, CREATOR, OR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Classify these four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445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The karatmeter on the Tanishq counter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4450" y="4772025"/>
            <a:ext cx="3228975" cy="2466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Machines in the store that test the purity of gold in front of the customer — including gold the customer brought in from somewhere else. Pain reliever or gain creator, and what type of pain?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191125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782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A trained painter who covers your furniture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7825" y="4772025"/>
            <a:ext cx="3228975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Asian Paints sends applicators with hygiene and quality protocols into a customer's home. Reliever, creator, or both — and would you have found it by asking customers what they wanted?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34500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A mattress in a box with a hundred nights to return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772025"/>
            <a:ext cx="3228975" cy="2466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You cannot test a mattress in your bedroom before buying, and returning one is nearly impossible. Which pain is being relieved, and what is the company actually spending money 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77875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4457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Fifty rupees off, or your order remembered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44575" y="4772025"/>
            <a:ext cx="3228975" cy="186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 canteen can do one of two things with the same money. Which is the reliever, which is the creator, and which would you launch first?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8934450"/>
            <a:ext cx="16192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0" i="1">
                <a:solidFill>
                  <a:srgbClr val="362C24"/>
                </a:solidFill>
                <a:latin typeface="Georgia"/>
              </a:rPr>
              <a:t>Decide each one before you move to the next slide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Classify these four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445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The karatmeter on the Tanishq counter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4450" y="4772025"/>
            <a:ext cx="32289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Purity tested in front of the customer, on any jeweller's gold.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6686550"/>
            <a:ext cx="3762375" cy="29527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Pain reliever — and the acute pain is EMOTIONAL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7896225"/>
            <a:ext cx="32289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The functional pain is 18-carat sold at 22-carat prices. The bigger one is a permanent, quiet doubt.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91125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782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A trained painter who covers your furniture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7825" y="4772025"/>
            <a:ext cx="32289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Certified applicators, hygiene protocols, furniture covered.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1125" y="6686550"/>
            <a:ext cx="3762375" cy="29527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7825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Both — and the split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7825" y="7896225"/>
            <a:ext cx="32289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The relief earns the booking. The gain earns the price. Neither shows up in a paint survey.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4500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A mattress in a box with a hundred nights to return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772025"/>
            <a:ext cx="3228975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Bought unseen, returnable for a hundred nights.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4500" y="6686550"/>
            <a:ext cx="3762375" cy="29527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A trust pain — relieved by moving the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7896225"/>
            <a:ext cx="322897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Not comfort. Irreversibility — and the window moves that risk onto the seller.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477875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4457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Fifty rupees off, or your order remembered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44575" y="4772025"/>
            <a:ext cx="32289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Fifty rupees off, or the person behind the counter knows your usual.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477875" y="6686550"/>
            <a:ext cx="3762375" cy="2952750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44575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Discount = reliever. Being known = gain creator.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44575" y="7896225"/>
            <a:ext cx="322897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F5F1E9"/>
                </a:solidFill>
                <a:latin typeface="Arial"/>
              </a:rPr>
              <a:t>Anybody can do fifty-five. Relief buys trial; gains buy loyalty.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EF806F"/>
                </a:solidFill>
                <a:latin typeface="Arial"/>
              </a:rPr>
              <a:t>PAUSE AND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4500" y="4133850"/>
            <a:ext cx="14859000" cy="2028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 spc="-250">
                <a:solidFill>
                  <a:srgbClr val="F5F1E9"/>
                </a:solidFill>
                <a:latin typeface="Arial"/>
              </a:rPr>
              <a:t>Why does the gain side of the canvas stay empty when you interview customers, no matter how good your questions are?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BECAUSE A COMPLAINT NEEDS SOMETHING TO COMPARE AGAINST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Gains are found by watching, not by 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The asymmetry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143375"/>
            <a:ext cx="5143500" cy="287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In 2010 a passenger could compare this auto against a fair auto, so the complaint formed easily. There was nothing to compare being-treated-as-a-customer against, so no complaint formed and no request was made.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22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Where to look instead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4143375"/>
            <a:ext cx="51435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What people do with a product beyond its function. What they boast about afterwards. What they check far more often than the information justifies.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96750" y="2838450"/>
            <a:ext cx="3028950" cy="571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96750" y="3143250"/>
            <a:ext cx="51435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300" b="1" i="0">
                <a:solidFill>
                  <a:srgbClr val="201914"/>
                </a:solidFill>
                <a:latin typeface="Arial"/>
              </a:rPr>
              <a:t>The one question that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0" y="4143375"/>
            <a:ext cx="51435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0" i="0">
                <a:solidFill>
                  <a:srgbClr val="665B53"/>
                </a:solidFill>
                <a:latin typeface="Arial"/>
              </a:rPr>
              <a:t>'What is the last thing you told a friend about, unprompted, that you had bought or used?' Almost every answer will be a gain.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FRAMEWORK 2 · SIX BOXES, AND A RULE YOU CANNOT CHEAT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The Value Proposition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7905750" cy="5372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3219450"/>
            <a:ext cx="7067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C35141"/>
                </a:solidFill>
                <a:latin typeface="Arial"/>
              </a:rPr>
              <a:t>THE CUSTOMER PROFILE — THE RIGHT-HAND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3933825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JOBS — what they are trying to get done. You met this in Lecture 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4838700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PAINS — frustrations, risks, costs and obstacles in the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5743575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GAINS — outcomes and benefits they want, beyond the minimum.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6648450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665B53"/>
                </a:solidFill>
                <a:latin typeface="Arial"/>
              </a:rPr>
              <a:t>The rule: written entirely without reference to you. It would be identical if your company did not exist.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34500" y="2838450"/>
            <a:ext cx="7905750" cy="537210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0" y="3219450"/>
            <a:ext cx="7067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spc="200">
                <a:solidFill>
                  <a:srgbClr val="EF806F"/>
                </a:solidFill>
                <a:latin typeface="Arial"/>
              </a:rPr>
              <a:t>THE VALUE MAP — THE LEFT-HAND HALF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0" y="3933825"/>
            <a:ext cx="7067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PRODUCTS AND SERVICES — what you offer.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0" y="4514850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PAIN RELIEVERS — how each one kills a named pain.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0" y="5419725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GAIN CREATORS — how each one produces a named gain.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0" y="6324600"/>
            <a:ext cx="70675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C1B5AB"/>
                </a:solidFill>
                <a:latin typeface="Arial"/>
              </a:rPr>
              <a:t>The rule: every item must point at a specific entry on the right. Ranked, not listed.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8382000"/>
            <a:ext cx="161925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1">
                <a:solidFill>
                  <a:srgbClr val="362C24"/>
                </a:solidFill>
                <a:latin typeface="Georgia"/>
              </a:rPr>
              <a:t>Five tools in this module describe the customer. This is the first one with your product in it — and it only lets your product on after the customer's half is written and ranked.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REASON TO DRAW IT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Fit is a physical act — draw the lines and look at what has none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16192500" cy="1514475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2550" y="3724275"/>
            <a:ext cx="367665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Draw every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2600" y="3724275"/>
            <a:ext cx="1137285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From each pain reliever to the pain it kills, and from each gain creator to the gain it produces.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5295900"/>
            <a:ext cx="16192500" cy="12192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5391150"/>
            <a:ext cx="367665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A reliever with no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2600" y="5391150"/>
            <a:ext cx="1137285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Effort spent on something no customer named. It is on the wrong side of the canvas.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7750" y="6667500"/>
            <a:ext cx="16192500" cy="154305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2550" y="6762750"/>
            <a:ext cx="3676650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2700" b="1" i="0">
                <a:solidFill>
                  <a:srgbClr val="201914"/>
                </a:solidFill>
                <a:latin typeface="Arial"/>
              </a:rPr>
              <a:t>A top-ranked pain with no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2600" y="6762750"/>
            <a:ext cx="11372850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0" i="0">
                <a:solidFill>
                  <a:srgbClr val="665B53"/>
                </a:solidFill>
                <a:latin typeface="Arial"/>
              </a:rPr>
              <a:t>That is the reason your product will not sell. It is usually the hardest pain, which is why it was left.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8553450"/>
            <a:ext cx="161925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50" b="0" i="1">
                <a:solidFill>
                  <a:srgbClr val="362C24"/>
                </a:solidFill>
                <a:latin typeface="Georgia"/>
              </a:rPr>
              <a:t>You do not have to address every pain and every gain. You have to address the ones the customer ranks highest.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FRAMEWORK 3 · WHICH PAIN GETS PAID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Two questions decide which two or three pains you can afford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3629025"/>
            <a:ext cx="2286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8100" y="3629025"/>
            <a:ext cx="6572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HAPPENS OFTEN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0" y="3629025"/>
            <a:ext cx="6572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HAPPENS RARELY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4076700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4181475"/>
            <a:ext cx="2286000" cy="257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Severe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8100" y="4181475"/>
            <a:ext cx="6572250" cy="257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The business. The customer is already looking for a solution before you arrive — the only customer a new company can afford, because you cannot pay to teach a market that it has a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0" y="4181475"/>
            <a:ext cx="6572250" cy="257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Real, expensive, forgotten in between. Sold like insurance and sold hard, because you have to remind people of a danger they have chosen not to think about.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68484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7750" y="6848475"/>
            <a:ext cx="16192500" cy="27622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6943725"/>
            <a:ext cx="2286000" cy="257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01914"/>
                </a:solidFill>
                <a:latin typeface="Arial"/>
              </a:rPr>
              <a:t>Mild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100" y="6943725"/>
            <a:ext cx="6572250" cy="257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 habit. Worth a great deal at enormous scale and almost nothing per customer. Usually free at the point of use, monetised somewhere else.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0" y="6943725"/>
            <a:ext cx="6572250" cy="2571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Nothing. A conversation, not a company. Most founder ideas die here and it takes two years to find out.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TRY THESE YOURSELF · WHICH PAIN IS ACUTE?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Four ordinary situations. Name the acute pain.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445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Buying vegetables from a cart at seven in the evening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4450" y="4772025"/>
            <a:ext cx="3228975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The good tomatoes are gone, no price is written anywhere, and you haggle over eight rupees with people waiting behind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91125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782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A haircut at an unfamiliar salon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7825" y="4772025"/>
            <a:ext cx="3228975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 new city, a haircut needed before something that matters, and a barber whose previous work you cannot see.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34500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Sending money home from a first salary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772025"/>
            <a:ext cx="3228975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Part of the salary has to reach home, and the person at the other end does not use a phone the way you 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77875" y="2838450"/>
            <a:ext cx="3762375" cy="57531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4457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The first month of a gym membership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44575" y="4772025"/>
            <a:ext cx="3228975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Paid for the year. Week one: you do not know how any machine works and everybody else appears 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8934450"/>
            <a:ext cx="16192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0" i="1">
                <a:solidFill>
                  <a:srgbClr val="362C24"/>
                </a:solidFill>
                <a:latin typeface="Georgia"/>
              </a:rPr>
              <a:t>Name the acute pain, and its type, before I show you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Four ordinary situations. Name the acute pain.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445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Buying vegetables from a cart at seven in the evening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4450" y="4772025"/>
            <a:ext cx="3228975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Seven in the evening, no price written anywhere.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6686550"/>
            <a:ext cx="3762375" cy="29527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Functional — the unverifiable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7896225"/>
            <a:ext cx="322897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Mild and daily is a habit, not an emergency. Win it with recognition, not discounts.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91125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782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A haircut at an unfamiliar salon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7825" y="4772025"/>
            <a:ext cx="32289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A new city, and a barber whose work you cannot see.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1125" y="6686550"/>
            <a:ext cx="3762375" cy="29527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7825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Social — irreversibility in 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7825" y="7896225"/>
            <a:ext cx="322897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Nobody says this in a survey. They say the price was high.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4500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Sending money home from a first salary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772025"/>
            <a:ext cx="32289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First salary, and a parent who does not use a phone your way.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4500" y="6686550"/>
            <a:ext cx="3762375" cy="2952750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Emotional — the silence between sending and knowing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7896225"/>
            <a:ext cx="32289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C1B5AB"/>
                </a:solidFill>
                <a:latin typeface="Arial"/>
              </a:rPr>
              <a:t>Lower fees are real — and a fifth as valuable as the confirmation that reaches the parent.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477875" y="2838450"/>
            <a:ext cx="3762375" cy="3619500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44575" y="3143250"/>
            <a:ext cx="3228975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The first month of a gym membership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44575" y="4772025"/>
            <a:ext cx="32289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665B53"/>
                </a:solidFill>
                <a:latin typeface="Arial"/>
              </a:rPr>
              <a:t>Paid for the year. Week one, and everybody else knows the machines.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477875" y="6686550"/>
            <a:ext cx="3762375" cy="2952750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44575" y="6972300"/>
            <a:ext cx="32289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100" b="1" i="0">
                <a:solidFill>
                  <a:srgbClr val="F5F1E9"/>
                </a:solidFill>
                <a:latin typeface="Arial"/>
              </a:rPr>
              <a:t>Social — visible incompetence in front of strangers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44575" y="7896225"/>
            <a:ext cx="322897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F5F1E9"/>
                </a:solidFill>
                <a:latin typeface="Arial"/>
              </a:rPr>
              <a:t>Never given as a reason for quitting. The cheapest reliever is company.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THE BOUNDARY · FOUR WAYS A PERFECT CANVAS KILLS A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All four produce a beautiful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450" y="2838450"/>
            <a:ext cx="2857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THE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0" y="2838450"/>
            <a:ext cx="6096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WHAT IT LOOKS LIKE FROM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0" y="2838450"/>
            <a:ext cx="5905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THE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3286125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3390900"/>
            <a:ext cx="2857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Only the pains they can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3390900"/>
            <a:ext cx="60960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A full, confident list, every item verified by twenty interviews, and every item functional.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3390900"/>
            <a:ext cx="5905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No emotional or social entries means you collected the polite version. Ask what they were doing instead, and who was watching.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48101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7750" y="4810125"/>
            <a:ext cx="16192500" cy="151447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4905375"/>
            <a:ext cx="2857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A gain that is only your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4905375"/>
            <a:ext cx="60960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The founder's favourite feature, defended with 'customers will love this once they see it'.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0" y="4905375"/>
            <a:ext cx="5905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Name the person who wanted it. If the only evidence is your own taste, it is on the wrong side of the canvas.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7750" y="6324600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4450" y="6419850"/>
            <a:ext cx="2857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Relieving pain number seven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00" y="6419850"/>
            <a:ext cx="60960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Twelve pains identified, four relievers built, all four aimed at the easy ones. The product works and nobody switches.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0" y="6419850"/>
            <a:ext cx="5905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Draw the lines. If nothing points at pain number one, you are not competing — and pain one is usually hard, which is why it was left.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750" y="78390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7750" y="7839075"/>
            <a:ext cx="16192500" cy="1514475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4450" y="7934325"/>
            <a:ext cx="2857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1" i="0">
                <a:solidFill>
                  <a:srgbClr val="201914"/>
                </a:solidFill>
                <a:latin typeface="Arial"/>
              </a:rPr>
              <a:t>The pain that is load-bearing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0" y="7934325"/>
            <a:ext cx="60960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You remove a pain and something breaks: the queue that was rationing scarce supply, the fee that was funding the free part, the delay filtering out unserious customers.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0" y="7934325"/>
            <a:ext cx="5905500" cy="1323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950" b="0" i="0">
                <a:solidFill>
                  <a:srgbClr val="665B53"/>
                </a:solidFill>
                <a:latin typeface="Arial"/>
              </a:rPr>
              <a:t>Before you kill a pain, ask what it was holding up. If the answer is 'something', you are redesigning a business model, not a feature.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ACTIVITY · THE CANTEEN YOU WOULD HAVE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The canteen you would have to actually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838450"/>
            <a:ext cx="1619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Take a canteen you have actually eaten in — one you know well enough to describe a bad day in. Fill both halves of a value proposition canvas for it, then propose a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40767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5900" y="40767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List five pains. Beside each write its type — F functional, E emotional, S social. If all five are F you have not finished.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53721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53721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Rank them. Score severity out of five and write how often each happens. Circle the one that is both severe and frequent.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66675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66675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List five gains — outcomes a student would be pleased about. Test each: if it can be written as 'no more X', it is a pain.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79629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5900" y="79629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Cross to the left-hand side. Describe your business in three or four sentences: what it is, where it sits, what it charges.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0" y="40767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67900" y="40767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Name three pain relievers and two gain creators, and draw a line from each to the exact entry on the right that it answers.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0" y="53721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7900" y="53721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Report the failures in writing: which reliever had no pain to point at, and which top-ranked pain had nothing pointing at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0" y="66675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67900" y="66675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One paragraph: did your idea change once the gains were written down? It usually changes completely.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0" y="7962900"/>
            <a:ext cx="38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35141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7900" y="7962900"/>
            <a:ext cx="69532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201914"/>
                </a:solidFill>
                <a:latin typeface="Arial"/>
              </a:rPr>
              <a:t>You may not write anything about your idea until the customer half is finished and ranked. You may not invent a customer.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YOUR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Five pains, five gains, and a line from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350" y="3048000"/>
            <a:ext cx="229552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0025" y="3048000"/>
            <a:ext cx="229552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PAIN OR GAIN (IN THE CUSTOMER'S WORDS)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3700" y="3048000"/>
            <a:ext cx="229552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TYPE F / E /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7375" y="3048000"/>
            <a:ext cx="229552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SEVERITY 1-5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11050" y="3048000"/>
            <a:ext cx="229552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HOW OFTEN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44725" y="3048000"/>
            <a:ext cx="229552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 spc="200">
                <a:solidFill>
                  <a:srgbClr val="7B6F66"/>
                </a:solidFill>
                <a:latin typeface="Arial"/>
              </a:rPr>
              <a:t>YOUR RELIEVER OR CREATOR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7750" y="4238625"/>
            <a:ext cx="16192500" cy="285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4391025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01914"/>
                </a:solidFill>
                <a:latin typeface="Arial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750" y="48672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50" y="4867275"/>
            <a:ext cx="16192500" cy="5905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6350" y="4981575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01914"/>
                </a:solidFill>
                <a:latin typeface="Arial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54578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6350" y="5572125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01914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7750" y="60483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6048375"/>
            <a:ext cx="16192500" cy="590550"/>
          </a:xfrm>
          <a:prstGeom prst="rect">
            <a:avLst/>
          </a:prstGeom>
          <a:solidFill>
            <a:srgbClr val="F3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6350" y="6162675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01914"/>
                </a:solidFill>
                <a:latin typeface="Arial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750" y="663892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6350" y="6753225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01914"/>
                </a:solidFill>
                <a:latin typeface="Arial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7750" y="7229475"/>
            <a:ext cx="16192500" cy="9525"/>
          </a:xfrm>
          <a:prstGeom prst="rect">
            <a:avLst/>
          </a:prstGeom>
          <a:solidFill>
            <a:srgbClr val="D8CF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7750" y="8401050"/>
            <a:ext cx="161925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50" b="1" i="0">
                <a:solidFill>
                  <a:srgbClr val="201914"/>
                </a:solidFill>
                <a:latin typeface="Arial"/>
              </a:rPr>
              <a:t>Read three sheets aloud next session. The gap between a sheet with an honest social pain on it and one saying 'food is expensive, queue is long' is the whole lesson.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THREE WORKED EXAMPLES · ELEVEN MORE IN THE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2581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The acute pain is rarely the one an interview would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750" y="3629025"/>
            <a:ext cx="5181600" cy="6010275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6850" y="4048125"/>
            <a:ext cx="434340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Buying vegetables from a cart at the end of the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6850" y="4914900"/>
            <a:ext cx="4343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01914"/>
                </a:solidFill>
                <a:latin typeface="Arial"/>
              </a:rPr>
              <a:t>Most acute pain: </a:t>
            </a:r>
            <a:r>
              <a:rPr sz="1600" b="0" i="0">
                <a:solidFill>
                  <a:srgbClr val="665B53"/>
                </a:solidFill>
                <a:latin typeface="Arial"/>
              </a:rPr>
              <a:t>the unverifiable price — small every time, and it happens every single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50" y="56007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01914"/>
                </a:solidFill>
                <a:latin typeface="Arial"/>
              </a:rPr>
              <a:t>The gain they want: </a:t>
            </a:r>
            <a:r>
              <a:rPr sz="1600" b="0" i="0">
                <a:solidFill>
                  <a:srgbClr val="665B53"/>
                </a:solidFill>
                <a:latin typeface="Arial"/>
              </a:rPr>
              <a:t>to be treated as a regular, handed the stock kept aside, and never have to ask what anything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65151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01914"/>
                </a:solidFill>
                <a:latin typeface="Arial"/>
              </a:rPr>
              <a:t>A wrong read builds: </a:t>
            </a:r>
            <a:r>
              <a:rPr sz="1600" b="0" i="0">
                <a:solidFill>
                  <a:srgbClr val="665B53"/>
                </a:solidFill>
                <a:latin typeface="Arial"/>
              </a:rPr>
              <a:t>a cheaper vegetable delivery app. It answers the money and misses that this customer walks past the cart daily.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6850" y="7800975"/>
            <a:ext cx="4210050" cy="19050"/>
          </a:xfrm>
          <a:prstGeom prst="rect">
            <a:avLst/>
          </a:prstGeom>
          <a:solidFill>
            <a:srgbClr val="C8BB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6850" y="8048625"/>
            <a:ext cx="4343400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C35141"/>
                </a:solidFill>
                <a:latin typeface="Arial"/>
              </a:rPr>
              <a:t>FUNCTIONAL — mild and daily is a habit. Win it with recognition, not discounts.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200" y="3629025"/>
            <a:ext cx="5181600" cy="6010275"/>
          </a:xfrm>
          <a:prstGeom prst="rect">
            <a:avLst/>
          </a:prstGeom>
          <a:solidFill>
            <a:srgbClr val="2019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2300" y="4048125"/>
            <a:ext cx="434340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400" b="1" i="0">
                <a:solidFill>
                  <a:srgbClr val="F5F1E9"/>
                </a:solidFill>
                <a:latin typeface="Arial"/>
              </a:rPr>
              <a:t>A haircut at an unfamiliar salon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300" y="49149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5F1E9"/>
                </a:solidFill>
                <a:latin typeface="Arial"/>
              </a:rPr>
              <a:t>Most acute pain: </a:t>
            </a:r>
            <a:r>
              <a:rPr sz="1600" b="0" i="0">
                <a:solidFill>
                  <a:srgbClr val="C1B5AB"/>
                </a:solidFill>
                <a:latin typeface="Arial"/>
              </a:rPr>
              <a:t>irreversibility in front of other people. Nobody says this in a survey; they say the price was high.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58293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5F1E9"/>
                </a:solidFill>
                <a:latin typeface="Arial"/>
              </a:rPr>
              <a:t>The gain they want: </a:t>
            </a:r>
            <a:r>
              <a:rPr sz="1600" b="0" i="0">
                <a:solidFill>
                  <a:srgbClr val="C1B5AB"/>
                </a:solidFill>
                <a:latin typeface="Arial"/>
              </a:rPr>
              <a:t>to walk out looking slightly better than expected, and to have somebody notice without being told.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67437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5F1E9"/>
                </a:solidFill>
                <a:latin typeface="Arial"/>
              </a:rPr>
              <a:t>A wrong read builds: </a:t>
            </a:r>
            <a:r>
              <a:rPr sz="1600" b="0" i="0">
                <a:solidFill>
                  <a:srgbClr val="C1B5AB"/>
                </a:solidFill>
                <a:latin typeface="Arial"/>
              </a:rPr>
              <a:t>a cheaper, faster salon with online booking. Speed was never the injury.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2300" y="7800975"/>
            <a:ext cx="4210050" cy="19050"/>
          </a:xfrm>
          <a:prstGeom prst="rect">
            <a:avLst/>
          </a:prstGeom>
          <a:solidFill>
            <a:srgbClr val="504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8048625"/>
            <a:ext cx="4343400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EF806F"/>
                </a:solidFill>
                <a:latin typeface="Arial"/>
              </a:rPr>
              <a:t>SOCIAL — worn in public, cannot be returned.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58650" y="3629025"/>
            <a:ext cx="5181600" cy="6010275"/>
          </a:xfrm>
          <a:prstGeom prst="rect">
            <a:avLst/>
          </a:prstGeom>
          <a:solidFill>
            <a:srgbClr val="F0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77750" y="4048125"/>
            <a:ext cx="434340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400" b="1" i="0">
                <a:solidFill>
                  <a:srgbClr val="201914"/>
                </a:solidFill>
                <a:latin typeface="Arial"/>
              </a:rPr>
              <a:t>Sending money home from a first salary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750" y="49149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01914"/>
                </a:solidFill>
                <a:latin typeface="Arial"/>
              </a:rPr>
              <a:t>Most acute pain: </a:t>
            </a:r>
            <a:r>
              <a:rPr sz="1600" b="0" i="0">
                <a:solidFill>
                  <a:srgbClr val="665B53"/>
                </a:solidFill>
                <a:latin typeface="Arial"/>
              </a:rPr>
              <a:t>the gap between money leaving and confirmation arriving — short in minutes, enormous in feeling, monthly.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750" y="58293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01914"/>
                </a:solidFill>
                <a:latin typeface="Arial"/>
              </a:rPr>
              <a:t>The gain they want: </a:t>
            </a:r>
            <a:r>
              <a:rPr sz="1600" b="0" i="0">
                <a:solidFill>
                  <a:srgbClr val="665B53"/>
                </a:solidFill>
                <a:latin typeface="Arial"/>
              </a:rPr>
              <a:t>to be the person who sends money home without being asked, visibly, on time, every month.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7750" y="6743700"/>
            <a:ext cx="4343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01914"/>
                </a:solidFill>
                <a:latin typeface="Arial"/>
              </a:rPr>
              <a:t>A wrong read builds: </a:t>
            </a:r>
            <a:r>
              <a:rPr sz="1600" b="0" i="0">
                <a:solidFill>
                  <a:srgbClr val="665B53"/>
                </a:solidFill>
                <a:latin typeface="Arial"/>
              </a:rPr>
              <a:t>lower transfer fees — real, and about a fifth as valuable as the confirmation that reaches the parent.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477750" y="7800975"/>
            <a:ext cx="4210050" cy="19050"/>
          </a:xfrm>
          <a:prstGeom prst="rect">
            <a:avLst/>
          </a:prstGeom>
          <a:solidFill>
            <a:srgbClr val="C8BB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477750" y="8048625"/>
            <a:ext cx="4343400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C35141"/>
                </a:solidFill>
                <a:latin typeface="Arial"/>
              </a:rPr>
              <a:t>EMOTIONAL — when the amount is large relative to the person's whole world, the pain is the silence.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C35141"/>
                </a:solidFill>
                <a:latin typeface="Arial"/>
              </a:rPr>
              <a:t>READ AFTER CLASS · DO NOT MEMORISE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1504950"/>
            <a:ext cx="1619250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600"/>
              </a:lnSpc>
            </a:pPr>
            <a:r>
              <a:rPr sz="5700" b="1" i="0" spc="-142">
                <a:solidFill>
                  <a:srgbClr val="201914"/>
                </a:solidFill>
                <a:latin typeface="Arial"/>
              </a:rPr>
              <a:t>Five terms,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838450"/>
            <a:ext cx="5143500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1" i="0">
                <a:solidFill>
                  <a:srgbClr val="201914"/>
                </a:solidFill>
                <a:latin typeface="Arial"/>
              </a:rPr>
              <a:t>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7750" y="3743325"/>
            <a:ext cx="3771900" cy="28575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4029075"/>
            <a:ext cx="5143500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201914"/>
                </a:solidFill>
                <a:latin typeface="Arial"/>
              </a:rPr>
              <a:t>Any frustration, risk, cost or obstacle a customer runs into while trying to get something done — and it exists whether or not your company does. Three types: functional, emotional, social.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0" y="2838450"/>
            <a:ext cx="5143500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1" i="0">
                <a:solidFill>
                  <a:srgbClr val="201914"/>
                </a:solidFill>
                <a:latin typeface="Arial"/>
              </a:rPr>
              <a:t>Gain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2250" y="3743325"/>
            <a:ext cx="3771900" cy="28575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2250" y="4029075"/>
            <a:ext cx="5143500" cy="1266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201914"/>
                </a:solidFill>
                <a:latin typeface="Arial"/>
              </a:rPr>
              <a:t>An outcome the customer wants that goes beyond the minimum — not the absence of a pain, but a positive they were often not in a position to ask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96750" y="2838450"/>
            <a:ext cx="5143500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1" i="0">
                <a:solidFill>
                  <a:srgbClr val="201914"/>
                </a:solidFill>
                <a:latin typeface="Arial"/>
              </a:rPr>
              <a:t>The Value Proposition Canvas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750" y="3743325"/>
            <a:ext cx="3771900" cy="28575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96750" y="4029075"/>
            <a:ext cx="5143500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201914"/>
                </a:solidFill>
                <a:latin typeface="Arial"/>
              </a:rPr>
              <a:t>Six boxes. Jobs, pains and gains on the customer's side; products, pain relievers and gain creators on yours. Your half may only be filled after theirs is written and ranked.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6400800"/>
            <a:ext cx="5143500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1" i="0">
                <a:solidFill>
                  <a:srgbClr val="201914"/>
                </a:solidFill>
                <a:latin typeface="Arial"/>
              </a:rPr>
              <a:t>Severity and frequency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750" y="7305675"/>
            <a:ext cx="3771900" cy="28575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7750" y="7591425"/>
            <a:ext cx="5143500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201914"/>
                </a:solidFill>
                <a:latin typeface="Arial"/>
              </a:rPr>
              <a:t>Rank every pain by how badly it hurts and how often it happens. Severe and frequent produces a customer already searching for a solution — the only kind a new company can afford.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6400800"/>
            <a:ext cx="5143500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1" i="0">
                <a:solidFill>
                  <a:srgbClr val="201914"/>
                </a:solidFill>
                <a:latin typeface="Arial"/>
              </a:rPr>
              <a:t>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72250" y="7305675"/>
            <a:ext cx="3771900" cy="28575"/>
          </a:xfrm>
          <a:prstGeom prst="rect">
            <a:avLst/>
          </a:prstGeom>
          <a:solidFill>
            <a:srgbClr val="C35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0" y="7591425"/>
            <a:ext cx="5143500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201914"/>
                </a:solidFill>
                <a:latin typeface="Arial"/>
              </a:rPr>
              <a:t>Every reliever points at a named pain, every gain creator at a named gain, and the top-ranked pain has something pointing at it. Test it by drawing the lines and looking at what has none.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7750" y="952500"/>
            <a:ext cx="1619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 spc="312">
                <a:solidFill>
                  <a:srgbClr val="EF806F"/>
                </a:solidFill>
                <a:latin typeface="Arial"/>
              </a:rPr>
              <a:t>NEXT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4500" y="4133850"/>
            <a:ext cx="14859000" cy="2028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 spc="-250">
                <a:solidFill>
                  <a:srgbClr val="F5F1E9"/>
                </a:solidFill>
                <a:latin typeface="Arial"/>
              </a:rPr>
              <a:t>She wanted to be fit on all eleven mornings she did not get up. So what was different about the twelfth?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