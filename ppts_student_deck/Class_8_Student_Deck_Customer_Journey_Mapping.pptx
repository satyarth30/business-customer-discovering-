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9525000" cy="323850"/>
          </a:xfrm>
          <a:prstGeom prst="rect">
            <a:avLst/>
          </a:prstGeom>
          <a:noFill/>
        </p:spPr>
        <p:txBody>
          <a:bodyPr wrap="square" lIns="0" rIns="0" tIns="0" bIns="0" anchor="t"/>
          <a:lstStyle/>
          <a:p>
            <a:pPr algn="l"/>
            <a:r>
              <a:rPr sz="1950" b="1" i="0" spc="312">
                <a:solidFill>
                  <a:srgbClr val="C35141"/>
                </a:solidFill>
                <a:latin typeface="Arial"/>
              </a:rPr>
              <a:t>ZENITH SCHOOL OF AI · CUSTOMER DISCOVERY · CLASS 8</a:t>
            </a:r>
          </a:p>
        </p:txBody>
      </p:sp>
      <p:sp>
        <p:nvSpPr>
          <p:cNvPr id="3" name="TextBox 2"/>
          <p:cNvSpPr txBox="1"/>
          <p:nvPr/>
        </p:nvSpPr>
        <p:spPr>
          <a:xfrm>
            <a:off x="1047750" y="2095500"/>
            <a:ext cx="16192500" cy="2667000"/>
          </a:xfrm>
          <a:prstGeom prst="rect">
            <a:avLst/>
          </a:prstGeom>
          <a:noFill/>
        </p:spPr>
        <p:txBody>
          <a:bodyPr wrap="square" lIns="0" rIns="0" tIns="0" bIns="0" anchor="t"/>
          <a:lstStyle/>
          <a:p>
            <a:pPr algn="l">
              <a:lnSpc>
                <a:spcPct val="81600"/>
              </a:lnSpc>
            </a:pPr>
            <a:r>
              <a:rPr sz="9900" b="1" i="0" spc="-346">
                <a:solidFill>
                  <a:srgbClr val="F5F1E9"/>
                </a:solidFill>
                <a:latin typeface="Arial"/>
              </a:rPr>
              <a:t>Customer Journey Mapping</a:t>
            </a:r>
          </a:p>
        </p:txBody>
      </p:sp>
      <p:sp>
        <p:nvSpPr>
          <p:cNvPr id="4" name="TextBox 3"/>
          <p:cNvSpPr txBox="1"/>
          <p:nvPr/>
        </p:nvSpPr>
        <p:spPr>
          <a:xfrm>
            <a:off x="1047750" y="5181600"/>
            <a:ext cx="12382500" cy="1381125"/>
          </a:xfrm>
          <a:prstGeom prst="rect">
            <a:avLst/>
          </a:prstGeom>
          <a:noFill/>
        </p:spPr>
        <p:txBody>
          <a:bodyPr wrap="square" lIns="0" rIns="0" tIns="0" bIns="0" anchor="t"/>
          <a:lstStyle/>
          <a:p>
            <a:pPr algn="l">
              <a:lnSpc>
                <a:spcPct val="105800"/>
              </a:lnSpc>
            </a:pPr>
            <a:r>
              <a:rPr sz="3900" b="0" i="1">
                <a:solidFill>
                  <a:srgbClr val="C1B5AB"/>
                </a:solidFill>
                <a:latin typeface="Georgia"/>
              </a:rPr>
              <a:t>A holiday has fifteen steps, and almost all the misery is concentrated in two of them.</a:t>
            </a:r>
          </a:p>
        </p:txBody>
      </p:sp>
      <p:sp>
        <p:nvSpPr>
          <p:cNvPr id="5" name="Rectangle 4"/>
          <p:cNvSpPr/>
          <p:nvPr/>
        </p:nvSpPr>
        <p:spPr>
          <a:xfrm>
            <a:off x="1047750" y="8877300"/>
            <a:ext cx="16192500" cy="19050"/>
          </a:xfrm>
          <a:prstGeom prst="rect">
            <a:avLst/>
          </a:prstGeom>
          <a:solidFill>
            <a:srgbClr val="403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7750" y="9239250"/>
            <a:ext cx="2504277" cy="333375"/>
          </a:xfrm>
          <a:prstGeom prst="rect">
            <a:avLst/>
          </a:prstGeom>
          <a:noFill/>
        </p:spPr>
        <p:txBody>
          <a:bodyPr wrap="square" lIns="0" rIns="0" tIns="0" bIns="0" anchor="t"/>
          <a:lstStyle/>
          <a:p>
            <a:pPr algn="l"/>
            <a:r>
              <a:rPr sz="2100" b="0" i="0">
                <a:solidFill>
                  <a:srgbClr val="AEA298"/>
                </a:solidFill>
                <a:latin typeface="Arial"/>
              </a:rPr>
              <a:t>The Emotion Curve</a:t>
            </a:r>
          </a:p>
        </p:txBody>
      </p:sp>
      <p:sp>
        <p:nvSpPr>
          <p:cNvPr id="7" name="TextBox 6"/>
          <p:cNvSpPr txBox="1"/>
          <p:nvPr/>
        </p:nvSpPr>
        <p:spPr>
          <a:xfrm>
            <a:off x="3913977" y="9239250"/>
            <a:ext cx="2905161" cy="333375"/>
          </a:xfrm>
          <a:prstGeom prst="rect">
            <a:avLst/>
          </a:prstGeom>
          <a:noFill/>
        </p:spPr>
        <p:txBody>
          <a:bodyPr wrap="square" lIns="0" rIns="0" tIns="0" bIns="0" anchor="t"/>
          <a:lstStyle/>
          <a:p>
            <a:pPr algn="l"/>
            <a:r>
              <a:rPr sz="2100" b="0" i="0">
                <a:solidFill>
                  <a:srgbClr val="AEA298"/>
                </a:solidFill>
                <a:latin typeface="Arial"/>
              </a:rPr>
              <a:t>Three Kinds of Friction</a:t>
            </a:r>
          </a:p>
        </p:txBody>
      </p:sp>
      <p:sp>
        <p:nvSpPr>
          <p:cNvPr id="8" name="TextBox 7"/>
          <p:cNvSpPr txBox="1"/>
          <p:nvPr/>
        </p:nvSpPr>
        <p:spPr>
          <a:xfrm>
            <a:off x="7181088" y="9239250"/>
            <a:ext cx="2273189" cy="333375"/>
          </a:xfrm>
          <a:prstGeom prst="rect">
            <a:avLst/>
          </a:prstGeom>
          <a:noFill/>
        </p:spPr>
        <p:txBody>
          <a:bodyPr wrap="square" lIns="0" rIns="0" tIns="0" bIns="0" anchor="t"/>
          <a:lstStyle/>
          <a:p>
            <a:pPr algn="l"/>
            <a:r>
              <a:rPr sz="2100" b="0" i="0">
                <a:solidFill>
                  <a:srgbClr val="AEA298"/>
                </a:solidFill>
                <a:latin typeface="Arial"/>
              </a:rPr>
              <a:t>Moments of Truth</a:t>
            </a:r>
          </a:p>
        </p:txBody>
      </p:sp>
      <p:sp>
        <p:nvSpPr>
          <p:cNvPr id="9" name="TextBox 8"/>
          <p:cNvSpPr txBox="1"/>
          <p:nvPr/>
        </p:nvSpPr>
        <p:spPr>
          <a:xfrm>
            <a:off x="9816227" y="9239250"/>
            <a:ext cx="2021050" cy="333375"/>
          </a:xfrm>
          <a:prstGeom prst="rect">
            <a:avLst/>
          </a:prstGeom>
          <a:noFill/>
        </p:spPr>
        <p:txBody>
          <a:bodyPr wrap="square" lIns="0" rIns="0" tIns="0" bIns="0" anchor="t"/>
          <a:lstStyle/>
          <a:p>
            <a:pPr algn="l"/>
            <a:r>
              <a:rPr sz="2100" b="0" i="0">
                <a:solidFill>
                  <a:srgbClr val="AEA298"/>
                </a:solidFill>
                <a:latin typeface="Arial"/>
              </a:rPr>
              <a:t>Drop-Off Points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WHERE WE LEFT OFF</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One moment. Now put all the moments in a row.</a:t>
            </a:r>
          </a:p>
        </p:txBody>
      </p:sp>
      <p:sp>
        <p:nvSpPr>
          <p:cNvPr id="4" name="Rectangle 3"/>
          <p:cNvSpPr/>
          <p:nvPr/>
        </p:nvSpPr>
        <p:spPr>
          <a:xfrm>
            <a:off x="1047750"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933825"/>
            <a:ext cx="5143500" cy="600075"/>
          </a:xfrm>
          <a:prstGeom prst="rect">
            <a:avLst/>
          </a:prstGeom>
          <a:noFill/>
        </p:spPr>
        <p:txBody>
          <a:bodyPr wrap="square" lIns="0" rIns="0" tIns="0" bIns="0" anchor="t"/>
          <a:lstStyle/>
          <a:p>
            <a:pPr algn="l"/>
            <a:r>
              <a:rPr sz="3300" b="1" i="0">
                <a:solidFill>
                  <a:srgbClr val="201914"/>
                </a:solidFill>
                <a:latin typeface="Arial"/>
              </a:rPr>
              <a:t>The persona</a:t>
            </a:r>
          </a:p>
        </p:txBody>
      </p:sp>
      <p:sp>
        <p:nvSpPr>
          <p:cNvPr id="6" name="TextBox 5"/>
          <p:cNvSpPr txBox="1"/>
          <p:nvPr/>
        </p:nvSpPr>
        <p:spPr>
          <a:xfrm>
            <a:off x="1047750" y="4667250"/>
            <a:ext cx="5143500" cy="1771650"/>
          </a:xfrm>
          <a:prstGeom prst="rect">
            <a:avLst/>
          </a:prstGeom>
          <a:noFill/>
        </p:spPr>
        <p:txBody>
          <a:bodyPr wrap="square" lIns="0" rIns="0" tIns="0" bIns="0" anchor="t"/>
          <a:lstStyle/>
          <a:p>
            <a:pPr algn="l">
              <a:lnSpc>
                <a:spcPct val="105000"/>
              </a:lnSpc>
            </a:pPr>
            <a:r>
              <a:rPr sz="2550" b="0" i="0">
                <a:solidFill>
                  <a:srgbClr val="665B53"/>
                </a:solidFill>
                <a:latin typeface="Arial"/>
              </a:rPr>
              <a:t>One named person you can argue about in a meeting — with a trigger, and a worry at eleven at night.</a:t>
            </a:r>
          </a:p>
        </p:txBody>
      </p:sp>
      <p:sp>
        <p:nvSpPr>
          <p:cNvPr id="7" name="Rectangle 6"/>
          <p:cNvSpPr/>
          <p:nvPr/>
        </p:nvSpPr>
        <p:spPr>
          <a:xfrm>
            <a:off x="6572250"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933825"/>
            <a:ext cx="5143500" cy="600075"/>
          </a:xfrm>
          <a:prstGeom prst="rect">
            <a:avLst/>
          </a:prstGeom>
          <a:noFill/>
        </p:spPr>
        <p:txBody>
          <a:bodyPr wrap="square" lIns="0" rIns="0" tIns="0" bIns="0" anchor="t"/>
          <a:lstStyle/>
          <a:p>
            <a:pPr algn="l"/>
            <a:r>
              <a:rPr sz="3300" b="1" i="0">
                <a:solidFill>
                  <a:srgbClr val="201914"/>
                </a:solidFill>
                <a:latin typeface="Arial"/>
              </a:rPr>
              <a:t>The empathy map</a:t>
            </a:r>
          </a:p>
        </p:txBody>
      </p:sp>
      <p:sp>
        <p:nvSpPr>
          <p:cNvPr id="9" name="TextBox 8"/>
          <p:cNvSpPr txBox="1"/>
          <p:nvPr/>
        </p:nvSpPr>
        <p:spPr>
          <a:xfrm>
            <a:off x="6572250" y="4667250"/>
            <a:ext cx="5143500" cy="1343025"/>
          </a:xfrm>
          <a:prstGeom prst="rect">
            <a:avLst/>
          </a:prstGeom>
          <a:noFill/>
        </p:spPr>
        <p:txBody>
          <a:bodyPr wrap="square" lIns="0" rIns="0" tIns="0" bIns="0" anchor="t"/>
          <a:lstStyle/>
          <a:p>
            <a:pPr algn="l">
              <a:lnSpc>
                <a:spcPct val="105000"/>
              </a:lnSpc>
            </a:pPr>
            <a:r>
              <a:rPr sz="2550" b="0" i="0">
                <a:solidFill>
                  <a:srgbClr val="665B53"/>
                </a:solidFill>
                <a:latin typeface="Arial"/>
              </a:rPr>
              <a:t>Four things true in one head at one moment, and the contradictions between them.</a:t>
            </a:r>
          </a:p>
        </p:txBody>
      </p:sp>
      <p:sp>
        <p:nvSpPr>
          <p:cNvPr id="10" name="Rectangle 9"/>
          <p:cNvSpPr/>
          <p:nvPr/>
        </p:nvSpPr>
        <p:spPr>
          <a:xfrm>
            <a:off x="12096750"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933825"/>
            <a:ext cx="5143500" cy="600075"/>
          </a:xfrm>
          <a:prstGeom prst="rect">
            <a:avLst/>
          </a:prstGeom>
          <a:noFill/>
        </p:spPr>
        <p:txBody>
          <a:bodyPr wrap="square" lIns="0" rIns="0" tIns="0" bIns="0" anchor="t"/>
          <a:lstStyle/>
          <a:p>
            <a:pPr algn="l"/>
            <a:r>
              <a:rPr sz="3300" b="1" i="0">
                <a:solidFill>
                  <a:srgbClr val="201914"/>
                </a:solidFill>
                <a:latin typeface="Arial"/>
              </a:rPr>
              <a:t>Today, time</a:t>
            </a:r>
          </a:p>
        </p:txBody>
      </p:sp>
      <p:sp>
        <p:nvSpPr>
          <p:cNvPr id="12" name="TextBox 11"/>
          <p:cNvSpPr txBox="1"/>
          <p:nvPr/>
        </p:nvSpPr>
        <p:spPr>
          <a:xfrm>
            <a:off x="12096750" y="4667250"/>
            <a:ext cx="5143500" cy="1771650"/>
          </a:xfrm>
          <a:prstGeom prst="rect">
            <a:avLst/>
          </a:prstGeom>
          <a:noFill/>
        </p:spPr>
        <p:txBody>
          <a:bodyPr wrap="square" lIns="0" rIns="0" tIns="0" bIns="0" anchor="t"/>
          <a:lstStyle/>
          <a:p>
            <a:pPr algn="l">
              <a:lnSpc>
                <a:spcPct val="105000"/>
              </a:lnSpc>
            </a:pPr>
            <a:r>
              <a:rPr sz="2550" b="0" i="0">
                <a:solidFill>
                  <a:srgbClr val="665B53"/>
                </a:solidFill>
                <a:latin typeface="Arial"/>
              </a:rPr>
              <a:t>The same customer across a sequence — and the way the feeling rises and falls from step to step.</a:t>
            </a:r>
          </a:p>
        </p:txBody>
      </p:sp>
      <p:sp>
        <p:nvSpPr>
          <p:cNvPr id="13" name="TextBox 12"/>
          <p:cNvSpPr txBox="1"/>
          <p:nvPr/>
        </p:nvSpPr>
        <p:spPr>
          <a:xfrm>
            <a:off x="1047750" y="8439150"/>
            <a:ext cx="16192500" cy="1162050"/>
          </a:xfrm>
          <a:prstGeom prst="rect">
            <a:avLst/>
          </a:prstGeom>
          <a:noFill/>
        </p:spPr>
        <p:txBody>
          <a:bodyPr wrap="square" lIns="0" rIns="0" tIns="0" bIns="0" anchor="t"/>
          <a:lstStyle/>
          <a:p>
            <a:pPr algn="l">
              <a:lnSpc>
                <a:spcPct val="114000"/>
              </a:lnSpc>
            </a:pPr>
            <a:r>
              <a:rPr sz="3000" b="0" i="0">
                <a:solidFill>
                  <a:srgbClr val="362C24"/>
                </a:solidFill>
                <a:latin typeface="Georgia"/>
              </a:rPr>
              <a:t>A customer's relationship with a product is a story, not a transaction. This is the only tool in the module with time in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EF806F"/>
                </a:solidFill>
                <a:latin typeface="Arial"/>
              </a:rPr>
              <a:t>PAUSE AND ANSWER</a:t>
            </a:r>
          </a:p>
        </p:txBody>
      </p:sp>
      <p:sp>
        <p:nvSpPr>
          <p:cNvPr id="3" name="TextBox 2"/>
          <p:cNvSpPr txBox="1"/>
          <p:nvPr/>
        </p:nvSpPr>
        <p:spPr>
          <a:xfrm>
            <a:off x="1714500" y="3600450"/>
            <a:ext cx="14859000" cy="1952625"/>
          </a:xfrm>
          <a:prstGeom prst="rect">
            <a:avLst/>
          </a:prstGeom>
          <a:noFill/>
        </p:spPr>
        <p:txBody>
          <a:bodyPr wrap="square" lIns="0" rIns="0" tIns="0" bIns="0" anchor="t"/>
          <a:lstStyle/>
          <a:p>
            <a:pPr algn="ctr">
              <a:lnSpc>
                <a:spcPct val="88000"/>
              </a:lnSpc>
            </a:pPr>
            <a:r>
              <a:rPr sz="6600" b="1" i="0" spc="-250">
                <a:solidFill>
                  <a:srgbClr val="F5F1E9"/>
                </a:solidFill>
                <a:latin typeface="Arial"/>
              </a:rPr>
              <a:t>How did you buy the last thing you spent more than ₹5,000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WHAT EVERYBODY ALWAYS SAYS</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Three steps. You lived through fourteen.</a:t>
            </a:r>
          </a:p>
        </p:txBody>
      </p:sp>
      <p:sp>
        <p:nvSpPr>
          <p:cNvPr id="4" name="Rectangle 3"/>
          <p:cNvSpPr/>
          <p:nvPr/>
        </p:nvSpPr>
        <p:spPr>
          <a:xfrm>
            <a:off x="1047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43250"/>
            <a:ext cx="5143500" cy="600075"/>
          </a:xfrm>
          <a:prstGeom prst="rect">
            <a:avLst/>
          </a:prstGeom>
          <a:noFill/>
        </p:spPr>
        <p:txBody>
          <a:bodyPr wrap="square" lIns="0" rIns="0" tIns="0" bIns="0" anchor="t"/>
          <a:lstStyle/>
          <a:p>
            <a:pPr algn="l"/>
            <a:r>
              <a:rPr sz="3300" b="1" i="0">
                <a:solidFill>
                  <a:srgbClr val="201914"/>
                </a:solidFill>
                <a:latin typeface="Arial"/>
              </a:rPr>
              <a:t>‘I wanted it’</a:t>
            </a:r>
          </a:p>
        </p:txBody>
      </p:sp>
      <p:sp>
        <p:nvSpPr>
          <p:cNvPr id="6" name="TextBox 5"/>
          <p:cNvSpPr txBox="1"/>
          <p:nvPr/>
        </p:nvSpPr>
        <p:spPr>
          <a:xfrm>
            <a:off x="1047750" y="3876675"/>
            <a:ext cx="5143500" cy="504825"/>
          </a:xfrm>
          <a:prstGeom prst="rect">
            <a:avLst/>
          </a:prstGeom>
          <a:noFill/>
        </p:spPr>
        <p:txBody>
          <a:bodyPr wrap="square" lIns="0" rIns="0" tIns="0" bIns="0" anchor="t"/>
          <a:lstStyle/>
          <a:p>
            <a:pPr algn="l">
              <a:lnSpc>
                <a:spcPct val="105000"/>
              </a:lnSpc>
            </a:pPr>
            <a:r>
              <a:rPr sz="2550" b="0" i="0">
                <a:solidFill>
                  <a:srgbClr val="665B53"/>
                </a:solidFill>
                <a:latin typeface="Arial"/>
              </a:rPr>
              <a:t>One step, covering weeks.</a:t>
            </a:r>
          </a:p>
        </p:txBody>
      </p:sp>
      <p:sp>
        <p:nvSpPr>
          <p:cNvPr id="7" name="Rectangle 6"/>
          <p:cNvSpPr/>
          <p:nvPr/>
        </p:nvSpPr>
        <p:spPr>
          <a:xfrm>
            <a:off x="65722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143250"/>
            <a:ext cx="5143500" cy="600075"/>
          </a:xfrm>
          <a:prstGeom prst="rect">
            <a:avLst/>
          </a:prstGeom>
          <a:noFill/>
        </p:spPr>
        <p:txBody>
          <a:bodyPr wrap="square" lIns="0" rIns="0" tIns="0" bIns="0" anchor="t"/>
          <a:lstStyle/>
          <a:p>
            <a:pPr algn="l"/>
            <a:r>
              <a:rPr sz="3300" b="1" i="0">
                <a:solidFill>
                  <a:srgbClr val="201914"/>
                </a:solidFill>
                <a:latin typeface="Arial"/>
              </a:rPr>
              <a:t>‘I looked at it’</a:t>
            </a:r>
          </a:p>
        </p:txBody>
      </p:sp>
      <p:sp>
        <p:nvSpPr>
          <p:cNvPr id="9" name="TextBox 8"/>
          <p:cNvSpPr txBox="1"/>
          <p:nvPr/>
        </p:nvSpPr>
        <p:spPr>
          <a:xfrm>
            <a:off x="6572250" y="3876675"/>
            <a:ext cx="5143500" cy="923925"/>
          </a:xfrm>
          <a:prstGeom prst="rect">
            <a:avLst/>
          </a:prstGeom>
          <a:noFill/>
        </p:spPr>
        <p:txBody>
          <a:bodyPr wrap="square" lIns="0" rIns="0" tIns="0" bIns="0" anchor="t"/>
          <a:lstStyle/>
          <a:p>
            <a:pPr algn="l">
              <a:lnSpc>
                <a:spcPct val="105000"/>
              </a:lnSpc>
            </a:pPr>
            <a:r>
              <a:rPr sz="2550" b="0" i="0">
                <a:solidFill>
                  <a:srgbClr val="665B53"/>
                </a:solidFill>
                <a:latin typeface="Arial"/>
              </a:rPr>
              <a:t>One step, covering six tabs, two shops and a cousin.</a:t>
            </a:r>
          </a:p>
        </p:txBody>
      </p:sp>
      <p:sp>
        <p:nvSpPr>
          <p:cNvPr id="10" name="Rectangle 9"/>
          <p:cNvSpPr/>
          <p:nvPr/>
        </p:nvSpPr>
        <p:spPr>
          <a:xfrm>
            <a:off x="12096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143250"/>
            <a:ext cx="5143500" cy="600075"/>
          </a:xfrm>
          <a:prstGeom prst="rect">
            <a:avLst/>
          </a:prstGeom>
          <a:noFill/>
        </p:spPr>
        <p:txBody>
          <a:bodyPr wrap="square" lIns="0" rIns="0" tIns="0" bIns="0" anchor="t"/>
          <a:lstStyle/>
          <a:p>
            <a:pPr algn="l"/>
            <a:r>
              <a:rPr sz="3300" b="1" i="0">
                <a:solidFill>
                  <a:srgbClr val="201914"/>
                </a:solidFill>
                <a:latin typeface="Arial"/>
              </a:rPr>
              <a:t>‘I bought it’</a:t>
            </a:r>
          </a:p>
        </p:txBody>
      </p:sp>
      <p:sp>
        <p:nvSpPr>
          <p:cNvPr id="12" name="TextBox 11"/>
          <p:cNvSpPr txBox="1"/>
          <p:nvPr/>
        </p:nvSpPr>
        <p:spPr>
          <a:xfrm>
            <a:off x="12096750" y="3876675"/>
            <a:ext cx="5143500" cy="1343025"/>
          </a:xfrm>
          <a:prstGeom prst="rect">
            <a:avLst/>
          </a:prstGeom>
          <a:noFill/>
        </p:spPr>
        <p:txBody>
          <a:bodyPr wrap="square" lIns="0" rIns="0" tIns="0" bIns="0" anchor="t"/>
          <a:lstStyle/>
          <a:p>
            <a:pPr algn="l">
              <a:lnSpc>
                <a:spcPct val="105000"/>
              </a:lnSpc>
            </a:pPr>
            <a:r>
              <a:rPr sz="2550" b="0" i="0">
                <a:solidFill>
                  <a:srgbClr val="665B53"/>
                </a:solidFill>
                <a:latin typeface="Arial"/>
              </a:rPr>
              <a:t>One step, covering a price you could not evaluate and a wait you could not shorten.</a:t>
            </a:r>
          </a:p>
        </p:txBody>
      </p:sp>
      <p:sp>
        <p:nvSpPr>
          <p:cNvPr id="13" name="Rectangle 12"/>
          <p:cNvSpPr/>
          <p:nvPr/>
        </p:nvSpPr>
        <p:spPr>
          <a:xfrm>
            <a:off x="1047750" y="7429500"/>
            <a:ext cx="16192500" cy="21145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43050" y="7886700"/>
            <a:ext cx="15240000" cy="1066800"/>
          </a:xfrm>
          <a:prstGeom prst="rect">
            <a:avLst/>
          </a:prstGeom>
          <a:noFill/>
        </p:spPr>
        <p:txBody>
          <a:bodyPr wrap="square" lIns="0" rIns="0" tIns="0" bIns="0" anchor="t"/>
          <a:lstStyle/>
          <a:p>
            <a:pPr algn="l">
              <a:lnSpc>
                <a:spcPct val="114000"/>
              </a:lnSpc>
            </a:pPr>
            <a:r>
              <a:rPr sz="2700" b="0" i="0">
                <a:solidFill>
                  <a:srgbClr val="F5F1E9"/>
                </a:solidFill>
                <a:latin typeface="Georgia"/>
              </a:rPr>
              <a:t>Memory compresses a fortnight of small frustrations into a single sentence. So you cannot ask a customer to describe a journey — you reconstruct it step by step, and then check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4914900"/>
            <a:ext cx="16192500" cy="323850"/>
          </a:xfrm>
          <a:prstGeom prst="rect">
            <a:avLst/>
          </a:prstGeom>
          <a:noFill/>
        </p:spPr>
        <p:txBody>
          <a:bodyPr wrap="square" lIns="0" rIns="0" tIns="0" bIns="0" anchor="t"/>
          <a:lstStyle/>
          <a:p>
            <a:pPr algn="l"/>
            <a:r>
              <a:rPr sz="1950" b="1" i="0" spc="312">
                <a:solidFill>
                  <a:srgbClr val="C35141"/>
                </a:solidFill>
                <a:latin typeface="Arial"/>
              </a:rPr>
              <a:t>CASE STUDY</a:t>
            </a:r>
          </a:p>
        </p:txBody>
      </p:sp>
      <p:sp>
        <p:nvSpPr>
          <p:cNvPr id="3" name="TextBox 2"/>
          <p:cNvSpPr txBox="1"/>
          <p:nvPr/>
        </p:nvSpPr>
        <p:spPr>
          <a:xfrm>
            <a:off x="1047750" y="5505450"/>
            <a:ext cx="16192500" cy="1533525"/>
          </a:xfrm>
          <a:prstGeom prst="rect">
            <a:avLst/>
          </a:prstGeom>
          <a:noFill/>
        </p:spPr>
        <p:txBody>
          <a:bodyPr wrap="square" lIns="0" rIns="0" tIns="0" bIns="0" anchor="t"/>
          <a:lstStyle/>
          <a:p>
            <a:pPr algn="l">
              <a:lnSpc>
                <a:spcPct val="80000"/>
              </a:lnSpc>
            </a:pPr>
            <a:r>
              <a:rPr sz="11250" b="1" i="0" spc="-450">
                <a:solidFill>
                  <a:srgbClr val="F5F1E9"/>
                </a:solidFill>
                <a:latin typeface="Arial"/>
              </a:rPr>
              <a:t>Three journeys</a:t>
            </a:r>
          </a:p>
        </p:txBody>
      </p:sp>
      <p:sp>
        <p:nvSpPr>
          <p:cNvPr id="4" name="TextBox 3"/>
          <p:cNvSpPr txBox="1"/>
          <p:nvPr/>
        </p:nvSpPr>
        <p:spPr>
          <a:xfrm>
            <a:off x="1047750" y="7324725"/>
            <a:ext cx="13716000" cy="2105025"/>
          </a:xfrm>
          <a:prstGeom prst="rect">
            <a:avLst/>
          </a:prstGeom>
          <a:noFill/>
        </p:spPr>
        <p:txBody>
          <a:bodyPr wrap="square" lIns="0" rIns="0" tIns="0" bIns="0" anchor="t"/>
          <a:lstStyle/>
          <a:p>
            <a:pPr algn="l">
              <a:lnSpc>
                <a:spcPct val="110000"/>
              </a:lnSpc>
            </a:pPr>
            <a:r>
              <a:rPr sz="3900" b="0" i="0">
                <a:solidFill>
                  <a:srgbClr val="C1B5AB"/>
                </a:solidFill>
                <a:latin typeface="Georgia"/>
              </a:rPr>
              <a:t>Planning a holiday in 2004, buying a bus ticket in 2005, and booking a Tatkal ticket at ten o'clock tomorrow morning.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PLANNING A HOLIDAY IN 2004</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Where did the misery actually sit?</a:t>
            </a:r>
          </a:p>
        </p:txBody>
      </p:sp>
      <p:sp>
        <p:nvSpPr>
          <p:cNvPr id="4" name="TextBox 3"/>
          <p:cNvSpPr txBox="1"/>
          <p:nvPr/>
        </p:nvSpPr>
        <p:spPr>
          <a:xfrm>
            <a:off x="1314450" y="2838450"/>
            <a:ext cx="2343150" cy="381000"/>
          </a:xfrm>
          <a:prstGeom prst="rect">
            <a:avLst/>
          </a:prstGeom>
          <a:noFill/>
        </p:spPr>
        <p:txBody>
          <a:bodyPr wrap="square" lIns="0" rIns="0" tIns="0" bIns="0" anchor="t"/>
          <a:lstStyle/>
          <a:p>
            <a:pPr algn="l"/>
            <a:r>
              <a:rPr sz="1800" b="1" i="0" spc="150">
                <a:solidFill>
                  <a:srgbClr val="5E534A"/>
                </a:solidFill>
                <a:latin typeface="Arial"/>
              </a:rPr>
              <a:t>STAGE</a:t>
            </a:r>
          </a:p>
        </p:txBody>
      </p:sp>
      <p:sp>
        <p:nvSpPr>
          <p:cNvPr id="5" name="TextBox 4"/>
          <p:cNvSpPr txBox="1"/>
          <p:nvPr/>
        </p:nvSpPr>
        <p:spPr>
          <a:xfrm>
            <a:off x="3905250" y="2838450"/>
            <a:ext cx="6877050" cy="381000"/>
          </a:xfrm>
          <a:prstGeom prst="rect">
            <a:avLst/>
          </a:prstGeom>
          <a:noFill/>
        </p:spPr>
        <p:txBody>
          <a:bodyPr wrap="square" lIns="0" rIns="0" tIns="0" bIns="0" anchor="t"/>
          <a:lstStyle/>
          <a:p>
            <a:pPr algn="l"/>
            <a:r>
              <a:rPr sz="1800" b="1" i="0" spc="150">
                <a:solidFill>
                  <a:srgbClr val="5E534A"/>
                </a:solidFill>
                <a:latin typeface="Arial"/>
              </a:rPr>
              <a:t>WHAT THE CUSTOMER DID</a:t>
            </a:r>
          </a:p>
        </p:txBody>
      </p:sp>
      <p:sp>
        <p:nvSpPr>
          <p:cNvPr id="6" name="TextBox 5"/>
          <p:cNvSpPr txBox="1"/>
          <p:nvPr/>
        </p:nvSpPr>
        <p:spPr>
          <a:xfrm>
            <a:off x="11029950" y="2838450"/>
            <a:ext cx="6229350" cy="381000"/>
          </a:xfrm>
          <a:prstGeom prst="rect">
            <a:avLst/>
          </a:prstGeom>
          <a:noFill/>
        </p:spPr>
        <p:txBody>
          <a:bodyPr wrap="square" lIns="0" rIns="0" tIns="0" bIns="0" anchor="t"/>
          <a:lstStyle/>
          <a:p>
            <a:pPr algn="l"/>
            <a:r>
              <a:rPr sz="1800" b="1" i="0" spc="150">
                <a:solidFill>
                  <a:srgbClr val="5E534A"/>
                </a:solidFill>
                <a:latin typeface="Arial"/>
              </a:rPr>
              <a:t>HOW IT FELT</a:t>
            </a:r>
          </a:p>
        </p:txBody>
      </p:sp>
      <p:sp>
        <p:nvSpPr>
          <p:cNvPr id="7" name="Rectangle 6"/>
          <p:cNvSpPr/>
          <p:nvPr/>
        </p:nvSpPr>
        <p:spPr>
          <a:xfrm>
            <a:off x="1047750" y="33528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47750" y="4381500"/>
            <a:ext cx="16192500" cy="7524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47750" y="5886450"/>
            <a:ext cx="16192500" cy="7524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7750" y="7391400"/>
            <a:ext cx="16192500" cy="75247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7750" y="8143875"/>
            <a:ext cx="16192500" cy="10572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14450" y="3829050"/>
            <a:ext cx="2343150" cy="352425"/>
          </a:xfrm>
          <a:prstGeom prst="rect">
            <a:avLst/>
          </a:prstGeom>
          <a:noFill/>
        </p:spPr>
        <p:txBody>
          <a:bodyPr wrap="square" lIns="0" rIns="0" tIns="0" bIns="0" anchor="t"/>
          <a:lstStyle/>
          <a:p>
            <a:pPr algn="l">
              <a:lnSpc>
                <a:spcPct val="102000"/>
              </a:lnSpc>
            </a:pPr>
            <a:r>
              <a:rPr sz="1800" b="1" i="0">
                <a:solidFill>
                  <a:srgbClr val="201914"/>
                </a:solidFill>
                <a:latin typeface="Arial"/>
              </a:rPr>
              <a:t>The idea</a:t>
            </a:r>
          </a:p>
        </p:txBody>
      </p:sp>
      <p:sp>
        <p:nvSpPr>
          <p:cNvPr id="13" name="TextBox 12"/>
          <p:cNvSpPr txBox="1"/>
          <p:nvPr/>
        </p:nvSpPr>
        <p:spPr>
          <a:xfrm>
            <a:off x="3905250" y="3829050"/>
            <a:ext cx="6877050" cy="352425"/>
          </a:xfrm>
          <a:prstGeom prst="rect">
            <a:avLst/>
          </a:prstGeom>
          <a:noFill/>
        </p:spPr>
        <p:txBody>
          <a:bodyPr wrap="square" lIns="0" rIns="0" tIns="0" bIns="0" anchor="t"/>
          <a:lstStyle/>
          <a:p>
            <a:pPr algn="l">
              <a:lnSpc>
                <a:spcPct val="102000"/>
              </a:lnSpc>
            </a:pPr>
            <a:r>
              <a:rPr sz="1800" b="0" i="0">
                <a:solidFill>
                  <a:srgbClr val="6C6158"/>
                </a:solidFill>
                <a:latin typeface="Arial"/>
              </a:rPr>
              <a:t>Somebody raised it; nothing happened for weeks</a:t>
            </a:r>
          </a:p>
        </p:txBody>
      </p:sp>
      <p:sp>
        <p:nvSpPr>
          <p:cNvPr id="14" name="TextBox 13"/>
          <p:cNvSpPr txBox="1"/>
          <p:nvPr/>
        </p:nvSpPr>
        <p:spPr>
          <a:xfrm>
            <a:off x="11029950" y="3829050"/>
            <a:ext cx="6229350" cy="352425"/>
          </a:xfrm>
          <a:prstGeom prst="rect">
            <a:avLst/>
          </a:prstGeom>
          <a:noFill/>
        </p:spPr>
        <p:txBody>
          <a:bodyPr wrap="square" lIns="0" rIns="0" tIns="0" bIns="0" anchor="t"/>
          <a:lstStyle/>
          <a:p>
            <a:pPr algn="l">
              <a:lnSpc>
                <a:spcPct val="102000"/>
              </a:lnSpc>
            </a:pPr>
            <a:r>
              <a:rPr sz="1800" b="0" i="0">
                <a:solidFill>
                  <a:srgbClr val="6C6158"/>
                </a:solidFill>
                <a:latin typeface="Arial"/>
              </a:rPr>
              <a:t>Excited</a:t>
            </a:r>
          </a:p>
        </p:txBody>
      </p:sp>
      <p:sp>
        <p:nvSpPr>
          <p:cNvPr id="15" name="Rectangle 14"/>
          <p:cNvSpPr/>
          <p:nvPr/>
        </p:nvSpPr>
        <p:spPr>
          <a:xfrm>
            <a:off x="1047750" y="43719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14450" y="4581525"/>
            <a:ext cx="2343150" cy="352425"/>
          </a:xfrm>
          <a:prstGeom prst="rect">
            <a:avLst/>
          </a:prstGeom>
          <a:noFill/>
        </p:spPr>
        <p:txBody>
          <a:bodyPr wrap="square" lIns="0" rIns="0" tIns="0" bIns="0" anchor="t"/>
          <a:lstStyle/>
          <a:p>
            <a:pPr algn="l">
              <a:lnSpc>
                <a:spcPct val="102000"/>
              </a:lnSpc>
            </a:pPr>
            <a:r>
              <a:rPr sz="1800" b="1" i="0">
                <a:solidFill>
                  <a:srgbClr val="201914"/>
                </a:solidFill>
                <a:latin typeface="Arial"/>
              </a:rPr>
              <a:t>Asking around</a:t>
            </a:r>
          </a:p>
        </p:txBody>
      </p:sp>
      <p:sp>
        <p:nvSpPr>
          <p:cNvPr id="17" name="TextBox 16"/>
          <p:cNvSpPr txBox="1"/>
          <p:nvPr/>
        </p:nvSpPr>
        <p:spPr>
          <a:xfrm>
            <a:off x="3905250" y="4581525"/>
            <a:ext cx="6877050" cy="352425"/>
          </a:xfrm>
          <a:prstGeom prst="rect">
            <a:avLst/>
          </a:prstGeom>
          <a:noFill/>
        </p:spPr>
        <p:txBody>
          <a:bodyPr wrap="square" lIns="0" rIns="0" tIns="0" bIns="0" anchor="t"/>
          <a:lstStyle/>
          <a:p>
            <a:pPr algn="l">
              <a:lnSpc>
                <a:spcPct val="102000"/>
              </a:lnSpc>
            </a:pPr>
            <a:r>
              <a:rPr sz="1800" b="0" i="0">
                <a:solidFill>
                  <a:srgbClr val="6C6158"/>
                </a:solidFill>
                <a:latin typeface="Arial"/>
              </a:rPr>
              <a:t>Called relatives; collected contradictory advice</a:t>
            </a:r>
          </a:p>
        </p:txBody>
      </p:sp>
      <p:sp>
        <p:nvSpPr>
          <p:cNvPr id="18" name="TextBox 17"/>
          <p:cNvSpPr txBox="1"/>
          <p:nvPr/>
        </p:nvSpPr>
        <p:spPr>
          <a:xfrm>
            <a:off x="11029950" y="4581525"/>
            <a:ext cx="6229350" cy="352425"/>
          </a:xfrm>
          <a:prstGeom prst="rect">
            <a:avLst/>
          </a:prstGeom>
          <a:noFill/>
        </p:spPr>
        <p:txBody>
          <a:bodyPr wrap="square" lIns="0" rIns="0" tIns="0" bIns="0" anchor="t"/>
          <a:lstStyle/>
          <a:p>
            <a:pPr algn="l">
              <a:lnSpc>
                <a:spcPct val="102000"/>
              </a:lnSpc>
            </a:pPr>
            <a:r>
              <a:rPr sz="1800" b="0" i="0">
                <a:solidFill>
                  <a:srgbClr val="6C6158"/>
                </a:solidFill>
                <a:latin typeface="Arial"/>
              </a:rPr>
              <a:t>Interested, slightly confused</a:t>
            </a:r>
          </a:p>
        </p:txBody>
      </p:sp>
      <p:sp>
        <p:nvSpPr>
          <p:cNvPr id="19" name="Rectangle 18"/>
          <p:cNvSpPr/>
          <p:nvPr/>
        </p:nvSpPr>
        <p:spPr>
          <a:xfrm>
            <a:off x="1047750" y="51244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14450" y="5334000"/>
            <a:ext cx="2343150" cy="352425"/>
          </a:xfrm>
          <a:prstGeom prst="rect">
            <a:avLst/>
          </a:prstGeom>
          <a:noFill/>
        </p:spPr>
        <p:txBody>
          <a:bodyPr wrap="square" lIns="0" rIns="0" tIns="0" bIns="0" anchor="t"/>
          <a:lstStyle/>
          <a:p>
            <a:pPr algn="l">
              <a:lnSpc>
                <a:spcPct val="102000"/>
              </a:lnSpc>
            </a:pPr>
            <a:r>
              <a:rPr sz="1800" b="1" i="0">
                <a:solidFill>
                  <a:srgbClr val="201914"/>
                </a:solidFill>
                <a:latin typeface="Arial"/>
              </a:rPr>
              <a:t>Two agents</a:t>
            </a:r>
          </a:p>
        </p:txBody>
      </p:sp>
      <p:sp>
        <p:nvSpPr>
          <p:cNvPr id="21" name="TextBox 20"/>
          <p:cNvSpPr txBox="1"/>
          <p:nvPr/>
        </p:nvSpPr>
        <p:spPr>
          <a:xfrm>
            <a:off x="3905250" y="5334000"/>
            <a:ext cx="6877050" cy="352425"/>
          </a:xfrm>
          <a:prstGeom prst="rect">
            <a:avLst/>
          </a:prstGeom>
          <a:noFill/>
        </p:spPr>
        <p:txBody>
          <a:bodyPr wrap="square" lIns="0" rIns="0" tIns="0" bIns="0" anchor="t"/>
          <a:lstStyle/>
          <a:p>
            <a:pPr algn="l">
              <a:lnSpc>
                <a:spcPct val="102000"/>
              </a:lnSpc>
            </a:pPr>
            <a:r>
              <a:rPr sz="1800" b="0" i="0">
                <a:solidFill>
                  <a:srgbClr val="6C6158"/>
                </a:solidFill>
                <a:latin typeface="Arial"/>
              </a:rPr>
              <a:t>A day off work, two offices, two prices for two different packages</a:t>
            </a:r>
          </a:p>
        </p:txBody>
      </p:sp>
      <p:sp>
        <p:nvSpPr>
          <p:cNvPr id="22" name="TextBox 21"/>
          <p:cNvSpPr txBox="1"/>
          <p:nvPr/>
        </p:nvSpPr>
        <p:spPr>
          <a:xfrm>
            <a:off x="11029950" y="5334000"/>
            <a:ext cx="6229350" cy="352425"/>
          </a:xfrm>
          <a:prstGeom prst="rect">
            <a:avLst/>
          </a:prstGeom>
          <a:noFill/>
        </p:spPr>
        <p:txBody>
          <a:bodyPr wrap="square" lIns="0" rIns="0" tIns="0" bIns="0" anchor="t"/>
          <a:lstStyle/>
          <a:p>
            <a:pPr algn="l">
              <a:lnSpc>
                <a:spcPct val="102000"/>
              </a:lnSpc>
            </a:pPr>
            <a:r>
              <a:rPr sz="1800" b="0" i="0">
                <a:solidFill>
                  <a:srgbClr val="6C6158"/>
                </a:solidFill>
                <a:latin typeface="Arial"/>
              </a:rPr>
              <a:t>Exhausted, and no more confident</a:t>
            </a:r>
          </a:p>
        </p:txBody>
      </p:sp>
      <p:sp>
        <p:nvSpPr>
          <p:cNvPr id="23" name="Rectangle 22"/>
          <p:cNvSpPr/>
          <p:nvPr/>
        </p:nvSpPr>
        <p:spPr>
          <a:xfrm>
            <a:off x="1047750" y="58769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14450" y="6086475"/>
            <a:ext cx="2343150" cy="352425"/>
          </a:xfrm>
          <a:prstGeom prst="rect">
            <a:avLst/>
          </a:prstGeom>
          <a:noFill/>
        </p:spPr>
        <p:txBody>
          <a:bodyPr wrap="square" lIns="0" rIns="0" tIns="0" bIns="0" anchor="t"/>
          <a:lstStyle/>
          <a:p>
            <a:pPr algn="l">
              <a:lnSpc>
                <a:spcPct val="102000"/>
              </a:lnSpc>
            </a:pPr>
            <a:r>
              <a:rPr sz="1800" b="1" i="0">
                <a:solidFill>
                  <a:srgbClr val="201914"/>
                </a:solidFill>
                <a:latin typeface="Arial"/>
              </a:rPr>
              <a:t>Paying</a:t>
            </a:r>
          </a:p>
        </p:txBody>
      </p:sp>
      <p:sp>
        <p:nvSpPr>
          <p:cNvPr id="25" name="TextBox 24"/>
          <p:cNvSpPr txBox="1"/>
          <p:nvPr/>
        </p:nvSpPr>
        <p:spPr>
          <a:xfrm>
            <a:off x="3905250" y="6086475"/>
            <a:ext cx="6877050" cy="352425"/>
          </a:xfrm>
          <a:prstGeom prst="rect">
            <a:avLst/>
          </a:prstGeom>
          <a:noFill/>
        </p:spPr>
        <p:txBody>
          <a:bodyPr wrap="square" lIns="0" rIns="0" tIns="0" bIns="0" anchor="t"/>
          <a:lstStyle/>
          <a:p>
            <a:pPr algn="l">
              <a:lnSpc>
                <a:spcPct val="102000"/>
              </a:lnSpc>
            </a:pPr>
            <a:r>
              <a:rPr sz="1800" b="0" i="0">
                <a:solidFill>
                  <a:srgbClr val="6C6158"/>
                </a:solidFill>
                <a:latin typeface="Arial"/>
              </a:rPr>
              <a:t>Handed over cash against a printed voucher</a:t>
            </a:r>
          </a:p>
        </p:txBody>
      </p:sp>
      <p:sp>
        <p:nvSpPr>
          <p:cNvPr id="26" name="TextBox 25"/>
          <p:cNvSpPr txBox="1"/>
          <p:nvPr/>
        </p:nvSpPr>
        <p:spPr>
          <a:xfrm>
            <a:off x="11029950" y="6086475"/>
            <a:ext cx="6229350" cy="352425"/>
          </a:xfrm>
          <a:prstGeom prst="rect">
            <a:avLst/>
          </a:prstGeom>
          <a:noFill/>
        </p:spPr>
        <p:txBody>
          <a:bodyPr wrap="square" lIns="0" rIns="0" tIns="0" bIns="0" anchor="t"/>
          <a:lstStyle/>
          <a:p>
            <a:pPr algn="l">
              <a:lnSpc>
                <a:spcPct val="102000"/>
              </a:lnSpc>
            </a:pPr>
            <a:r>
              <a:rPr sz="1800" b="0" i="0">
                <a:solidFill>
                  <a:srgbClr val="6C6158"/>
                </a:solidFill>
                <a:latin typeface="Arial"/>
              </a:rPr>
              <a:t>Anxious — the deepest trough of all</a:t>
            </a:r>
          </a:p>
        </p:txBody>
      </p:sp>
      <p:sp>
        <p:nvSpPr>
          <p:cNvPr id="27" name="Rectangle 26"/>
          <p:cNvSpPr/>
          <p:nvPr/>
        </p:nvSpPr>
        <p:spPr>
          <a:xfrm>
            <a:off x="1047750" y="66294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14450" y="6838950"/>
            <a:ext cx="2343150" cy="352425"/>
          </a:xfrm>
          <a:prstGeom prst="rect">
            <a:avLst/>
          </a:prstGeom>
          <a:noFill/>
        </p:spPr>
        <p:txBody>
          <a:bodyPr wrap="square" lIns="0" rIns="0" tIns="0" bIns="0" anchor="t"/>
          <a:lstStyle/>
          <a:p>
            <a:pPr algn="l">
              <a:lnSpc>
                <a:spcPct val="102000"/>
              </a:lnSpc>
            </a:pPr>
            <a:r>
              <a:rPr sz="1800" b="1" i="0">
                <a:solidFill>
                  <a:srgbClr val="201914"/>
                </a:solidFill>
                <a:latin typeface="Arial"/>
              </a:rPr>
              <a:t>The wait</a:t>
            </a:r>
          </a:p>
        </p:txBody>
      </p:sp>
      <p:sp>
        <p:nvSpPr>
          <p:cNvPr id="29" name="TextBox 28"/>
          <p:cNvSpPr txBox="1"/>
          <p:nvPr/>
        </p:nvSpPr>
        <p:spPr>
          <a:xfrm>
            <a:off x="3905250" y="6838950"/>
            <a:ext cx="6877050" cy="352425"/>
          </a:xfrm>
          <a:prstGeom prst="rect">
            <a:avLst/>
          </a:prstGeom>
          <a:noFill/>
        </p:spPr>
        <p:txBody>
          <a:bodyPr wrap="square" lIns="0" rIns="0" tIns="0" bIns="0" anchor="t"/>
          <a:lstStyle/>
          <a:p>
            <a:pPr algn="l">
              <a:lnSpc>
                <a:spcPct val="102000"/>
              </a:lnSpc>
            </a:pPr>
            <a:r>
              <a:rPr sz="1800" b="0" i="0">
                <a:solidFill>
                  <a:srgbClr val="6C6158"/>
                </a:solidFill>
                <a:latin typeface="Arial"/>
              </a:rPr>
              <a:t>Days or weeks with no confirmation of anything</a:t>
            </a:r>
          </a:p>
        </p:txBody>
      </p:sp>
      <p:sp>
        <p:nvSpPr>
          <p:cNvPr id="30" name="TextBox 29"/>
          <p:cNvSpPr txBox="1"/>
          <p:nvPr/>
        </p:nvSpPr>
        <p:spPr>
          <a:xfrm>
            <a:off x="11029950" y="6838950"/>
            <a:ext cx="6229350" cy="352425"/>
          </a:xfrm>
          <a:prstGeom prst="rect">
            <a:avLst/>
          </a:prstGeom>
          <a:noFill/>
        </p:spPr>
        <p:txBody>
          <a:bodyPr wrap="square" lIns="0" rIns="0" tIns="0" bIns="0" anchor="t"/>
          <a:lstStyle/>
          <a:p>
            <a:pPr algn="l">
              <a:lnSpc>
                <a:spcPct val="102000"/>
              </a:lnSpc>
            </a:pPr>
            <a:r>
              <a:rPr sz="1800" b="0" i="0">
                <a:solidFill>
                  <a:srgbClr val="6C6158"/>
                </a:solidFill>
                <a:latin typeface="Arial"/>
              </a:rPr>
              <a:t>Low-grade dread. Checking the voucher</a:t>
            </a:r>
          </a:p>
        </p:txBody>
      </p:sp>
      <p:sp>
        <p:nvSpPr>
          <p:cNvPr id="31" name="Rectangle 30"/>
          <p:cNvSpPr/>
          <p:nvPr/>
        </p:nvSpPr>
        <p:spPr>
          <a:xfrm>
            <a:off x="1047750" y="73818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14450" y="7591425"/>
            <a:ext cx="2343150" cy="352425"/>
          </a:xfrm>
          <a:prstGeom prst="rect">
            <a:avLst/>
          </a:prstGeom>
          <a:noFill/>
        </p:spPr>
        <p:txBody>
          <a:bodyPr wrap="square" lIns="0" rIns="0" tIns="0" bIns="0" anchor="t"/>
          <a:lstStyle/>
          <a:p>
            <a:pPr algn="l">
              <a:lnSpc>
                <a:spcPct val="102000"/>
              </a:lnSpc>
            </a:pPr>
            <a:r>
              <a:rPr sz="1800" b="1" i="0">
                <a:solidFill>
                  <a:srgbClr val="201914"/>
                </a:solidFill>
                <a:latin typeface="Arial"/>
              </a:rPr>
              <a:t>The holiday</a:t>
            </a:r>
          </a:p>
        </p:txBody>
      </p:sp>
      <p:sp>
        <p:nvSpPr>
          <p:cNvPr id="33" name="TextBox 32"/>
          <p:cNvSpPr txBox="1"/>
          <p:nvPr/>
        </p:nvSpPr>
        <p:spPr>
          <a:xfrm>
            <a:off x="3905250" y="7591425"/>
            <a:ext cx="6877050" cy="352425"/>
          </a:xfrm>
          <a:prstGeom prst="rect">
            <a:avLst/>
          </a:prstGeom>
          <a:noFill/>
        </p:spPr>
        <p:txBody>
          <a:bodyPr wrap="square" lIns="0" rIns="0" tIns="0" bIns="0" anchor="t"/>
          <a:lstStyle/>
          <a:p>
            <a:pPr algn="l">
              <a:lnSpc>
                <a:spcPct val="102000"/>
              </a:lnSpc>
            </a:pPr>
            <a:r>
              <a:rPr sz="1800" b="0" i="0">
                <a:solidFill>
                  <a:srgbClr val="6C6158"/>
                </a:solidFill>
                <a:latin typeface="Arial"/>
              </a:rPr>
              <a:t>Travelled, stayed, returned</a:t>
            </a:r>
          </a:p>
        </p:txBody>
      </p:sp>
      <p:sp>
        <p:nvSpPr>
          <p:cNvPr id="34" name="TextBox 33"/>
          <p:cNvSpPr txBox="1"/>
          <p:nvPr/>
        </p:nvSpPr>
        <p:spPr>
          <a:xfrm>
            <a:off x="11029950" y="7591425"/>
            <a:ext cx="6229350" cy="352425"/>
          </a:xfrm>
          <a:prstGeom prst="rect">
            <a:avLst/>
          </a:prstGeom>
          <a:noFill/>
        </p:spPr>
        <p:txBody>
          <a:bodyPr wrap="square" lIns="0" rIns="0" tIns="0" bIns="0" anchor="t"/>
          <a:lstStyle/>
          <a:p>
            <a:pPr algn="l">
              <a:lnSpc>
                <a:spcPct val="102000"/>
              </a:lnSpc>
            </a:pPr>
            <a:r>
              <a:rPr sz="1800" b="0" i="0">
                <a:solidFill>
                  <a:srgbClr val="6C6158"/>
                </a:solidFill>
                <a:latin typeface="Arial"/>
              </a:rPr>
              <a:t>High. This was never the problem</a:t>
            </a:r>
          </a:p>
        </p:txBody>
      </p:sp>
      <p:sp>
        <p:nvSpPr>
          <p:cNvPr id="35" name="Rectangle 34"/>
          <p:cNvSpPr/>
          <p:nvPr/>
        </p:nvSpPr>
        <p:spPr>
          <a:xfrm>
            <a:off x="1047750" y="81343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14450" y="8486775"/>
            <a:ext cx="2343150" cy="371475"/>
          </a:xfrm>
          <a:prstGeom prst="rect">
            <a:avLst/>
          </a:prstGeom>
          <a:noFill/>
        </p:spPr>
        <p:txBody>
          <a:bodyPr wrap="square" lIns="0" rIns="0" tIns="0" bIns="0" anchor="t"/>
          <a:lstStyle/>
          <a:p>
            <a:pPr algn="l">
              <a:lnSpc>
                <a:spcPct val="102000"/>
              </a:lnSpc>
            </a:pPr>
            <a:r>
              <a:rPr sz="1950" b="1" i="0">
                <a:solidFill>
                  <a:srgbClr val="F5F1E9"/>
                </a:solidFill>
                <a:latin typeface="Arial"/>
              </a:rPr>
              <a:t>The telling</a:t>
            </a:r>
          </a:p>
        </p:txBody>
      </p:sp>
      <p:sp>
        <p:nvSpPr>
          <p:cNvPr id="37" name="TextBox 36"/>
          <p:cNvSpPr txBox="1"/>
          <p:nvPr/>
        </p:nvSpPr>
        <p:spPr>
          <a:xfrm>
            <a:off x="3905250" y="8486775"/>
            <a:ext cx="6877050" cy="371475"/>
          </a:xfrm>
          <a:prstGeom prst="rect">
            <a:avLst/>
          </a:prstGeom>
          <a:noFill/>
        </p:spPr>
        <p:txBody>
          <a:bodyPr wrap="square" lIns="0" rIns="0" tIns="0" bIns="0" anchor="t"/>
          <a:lstStyle/>
          <a:p>
            <a:pPr algn="l">
              <a:lnSpc>
                <a:spcPct val="102000"/>
              </a:lnSpc>
            </a:pPr>
            <a:r>
              <a:rPr sz="1950" b="1" i="0">
                <a:solidFill>
                  <a:srgbClr val="F5F1E9"/>
                </a:solidFill>
                <a:latin typeface="Arial"/>
              </a:rPr>
              <a:t>Described it to other families</a:t>
            </a:r>
          </a:p>
        </p:txBody>
      </p:sp>
      <p:sp>
        <p:nvSpPr>
          <p:cNvPr id="38" name="TextBox 37"/>
          <p:cNvSpPr txBox="1"/>
          <p:nvPr/>
        </p:nvSpPr>
        <p:spPr>
          <a:xfrm>
            <a:off x="11029950" y="8486775"/>
            <a:ext cx="6229350" cy="371475"/>
          </a:xfrm>
          <a:prstGeom prst="rect">
            <a:avLst/>
          </a:prstGeom>
          <a:noFill/>
        </p:spPr>
        <p:txBody>
          <a:bodyPr wrap="square" lIns="0" rIns="0" tIns="0" bIns="0" anchor="t"/>
          <a:lstStyle/>
          <a:p>
            <a:pPr algn="l">
              <a:lnSpc>
                <a:spcPct val="102000"/>
              </a:lnSpc>
            </a:pPr>
            <a:r>
              <a:rPr sz="1950" b="1" i="0">
                <a:solidFill>
                  <a:srgbClr val="FFAF9F"/>
                </a:solidFill>
                <a:latin typeface="Arial"/>
              </a:rPr>
              <a:t>High — and the most valuable stage of 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 SAME JOURNEY, DRAWN AS A LINE</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The troughs are where the business is</a:t>
            </a:r>
          </a:p>
        </p:txBody>
      </p:sp>
      <p:sp>
        <p:nvSpPr>
          <p:cNvPr id="4" name="Rectangle 3"/>
          <p:cNvSpPr/>
          <p:nvPr/>
        </p:nvSpPr>
        <p:spPr>
          <a:xfrm>
            <a:off x="1047750" y="62865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335250" y="5943600"/>
            <a:ext cx="1905000" cy="285750"/>
          </a:xfrm>
          <a:prstGeom prst="rect">
            <a:avLst/>
          </a:prstGeom>
          <a:noFill/>
        </p:spPr>
        <p:txBody>
          <a:bodyPr wrap="square" lIns="0" rIns="0" tIns="0" bIns="0" anchor="t"/>
          <a:lstStyle/>
          <a:p>
            <a:pPr algn="r"/>
            <a:r>
              <a:rPr sz="1800" b="1" i="0" spc="150">
                <a:solidFill>
                  <a:srgbClr val="6C6158"/>
                </a:solidFill>
                <a:latin typeface="Arial"/>
              </a:rPr>
              <a:t>POSITIVE</a:t>
            </a:r>
          </a:p>
        </p:txBody>
      </p:sp>
      <p:sp>
        <p:nvSpPr>
          <p:cNvPr id="6" name="TextBox 5"/>
          <p:cNvSpPr txBox="1"/>
          <p:nvPr/>
        </p:nvSpPr>
        <p:spPr>
          <a:xfrm>
            <a:off x="15335250" y="6419850"/>
            <a:ext cx="1905000" cy="285750"/>
          </a:xfrm>
          <a:prstGeom prst="rect">
            <a:avLst/>
          </a:prstGeom>
          <a:noFill/>
        </p:spPr>
        <p:txBody>
          <a:bodyPr wrap="square" lIns="0" rIns="0" tIns="0" bIns="0" anchor="t"/>
          <a:lstStyle/>
          <a:p>
            <a:pPr algn="r"/>
            <a:r>
              <a:rPr sz="1800" b="1" i="0" spc="150">
                <a:solidFill>
                  <a:srgbClr val="6C6158"/>
                </a:solidFill>
                <a:latin typeface="Arial"/>
              </a:rPr>
              <a:t>NEGATIVE</a:t>
            </a:r>
          </a:p>
        </p:txBody>
      </p:sp>
      <p:cxnSp>
        <p:nvCxnSpPr>
          <p:cNvPr id="7" name="Connector 6"/>
          <p:cNvCxnSpPr/>
          <p:nvPr/>
        </p:nvCxnSpPr>
        <p:spPr>
          <a:xfrm>
            <a:off x="1619250" y="4857750"/>
            <a:ext cx="2149929" cy="95250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769179" y="5810250"/>
            <a:ext cx="2149928" cy="95250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919107" y="6762750"/>
            <a:ext cx="2149929" cy="47625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69036" y="7239000"/>
            <a:ext cx="2149928" cy="47625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0218964" y="7239000"/>
            <a:ext cx="2149929" cy="47625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2368893" y="4857750"/>
            <a:ext cx="2149928" cy="238125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4518821" y="4857750"/>
            <a:ext cx="2149929" cy="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504950" y="4743450"/>
            <a:ext cx="228600" cy="228600"/>
          </a:xfrm>
          <a:prstGeom prst="ellipse">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5312" y="4143375"/>
            <a:ext cx="2047875" cy="428625"/>
          </a:xfrm>
          <a:prstGeom prst="rect">
            <a:avLst/>
          </a:prstGeom>
          <a:noFill/>
        </p:spPr>
        <p:txBody>
          <a:bodyPr wrap="square" lIns="0" rIns="0" tIns="0" bIns="0" anchor="t"/>
          <a:lstStyle/>
          <a:p>
            <a:pPr algn="ctr">
              <a:lnSpc>
                <a:spcPct val="105000"/>
              </a:lnSpc>
            </a:pPr>
            <a:r>
              <a:rPr sz="2100" b="1" i="0">
                <a:solidFill>
                  <a:srgbClr val="201914"/>
                </a:solidFill>
                <a:latin typeface="Arial"/>
              </a:rPr>
              <a:t>The idea</a:t>
            </a:r>
          </a:p>
        </p:txBody>
      </p:sp>
      <p:sp>
        <p:nvSpPr>
          <p:cNvPr id="16" name="Oval 15"/>
          <p:cNvSpPr/>
          <p:nvPr/>
        </p:nvSpPr>
        <p:spPr>
          <a:xfrm>
            <a:off x="3654879" y="5695950"/>
            <a:ext cx="228600" cy="228600"/>
          </a:xfrm>
          <a:prstGeom prst="ellipse">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5241" y="5095875"/>
            <a:ext cx="2047875" cy="428625"/>
          </a:xfrm>
          <a:prstGeom prst="rect">
            <a:avLst/>
          </a:prstGeom>
          <a:noFill/>
        </p:spPr>
        <p:txBody>
          <a:bodyPr wrap="square" lIns="0" rIns="0" tIns="0" bIns="0" anchor="t"/>
          <a:lstStyle/>
          <a:p>
            <a:pPr algn="ctr">
              <a:lnSpc>
                <a:spcPct val="105000"/>
              </a:lnSpc>
            </a:pPr>
            <a:r>
              <a:rPr sz="2100" b="1" i="0">
                <a:solidFill>
                  <a:srgbClr val="201914"/>
                </a:solidFill>
                <a:latin typeface="Arial"/>
              </a:rPr>
              <a:t>Asking around</a:t>
            </a:r>
          </a:p>
        </p:txBody>
      </p:sp>
      <p:sp>
        <p:nvSpPr>
          <p:cNvPr id="18" name="Oval 17"/>
          <p:cNvSpPr/>
          <p:nvPr/>
        </p:nvSpPr>
        <p:spPr>
          <a:xfrm>
            <a:off x="5804807" y="6648450"/>
            <a:ext cx="228600" cy="228600"/>
          </a:xfrm>
          <a:prstGeom prst="ellipse">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95170" y="7010400"/>
            <a:ext cx="2047875" cy="428625"/>
          </a:xfrm>
          <a:prstGeom prst="rect">
            <a:avLst/>
          </a:prstGeom>
          <a:noFill/>
        </p:spPr>
        <p:txBody>
          <a:bodyPr wrap="square" lIns="0" rIns="0" tIns="0" bIns="0" anchor="t"/>
          <a:lstStyle/>
          <a:p>
            <a:pPr algn="ctr">
              <a:lnSpc>
                <a:spcPct val="105000"/>
              </a:lnSpc>
            </a:pPr>
            <a:r>
              <a:rPr sz="2100" b="1" i="0">
                <a:solidFill>
                  <a:srgbClr val="B94739"/>
                </a:solidFill>
                <a:latin typeface="Arial"/>
              </a:rPr>
              <a:t>Two agents</a:t>
            </a:r>
          </a:p>
        </p:txBody>
      </p:sp>
      <p:sp>
        <p:nvSpPr>
          <p:cNvPr id="20" name="Oval 19"/>
          <p:cNvSpPr/>
          <p:nvPr/>
        </p:nvSpPr>
        <p:spPr>
          <a:xfrm>
            <a:off x="7954736" y="7124700"/>
            <a:ext cx="228600" cy="228600"/>
          </a:xfrm>
          <a:prstGeom prst="ellipse">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5098" y="7486650"/>
            <a:ext cx="2047875" cy="428625"/>
          </a:xfrm>
          <a:prstGeom prst="rect">
            <a:avLst/>
          </a:prstGeom>
          <a:noFill/>
        </p:spPr>
        <p:txBody>
          <a:bodyPr wrap="square" lIns="0" rIns="0" tIns="0" bIns="0" anchor="t"/>
          <a:lstStyle/>
          <a:p>
            <a:pPr algn="ctr">
              <a:lnSpc>
                <a:spcPct val="105000"/>
              </a:lnSpc>
            </a:pPr>
            <a:r>
              <a:rPr sz="2100" b="1" i="0">
                <a:solidFill>
                  <a:srgbClr val="B94739"/>
                </a:solidFill>
                <a:latin typeface="Arial"/>
              </a:rPr>
              <a:t>Comparing</a:t>
            </a:r>
          </a:p>
        </p:txBody>
      </p:sp>
      <p:sp>
        <p:nvSpPr>
          <p:cNvPr id="22" name="Oval 21"/>
          <p:cNvSpPr/>
          <p:nvPr/>
        </p:nvSpPr>
        <p:spPr>
          <a:xfrm>
            <a:off x="10104664" y="7600950"/>
            <a:ext cx="228600" cy="228600"/>
          </a:xfrm>
          <a:prstGeom prst="ellipse">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95027" y="7962900"/>
            <a:ext cx="2047875" cy="428625"/>
          </a:xfrm>
          <a:prstGeom prst="rect">
            <a:avLst/>
          </a:prstGeom>
          <a:noFill/>
        </p:spPr>
        <p:txBody>
          <a:bodyPr wrap="square" lIns="0" rIns="0" tIns="0" bIns="0" anchor="t"/>
          <a:lstStyle/>
          <a:p>
            <a:pPr algn="ctr">
              <a:lnSpc>
                <a:spcPct val="105000"/>
              </a:lnSpc>
            </a:pPr>
            <a:r>
              <a:rPr sz="2100" b="1" i="0">
                <a:solidFill>
                  <a:srgbClr val="B94739"/>
                </a:solidFill>
                <a:latin typeface="Arial"/>
              </a:rPr>
              <a:t>Paying</a:t>
            </a:r>
          </a:p>
        </p:txBody>
      </p:sp>
      <p:sp>
        <p:nvSpPr>
          <p:cNvPr id="24" name="Oval 23"/>
          <p:cNvSpPr/>
          <p:nvPr/>
        </p:nvSpPr>
        <p:spPr>
          <a:xfrm>
            <a:off x="12254593" y="7124700"/>
            <a:ext cx="228600" cy="228600"/>
          </a:xfrm>
          <a:prstGeom prst="ellipse">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344955" y="7486650"/>
            <a:ext cx="2047875" cy="428625"/>
          </a:xfrm>
          <a:prstGeom prst="rect">
            <a:avLst/>
          </a:prstGeom>
          <a:noFill/>
        </p:spPr>
        <p:txBody>
          <a:bodyPr wrap="square" lIns="0" rIns="0" tIns="0" bIns="0" anchor="t"/>
          <a:lstStyle/>
          <a:p>
            <a:pPr algn="ctr">
              <a:lnSpc>
                <a:spcPct val="105000"/>
              </a:lnSpc>
            </a:pPr>
            <a:r>
              <a:rPr sz="2100" b="1" i="0">
                <a:solidFill>
                  <a:srgbClr val="B94739"/>
                </a:solidFill>
                <a:latin typeface="Arial"/>
              </a:rPr>
              <a:t>The wait</a:t>
            </a:r>
          </a:p>
        </p:txBody>
      </p:sp>
      <p:sp>
        <p:nvSpPr>
          <p:cNvPr id="26" name="Oval 25"/>
          <p:cNvSpPr/>
          <p:nvPr/>
        </p:nvSpPr>
        <p:spPr>
          <a:xfrm>
            <a:off x="14404521" y="4743450"/>
            <a:ext cx="228600" cy="228600"/>
          </a:xfrm>
          <a:prstGeom prst="ellipse">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494884" y="4143375"/>
            <a:ext cx="2047875" cy="428625"/>
          </a:xfrm>
          <a:prstGeom prst="rect">
            <a:avLst/>
          </a:prstGeom>
          <a:noFill/>
        </p:spPr>
        <p:txBody>
          <a:bodyPr wrap="square" lIns="0" rIns="0" tIns="0" bIns="0" anchor="t"/>
          <a:lstStyle/>
          <a:p>
            <a:pPr algn="ctr">
              <a:lnSpc>
                <a:spcPct val="105000"/>
              </a:lnSpc>
            </a:pPr>
            <a:r>
              <a:rPr sz="2100" b="1" i="0">
                <a:solidFill>
                  <a:srgbClr val="201914"/>
                </a:solidFill>
                <a:latin typeface="Arial"/>
              </a:rPr>
              <a:t>The holiday</a:t>
            </a:r>
          </a:p>
        </p:txBody>
      </p:sp>
      <p:sp>
        <p:nvSpPr>
          <p:cNvPr id="28" name="Oval 27"/>
          <p:cNvSpPr/>
          <p:nvPr/>
        </p:nvSpPr>
        <p:spPr>
          <a:xfrm>
            <a:off x="16554450" y="4743450"/>
            <a:ext cx="228600" cy="228600"/>
          </a:xfrm>
          <a:prstGeom prst="ellipse">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644812" y="4143375"/>
            <a:ext cx="2047875" cy="428625"/>
          </a:xfrm>
          <a:prstGeom prst="rect">
            <a:avLst/>
          </a:prstGeom>
          <a:noFill/>
        </p:spPr>
        <p:txBody>
          <a:bodyPr wrap="square" lIns="0" rIns="0" tIns="0" bIns="0" anchor="t"/>
          <a:lstStyle/>
          <a:p>
            <a:pPr algn="ctr">
              <a:lnSpc>
                <a:spcPct val="105000"/>
              </a:lnSpc>
            </a:pPr>
            <a:r>
              <a:rPr sz="2100" b="1" i="0">
                <a:solidFill>
                  <a:srgbClr val="201914"/>
                </a:solidFill>
                <a:latin typeface="Arial"/>
              </a:rPr>
              <a:t>The telling</a:t>
            </a:r>
          </a:p>
        </p:txBody>
      </p:sp>
      <p:sp>
        <p:nvSpPr>
          <p:cNvPr id="30" name="TextBox 29"/>
          <p:cNvSpPr txBox="1"/>
          <p:nvPr/>
        </p:nvSpPr>
        <p:spPr>
          <a:xfrm>
            <a:off x="1047750" y="8439150"/>
            <a:ext cx="16192500" cy="1162050"/>
          </a:xfrm>
          <a:prstGeom prst="rect">
            <a:avLst/>
          </a:prstGeom>
          <a:noFill/>
        </p:spPr>
        <p:txBody>
          <a:bodyPr wrap="square" lIns="0" rIns="0" tIns="0" bIns="0" anchor="t"/>
          <a:lstStyle/>
          <a:p>
            <a:pPr algn="l">
              <a:lnSpc>
                <a:spcPct val="114000"/>
              </a:lnSpc>
            </a:pPr>
            <a:r>
              <a:rPr sz="3000" b="0" i="0">
                <a:solidFill>
                  <a:srgbClr val="362C24"/>
                </a:solidFill>
                <a:latin typeface="Georgia"/>
              </a:rPr>
              <a:t>Two steps out of fourteen contain almost all of the misery. Everything else was, to the customer, perfectly acceptable.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MAKEMYTRIP · FOUNDED 2000</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The first customer was not an Indian family</a:t>
            </a:r>
          </a:p>
        </p:txBody>
      </p:sp>
      <p:sp>
        <p:nvSpPr>
          <p:cNvPr id="4" name="Rectangle 3"/>
          <p:cNvSpPr/>
          <p:nvPr/>
        </p:nvSpPr>
        <p:spPr>
          <a:xfrm>
            <a:off x="1047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43250"/>
            <a:ext cx="5143500" cy="1123950"/>
          </a:xfrm>
          <a:prstGeom prst="rect">
            <a:avLst/>
          </a:prstGeom>
          <a:noFill/>
        </p:spPr>
        <p:txBody>
          <a:bodyPr wrap="square" lIns="0" rIns="0" tIns="0" bIns="0" anchor="t"/>
          <a:lstStyle/>
          <a:p>
            <a:pPr algn="l"/>
            <a:r>
              <a:rPr sz="3300" b="1" i="0">
                <a:solidFill>
                  <a:srgbClr val="201914"/>
                </a:solidFill>
                <a:latin typeface="Arial"/>
              </a:rPr>
              <a:t>The NRI in the United States</a:t>
            </a:r>
          </a:p>
        </p:txBody>
      </p:sp>
      <p:sp>
        <p:nvSpPr>
          <p:cNvPr id="6" name="TextBox 5"/>
          <p:cNvSpPr txBox="1"/>
          <p:nvPr/>
        </p:nvSpPr>
        <p:spPr>
          <a:xfrm>
            <a:off x="1047750" y="4400550"/>
            <a:ext cx="5143500" cy="2190750"/>
          </a:xfrm>
          <a:prstGeom prst="rect">
            <a:avLst/>
          </a:prstGeom>
          <a:noFill/>
        </p:spPr>
        <p:txBody>
          <a:bodyPr wrap="square" lIns="0" rIns="0" tIns="0" bIns="0" anchor="t"/>
          <a:lstStyle/>
          <a:p>
            <a:pPr algn="l">
              <a:lnSpc>
                <a:spcPct val="105000"/>
              </a:lnSpc>
            </a:pPr>
            <a:r>
              <a:rPr sz="2550" b="0" i="0">
                <a:solidFill>
                  <a:srgbClr val="665B53"/>
                </a:solidFill>
                <a:latin typeface="Arial"/>
              </a:rPr>
              <a:t>Had a credit card, was comfortable buying online, and was badly served by the alternative — calling an agent in another time zone.</a:t>
            </a:r>
          </a:p>
        </p:txBody>
      </p:sp>
      <p:sp>
        <p:nvSpPr>
          <p:cNvPr id="7" name="Rectangle 6"/>
          <p:cNvSpPr/>
          <p:nvPr/>
        </p:nvSpPr>
        <p:spPr>
          <a:xfrm>
            <a:off x="65722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143250"/>
            <a:ext cx="5143500" cy="600075"/>
          </a:xfrm>
          <a:prstGeom prst="rect">
            <a:avLst/>
          </a:prstGeom>
          <a:noFill/>
        </p:spPr>
        <p:txBody>
          <a:bodyPr wrap="square" lIns="0" rIns="0" tIns="0" bIns="0" anchor="t"/>
          <a:lstStyle/>
          <a:p>
            <a:pPr algn="l"/>
            <a:r>
              <a:rPr sz="3300" b="1" i="0">
                <a:solidFill>
                  <a:srgbClr val="201914"/>
                </a:solidFill>
                <a:latin typeface="Arial"/>
              </a:rPr>
              <a:t>Why him first</a:t>
            </a:r>
          </a:p>
        </p:txBody>
      </p:sp>
      <p:sp>
        <p:nvSpPr>
          <p:cNvPr id="9" name="TextBox 8"/>
          <p:cNvSpPr txBox="1"/>
          <p:nvPr/>
        </p:nvSpPr>
        <p:spPr>
          <a:xfrm>
            <a:off x="6572250" y="3876675"/>
            <a:ext cx="5143500" cy="1343025"/>
          </a:xfrm>
          <a:prstGeom prst="rect">
            <a:avLst/>
          </a:prstGeom>
          <a:noFill/>
        </p:spPr>
        <p:txBody>
          <a:bodyPr wrap="square" lIns="0" rIns="0" tIns="0" bIns="0" anchor="t"/>
          <a:lstStyle/>
          <a:p>
            <a:pPr algn="l">
              <a:lnSpc>
                <a:spcPct val="105000"/>
              </a:lnSpc>
            </a:pPr>
            <a:r>
              <a:rPr sz="2550" b="0" i="0">
                <a:solidFill>
                  <a:srgbClr val="665B53"/>
                </a:solidFill>
                <a:latin typeface="Arial"/>
              </a:rPr>
              <a:t>Online payment and trust were solvable for that customer and unsolvable in India in 2000.</a:t>
            </a:r>
          </a:p>
        </p:txBody>
      </p:sp>
      <p:sp>
        <p:nvSpPr>
          <p:cNvPr id="10" name="Rectangle 9"/>
          <p:cNvSpPr/>
          <p:nvPr/>
        </p:nvSpPr>
        <p:spPr>
          <a:xfrm>
            <a:off x="12096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143250"/>
            <a:ext cx="5143500" cy="600075"/>
          </a:xfrm>
          <a:prstGeom prst="rect">
            <a:avLst/>
          </a:prstGeom>
          <a:noFill/>
        </p:spPr>
        <p:txBody>
          <a:bodyPr wrap="square" lIns="0" rIns="0" tIns="0" bIns="0" anchor="t"/>
          <a:lstStyle/>
          <a:p>
            <a:pPr algn="l"/>
            <a:r>
              <a:rPr sz="3300" b="1" i="0">
                <a:solidFill>
                  <a:srgbClr val="201914"/>
                </a:solidFill>
                <a:latin typeface="Arial"/>
              </a:rPr>
              <a:t>What changed by 2005</a:t>
            </a:r>
          </a:p>
        </p:txBody>
      </p:sp>
      <p:sp>
        <p:nvSpPr>
          <p:cNvPr id="12" name="TextBox 11"/>
          <p:cNvSpPr txBox="1"/>
          <p:nvPr/>
        </p:nvSpPr>
        <p:spPr>
          <a:xfrm>
            <a:off x="12096750" y="3876675"/>
            <a:ext cx="5143500" cy="2190750"/>
          </a:xfrm>
          <a:prstGeom prst="rect">
            <a:avLst/>
          </a:prstGeom>
          <a:noFill/>
        </p:spPr>
        <p:txBody>
          <a:bodyPr wrap="square" lIns="0" rIns="0" tIns="0" bIns="0" anchor="t"/>
          <a:lstStyle/>
          <a:p>
            <a:pPr algn="l">
              <a:lnSpc>
                <a:spcPct val="105000"/>
              </a:lnSpc>
            </a:pPr>
            <a:r>
              <a:rPr sz="2550" b="0" i="0">
                <a:solidFill>
                  <a:srgbClr val="665B53"/>
                </a:solidFill>
                <a:latin typeface="Arial"/>
              </a:rPr>
              <a:t>Air Deccan and the low-cost carriers made flying a mass consumer decision, and online payment in India began, slowly, to work.</a:t>
            </a:r>
          </a:p>
        </p:txBody>
      </p:sp>
      <p:sp>
        <p:nvSpPr>
          <p:cNvPr id="13" name="TextBox 12"/>
          <p:cNvSpPr txBox="1"/>
          <p:nvPr/>
        </p:nvSpPr>
        <p:spPr>
          <a:xfrm>
            <a:off x="1047750" y="8439150"/>
            <a:ext cx="16192500" cy="1162050"/>
          </a:xfrm>
          <a:prstGeom prst="rect">
            <a:avLst/>
          </a:prstGeom>
          <a:noFill/>
        </p:spPr>
        <p:txBody>
          <a:bodyPr wrap="square" lIns="0" rIns="0" tIns="0" bIns="0" anchor="t"/>
          <a:lstStyle/>
          <a:p>
            <a:pPr algn="l">
              <a:lnSpc>
                <a:spcPct val="114000"/>
              </a:lnSpc>
            </a:pPr>
            <a:r>
              <a:rPr sz="3000" b="0" i="0">
                <a:solidFill>
                  <a:srgbClr val="362C24"/>
                </a:solidFill>
                <a:latin typeface="Georgia"/>
              </a:rPr>
              <a:t>That is a beachhead in the Lecture 9 sense — chosen because the hard parts were solvable there first, and because it bought the company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WHAT THE MAPPING PRODUCED</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A diagnosis, not a list of features</a:t>
            </a:r>
          </a:p>
        </p:txBody>
      </p:sp>
      <p:sp>
        <p:nvSpPr>
          <p:cNvPr id="4" name="Rectangle 3"/>
          <p:cNvSpPr/>
          <p:nvPr/>
        </p:nvSpPr>
        <p:spPr>
          <a:xfrm>
            <a:off x="1047750" y="2838450"/>
            <a:ext cx="7905750" cy="43338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219450"/>
            <a:ext cx="7067550" cy="352425"/>
          </a:xfrm>
          <a:prstGeom prst="rect">
            <a:avLst/>
          </a:prstGeom>
          <a:noFill/>
        </p:spPr>
        <p:txBody>
          <a:bodyPr wrap="square" lIns="0" rIns="0" tIns="0" bIns="0" anchor="t"/>
          <a:lstStyle/>
          <a:p>
            <a:pPr algn="l"/>
            <a:r>
              <a:rPr sz="2100" b="1" i="0" spc="180">
                <a:solidFill>
                  <a:srgbClr val="5E534A"/>
                </a:solidFill>
                <a:latin typeface="Arial"/>
              </a:rPr>
              <a:t>AGAINST THE COMPARISON TROUGH</a:t>
            </a:r>
          </a:p>
        </p:txBody>
      </p:sp>
      <p:sp>
        <p:nvSpPr>
          <p:cNvPr id="6" name="TextBox 5"/>
          <p:cNvSpPr txBox="1"/>
          <p:nvPr/>
        </p:nvSpPr>
        <p:spPr>
          <a:xfrm>
            <a:off x="1466850" y="3752850"/>
            <a:ext cx="7067550" cy="933450"/>
          </a:xfrm>
          <a:prstGeom prst="rect">
            <a:avLst/>
          </a:prstGeom>
          <a:noFill/>
        </p:spPr>
        <p:txBody>
          <a:bodyPr wrap="square" lIns="0" rIns="0" tIns="0" bIns="0" anchor="t"/>
          <a:lstStyle/>
          <a:p>
            <a:pPr algn="l">
              <a:lnSpc>
                <a:spcPct val="106000"/>
              </a:lnSpc>
            </a:pPr>
            <a:r>
              <a:rPr sz="2550" b="0" i="0">
                <a:solidFill>
                  <a:srgbClr val="201914"/>
                </a:solidFill>
                <a:latin typeface="Arial"/>
              </a:rPr>
              <a:t>Every fare from every airline on one screen, sortable.</a:t>
            </a:r>
          </a:p>
        </p:txBody>
      </p:sp>
      <p:sp>
        <p:nvSpPr>
          <p:cNvPr id="7" name="TextBox 6"/>
          <p:cNvSpPr txBox="1"/>
          <p:nvPr/>
        </p:nvSpPr>
        <p:spPr>
          <a:xfrm>
            <a:off x="1466850" y="4895850"/>
            <a:ext cx="7067550" cy="933450"/>
          </a:xfrm>
          <a:prstGeom prst="rect">
            <a:avLst/>
          </a:prstGeom>
          <a:noFill/>
        </p:spPr>
        <p:txBody>
          <a:bodyPr wrap="square" lIns="0" rIns="0" tIns="0" bIns="0" anchor="t"/>
          <a:lstStyle/>
          <a:p>
            <a:pPr algn="l">
              <a:lnSpc>
                <a:spcPct val="106000"/>
              </a:lnSpc>
            </a:pPr>
            <a:r>
              <a:rPr sz="2550" b="0" i="0">
                <a:solidFill>
                  <a:srgbClr val="201914"/>
                </a:solidFill>
                <a:latin typeface="Arial"/>
              </a:rPr>
              <a:t>The total price visible, rather than a base fare plus surprises later.</a:t>
            </a:r>
          </a:p>
        </p:txBody>
      </p:sp>
      <p:sp>
        <p:nvSpPr>
          <p:cNvPr id="8" name="Rectangle 7"/>
          <p:cNvSpPr/>
          <p:nvPr/>
        </p:nvSpPr>
        <p:spPr>
          <a:xfrm>
            <a:off x="9334500" y="2838450"/>
            <a:ext cx="7905750" cy="43338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53600" y="3219450"/>
            <a:ext cx="7067550" cy="352425"/>
          </a:xfrm>
          <a:prstGeom prst="rect">
            <a:avLst/>
          </a:prstGeom>
          <a:noFill/>
        </p:spPr>
        <p:txBody>
          <a:bodyPr wrap="square" lIns="0" rIns="0" tIns="0" bIns="0" anchor="t"/>
          <a:lstStyle/>
          <a:p>
            <a:pPr algn="l"/>
            <a:r>
              <a:rPr sz="2100" b="1" i="0" spc="180">
                <a:solidFill>
                  <a:srgbClr val="EF806F"/>
                </a:solidFill>
                <a:latin typeface="Arial"/>
              </a:rPr>
              <a:t>AGAINST THE TRUST TROUGH</a:t>
            </a:r>
          </a:p>
        </p:txBody>
      </p:sp>
      <p:sp>
        <p:nvSpPr>
          <p:cNvPr id="10" name="TextBox 9"/>
          <p:cNvSpPr txBox="1"/>
          <p:nvPr/>
        </p:nvSpPr>
        <p:spPr>
          <a:xfrm>
            <a:off x="9753600" y="3752850"/>
            <a:ext cx="7067550" cy="933450"/>
          </a:xfrm>
          <a:prstGeom prst="rect">
            <a:avLst/>
          </a:prstGeom>
          <a:noFill/>
        </p:spPr>
        <p:txBody>
          <a:bodyPr wrap="square" lIns="0" rIns="0" tIns="0" bIns="0" anchor="t"/>
          <a:lstStyle/>
          <a:p>
            <a:pPr algn="l">
              <a:lnSpc>
                <a:spcPct val="106000"/>
              </a:lnSpc>
            </a:pPr>
            <a:r>
              <a:rPr sz="2550" b="0" i="0">
                <a:solidFill>
                  <a:srgbClr val="F5F1E9"/>
                </a:solidFill>
                <a:latin typeface="Arial"/>
              </a:rPr>
              <a:t>Instant confirmation by email and SMS, not a paper voucher.</a:t>
            </a:r>
          </a:p>
        </p:txBody>
      </p:sp>
      <p:sp>
        <p:nvSpPr>
          <p:cNvPr id="11" name="TextBox 10"/>
          <p:cNvSpPr txBox="1"/>
          <p:nvPr/>
        </p:nvSpPr>
        <p:spPr>
          <a:xfrm>
            <a:off x="9753600" y="4895850"/>
            <a:ext cx="7067550" cy="504825"/>
          </a:xfrm>
          <a:prstGeom prst="rect">
            <a:avLst/>
          </a:prstGeom>
          <a:noFill/>
        </p:spPr>
        <p:txBody>
          <a:bodyPr wrap="square" lIns="0" rIns="0" tIns="0" bIns="0" anchor="t"/>
          <a:lstStyle/>
          <a:p>
            <a:pPr algn="l">
              <a:lnSpc>
                <a:spcPct val="106000"/>
              </a:lnSpc>
            </a:pPr>
            <a:r>
              <a:rPr sz="2550" b="0" i="0">
                <a:solidFill>
                  <a:srgbClr val="F5F1E9"/>
                </a:solidFill>
                <a:latin typeface="Arial"/>
              </a:rPr>
              <a:t>A phone number staffed by human beings.</a:t>
            </a:r>
          </a:p>
        </p:txBody>
      </p:sp>
      <p:sp>
        <p:nvSpPr>
          <p:cNvPr id="12" name="TextBox 11"/>
          <p:cNvSpPr txBox="1"/>
          <p:nvPr/>
        </p:nvSpPr>
        <p:spPr>
          <a:xfrm>
            <a:off x="9753600" y="5610225"/>
            <a:ext cx="7067550" cy="933450"/>
          </a:xfrm>
          <a:prstGeom prst="rect">
            <a:avLst/>
          </a:prstGeom>
          <a:noFill/>
        </p:spPr>
        <p:txBody>
          <a:bodyPr wrap="square" lIns="0" rIns="0" tIns="0" bIns="0" anchor="t"/>
          <a:lstStyle/>
          <a:p>
            <a:pPr algn="l">
              <a:lnSpc>
                <a:spcPct val="106000"/>
              </a:lnSpc>
            </a:pPr>
            <a:r>
              <a:rPr sz="2550" b="0" i="0">
                <a:solidFill>
                  <a:srgbClr val="F5F1E9"/>
                </a:solidFill>
                <a:latin typeface="Arial"/>
              </a:rPr>
              <a:t>Cancellation and refund policies written where a customer could read them before paying.</a:t>
            </a:r>
          </a:p>
        </p:txBody>
      </p:sp>
      <p:sp>
        <p:nvSpPr>
          <p:cNvPr id="13" name="TextBox 12"/>
          <p:cNvSpPr txBox="1"/>
          <p:nvPr/>
        </p:nvSpPr>
        <p:spPr>
          <a:xfrm>
            <a:off x="1047750" y="7572375"/>
            <a:ext cx="16192500" cy="1857375"/>
          </a:xfrm>
          <a:prstGeom prst="rect">
            <a:avLst/>
          </a:prstGeom>
          <a:noFill/>
        </p:spPr>
        <p:txBody>
          <a:bodyPr wrap="square" lIns="0" rIns="0" tIns="0" bIns="0" anchor="t"/>
          <a:lstStyle/>
          <a:p>
            <a:pPr algn="l">
              <a:lnSpc>
                <a:spcPct val="114000"/>
              </a:lnSpc>
            </a:pPr>
            <a:r>
              <a:rPr sz="3300" b="0" i="0">
                <a:solidFill>
                  <a:srgbClr val="362C24"/>
                </a:solidFill>
                <a:latin typeface="Georgia"/>
              </a:rPr>
              <a:t>Notice what is missing from that list — nothing makes the exciting parts more exciting. You do not need to improve the step where the customer is already happy.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2552700"/>
            <a:ext cx="16192500" cy="323850"/>
          </a:xfrm>
          <a:prstGeom prst="rect">
            <a:avLst/>
          </a:prstGeom>
          <a:noFill/>
        </p:spPr>
        <p:txBody>
          <a:bodyPr wrap="square" lIns="0" rIns="0" tIns="0" bIns="0" anchor="t"/>
          <a:lstStyle/>
          <a:p>
            <a:pPr algn="l"/>
            <a:r>
              <a:rPr sz="1950" b="1" i="0" spc="312">
                <a:solidFill>
                  <a:srgbClr val="EF806F"/>
                </a:solidFill>
                <a:latin typeface="Arial"/>
              </a:rPr>
              <a:t>DIWALI 2005 · BANGALORE TO HYDERABAD</a:t>
            </a:r>
          </a:p>
        </p:txBody>
      </p:sp>
      <p:sp>
        <p:nvSpPr>
          <p:cNvPr id="3" name="TextBox 2"/>
          <p:cNvSpPr txBox="1"/>
          <p:nvPr/>
        </p:nvSpPr>
        <p:spPr>
          <a:xfrm>
            <a:off x="1047750" y="3143250"/>
            <a:ext cx="15697200" cy="2419350"/>
          </a:xfrm>
          <a:prstGeom prst="rect">
            <a:avLst/>
          </a:prstGeom>
          <a:noFill/>
        </p:spPr>
        <p:txBody>
          <a:bodyPr wrap="square" lIns="0" rIns="0" tIns="0" bIns="0" anchor="t"/>
          <a:lstStyle/>
          <a:p>
            <a:pPr algn="l">
              <a:lnSpc>
                <a:spcPct val="90000"/>
              </a:lnSpc>
            </a:pPr>
            <a:r>
              <a:rPr sz="8100" b="1" i="0" spc="-250">
                <a:solidFill>
                  <a:srgbClr val="F5F1E9"/>
                </a:solidFill>
                <a:latin typeface="Arial"/>
              </a:rPr>
              <a:t>Nobody in the system could see whether the seats existed.</a:t>
            </a:r>
          </a:p>
        </p:txBody>
      </p:sp>
      <p:sp>
        <p:nvSpPr>
          <p:cNvPr id="4" name="TextBox 3"/>
          <p:cNvSpPr txBox="1"/>
          <p:nvPr/>
        </p:nvSpPr>
        <p:spPr>
          <a:xfrm>
            <a:off x="1047750" y="5981700"/>
            <a:ext cx="14287500" cy="2619375"/>
          </a:xfrm>
          <a:prstGeom prst="rect">
            <a:avLst/>
          </a:prstGeom>
          <a:noFill/>
        </p:spPr>
        <p:txBody>
          <a:bodyPr wrap="square" lIns="0" rIns="0" tIns="0" bIns="0" anchor="t"/>
          <a:lstStyle/>
          <a:p>
            <a:pPr algn="l">
              <a:lnSpc>
                <a:spcPct val="112000"/>
              </a:lnSpc>
            </a:pPr>
            <a:r>
              <a:rPr sz="3600" b="0" i="0">
                <a:solidFill>
                  <a:srgbClr val="C1B5AB"/>
                </a:solidFill>
                <a:latin typeface="Georgia"/>
              </a:rPr>
              <a:t>Phanindra Sama went to a travel agent, who made phone calls, and was told nothing was available. He tried another agent. Same process, same answer. Every operator kept its own inventory in its own paper register.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MAP IT AND IT IS GROTESQUE</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Every step is an information failure, and the customer absorbs all of it</a:t>
            </a:r>
          </a:p>
        </p:txBody>
      </p:sp>
      <p:sp>
        <p:nvSpPr>
          <p:cNvPr id="4" name="Rectangle 3"/>
          <p:cNvSpPr/>
          <p:nvPr/>
        </p:nvSpPr>
        <p:spPr>
          <a:xfrm>
            <a:off x="1047750" y="3629025"/>
            <a:ext cx="16192500" cy="9906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2550" y="3857625"/>
            <a:ext cx="3676650" cy="533400"/>
          </a:xfrm>
          <a:prstGeom prst="rect">
            <a:avLst/>
          </a:prstGeom>
          <a:noFill/>
        </p:spPr>
        <p:txBody>
          <a:bodyPr wrap="square" lIns="0" rIns="0" tIns="0" bIns="0" anchor="t"/>
          <a:lstStyle/>
          <a:p>
            <a:pPr algn="l"/>
            <a:r>
              <a:rPr sz="3000" b="1" i="0">
                <a:solidFill>
                  <a:srgbClr val="201914"/>
                </a:solidFill>
                <a:latin typeface="Arial"/>
              </a:rPr>
              <a:t>He asks an agent</a:t>
            </a:r>
          </a:p>
        </p:txBody>
      </p:sp>
      <p:sp>
        <p:nvSpPr>
          <p:cNvPr id="6" name="TextBox 5"/>
          <p:cNvSpPr txBox="1"/>
          <p:nvPr/>
        </p:nvSpPr>
        <p:spPr>
          <a:xfrm>
            <a:off x="5562600" y="3905250"/>
            <a:ext cx="11677650" cy="438150"/>
          </a:xfrm>
          <a:prstGeom prst="rect">
            <a:avLst/>
          </a:prstGeom>
          <a:noFill/>
        </p:spPr>
        <p:txBody>
          <a:bodyPr wrap="square" lIns="0" rIns="0" tIns="0" bIns="0" anchor="t"/>
          <a:lstStyle/>
          <a:p>
            <a:pPr algn="l">
              <a:lnSpc>
                <a:spcPct val="106000"/>
              </a:lnSpc>
            </a:pPr>
            <a:r>
              <a:rPr sz="2250" b="0" i="0">
                <a:solidFill>
                  <a:srgbClr val="201914"/>
                </a:solidFill>
                <a:latin typeface="Arial"/>
              </a:rPr>
              <a:t>Who telephones an operator, who consults a paper register, who reports back</a:t>
            </a:r>
          </a:p>
        </p:txBody>
      </p:sp>
      <p:sp>
        <p:nvSpPr>
          <p:cNvPr id="7" name="Rectangle 6"/>
          <p:cNvSpPr/>
          <p:nvPr/>
        </p:nvSpPr>
        <p:spPr>
          <a:xfrm>
            <a:off x="1047750" y="4772025"/>
            <a:ext cx="16192500" cy="9906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52550" y="5000625"/>
            <a:ext cx="3676650" cy="533400"/>
          </a:xfrm>
          <a:prstGeom prst="rect">
            <a:avLst/>
          </a:prstGeom>
          <a:noFill/>
        </p:spPr>
        <p:txBody>
          <a:bodyPr wrap="square" lIns="0" rIns="0" tIns="0" bIns="0" anchor="t"/>
          <a:lstStyle/>
          <a:p>
            <a:pPr algn="l"/>
            <a:r>
              <a:rPr sz="3000" b="1" i="0">
                <a:solidFill>
                  <a:srgbClr val="201914"/>
                </a:solidFill>
                <a:latin typeface="Arial"/>
              </a:rPr>
              <a:t>The answer is no</a:t>
            </a:r>
          </a:p>
        </p:txBody>
      </p:sp>
      <p:sp>
        <p:nvSpPr>
          <p:cNvPr id="9" name="TextBox 8"/>
          <p:cNvSpPr txBox="1"/>
          <p:nvPr/>
        </p:nvSpPr>
        <p:spPr>
          <a:xfrm>
            <a:off x="5562600" y="5048250"/>
            <a:ext cx="11677650" cy="438150"/>
          </a:xfrm>
          <a:prstGeom prst="rect">
            <a:avLst/>
          </a:prstGeom>
          <a:noFill/>
        </p:spPr>
        <p:txBody>
          <a:bodyPr wrap="square" lIns="0" rIns="0" tIns="0" bIns="0" anchor="t"/>
          <a:lstStyle/>
          <a:p>
            <a:pPr algn="l">
              <a:lnSpc>
                <a:spcPct val="106000"/>
              </a:lnSpc>
            </a:pPr>
            <a:r>
              <a:rPr sz="2250" b="0" i="0">
                <a:solidFill>
                  <a:srgbClr val="201914"/>
                </a:solidFill>
                <a:latin typeface="Arial"/>
              </a:rPr>
              <a:t>Repeat the whole thing with a different agent</a:t>
            </a:r>
          </a:p>
        </p:txBody>
      </p:sp>
      <p:sp>
        <p:nvSpPr>
          <p:cNvPr id="10" name="Rectangle 9"/>
          <p:cNvSpPr/>
          <p:nvPr/>
        </p:nvSpPr>
        <p:spPr>
          <a:xfrm>
            <a:off x="1047750" y="5915025"/>
            <a:ext cx="16192500" cy="9906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2550" y="6143625"/>
            <a:ext cx="3676650" cy="533400"/>
          </a:xfrm>
          <a:prstGeom prst="rect">
            <a:avLst/>
          </a:prstGeom>
          <a:noFill/>
        </p:spPr>
        <p:txBody>
          <a:bodyPr wrap="square" lIns="0" rIns="0" tIns="0" bIns="0" anchor="t"/>
          <a:lstStyle/>
          <a:p>
            <a:pPr algn="l"/>
            <a:r>
              <a:rPr sz="3000" b="1" i="0">
                <a:solidFill>
                  <a:srgbClr val="201914"/>
                </a:solidFill>
                <a:latin typeface="Arial"/>
              </a:rPr>
              <a:t>The answer is yes</a:t>
            </a:r>
          </a:p>
        </p:txBody>
      </p:sp>
      <p:sp>
        <p:nvSpPr>
          <p:cNvPr id="12" name="TextBox 11"/>
          <p:cNvSpPr txBox="1"/>
          <p:nvPr/>
        </p:nvSpPr>
        <p:spPr>
          <a:xfrm>
            <a:off x="5562600" y="6191250"/>
            <a:ext cx="11677650" cy="438150"/>
          </a:xfrm>
          <a:prstGeom prst="rect">
            <a:avLst/>
          </a:prstGeom>
          <a:noFill/>
        </p:spPr>
        <p:txBody>
          <a:bodyPr wrap="square" lIns="0" rIns="0" tIns="0" bIns="0" anchor="t"/>
          <a:lstStyle/>
          <a:p>
            <a:pPr algn="l">
              <a:lnSpc>
                <a:spcPct val="106000"/>
              </a:lnSpc>
            </a:pPr>
            <a:r>
              <a:rPr sz="2250" b="0" i="0">
                <a:solidFill>
                  <a:srgbClr val="201914"/>
                </a:solidFill>
                <a:latin typeface="Arial"/>
              </a:rPr>
              <a:t>He pays cash and receives a handwritten ticket with a seat number he cannot verify</a:t>
            </a:r>
          </a:p>
        </p:txBody>
      </p:sp>
      <p:sp>
        <p:nvSpPr>
          <p:cNvPr id="13" name="Rectangle 12"/>
          <p:cNvSpPr/>
          <p:nvPr/>
        </p:nvSpPr>
        <p:spPr>
          <a:xfrm>
            <a:off x="1047750" y="7058025"/>
            <a:ext cx="16192500" cy="9906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52550" y="7286625"/>
            <a:ext cx="3676650" cy="533400"/>
          </a:xfrm>
          <a:prstGeom prst="rect">
            <a:avLst/>
          </a:prstGeom>
          <a:noFill/>
        </p:spPr>
        <p:txBody>
          <a:bodyPr wrap="square" lIns="0" rIns="0" tIns="0" bIns="0" anchor="t"/>
          <a:lstStyle/>
          <a:p>
            <a:pPr algn="l"/>
            <a:r>
              <a:rPr sz="3000" b="1" i="0">
                <a:solidFill>
                  <a:srgbClr val="201914"/>
                </a:solidFill>
                <a:latin typeface="Arial"/>
              </a:rPr>
              <a:t>He arrives to board</a:t>
            </a:r>
          </a:p>
        </p:txBody>
      </p:sp>
      <p:sp>
        <p:nvSpPr>
          <p:cNvPr id="15" name="TextBox 14"/>
          <p:cNvSpPr txBox="1"/>
          <p:nvPr/>
        </p:nvSpPr>
        <p:spPr>
          <a:xfrm>
            <a:off x="5562600" y="7334250"/>
            <a:ext cx="11677650" cy="438150"/>
          </a:xfrm>
          <a:prstGeom prst="rect">
            <a:avLst/>
          </a:prstGeom>
          <a:noFill/>
        </p:spPr>
        <p:txBody>
          <a:bodyPr wrap="square" lIns="0" rIns="0" tIns="0" bIns="0" anchor="t"/>
          <a:lstStyle/>
          <a:p>
            <a:pPr algn="l">
              <a:lnSpc>
                <a:spcPct val="106000"/>
              </a:lnSpc>
            </a:pPr>
            <a:r>
              <a:rPr sz="2250" b="0" i="0">
                <a:solidFill>
                  <a:srgbClr val="201914"/>
                </a:solidFill>
                <a:latin typeface="Arial"/>
              </a:rPr>
              <a:t>At a pick-up point that may not be where the bus stops, at a time the bus may not keep</a:t>
            </a:r>
          </a:p>
        </p:txBody>
      </p:sp>
      <p:sp>
        <p:nvSpPr>
          <p:cNvPr id="16" name="Rectangle 15"/>
          <p:cNvSpPr/>
          <p:nvPr/>
        </p:nvSpPr>
        <p:spPr>
          <a:xfrm>
            <a:off x="1047750" y="8201025"/>
            <a:ext cx="16192500" cy="9906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2550" y="8429625"/>
            <a:ext cx="3676650" cy="533400"/>
          </a:xfrm>
          <a:prstGeom prst="rect">
            <a:avLst/>
          </a:prstGeom>
          <a:noFill/>
        </p:spPr>
        <p:txBody>
          <a:bodyPr wrap="square" lIns="0" rIns="0" tIns="0" bIns="0" anchor="t"/>
          <a:lstStyle/>
          <a:p>
            <a:pPr algn="l"/>
            <a:r>
              <a:rPr sz="3000" b="1" i="0">
                <a:solidFill>
                  <a:srgbClr val="201914"/>
                </a:solidFill>
                <a:latin typeface="Arial"/>
              </a:rPr>
              <a:t>He waits</a:t>
            </a:r>
          </a:p>
        </p:txBody>
      </p:sp>
      <p:sp>
        <p:nvSpPr>
          <p:cNvPr id="18" name="TextBox 17"/>
          <p:cNvSpPr txBox="1"/>
          <p:nvPr/>
        </p:nvSpPr>
        <p:spPr>
          <a:xfrm>
            <a:off x="5562600" y="8477250"/>
            <a:ext cx="11677650" cy="438150"/>
          </a:xfrm>
          <a:prstGeom prst="rect">
            <a:avLst/>
          </a:prstGeom>
          <a:noFill/>
        </p:spPr>
        <p:txBody>
          <a:bodyPr wrap="square" lIns="0" rIns="0" tIns="0" bIns="0" anchor="t"/>
          <a:lstStyle/>
          <a:p>
            <a:pPr algn="l">
              <a:lnSpc>
                <a:spcPct val="106000"/>
              </a:lnSpc>
            </a:pPr>
            <a:r>
              <a:rPr sz="2250" b="0" i="0">
                <a:solidFill>
                  <a:srgbClr val="201914"/>
                </a:solidFill>
                <a:latin typeface="Arial"/>
              </a:rPr>
              <a:t>With no way of checking either of those things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REDBUS · FOUNDED 2006</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The hard work was not the website</a:t>
            </a:r>
          </a:p>
        </p:txBody>
      </p:sp>
      <p:sp>
        <p:nvSpPr>
          <p:cNvPr id="4" name="Rectangle 3"/>
          <p:cNvSpPr/>
          <p:nvPr/>
        </p:nvSpPr>
        <p:spPr>
          <a:xfrm>
            <a:off x="1047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43250"/>
            <a:ext cx="5143500" cy="1123950"/>
          </a:xfrm>
          <a:prstGeom prst="rect">
            <a:avLst/>
          </a:prstGeom>
          <a:noFill/>
        </p:spPr>
        <p:txBody>
          <a:bodyPr wrap="square" lIns="0" rIns="0" tIns="0" bIns="0" anchor="t"/>
          <a:lstStyle/>
          <a:p>
            <a:pPr algn="l"/>
            <a:r>
              <a:rPr sz="3300" b="1" i="0">
                <a:solidFill>
                  <a:srgbClr val="201914"/>
                </a:solidFill>
                <a:latin typeface="Arial"/>
              </a:rPr>
              <a:t>One place for the inventory</a:t>
            </a:r>
          </a:p>
        </p:txBody>
      </p:sp>
      <p:sp>
        <p:nvSpPr>
          <p:cNvPr id="6" name="TextBox 5"/>
          <p:cNvSpPr txBox="1"/>
          <p:nvPr/>
        </p:nvSpPr>
        <p:spPr>
          <a:xfrm>
            <a:off x="1047750" y="4400550"/>
            <a:ext cx="5143500" cy="1343025"/>
          </a:xfrm>
          <a:prstGeom prst="rect">
            <a:avLst/>
          </a:prstGeom>
          <a:noFill/>
        </p:spPr>
        <p:txBody>
          <a:bodyPr wrap="square" lIns="0" rIns="0" tIns="0" bIns="0" anchor="t"/>
          <a:lstStyle/>
          <a:p>
            <a:pPr algn="l">
              <a:lnSpc>
                <a:spcPct val="105000"/>
              </a:lnSpc>
            </a:pPr>
            <a:r>
              <a:rPr sz="2550" b="0" i="0">
                <a:solidFill>
                  <a:srgbClr val="665B53"/>
                </a:solidFill>
                <a:latin typeface="Arial"/>
              </a:rPr>
              <a:t>Which operators run the route, at what times, at what fares, and which seats are free.</a:t>
            </a:r>
          </a:p>
        </p:txBody>
      </p:sp>
      <p:sp>
        <p:nvSpPr>
          <p:cNvPr id="7" name="Rectangle 6"/>
          <p:cNvSpPr/>
          <p:nvPr/>
        </p:nvSpPr>
        <p:spPr>
          <a:xfrm>
            <a:off x="65722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143250"/>
            <a:ext cx="5143500" cy="600075"/>
          </a:xfrm>
          <a:prstGeom prst="rect">
            <a:avLst/>
          </a:prstGeom>
          <a:noFill/>
        </p:spPr>
        <p:txBody>
          <a:bodyPr wrap="square" lIns="0" rIns="0" tIns="0" bIns="0" anchor="t"/>
          <a:lstStyle/>
          <a:p>
            <a:pPr algn="l"/>
            <a:r>
              <a:rPr sz="3300" b="1" i="0">
                <a:solidFill>
                  <a:srgbClr val="201914"/>
                </a:solidFill>
                <a:latin typeface="Arial"/>
              </a:rPr>
              <a:t>Choose your own seat</a:t>
            </a:r>
          </a:p>
        </p:txBody>
      </p:sp>
      <p:sp>
        <p:nvSpPr>
          <p:cNvPr id="9" name="TextBox 8"/>
          <p:cNvSpPr txBox="1"/>
          <p:nvPr/>
        </p:nvSpPr>
        <p:spPr>
          <a:xfrm>
            <a:off x="6572250" y="3876675"/>
            <a:ext cx="5143500" cy="2190750"/>
          </a:xfrm>
          <a:prstGeom prst="rect">
            <a:avLst/>
          </a:prstGeom>
          <a:noFill/>
        </p:spPr>
        <p:txBody>
          <a:bodyPr wrap="square" lIns="0" rIns="0" tIns="0" bIns="0" anchor="t"/>
          <a:lstStyle/>
          <a:p>
            <a:pPr algn="l">
              <a:lnSpc>
                <a:spcPct val="105000"/>
              </a:lnSpc>
            </a:pPr>
            <a:r>
              <a:rPr sz="2550" b="0" i="0">
                <a:solidFill>
                  <a:srgbClr val="665B53"/>
                </a:solidFill>
                <a:latin typeface="Arial"/>
              </a:rPr>
              <a:t>The window seat, the one away from the engine. A small feature with an enormous emotional payoff for anyone who has spent nine hours on the wrong one.</a:t>
            </a:r>
          </a:p>
        </p:txBody>
      </p:sp>
      <p:sp>
        <p:nvSpPr>
          <p:cNvPr id="10" name="Rectangle 9"/>
          <p:cNvSpPr/>
          <p:nvPr/>
        </p:nvSpPr>
        <p:spPr>
          <a:xfrm>
            <a:off x="12096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143250"/>
            <a:ext cx="5143500" cy="1123950"/>
          </a:xfrm>
          <a:prstGeom prst="rect">
            <a:avLst/>
          </a:prstGeom>
          <a:noFill/>
        </p:spPr>
        <p:txBody>
          <a:bodyPr wrap="square" lIns="0" rIns="0" tIns="0" bIns="0" anchor="t"/>
          <a:lstStyle/>
          <a:p>
            <a:pPr algn="l"/>
            <a:r>
              <a:rPr sz="3300" b="1" i="0">
                <a:solidFill>
                  <a:srgbClr val="201914"/>
                </a:solidFill>
                <a:latin typeface="Arial"/>
              </a:rPr>
              <a:t>Hundreds of operators, one at a time</a:t>
            </a:r>
          </a:p>
        </p:txBody>
      </p:sp>
      <p:sp>
        <p:nvSpPr>
          <p:cNvPr id="12" name="TextBox 11"/>
          <p:cNvSpPr txBox="1"/>
          <p:nvPr/>
        </p:nvSpPr>
        <p:spPr>
          <a:xfrm>
            <a:off x="12096750" y="4400550"/>
            <a:ext cx="5143500" cy="1771650"/>
          </a:xfrm>
          <a:prstGeom prst="rect">
            <a:avLst/>
          </a:prstGeom>
          <a:noFill/>
        </p:spPr>
        <p:txBody>
          <a:bodyPr wrap="square" lIns="0" rIns="0" tIns="0" bIns="0" anchor="t"/>
          <a:lstStyle/>
          <a:p>
            <a:pPr algn="l">
              <a:lnSpc>
                <a:spcPct val="105000"/>
              </a:lnSpc>
            </a:pPr>
            <a:r>
              <a:rPr sz="2550" b="0" i="0">
                <a:solidFill>
                  <a:srgbClr val="665B53"/>
                </a:solidFill>
                <a:latin typeface="Arial"/>
              </a:rPr>
              <a:t>Persuading small, suspicious, family-run bus companies to put their seat register into somebody else's computer.</a:t>
            </a:r>
          </a:p>
        </p:txBody>
      </p:sp>
      <p:sp>
        <p:nvSpPr>
          <p:cNvPr id="13" name="TextBox 12"/>
          <p:cNvSpPr txBox="1"/>
          <p:nvPr/>
        </p:nvSpPr>
        <p:spPr>
          <a:xfrm>
            <a:off x="1047750" y="8439150"/>
            <a:ext cx="16192500" cy="1162050"/>
          </a:xfrm>
          <a:prstGeom prst="rect">
            <a:avLst/>
          </a:prstGeom>
          <a:noFill/>
        </p:spPr>
        <p:txBody>
          <a:bodyPr wrap="square" lIns="0" rIns="0" tIns="0" bIns="0" anchor="t"/>
          <a:lstStyle/>
          <a:p>
            <a:pPr algn="l">
              <a:lnSpc>
                <a:spcPct val="114000"/>
              </a:lnSpc>
            </a:pPr>
            <a:r>
              <a:rPr sz="3000" b="0" i="0">
                <a:solidFill>
                  <a:srgbClr val="362C24"/>
                </a:solidFill>
                <a:latin typeface="Georgia"/>
              </a:rPr>
              <a:t>Acquired by the ibibo group in 2013 in a transaction reported between $100 and $138 million, and brought into the MakeMyTrip house in 2016.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TWO COMPANIES, TWO DIFFERENT FINDINGS</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Both mapped a journey nobody had written down</a:t>
            </a:r>
          </a:p>
        </p:txBody>
      </p:sp>
      <p:sp>
        <p:nvSpPr>
          <p:cNvPr id="4" name="Rectangle 3"/>
          <p:cNvSpPr/>
          <p:nvPr/>
        </p:nvSpPr>
        <p:spPr>
          <a:xfrm>
            <a:off x="1047750" y="3629025"/>
            <a:ext cx="7905750" cy="40767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4010025"/>
            <a:ext cx="7067550" cy="352425"/>
          </a:xfrm>
          <a:prstGeom prst="rect">
            <a:avLst/>
          </a:prstGeom>
          <a:noFill/>
        </p:spPr>
        <p:txBody>
          <a:bodyPr wrap="square" lIns="0" rIns="0" tIns="0" bIns="0" anchor="t"/>
          <a:lstStyle/>
          <a:p>
            <a:pPr algn="l"/>
            <a:r>
              <a:rPr sz="2100" b="1" i="0" spc="180">
                <a:solidFill>
                  <a:srgbClr val="5E534A"/>
                </a:solidFill>
                <a:latin typeface="Arial"/>
              </a:rPr>
              <a:t>MAKEMYTRIP</a:t>
            </a:r>
          </a:p>
        </p:txBody>
      </p:sp>
      <p:sp>
        <p:nvSpPr>
          <p:cNvPr id="6" name="TextBox 5"/>
          <p:cNvSpPr txBox="1"/>
          <p:nvPr/>
        </p:nvSpPr>
        <p:spPr>
          <a:xfrm>
            <a:off x="1466850" y="4543425"/>
            <a:ext cx="7067550" cy="828675"/>
          </a:xfrm>
          <a:prstGeom prst="rect">
            <a:avLst/>
          </a:prstGeom>
          <a:noFill/>
        </p:spPr>
        <p:txBody>
          <a:bodyPr wrap="square" lIns="0" rIns="0" tIns="0" bIns="0" anchor="t"/>
          <a:lstStyle/>
          <a:p>
            <a:pPr algn="l">
              <a:lnSpc>
                <a:spcPct val="106000"/>
              </a:lnSpc>
            </a:pPr>
            <a:r>
              <a:rPr sz="2250" b="0" i="0">
                <a:solidFill>
                  <a:srgbClr val="201914"/>
                </a:solidFill>
                <a:latin typeface="Arial"/>
              </a:rPr>
              <a:t>Found the troughs in the middle of an existing journey.</a:t>
            </a:r>
          </a:p>
        </p:txBody>
      </p:sp>
      <p:sp>
        <p:nvSpPr>
          <p:cNvPr id="7" name="TextBox 6"/>
          <p:cNvSpPr txBox="1"/>
          <p:nvPr/>
        </p:nvSpPr>
        <p:spPr>
          <a:xfrm>
            <a:off x="1466850" y="5581650"/>
            <a:ext cx="7067550" cy="828675"/>
          </a:xfrm>
          <a:prstGeom prst="rect">
            <a:avLst/>
          </a:prstGeom>
          <a:noFill/>
        </p:spPr>
        <p:txBody>
          <a:bodyPr wrap="square" lIns="0" rIns="0" tIns="0" bIns="0" anchor="t"/>
          <a:lstStyle/>
          <a:p>
            <a:pPr algn="l">
              <a:lnSpc>
                <a:spcPct val="106000"/>
              </a:lnSpc>
            </a:pPr>
            <a:r>
              <a:rPr sz="2250" b="0" i="0">
                <a:solidFill>
                  <a:srgbClr val="201914"/>
                </a:solidFill>
                <a:latin typeface="Arial"/>
              </a:rPr>
              <a:t>Comparison, and the weeks between paying and travelling.</a:t>
            </a:r>
          </a:p>
        </p:txBody>
      </p:sp>
      <p:sp>
        <p:nvSpPr>
          <p:cNvPr id="8" name="TextBox 7"/>
          <p:cNvSpPr txBox="1"/>
          <p:nvPr/>
        </p:nvSpPr>
        <p:spPr>
          <a:xfrm>
            <a:off x="1466850" y="6619875"/>
            <a:ext cx="7067550" cy="457200"/>
          </a:xfrm>
          <a:prstGeom prst="rect">
            <a:avLst/>
          </a:prstGeom>
          <a:noFill/>
        </p:spPr>
        <p:txBody>
          <a:bodyPr wrap="square" lIns="0" rIns="0" tIns="0" bIns="0" anchor="t"/>
          <a:lstStyle/>
          <a:p>
            <a:pPr algn="l">
              <a:lnSpc>
                <a:spcPct val="106000"/>
              </a:lnSpc>
            </a:pPr>
            <a:r>
              <a:rPr sz="2250" b="0" i="0">
                <a:solidFill>
                  <a:srgbClr val="201914"/>
                </a:solidFill>
                <a:latin typeface="Arial"/>
              </a:rPr>
              <a:t>Fixed those two and deliberately left the rest alone.</a:t>
            </a:r>
          </a:p>
        </p:txBody>
      </p:sp>
      <p:sp>
        <p:nvSpPr>
          <p:cNvPr id="9" name="Rectangle 8"/>
          <p:cNvSpPr/>
          <p:nvPr/>
        </p:nvSpPr>
        <p:spPr>
          <a:xfrm>
            <a:off x="9334500" y="3629025"/>
            <a:ext cx="7905750" cy="40767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53600" y="4010025"/>
            <a:ext cx="7067550" cy="352425"/>
          </a:xfrm>
          <a:prstGeom prst="rect">
            <a:avLst/>
          </a:prstGeom>
          <a:noFill/>
        </p:spPr>
        <p:txBody>
          <a:bodyPr wrap="square" lIns="0" rIns="0" tIns="0" bIns="0" anchor="t"/>
          <a:lstStyle/>
          <a:p>
            <a:pPr algn="l"/>
            <a:r>
              <a:rPr sz="2100" b="1" i="0" spc="180">
                <a:solidFill>
                  <a:srgbClr val="EF806F"/>
                </a:solidFill>
                <a:latin typeface="Arial"/>
              </a:rPr>
              <a:t>REDBUS</a:t>
            </a:r>
          </a:p>
        </p:txBody>
      </p:sp>
      <p:sp>
        <p:nvSpPr>
          <p:cNvPr id="11" name="TextBox 10"/>
          <p:cNvSpPr txBox="1"/>
          <p:nvPr/>
        </p:nvSpPr>
        <p:spPr>
          <a:xfrm>
            <a:off x="9753600" y="4543425"/>
            <a:ext cx="7067550" cy="457200"/>
          </a:xfrm>
          <a:prstGeom prst="rect">
            <a:avLst/>
          </a:prstGeom>
          <a:noFill/>
        </p:spPr>
        <p:txBody>
          <a:bodyPr wrap="square" lIns="0" rIns="0" tIns="0" bIns="0" anchor="t"/>
          <a:lstStyle/>
          <a:p>
            <a:pPr algn="l">
              <a:lnSpc>
                <a:spcPct val="106000"/>
              </a:lnSpc>
            </a:pPr>
            <a:r>
              <a:rPr sz="2250" b="0" i="0">
                <a:solidFill>
                  <a:srgbClr val="F5F1E9"/>
                </a:solidFill>
                <a:latin typeface="Arial"/>
              </a:rPr>
              <a:t>Found that the journey's first step did not exist at all.</a:t>
            </a:r>
          </a:p>
        </p:txBody>
      </p:sp>
      <p:sp>
        <p:nvSpPr>
          <p:cNvPr id="12" name="TextBox 11"/>
          <p:cNvSpPr txBox="1"/>
          <p:nvPr/>
        </p:nvSpPr>
        <p:spPr>
          <a:xfrm>
            <a:off x="9753600" y="5210175"/>
            <a:ext cx="7067550" cy="828675"/>
          </a:xfrm>
          <a:prstGeom prst="rect">
            <a:avLst/>
          </a:prstGeom>
          <a:noFill/>
        </p:spPr>
        <p:txBody>
          <a:bodyPr wrap="square" lIns="0" rIns="0" tIns="0" bIns="0" anchor="t"/>
          <a:lstStyle/>
          <a:p>
            <a:pPr algn="l">
              <a:lnSpc>
                <a:spcPct val="106000"/>
              </a:lnSpc>
            </a:pPr>
            <a:r>
              <a:rPr sz="2250" b="0" i="0">
                <a:solidFill>
                  <a:srgbClr val="F5F1E9"/>
                </a:solidFill>
                <a:latin typeface="Arial"/>
              </a:rPr>
              <a:t>Nobody could see what seats there were, including the people selling them.</a:t>
            </a:r>
          </a:p>
        </p:txBody>
      </p:sp>
      <p:sp>
        <p:nvSpPr>
          <p:cNvPr id="13" name="TextBox 12"/>
          <p:cNvSpPr txBox="1"/>
          <p:nvPr/>
        </p:nvSpPr>
        <p:spPr>
          <a:xfrm>
            <a:off x="9753600" y="6248400"/>
            <a:ext cx="7067550" cy="828675"/>
          </a:xfrm>
          <a:prstGeom prst="rect">
            <a:avLst/>
          </a:prstGeom>
          <a:noFill/>
        </p:spPr>
        <p:txBody>
          <a:bodyPr wrap="square" lIns="0" rIns="0" tIns="0" bIns="0" anchor="t"/>
          <a:lstStyle/>
          <a:p>
            <a:pPr algn="l">
              <a:lnSpc>
                <a:spcPct val="106000"/>
              </a:lnSpc>
            </a:pPr>
            <a:r>
              <a:rPr sz="2250" b="0" i="0">
                <a:solidFill>
                  <a:srgbClr val="F5F1E9"/>
                </a:solidFill>
                <a:latin typeface="Arial"/>
              </a:rPr>
              <a:t>Had to build the step before it could improve anything.</a:t>
            </a:r>
          </a:p>
        </p:txBody>
      </p:sp>
      <p:sp>
        <p:nvSpPr>
          <p:cNvPr id="14" name="TextBox 13"/>
          <p:cNvSpPr txBox="1"/>
          <p:nvPr/>
        </p:nvSpPr>
        <p:spPr>
          <a:xfrm>
            <a:off x="1047750" y="8105775"/>
            <a:ext cx="16192500" cy="1266825"/>
          </a:xfrm>
          <a:prstGeom prst="rect">
            <a:avLst/>
          </a:prstGeom>
          <a:noFill/>
        </p:spPr>
        <p:txBody>
          <a:bodyPr wrap="square" lIns="0" rIns="0" tIns="0" bIns="0" anchor="t"/>
          <a:lstStyle/>
          <a:p>
            <a:pPr algn="l">
              <a:lnSpc>
                <a:spcPct val="114000"/>
              </a:lnSpc>
            </a:pPr>
            <a:r>
              <a:rPr sz="3300" b="0" i="0">
                <a:solidFill>
                  <a:srgbClr val="362C24"/>
                </a:solidFill>
                <a:latin typeface="Georgia"/>
              </a:rPr>
              <a:t>Map a journey and you find one of two things: a step that hurts, or a step that is missing. They are not the same problem and they do not have the same fix.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2552700"/>
            <a:ext cx="16192500" cy="323850"/>
          </a:xfrm>
          <a:prstGeom prst="rect">
            <a:avLst/>
          </a:prstGeom>
          <a:noFill/>
        </p:spPr>
        <p:txBody>
          <a:bodyPr wrap="square" lIns="0" rIns="0" tIns="0" bIns="0" anchor="t"/>
          <a:lstStyle/>
          <a:p>
            <a:pPr algn="l"/>
            <a:r>
              <a:rPr sz="1950" b="1" i="0" spc="312">
                <a:solidFill>
                  <a:srgbClr val="EF806F"/>
                </a:solidFill>
                <a:latin typeface="Arial"/>
              </a:rPr>
              <a:t>TEN O'CLOCK TOMORROW MORNING</a:t>
            </a:r>
          </a:p>
        </p:txBody>
      </p:sp>
      <p:sp>
        <p:nvSpPr>
          <p:cNvPr id="3" name="TextBox 2"/>
          <p:cNvSpPr txBox="1"/>
          <p:nvPr/>
        </p:nvSpPr>
        <p:spPr>
          <a:xfrm>
            <a:off x="1047750" y="3143250"/>
            <a:ext cx="15697200" cy="2419350"/>
          </a:xfrm>
          <a:prstGeom prst="rect">
            <a:avLst/>
          </a:prstGeom>
          <a:noFill/>
        </p:spPr>
        <p:txBody>
          <a:bodyPr wrap="square" lIns="0" rIns="0" tIns="0" bIns="0" anchor="t"/>
          <a:lstStyle/>
          <a:p>
            <a:pPr algn="l">
              <a:lnSpc>
                <a:spcPct val="90000"/>
              </a:lnSpc>
            </a:pPr>
            <a:r>
              <a:rPr sz="8100" b="1" i="0" spc="-250">
                <a:solidFill>
                  <a:srgbClr val="F5F1E9"/>
                </a:solidFill>
                <a:latin typeface="Arial"/>
              </a:rPr>
              <a:t>This one is not history. It happens again tomorrow.</a:t>
            </a:r>
          </a:p>
        </p:txBody>
      </p:sp>
      <p:sp>
        <p:nvSpPr>
          <p:cNvPr id="4" name="TextBox 3"/>
          <p:cNvSpPr txBox="1"/>
          <p:nvPr/>
        </p:nvSpPr>
        <p:spPr>
          <a:xfrm>
            <a:off x="1047750" y="5981700"/>
            <a:ext cx="14287500" cy="2619375"/>
          </a:xfrm>
          <a:prstGeom prst="rect">
            <a:avLst/>
          </a:prstGeom>
          <a:noFill/>
        </p:spPr>
        <p:txBody>
          <a:bodyPr wrap="square" lIns="0" rIns="0" tIns="0" bIns="0" anchor="t"/>
          <a:lstStyle/>
          <a:p>
            <a:pPr algn="l">
              <a:lnSpc>
                <a:spcPct val="112000"/>
              </a:lnSpc>
            </a:pPr>
            <a:r>
              <a:rPr sz="3600" b="0" i="0">
                <a:solidFill>
                  <a:srgbClr val="C1B5AB"/>
                </a:solidFill>
                <a:latin typeface="Georgia"/>
              </a:rPr>
              <a:t>IRCTC reportedly handles well over a million bookings on an ordinary day, and its internet ticketing business — a convenience fee of a few tens of rupees a ticket — has been reported at revenues in the region of a thousand crore rupees.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 TATKAL JOURNEY</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Twelve hours of preparation for ninety seconds</a:t>
            </a:r>
          </a:p>
        </p:txBody>
      </p:sp>
      <p:sp>
        <p:nvSpPr>
          <p:cNvPr id="4" name="Rectangle 3"/>
          <p:cNvSpPr/>
          <p:nvPr/>
        </p:nvSpPr>
        <p:spPr>
          <a:xfrm>
            <a:off x="1047750" y="3629025"/>
            <a:ext cx="30194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933825"/>
            <a:ext cx="3019425" cy="533400"/>
          </a:xfrm>
          <a:prstGeom prst="rect">
            <a:avLst/>
          </a:prstGeom>
          <a:noFill/>
        </p:spPr>
        <p:txBody>
          <a:bodyPr wrap="square" lIns="0" rIns="0" tIns="0" bIns="0" anchor="t"/>
          <a:lstStyle/>
          <a:p>
            <a:pPr algn="l"/>
            <a:r>
              <a:rPr sz="2850" b="1" i="0">
                <a:solidFill>
                  <a:srgbClr val="201914"/>
                </a:solidFill>
                <a:latin typeface="Arial"/>
              </a:rPr>
              <a:t>The night before</a:t>
            </a:r>
          </a:p>
        </p:txBody>
      </p:sp>
      <p:sp>
        <p:nvSpPr>
          <p:cNvPr id="6" name="TextBox 5"/>
          <p:cNvSpPr txBox="1"/>
          <p:nvPr/>
        </p:nvSpPr>
        <p:spPr>
          <a:xfrm>
            <a:off x="1047750" y="4600575"/>
            <a:ext cx="3019425" cy="2162175"/>
          </a:xfrm>
          <a:prstGeom prst="rect">
            <a:avLst/>
          </a:prstGeom>
          <a:noFill/>
        </p:spPr>
        <p:txBody>
          <a:bodyPr wrap="square" lIns="0" rIns="0" tIns="0" bIns="0" anchor="t"/>
          <a:lstStyle/>
          <a:p>
            <a:pPr algn="l">
              <a:lnSpc>
                <a:spcPct val="105000"/>
              </a:lnSpc>
            </a:pPr>
            <a:r>
              <a:rPr sz="2100" b="0" i="0">
                <a:solidFill>
                  <a:srgbClr val="665B53"/>
                </a:solidFill>
                <a:latin typeface="Arial"/>
              </a:rPr>
              <a:t>Passenger details written out in advance, the payment method checked, and somebody in the family assigned to do it.</a:t>
            </a:r>
          </a:p>
        </p:txBody>
      </p:sp>
      <p:sp>
        <p:nvSpPr>
          <p:cNvPr id="7" name="Rectangle 6"/>
          <p:cNvSpPr/>
          <p:nvPr/>
        </p:nvSpPr>
        <p:spPr>
          <a:xfrm>
            <a:off x="4333875" y="3629025"/>
            <a:ext cx="30194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33875" y="3933825"/>
            <a:ext cx="3019425" cy="533400"/>
          </a:xfrm>
          <a:prstGeom prst="rect">
            <a:avLst/>
          </a:prstGeom>
          <a:noFill/>
        </p:spPr>
        <p:txBody>
          <a:bodyPr wrap="square" lIns="0" rIns="0" tIns="0" bIns="0" anchor="t"/>
          <a:lstStyle/>
          <a:p>
            <a:pPr algn="l"/>
            <a:r>
              <a:rPr sz="2850" b="1" i="0">
                <a:solidFill>
                  <a:srgbClr val="201914"/>
                </a:solidFill>
                <a:latin typeface="Arial"/>
              </a:rPr>
              <a:t>9:55</a:t>
            </a:r>
          </a:p>
        </p:txBody>
      </p:sp>
      <p:sp>
        <p:nvSpPr>
          <p:cNvPr id="9" name="TextBox 8"/>
          <p:cNvSpPr txBox="1"/>
          <p:nvPr/>
        </p:nvSpPr>
        <p:spPr>
          <a:xfrm>
            <a:off x="4333875" y="4600575"/>
            <a:ext cx="3019425" cy="1466850"/>
          </a:xfrm>
          <a:prstGeom prst="rect">
            <a:avLst/>
          </a:prstGeom>
          <a:noFill/>
        </p:spPr>
        <p:txBody>
          <a:bodyPr wrap="square" lIns="0" rIns="0" tIns="0" bIns="0" anchor="t"/>
          <a:lstStyle/>
          <a:p>
            <a:pPr algn="l">
              <a:lnSpc>
                <a:spcPct val="105000"/>
              </a:lnSpc>
            </a:pPr>
            <a:r>
              <a:rPr sz="2100" b="0" i="0">
                <a:solidFill>
                  <a:srgbClr val="665B53"/>
                </a:solidFill>
                <a:latin typeface="Arial"/>
              </a:rPr>
              <a:t>Logged in early, sitting at the screen, sometimes on two devices.</a:t>
            </a:r>
          </a:p>
        </p:txBody>
      </p:sp>
      <p:sp>
        <p:nvSpPr>
          <p:cNvPr id="10" name="Rectangle 9"/>
          <p:cNvSpPr/>
          <p:nvPr/>
        </p:nvSpPr>
        <p:spPr>
          <a:xfrm>
            <a:off x="7620000" y="3629025"/>
            <a:ext cx="30194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20000" y="3933825"/>
            <a:ext cx="3019425" cy="533400"/>
          </a:xfrm>
          <a:prstGeom prst="rect">
            <a:avLst/>
          </a:prstGeom>
          <a:noFill/>
        </p:spPr>
        <p:txBody>
          <a:bodyPr wrap="square" lIns="0" rIns="0" tIns="0" bIns="0" anchor="t"/>
          <a:lstStyle/>
          <a:p>
            <a:pPr algn="l"/>
            <a:r>
              <a:rPr sz="2850" b="1" i="0">
                <a:solidFill>
                  <a:srgbClr val="201914"/>
                </a:solidFill>
                <a:latin typeface="Arial"/>
              </a:rPr>
              <a:t>10:00</a:t>
            </a:r>
          </a:p>
        </p:txBody>
      </p:sp>
      <p:sp>
        <p:nvSpPr>
          <p:cNvPr id="12" name="TextBox 11"/>
          <p:cNvSpPr txBox="1"/>
          <p:nvPr/>
        </p:nvSpPr>
        <p:spPr>
          <a:xfrm>
            <a:off x="7620000" y="4600575"/>
            <a:ext cx="3019425" cy="1819275"/>
          </a:xfrm>
          <a:prstGeom prst="rect">
            <a:avLst/>
          </a:prstGeom>
          <a:noFill/>
        </p:spPr>
        <p:txBody>
          <a:bodyPr wrap="square" lIns="0" rIns="0" tIns="0" bIns="0" anchor="t"/>
          <a:lstStyle/>
          <a:p>
            <a:pPr algn="l">
              <a:lnSpc>
                <a:spcPct val="105000"/>
              </a:lnSpc>
            </a:pPr>
            <a:r>
              <a:rPr sz="2100" b="0" i="0">
                <a:solidFill>
                  <a:srgbClr val="665B53"/>
                </a:solidFill>
                <a:latin typeface="Arial"/>
              </a:rPr>
              <a:t>A national simultaneous rush. The site slows, times out, or shows a seat that disappears at the payment step.</a:t>
            </a:r>
          </a:p>
        </p:txBody>
      </p:sp>
      <p:sp>
        <p:nvSpPr>
          <p:cNvPr id="13" name="Rectangle 12"/>
          <p:cNvSpPr/>
          <p:nvPr/>
        </p:nvSpPr>
        <p:spPr>
          <a:xfrm>
            <a:off x="10906125" y="3629025"/>
            <a:ext cx="30194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06125" y="3933825"/>
            <a:ext cx="3019425" cy="533400"/>
          </a:xfrm>
          <a:prstGeom prst="rect">
            <a:avLst/>
          </a:prstGeom>
          <a:noFill/>
        </p:spPr>
        <p:txBody>
          <a:bodyPr wrap="square" lIns="0" rIns="0" tIns="0" bIns="0" anchor="t"/>
          <a:lstStyle/>
          <a:p>
            <a:pPr algn="l"/>
            <a:r>
              <a:rPr sz="2850" b="1" i="0">
                <a:solidFill>
                  <a:srgbClr val="201914"/>
                </a:solidFill>
                <a:latin typeface="Arial"/>
              </a:rPr>
              <a:t>10:02</a:t>
            </a:r>
          </a:p>
        </p:txBody>
      </p:sp>
      <p:sp>
        <p:nvSpPr>
          <p:cNvPr id="15" name="TextBox 14"/>
          <p:cNvSpPr txBox="1"/>
          <p:nvPr/>
        </p:nvSpPr>
        <p:spPr>
          <a:xfrm>
            <a:off x="10906125" y="4600575"/>
            <a:ext cx="3019425" cy="1466850"/>
          </a:xfrm>
          <a:prstGeom prst="rect">
            <a:avLst/>
          </a:prstGeom>
          <a:noFill/>
        </p:spPr>
        <p:txBody>
          <a:bodyPr wrap="square" lIns="0" rIns="0" tIns="0" bIns="0" anchor="t"/>
          <a:lstStyle/>
          <a:p>
            <a:pPr algn="l">
              <a:lnSpc>
                <a:spcPct val="105000"/>
              </a:lnSpc>
            </a:pPr>
            <a:r>
              <a:rPr sz="2100" b="0" i="0">
                <a:solidFill>
                  <a:srgbClr val="665B53"/>
                </a:solidFill>
                <a:latin typeface="Arial"/>
              </a:rPr>
              <a:t>A confirmed ticket and relief — or a failure, and the immediate question of what to do now.</a:t>
            </a:r>
          </a:p>
        </p:txBody>
      </p:sp>
      <p:sp>
        <p:nvSpPr>
          <p:cNvPr id="16" name="Rectangle 15"/>
          <p:cNvSpPr/>
          <p:nvPr/>
        </p:nvSpPr>
        <p:spPr>
          <a:xfrm>
            <a:off x="14192250" y="3629025"/>
            <a:ext cx="3019425"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192250" y="3933825"/>
            <a:ext cx="3019425" cy="533400"/>
          </a:xfrm>
          <a:prstGeom prst="rect">
            <a:avLst/>
          </a:prstGeom>
          <a:noFill/>
        </p:spPr>
        <p:txBody>
          <a:bodyPr wrap="square" lIns="0" rIns="0" tIns="0" bIns="0" anchor="t"/>
          <a:lstStyle/>
          <a:p>
            <a:pPr algn="l"/>
            <a:r>
              <a:rPr sz="2850" b="1" i="0">
                <a:solidFill>
                  <a:srgbClr val="201914"/>
                </a:solidFill>
                <a:latin typeface="Arial"/>
              </a:rPr>
              <a:t>The aftermath</a:t>
            </a:r>
          </a:p>
        </p:txBody>
      </p:sp>
      <p:sp>
        <p:nvSpPr>
          <p:cNvPr id="18" name="TextBox 17"/>
          <p:cNvSpPr txBox="1"/>
          <p:nvPr/>
        </p:nvSpPr>
        <p:spPr>
          <a:xfrm>
            <a:off x="14192250" y="4600575"/>
            <a:ext cx="3019425" cy="1466850"/>
          </a:xfrm>
          <a:prstGeom prst="rect">
            <a:avLst/>
          </a:prstGeom>
          <a:noFill/>
        </p:spPr>
        <p:txBody>
          <a:bodyPr wrap="square" lIns="0" rIns="0" tIns="0" bIns="0" anchor="t"/>
          <a:lstStyle/>
          <a:p>
            <a:pPr algn="l">
              <a:lnSpc>
                <a:spcPct val="105000"/>
              </a:lnSpc>
            </a:pPr>
            <a:r>
              <a:rPr sz="2100" b="0" i="0">
                <a:solidFill>
                  <a:srgbClr val="665B53"/>
                </a:solidFill>
                <a:latin typeface="Arial"/>
              </a:rPr>
              <a:t>A payment that went through without a ticket, and a refund that takes days.</a:t>
            </a:r>
          </a:p>
        </p:txBody>
      </p:sp>
      <p:sp>
        <p:nvSpPr>
          <p:cNvPr id="19" name="TextBox 18"/>
          <p:cNvSpPr txBox="1"/>
          <p:nvPr/>
        </p:nvSpPr>
        <p:spPr>
          <a:xfrm>
            <a:off x="1047750" y="8439150"/>
            <a:ext cx="16192500" cy="1162050"/>
          </a:xfrm>
          <a:prstGeom prst="rect">
            <a:avLst/>
          </a:prstGeom>
          <a:noFill/>
        </p:spPr>
        <p:txBody>
          <a:bodyPr wrap="square" lIns="0" rIns="0" tIns="0" bIns="0" anchor="t"/>
          <a:lstStyle/>
          <a:p>
            <a:pPr algn="l">
              <a:lnSpc>
                <a:spcPct val="114000"/>
              </a:lnSpc>
            </a:pPr>
            <a:r>
              <a:rPr sz="3000" b="0" i="0">
                <a:solidFill>
                  <a:srgbClr val="362C24"/>
                </a:solidFill>
                <a:latin typeface="Georgia"/>
              </a:rPr>
              <a:t>Notice where this journey begins. Not at 9:55 — the evening somebody said ‘we should go home for Diwali’.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 SAME JOURNEY, DRAWN AS A LINE</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This one does not decline gently</a:t>
            </a:r>
          </a:p>
        </p:txBody>
      </p:sp>
      <p:sp>
        <p:nvSpPr>
          <p:cNvPr id="4" name="Rectangle 3"/>
          <p:cNvSpPr/>
          <p:nvPr/>
        </p:nvSpPr>
        <p:spPr>
          <a:xfrm>
            <a:off x="1047750" y="62865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335250" y="5943600"/>
            <a:ext cx="1905000" cy="285750"/>
          </a:xfrm>
          <a:prstGeom prst="rect">
            <a:avLst/>
          </a:prstGeom>
          <a:noFill/>
        </p:spPr>
        <p:txBody>
          <a:bodyPr wrap="square" lIns="0" rIns="0" tIns="0" bIns="0" anchor="t"/>
          <a:lstStyle/>
          <a:p>
            <a:pPr algn="r"/>
            <a:r>
              <a:rPr sz="1800" b="1" i="0" spc="150">
                <a:solidFill>
                  <a:srgbClr val="6C6158"/>
                </a:solidFill>
                <a:latin typeface="Arial"/>
              </a:rPr>
              <a:t>POSITIVE</a:t>
            </a:r>
          </a:p>
        </p:txBody>
      </p:sp>
      <p:sp>
        <p:nvSpPr>
          <p:cNvPr id="6" name="TextBox 5"/>
          <p:cNvSpPr txBox="1"/>
          <p:nvPr/>
        </p:nvSpPr>
        <p:spPr>
          <a:xfrm>
            <a:off x="15335250" y="6419850"/>
            <a:ext cx="1905000" cy="285750"/>
          </a:xfrm>
          <a:prstGeom prst="rect">
            <a:avLst/>
          </a:prstGeom>
          <a:noFill/>
        </p:spPr>
        <p:txBody>
          <a:bodyPr wrap="square" lIns="0" rIns="0" tIns="0" bIns="0" anchor="t"/>
          <a:lstStyle/>
          <a:p>
            <a:pPr algn="r"/>
            <a:r>
              <a:rPr sz="1800" b="1" i="0" spc="150">
                <a:solidFill>
                  <a:srgbClr val="6C6158"/>
                </a:solidFill>
                <a:latin typeface="Arial"/>
              </a:rPr>
              <a:t>NEGATIVE</a:t>
            </a:r>
          </a:p>
        </p:txBody>
      </p:sp>
      <p:cxnSp>
        <p:nvCxnSpPr>
          <p:cNvPr id="7" name="Connector 6"/>
          <p:cNvCxnSpPr/>
          <p:nvPr/>
        </p:nvCxnSpPr>
        <p:spPr>
          <a:xfrm>
            <a:off x="1619250" y="5810250"/>
            <a:ext cx="2149929" cy="95250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769179" y="6762750"/>
            <a:ext cx="2149928" cy="47625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919107" y="7239000"/>
            <a:ext cx="2149929" cy="47625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8069036" y="5334000"/>
            <a:ext cx="2149928" cy="238125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218964" y="5334000"/>
            <a:ext cx="2149929" cy="238125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2368893" y="4857750"/>
            <a:ext cx="2149928" cy="285750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4518821" y="4857750"/>
            <a:ext cx="2149929" cy="2857500"/>
          </a:xfrm>
          <a:prstGeom prst="line">
            <a:avLst/>
          </a:prstGeom>
          <a:ln w="38100">
            <a:solidFill>
              <a:srgbClr val="C35141"/>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504950" y="5695950"/>
            <a:ext cx="228600" cy="228600"/>
          </a:xfrm>
          <a:prstGeom prst="ellipse">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5312" y="4752975"/>
            <a:ext cx="2047875" cy="771525"/>
          </a:xfrm>
          <a:prstGeom prst="rect">
            <a:avLst/>
          </a:prstGeom>
          <a:noFill/>
        </p:spPr>
        <p:txBody>
          <a:bodyPr wrap="square" lIns="0" rIns="0" tIns="0" bIns="0" anchor="t"/>
          <a:lstStyle/>
          <a:p>
            <a:pPr algn="ctr">
              <a:lnSpc>
                <a:spcPct val="105000"/>
              </a:lnSpc>
            </a:pPr>
            <a:r>
              <a:rPr sz="2100" b="1" i="0">
                <a:solidFill>
                  <a:srgbClr val="201914"/>
                </a:solidFill>
                <a:latin typeface="Arial"/>
              </a:rPr>
              <a:t>The evening before</a:t>
            </a:r>
          </a:p>
        </p:txBody>
      </p:sp>
      <p:sp>
        <p:nvSpPr>
          <p:cNvPr id="16" name="Oval 15"/>
          <p:cNvSpPr/>
          <p:nvPr/>
        </p:nvSpPr>
        <p:spPr>
          <a:xfrm>
            <a:off x="3654879" y="6648450"/>
            <a:ext cx="228600" cy="228600"/>
          </a:xfrm>
          <a:prstGeom prst="ellipse">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5241" y="7010400"/>
            <a:ext cx="2047875" cy="771525"/>
          </a:xfrm>
          <a:prstGeom prst="rect">
            <a:avLst/>
          </a:prstGeom>
          <a:noFill/>
        </p:spPr>
        <p:txBody>
          <a:bodyPr wrap="square" lIns="0" rIns="0" tIns="0" bIns="0" anchor="t"/>
          <a:lstStyle/>
          <a:p>
            <a:pPr algn="ctr">
              <a:lnSpc>
                <a:spcPct val="105000"/>
              </a:lnSpc>
            </a:pPr>
            <a:r>
              <a:rPr sz="2100" b="1" i="0">
                <a:solidFill>
                  <a:srgbClr val="B94739"/>
                </a:solidFill>
                <a:latin typeface="Arial"/>
              </a:rPr>
              <a:t>The night's preparation</a:t>
            </a:r>
          </a:p>
        </p:txBody>
      </p:sp>
      <p:sp>
        <p:nvSpPr>
          <p:cNvPr id="18" name="Oval 17"/>
          <p:cNvSpPr/>
          <p:nvPr/>
        </p:nvSpPr>
        <p:spPr>
          <a:xfrm>
            <a:off x="5804807" y="7124700"/>
            <a:ext cx="228600" cy="228600"/>
          </a:xfrm>
          <a:prstGeom prst="ellipse">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95170" y="7486650"/>
            <a:ext cx="2047875" cy="428625"/>
          </a:xfrm>
          <a:prstGeom prst="rect">
            <a:avLst/>
          </a:prstGeom>
          <a:noFill/>
        </p:spPr>
        <p:txBody>
          <a:bodyPr wrap="square" lIns="0" rIns="0" tIns="0" bIns="0" anchor="t"/>
          <a:lstStyle/>
          <a:p>
            <a:pPr algn="ctr">
              <a:lnSpc>
                <a:spcPct val="105000"/>
              </a:lnSpc>
            </a:pPr>
            <a:r>
              <a:rPr sz="2100" b="1" i="0">
                <a:solidFill>
                  <a:srgbClr val="B94739"/>
                </a:solidFill>
                <a:latin typeface="Arial"/>
              </a:rPr>
              <a:t>9:55</a:t>
            </a:r>
          </a:p>
        </p:txBody>
      </p:sp>
      <p:sp>
        <p:nvSpPr>
          <p:cNvPr id="20" name="Oval 19"/>
          <p:cNvSpPr/>
          <p:nvPr/>
        </p:nvSpPr>
        <p:spPr>
          <a:xfrm>
            <a:off x="7954736" y="7600950"/>
            <a:ext cx="228600" cy="228600"/>
          </a:xfrm>
          <a:prstGeom prst="ellipse">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5098" y="7962900"/>
            <a:ext cx="2047875" cy="428625"/>
          </a:xfrm>
          <a:prstGeom prst="rect">
            <a:avLst/>
          </a:prstGeom>
          <a:noFill/>
        </p:spPr>
        <p:txBody>
          <a:bodyPr wrap="square" lIns="0" rIns="0" tIns="0" bIns="0" anchor="t"/>
          <a:lstStyle/>
          <a:p>
            <a:pPr algn="ctr">
              <a:lnSpc>
                <a:spcPct val="105000"/>
              </a:lnSpc>
            </a:pPr>
            <a:r>
              <a:rPr sz="2100" b="1" i="0">
                <a:solidFill>
                  <a:srgbClr val="B94739"/>
                </a:solidFill>
                <a:latin typeface="Arial"/>
              </a:rPr>
              <a:t>10:00:00</a:t>
            </a:r>
          </a:p>
        </p:txBody>
      </p:sp>
      <p:sp>
        <p:nvSpPr>
          <p:cNvPr id="22" name="Oval 21"/>
          <p:cNvSpPr/>
          <p:nvPr/>
        </p:nvSpPr>
        <p:spPr>
          <a:xfrm>
            <a:off x="10104664" y="5219700"/>
            <a:ext cx="228600" cy="228600"/>
          </a:xfrm>
          <a:prstGeom prst="ellipse">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95027" y="4619625"/>
            <a:ext cx="2047875" cy="428625"/>
          </a:xfrm>
          <a:prstGeom prst="rect">
            <a:avLst/>
          </a:prstGeom>
          <a:noFill/>
        </p:spPr>
        <p:txBody>
          <a:bodyPr wrap="square" lIns="0" rIns="0" tIns="0" bIns="0" anchor="t"/>
          <a:lstStyle/>
          <a:p>
            <a:pPr algn="ctr">
              <a:lnSpc>
                <a:spcPct val="105000"/>
              </a:lnSpc>
            </a:pPr>
            <a:r>
              <a:rPr sz="2100" b="1" i="0">
                <a:solidFill>
                  <a:srgbClr val="201914"/>
                </a:solidFill>
                <a:latin typeface="Arial"/>
              </a:rPr>
              <a:t>A seat appears</a:t>
            </a:r>
          </a:p>
        </p:txBody>
      </p:sp>
      <p:sp>
        <p:nvSpPr>
          <p:cNvPr id="24" name="Oval 23"/>
          <p:cNvSpPr/>
          <p:nvPr/>
        </p:nvSpPr>
        <p:spPr>
          <a:xfrm>
            <a:off x="12254593" y="7600950"/>
            <a:ext cx="228600" cy="228600"/>
          </a:xfrm>
          <a:prstGeom prst="ellipse">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344955" y="7962900"/>
            <a:ext cx="2047875" cy="771525"/>
          </a:xfrm>
          <a:prstGeom prst="rect">
            <a:avLst/>
          </a:prstGeom>
          <a:noFill/>
        </p:spPr>
        <p:txBody>
          <a:bodyPr wrap="square" lIns="0" rIns="0" tIns="0" bIns="0" anchor="t"/>
          <a:lstStyle/>
          <a:p>
            <a:pPr algn="ctr">
              <a:lnSpc>
                <a:spcPct val="105000"/>
              </a:lnSpc>
            </a:pPr>
            <a:r>
              <a:rPr sz="2100" b="1" i="0">
                <a:solidFill>
                  <a:srgbClr val="B94739"/>
                </a:solidFill>
                <a:latin typeface="Arial"/>
              </a:rPr>
              <a:t>10:01 · payment</a:t>
            </a:r>
          </a:p>
        </p:txBody>
      </p:sp>
      <p:sp>
        <p:nvSpPr>
          <p:cNvPr id="26" name="Oval 25"/>
          <p:cNvSpPr/>
          <p:nvPr/>
        </p:nvSpPr>
        <p:spPr>
          <a:xfrm>
            <a:off x="14404521" y="4743450"/>
            <a:ext cx="228600" cy="228600"/>
          </a:xfrm>
          <a:prstGeom prst="ellipse">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494884" y="4143375"/>
            <a:ext cx="2047875" cy="428625"/>
          </a:xfrm>
          <a:prstGeom prst="rect">
            <a:avLst/>
          </a:prstGeom>
          <a:noFill/>
        </p:spPr>
        <p:txBody>
          <a:bodyPr wrap="square" lIns="0" rIns="0" tIns="0" bIns="0" anchor="t"/>
          <a:lstStyle/>
          <a:p>
            <a:pPr algn="ctr">
              <a:lnSpc>
                <a:spcPct val="105000"/>
              </a:lnSpc>
            </a:pPr>
            <a:r>
              <a:rPr sz="2100" b="1" i="0">
                <a:solidFill>
                  <a:srgbClr val="201914"/>
                </a:solidFill>
                <a:latin typeface="Arial"/>
              </a:rPr>
              <a:t>Confirmed</a:t>
            </a:r>
          </a:p>
        </p:txBody>
      </p:sp>
      <p:sp>
        <p:nvSpPr>
          <p:cNvPr id="28" name="Oval 27"/>
          <p:cNvSpPr/>
          <p:nvPr/>
        </p:nvSpPr>
        <p:spPr>
          <a:xfrm>
            <a:off x="16554450" y="7600950"/>
            <a:ext cx="228600" cy="228600"/>
          </a:xfrm>
          <a:prstGeom prst="ellipse">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644812" y="7962900"/>
            <a:ext cx="2047875" cy="771525"/>
          </a:xfrm>
          <a:prstGeom prst="rect">
            <a:avLst/>
          </a:prstGeom>
          <a:noFill/>
        </p:spPr>
        <p:txBody>
          <a:bodyPr wrap="square" lIns="0" rIns="0" tIns="0" bIns="0" anchor="t"/>
          <a:lstStyle/>
          <a:p>
            <a:pPr algn="ctr">
              <a:lnSpc>
                <a:spcPct val="105000"/>
              </a:lnSpc>
            </a:pPr>
            <a:r>
              <a:rPr sz="2100" b="1" i="0">
                <a:solidFill>
                  <a:srgbClr val="B94739"/>
                </a:solidFill>
                <a:latin typeface="Arial"/>
              </a:rPr>
              <a:t>Or: money gone, no ticket</a:t>
            </a:r>
          </a:p>
        </p:txBody>
      </p:sp>
      <p:sp>
        <p:nvSpPr>
          <p:cNvPr id="30" name="TextBox 29"/>
          <p:cNvSpPr txBox="1"/>
          <p:nvPr/>
        </p:nvSpPr>
        <p:spPr>
          <a:xfrm>
            <a:off x="1047750" y="8439150"/>
            <a:ext cx="16192500" cy="1162050"/>
          </a:xfrm>
          <a:prstGeom prst="rect">
            <a:avLst/>
          </a:prstGeom>
          <a:noFill/>
        </p:spPr>
        <p:txBody>
          <a:bodyPr wrap="square" lIns="0" rIns="0" tIns="0" bIns="0" anchor="t"/>
          <a:lstStyle/>
          <a:p>
            <a:pPr algn="l">
              <a:lnSpc>
                <a:spcPct val="114000"/>
              </a:lnSpc>
            </a:pPr>
            <a:r>
              <a:rPr sz="3000" b="0" i="0">
                <a:solidFill>
                  <a:srgbClr val="362C24"/>
                </a:solidFill>
                <a:latin typeface="Georgia"/>
              </a:rPr>
              <a:t>Anxious for twelve hours, a violent spike at ten o'clock, and a resolution in one of two directions inside ninety seconds. There is no middle.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EF806F"/>
                </a:solidFill>
                <a:latin typeface="Arial"/>
              </a:rPr>
              <a:t>OPEN QUESTION</a:t>
            </a:r>
          </a:p>
        </p:txBody>
      </p:sp>
      <p:sp>
        <p:nvSpPr>
          <p:cNvPr id="3" name="TextBox 2"/>
          <p:cNvSpPr txBox="1"/>
          <p:nvPr/>
        </p:nvSpPr>
        <p:spPr>
          <a:xfrm>
            <a:off x="1714500" y="3019425"/>
            <a:ext cx="14859000" cy="3114675"/>
          </a:xfrm>
          <a:prstGeom prst="rect">
            <a:avLst/>
          </a:prstGeom>
          <a:noFill/>
        </p:spPr>
        <p:txBody>
          <a:bodyPr wrap="square" lIns="0" rIns="0" tIns="0" bIns="0" anchor="t"/>
          <a:lstStyle/>
          <a:p>
            <a:pPr algn="ctr">
              <a:lnSpc>
                <a:spcPct val="88000"/>
              </a:lnSpc>
            </a:pPr>
            <a:r>
              <a:rPr sz="5400" b="1" i="0" spc="-250">
                <a:solidFill>
                  <a:srgbClr val="F5F1E9"/>
                </a:solidFill>
                <a:latin typeface="Arial"/>
              </a:rPr>
              <a:t>Nobody has mapped the journey at a government office, a hospital billing counter or a college admissions desk. Why not?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WHY THAT JOURNEY STAYS BROKEN</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Journey mapping is a competitive instrument</a:t>
            </a:r>
          </a:p>
        </p:txBody>
      </p:sp>
      <p:sp>
        <p:nvSpPr>
          <p:cNvPr id="4" name="Rectangle 3"/>
          <p:cNvSpPr/>
          <p:nvPr/>
        </p:nvSpPr>
        <p:spPr>
          <a:xfrm>
            <a:off x="1047750"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933825"/>
            <a:ext cx="5143500" cy="1123950"/>
          </a:xfrm>
          <a:prstGeom prst="rect">
            <a:avLst/>
          </a:prstGeom>
          <a:noFill/>
        </p:spPr>
        <p:txBody>
          <a:bodyPr wrap="square" lIns="0" rIns="0" tIns="0" bIns="0" anchor="t"/>
          <a:lstStyle/>
          <a:p>
            <a:pPr algn="l"/>
            <a:r>
              <a:rPr sz="3300" b="1" i="0">
                <a:solidFill>
                  <a:srgbClr val="201914"/>
                </a:solidFill>
                <a:latin typeface="Arial"/>
              </a:rPr>
              <a:t>The customer cannot leave</a:t>
            </a:r>
          </a:p>
        </p:txBody>
      </p:sp>
      <p:sp>
        <p:nvSpPr>
          <p:cNvPr id="6" name="TextBox 5"/>
          <p:cNvSpPr txBox="1"/>
          <p:nvPr/>
        </p:nvSpPr>
        <p:spPr>
          <a:xfrm>
            <a:off x="1047750" y="5191125"/>
            <a:ext cx="5143500" cy="1771650"/>
          </a:xfrm>
          <a:prstGeom prst="rect">
            <a:avLst/>
          </a:prstGeom>
          <a:noFill/>
        </p:spPr>
        <p:txBody>
          <a:bodyPr wrap="square" lIns="0" rIns="0" tIns="0" bIns="0" anchor="t"/>
          <a:lstStyle/>
          <a:p>
            <a:pPr algn="l">
              <a:lnSpc>
                <a:spcPct val="105000"/>
              </a:lnSpc>
            </a:pPr>
            <a:r>
              <a:rPr sz="2550" b="0" i="0">
                <a:solidFill>
                  <a:srgbClr val="665B53"/>
                </a:solidFill>
                <a:latin typeface="Arial"/>
              </a:rPr>
              <a:t>There is no second railway. The experience is whatever is left over after the system's own constraints are met.</a:t>
            </a:r>
          </a:p>
        </p:txBody>
      </p:sp>
      <p:sp>
        <p:nvSpPr>
          <p:cNvPr id="7" name="Rectangle 6"/>
          <p:cNvSpPr/>
          <p:nvPr/>
        </p:nvSpPr>
        <p:spPr>
          <a:xfrm>
            <a:off x="6572250"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933825"/>
            <a:ext cx="5143500" cy="1123950"/>
          </a:xfrm>
          <a:prstGeom prst="rect">
            <a:avLst/>
          </a:prstGeom>
          <a:noFill/>
        </p:spPr>
        <p:txBody>
          <a:bodyPr wrap="square" lIns="0" rIns="0" tIns="0" bIns="0" anchor="t"/>
          <a:lstStyle/>
          <a:p>
            <a:pPr algn="l"/>
            <a:r>
              <a:rPr sz="3300" b="1" i="0">
                <a:solidFill>
                  <a:srgbClr val="201914"/>
                </a:solidFill>
                <a:latin typeface="Arial"/>
              </a:rPr>
              <a:t>Nobody is paid to improve it</a:t>
            </a:r>
          </a:p>
        </p:txBody>
      </p:sp>
      <p:sp>
        <p:nvSpPr>
          <p:cNvPr id="9" name="TextBox 8"/>
          <p:cNvSpPr txBox="1"/>
          <p:nvPr/>
        </p:nvSpPr>
        <p:spPr>
          <a:xfrm>
            <a:off x="6572250" y="5191125"/>
            <a:ext cx="5143500" cy="1771650"/>
          </a:xfrm>
          <a:prstGeom prst="rect">
            <a:avLst/>
          </a:prstGeom>
          <a:noFill/>
        </p:spPr>
        <p:txBody>
          <a:bodyPr wrap="square" lIns="0" rIns="0" tIns="0" bIns="0" anchor="t"/>
          <a:lstStyle/>
          <a:p>
            <a:pPr algn="l">
              <a:lnSpc>
                <a:spcPct val="105000"/>
              </a:lnSpc>
            </a:pPr>
            <a:r>
              <a:rPr sz="2550" b="0" i="0">
                <a:solidFill>
                  <a:srgbClr val="665B53"/>
                </a:solidFill>
                <a:latin typeface="Arial"/>
              </a:rPr>
              <a:t>Mapping a journey costs money and time, and it is justified by the customers you would otherwise lose.</a:t>
            </a:r>
          </a:p>
        </p:txBody>
      </p:sp>
      <p:sp>
        <p:nvSpPr>
          <p:cNvPr id="10" name="Rectangle 9"/>
          <p:cNvSpPr/>
          <p:nvPr/>
        </p:nvSpPr>
        <p:spPr>
          <a:xfrm>
            <a:off x="12096750"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933825"/>
            <a:ext cx="5143500" cy="1123950"/>
          </a:xfrm>
          <a:prstGeom prst="rect">
            <a:avLst/>
          </a:prstGeom>
          <a:noFill/>
        </p:spPr>
        <p:txBody>
          <a:bodyPr wrap="square" lIns="0" rIns="0" tIns="0" bIns="0" anchor="t"/>
          <a:lstStyle/>
          <a:p>
            <a:pPr algn="l"/>
            <a:r>
              <a:rPr sz="3300" b="1" i="0">
                <a:solidFill>
                  <a:srgbClr val="201914"/>
                </a:solidFill>
                <a:latin typeface="Arial"/>
              </a:rPr>
              <a:t>No competitor to lose them to</a:t>
            </a:r>
          </a:p>
        </p:txBody>
      </p:sp>
      <p:sp>
        <p:nvSpPr>
          <p:cNvPr id="12" name="TextBox 11"/>
          <p:cNvSpPr txBox="1"/>
          <p:nvPr/>
        </p:nvSpPr>
        <p:spPr>
          <a:xfrm>
            <a:off x="12096750" y="5191125"/>
            <a:ext cx="5143500" cy="1343025"/>
          </a:xfrm>
          <a:prstGeom prst="rect">
            <a:avLst/>
          </a:prstGeom>
          <a:noFill/>
        </p:spPr>
        <p:txBody>
          <a:bodyPr wrap="square" lIns="0" rIns="0" tIns="0" bIns="0" anchor="t"/>
          <a:lstStyle/>
          <a:p>
            <a:pPr algn="l">
              <a:lnSpc>
                <a:spcPct val="105000"/>
              </a:lnSpc>
            </a:pPr>
            <a:r>
              <a:rPr sz="2550" b="0" i="0">
                <a:solidFill>
                  <a:srgbClr val="665B53"/>
                </a:solidFill>
                <a:latin typeface="Arial"/>
              </a:rPr>
              <a:t>Where a customer can walk away, somebody eventually maps the walk.</a:t>
            </a:r>
          </a:p>
        </p:txBody>
      </p:sp>
      <p:sp>
        <p:nvSpPr>
          <p:cNvPr id="13" name="Rectangle 12"/>
          <p:cNvSpPr/>
          <p:nvPr/>
        </p:nvSpPr>
        <p:spPr>
          <a:xfrm>
            <a:off x="1047750" y="7534275"/>
            <a:ext cx="16192500" cy="206692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43050" y="7991475"/>
            <a:ext cx="15240000" cy="1019175"/>
          </a:xfrm>
          <a:prstGeom prst="rect">
            <a:avLst/>
          </a:prstGeom>
          <a:noFill/>
        </p:spPr>
        <p:txBody>
          <a:bodyPr wrap="square" lIns="0" rIns="0" tIns="0" bIns="0" anchor="t"/>
          <a:lstStyle/>
          <a:p>
            <a:pPr algn="l">
              <a:lnSpc>
                <a:spcPct val="114000"/>
              </a:lnSpc>
            </a:pPr>
            <a:r>
              <a:rPr sz="2550" b="0" i="0">
                <a:solidFill>
                  <a:srgbClr val="F5F1E9"/>
                </a:solidFill>
                <a:latin typeface="Georgia"/>
              </a:rPr>
              <a:t>An unmapped journey marks a trapped customer — which, for a founder, is also the definition of an opportunity wherever entry is permitted.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FRAMEWORK 1</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Five rows and a curve</a:t>
            </a:r>
          </a:p>
        </p:txBody>
      </p:sp>
      <p:sp>
        <p:nvSpPr>
          <p:cNvPr id="4" name="Rectangle 3"/>
          <p:cNvSpPr/>
          <p:nvPr/>
        </p:nvSpPr>
        <p:spPr>
          <a:xfrm>
            <a:off x="1047750" y="2838450"/>
            <a:ext cx="16192500" cy="9239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2550" y="3067050"/>
            <a:ext cx="2705100" cy="466725"/>
          </a:xfrm>
          <a:prstGeom prst="rect">
            <a:avLst/>
          </a:prstGeom>
          <a:noFill/>
        </p:spPr>
        <p:txBody>
          <a:bodyPr wrap="square" lIns="0" rIns="0" tIns="0" bIns="0" anchor="t"/>
          <a:lstStyle/>
          <a:p>
            <a:pPr algn="l"/>
            <a:r>
              <a:rPr sz="2550" b="1" i="0">
                <a:solidFill>
                  <a:srgbClr val="201914"/>
                </a:solidFill>
                <a:latin typeface="Arial"/>
              </a:rPr>
              <a:t>Action</a:t>
            </a:r>
          </a:p>
        </p:txBody>
      </p:sp>
      <p:sp>
        <p:nvSpPr>
          <p:cNvPr id="6" name="TextBox 5"/>
          <p:cNvSpPr txBox="1"/>
          <p:nvPr/>
        </p:nvSpPr>
        <p:spPr>
          <a:xfrm>
            <a:off x="4591050" y="3105150"/>
            <a:ext cx="12649200" cy="390525"/>
          </a:xfrm>
          <a:prstGeom prst="rect">
            <a:avLst/>
          </a:prstGeom>
          <a:noFill/>
        </p:spPr>
        <p:txBody>
          <a:bodyPr wrap="square" lIns="0" rIns="0" tIns="0" bIns="0" anchor="t"/>
          <a:lstStyle/>
          <a:p>
            <a:pPr algn="l">
              <a:lnSpc>
                <a:spcPct val="106000"/>
              </a:lnSpc>
            </a:pPr>
            <a:r>
              <a:rPr sz="1950" b="0" i="0">
                <a:solidFill>
                  <a:srgbClr val="201914"/>
                </a:solidFill>
                <a:latin typeface="Arial"/>
              </a:rPr>
              <a:t>What the customer physically does at this stage</a:t>
            </a:r>
          </a:p>
        </p:txBody>
      </p:sp>
      <p:sp>
        <p:nvSpPr>
          <p:cNvPr id="7" name="Rectangle 6"/>
          <p:cNvSpPr/>
          <p:nvPr/>
        </p:nvSpPr>
        <p:spPr>
          <a:xfrm>
            <a:off x="1047750" y="3914775"/>
            <a:ext cx="16192500" cy="9239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52550" y="4143375"/>
            <a:ext cx="2705100" cy="466725"/>
          </a:xfrm>
          <a:prstGeom prst="rect">
            <a:avLst/>
          </a:prstGeom>
          <a:noFill/>
        </p:spPr>
        <p:txBody>
          <a:bodyPr wrap="square" lIns="0" rIns="0" tIns="0" bIns="0" anchor="t"/>
          <a:lstStyle/>
          <a:p>
            <a:pPr algn="l"/>
            <a:r>
              <a:rPr sz="2550" b="1" i="0">
                <a:solidFill>
                  <a:srgbClr val="201914"/>
                </a:solidFill>
                <a:latin typeface="Arial"/>
              </a:rPr>
              <a:t>Touchpoint</a:t>
            </a:r>
          </a:p>
        </p:txBody>
      </p:sp>
      <p:sp>
        <p:nvSpPr>
          <p:cNvPr id="9" name="TextBox 8"/>
          <p:cNvSpPr txBox="1"/>
          <p:nvPr/>
        </p:nvSpPr>
        <p:spPr>
          <a:xfrm>
            <a:off x="4591050" y="4181475"/>
            <a:ext cx="12649200" cy="390525"/>
          </a:xfrm>
          <a:prstGeom prst="rect">
            <a:avLst/>
          </a:prstGeom>
          <a:noFill/>
        </p:spPr>
        <p:txBody>
          <a:bodyPr wrap="square" lIns="0" rIns="0" tIns="0" bIns="0" anchor="t"/>
          <a:lstStyle/>
          <a:p>
            <a:pPr algn="l">
              <a:lnSpc>
                <a:spcPct val="106000"/>
              </a:lnSpc>
            </a:pPr>
            <a:r>
              <a:rPr sz="1950" b="0" i="0">
                <a:solidFill>
                  <a:srgbClr val="201914"/>
                </a:solidFill>
                <a:latin typeface="Arial"/>
              </a:rPr>
              <a:t>What they come into contact with — an advertisement, a website, a shop, a phone call, a delivery person, a bill</a:t>
            </a:r>
          </a:p>
        </p:txBody>
      </p:sp>
      <p:sp>
        <p:nvSpPr>
          <p:cNvPr id="10" name="Rectangle 9"/>
          <p:cNvSpPr/>
          <p:nvPr/>
        </p:nvSpPr>
        <p:spPr>
          <a:xfrm>
            <a:off x="1047750" y="4991100"/>
            <a:ext cx="16192500" cy="9239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2550" y="5219700"/>
            <a:ext cx="2705100" cy="466725"/>
          </a:xfrm>
          <a:prstGeom prst="rect">
            <a:avLst/>
          </a:prstGeom>
          <a:noFill/>
        </p:spPr>
        <p:txBody>
          <a:bodyPr wrap="square" lIns="0" rIns="0" tIns="0" bIns="0" anchor="t"/>
          <a:lstStyle/>
          <a:p>
            <a:pPr algn="l"/>
            <a:r>
              <a:rPr sz="2550" b="1" i="0">
                <a:solidFill>
                  <a:srgbClr val="201914"/>
                </a:solidFill>
                <a:latin typeface="Arial"/>
              </a:rPr>
              <a:t>Emotion</a:t>
            </a:r>
          </a:p>
        </p:txBody>
      </p:sp>
      <p:sp>
        <p:nvSpPr>
          <p:cNvPr id="12" name="TextBox 11"/>
          <p:cNvSpPr txBox="1"/>
          <p:nvPr/>
        </p:nvSpPr>
        <p:spPr>
          <a:xfrm>
            <a:off x="4591050" y="5257800"/>
            <a:ext cx="12649200" cy="390525"/>
          </a:xfrm>
          <a:prstGeom prst="rect">
            <a:avLst/>
          </a:prstGeom>
          <a:noFill/>
        </p:spPr>
        <p:txBody>
          <a:bodyPr wrap="square" lIns="0" rIns="0" tIns="0" bIns="0" anchor="t"/>
          <a:lstStyle/>
          <a:p>
            <a:pPr algn="l">
              <a:lnSpc>
                <a:spcPct val="106000"/>
              </a:lnSpc>
            </a:pPr>
            <a:r>
              <a:rPr sz="1950" b="0" i="0">
                <a:solidFill>
                  <a:srgbClr val="201914"/>
                </a:solidFill>
                <a:latin typeface="Arial"/>
              </a:rPr>
              <a:t>How they feel, in one word. The only row that tells you where to spend money.</a:t>
            </a:r>
          </a:p>
        </p:txBody>
      </p:sp>
      <p:sp>
        <p:nvSpPr>
          <p:cNvPr id="13" name="Rectangle 12"/>
          <p:cNvSpPr/>
          <p:nvPr/>
        </p:nvSpPr>
        <p:spPr>
          <a:xfrm>
            <a:off x="1047750" y="6067425"/>
            <a:ext cx="16192500" cy="9239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52550" y="6296025"/>
            <a:ext cx="2705100" cy="466725"/>
          </a:xfrm>
          <a:prstGeom prst="rect">
            <a:avLst/>
          </a:prstGeom>
          <a:noFill/>
        </p:spPr>
        <p:txBody>
          <a:bodyPr wrap="square" lIns="0" rIns="0" tIns="0" bIns="0" anchor="t"/>
          <a:lstStyle/>
          <a:p>
            <a:pPr algn="l"/>
            <a:r>
              <a:rPr sz="2550" b="1" i="0">
                <a:solidFill>
                  <a:srgbClr val="201914"/>
                </a:solidFill>
                <a:latin typeface="Arial"/>
              </a:rPr>
              <a:t>Friction</a:t>
            </a:r>
          </a:p>
        </p:txBody>
      </p:sp>
      <p:sp>
        <p:nvSpPr>
          <p:cNvPr id="15" name="TextBox 14"/>
          <p:cNvSpPr txBox="1"/>
          <p:nvPr/>
        </p:nvSpPr>
        <p:spPr>
          <a:xfrm>
            <a:off x="4591050" y="6334125"/>
            <a:ext cx="12649200" cy="390525"/>
          </a:xfrm>
          <a:prstGeom prst="rect">
            <a:avLst/>
          </a:prstGeom>
          <a:noFill/>
        </p:spPr>
        <p:txBody>
          <a:bodyPr wrap="square" lIns="0" rIns="0" tIns="0" bIns="0" anchor="t"/>
          <a:lstStyle/>
          <a:p>
            <a:pPr algn="l">
              <a:lnSpc>
                <a:spcPct val="106000"/>
              </a:lnSpc>
            </a:pPr>
            <a:r>
              <a:rPr sz="1950" b="0" i="0">
                <a:solidFill>
                  <a:srgbClr val="201914"/>
                </a:solidFill>
                <a:latin typeface="Arial"/>
              </a:rPr>
              <a:t>What is slow, confusing, costly or frightening here</a:t>
            </a:r>
          </a:p>
        </p:txBody>
      </p:sp>
      <p:sp>
        <p:nvSpPr>
          <p:cNvPr id="16" name="Rectangle 15"/>
          <p:cNvSpPr/>
          <p:nvPr/>
        </p:nvSpPr>
        <p:spPr>
          <a:xfrm>
            <a:off x="1047750" y="7143750"/>
            <a:ext cx="16192500" cy="9239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2550" y="7372350"/>
            <a:ext cx="2705100" cy="466725"/>
          </a:xfrm>
          <a:prstGeom prst="rect">
            <a:avLst/>
          </a:prstGeom>
          <a:noFill/>
        </p:spPr>
        <p:txBody>
          <a:bodyPr wrap="square" lIns="0" rIns="0" tIns="0" bIns="0" anchor="t"/>
          <a:lstStyle/>
          <a:p>
            <a:pPr algn="l"/>
            <a:r>
              <a:rPr sz="2550" b="1" i="0">
                <a:solidFill>
                  <a:srgbClr val="201914"/>
                </a:solidFill>
                <a:latin typeface="Arial"/>
              </a:rPr>
              <a:t>Evidence</a:t>
            </a:r>
          </a:p>
        </p:txBody>
      </p:sp>
      <p:sp>
        <p:nvSpPr>
          <p:cNvPr id="18" name="TextBox 17"/>
          <p:cNvSpPr txBox="1"/>
          <p:nvPr/>
        </p:nvSpPr>
        <p:spPr>
          <a:xfrm>
            <a:off x="4591050" y="7410450"/>
            <a:ext cx="12649200" cy="390525"/>
          </a:xfrm>
          <a:prstGeom prst="rect">
            <a:avLst/>
          </a:prstGeom>
          <a:noFill/>
        </p:spPr>
        <p:txBody>
          <a:bodyPr wrap="square" lIns="0" rIns="0" tIns="0" bIns="0" anchor="t"/>
          <a:lstStyle/>
          <a:p>
            <a:pPr algn="l">
              <a:lnSpc>
                <a:spcPct val="106000"/>
              </a:lnSpc>
            </a:pPr>
            <a:r>
              <a:rPr sz="1950" b="0" i="0">
                <a:solidFill>
                  <a:srgbClr val="201914"/>
                </a:solidFill>
                <a:latin typeface="Arial"/>
              </a:rPr>
              <a:t>How you know any of this — the interview, the observation, the number. A map with no evidence row is fiction.</a:t>
            </a:r>
          </a:p>
        </p:txBody>
      </p:sp>
      <p:sp>
        <p:nvSpPr>
          <p:cNvPr id="19" name="TextBox 18"/>
          <p:cNvSpPr txBox="1"/>
          <p:nvPr/>
        </p:nvSpPr>
        <p:spPr>
          <a:xfrm>
            <a:off x="1047750" y="8448675"/>
            <a:ext cx="16192500" cy="1104900"/>
          </a:xfrm>
          <a:prstGeom prst="rect">
            <a:avLst/>
          </a:prstGeom>
          <a:noFill/>
        </p:spPr>
        <p:txBody>
          <a:bodyPr wrap="square" lIns="0" rIns="0" tIns="0" bIns="0" anchor="t"/>
          <a:lstStyle/>
          <a:p>
            <a:pPr algn="l">
              <a:lnSpc>
                <a:spcPct val="114000"/>
              </a:lnSpc>
            </a:pPr>
            <a:r>
              <a:rPr sz="2850" b="1" i="0">
                <a:solidFill>
                  <a:srgbClr val="50453D"/>
                </a:solidFill>
                <a:latin typeface="Arial"/>
              </a:rPr>
              <a:t>Stages along the top, in the customer's words. Five rows underneath. Then the curve, drawn by hand, under the whole thing.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FRAMEWORK 1 · THE PART THAT IS WORTH DRAWING BADLY</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Two things a table hides and a curve shows</a:t>
            </a:r>
          </a:p>
        </p:txBody>
      </p:sp>
      <p:sp>
        <p:nvSpPr>
          <p:cNvPr id="4" name="Rectangle 3"/>
          <p:cNvSpPr/>
          <p:nvPr/>
        </p:nvSpPr>
        <p:spPr>
          <a:xfrm>
            <a:off x="1047750" y="2838450"/>
            <a:ext cx="7905750" cy="42195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219450"/>
            <a:ext cx="7067550" cy="352425"/>
          </a:xfrm>
          <a:prstGeom prst="rect">
            <a:avLst/>
          </a:prstGeom>
          <a:noFill/>
        </p:spPr>
        <p:txBody>
          <a:bodyPr wrap="square" lIns="0" rIns="0" tIns="0" bIns="0" anchor="t"/>
          <a:lstStyle/>
          <a:p>
            <a:pPr algn="l"/>
            <a:r>
              <a:rPr sz="2100" b="1" i="0" spc="180">
                <a:solidFill>
                  <a:srgbClr val="5E534A"/>
                </a:solidFill>
                <a:latin typeface="Arial"/>
              </a:rPr>
              <a:t>THE TROUGHS</a:t>
            </a:r>
          </a:p>
        </p:txBody>
      </p:sp>
      <p:sp>
        <p:nvSpPr>
          <p:cNvPr id="6" name="TextBox 5"/>
          <p:cNvSpPr txBox="1"/>
          <p:nvPr/>
        </p:nvSpPr>
        <p:spPr>
          <a:xfrm>
            <a:off x="1466850" y="3752850"/>
            <a:ext cx="7067550" cy="885825"/>
          </a:xfrm>
          <a:prstGeom prst="rect">
            <a:avLst/>
          </a:prstGeom>
          <a:noFill/>
        </p:spPr>
        <p:txBody>
          <a:bodyPr wrap="square" lIns="0" rIns="0" tIns="0" bIns="0" anchor="t"/>
          <a:lstStyle/>
          <a:p>
            <a:pPr algn="l">
              <a:lnSpc>
                <a:spcPct val="106000"/>
              </a:lnSpc>
            </a:pPr>
            <a:r>
              <a:rPr sz="2400" b="0" i="0">
                <a:solidFill>
                  <a:srgbClr val="201914"/>
                </a:solidFill>
                <a:latin typeface="Arial"/>
              </a:rPr>
              <a:t>Where the negative feeling clusters — almost always two or three steps, not a spread.</a:t>
            </a:r>
          </a:p>
        </p:txBody>
      </p:sp>
      <p:sp>
        <p:nvSpPr>
          <p:cNvPr id="7" name="TextBox 6"/>
          <p:cNvSpPr txBox="1"/>
          <p:nvPr/>
        </p:nvSpPr>
        <p:spPr>
          <a:xfrm>
            <a:off x="1466850" y="4848225"/>
            <a:ext cx="7067550" cy="885825"/>
          </a:xfrm>
          <a:prstGeom prst="rect">
            <a:avLst/>
          </a:prstGeom>
          <a:noFill/>
        </p:spPr>
        <p:txBody>
          <a:bodyPr wrap="square" lIns="0" rIns="0" tIns="0" bIns="0" anchor="t"/>
          <a:lstStyle/>
          <a:p>
            <a:pPr algn="l">
              <a:lnSpc>
                <a:spcPct val="106000"/>
              </a:lnSpc>
            </a:pPr>
            <a:r>
              <a:rPr sz="2400" b="0" i="0">
                <a:solidFill>
                  <a:srgbClr val="201914"/>
                </a:solidFill>
                <a:latin typeface="Arial"/>
              </a:rPr>
              <a:t>That is where a competitor can win, and where your money should go.</a:t>
            </a:r>
          </a:p>
        </p:txBody>
      </p:sp>
      <p:sp>
        <p:nvSpPr>
          <p:cNvPr id="8" name="Rectangle 7"/>
          <p:cNvSpPr/>
          <p:nvPr/>
        </p:nvSpPr>
        <p:spPr>
          <a:xfrm>
            <a:off x="9334500" y="2838450"/>
            <a:ext cx="7905750" cy="4219575"/>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53600" y="3219450"/>
            <a:ext cx="7067550" cy="352425"/>
          </a:xfrm>
          <a:prstGeom prst="rect">
            <a:avLst/>
          </a:prstGeom>
          <a:noFill/>
        </p:spPr>
        <p:txBody>
          <a:bodyPr wrap="square" lIns="0" rIns="0" tIns="0" bIns="0" anchor="t"/>
          <a:lstStyle/>
          <a:p>
            <a:pPr algn="l"/>
            <a:r>
              <a:rPr sz="2100" b="1" i="0" spc="180">
                <a:solidFill>
                  <a:srgbClr val="FCF8F1"/>
                </a:solidFill>
                <a:latin typeface="Arial"/>
              </a:rPr>
              <a:t>THE SHAPE OF THE ENDING</a:t>
            </a:r>
          </a:p>
        </p:txBody>
      </p:sp>
      <p:sp>
        <p:nvSpPr>
          <p:cNvPr id="10" name="TextBox 9"/>
          <p:cNvSpPr txBox="1"/>
          <p:nvPr/>
        </p:nvSpPr>
        <p:spPr>
          <a:xfrm>
            <a:off x="9753600" y="3752850"/>
            <a:ext cx="7067550" cy="485775"/>
          </a:xfrm>
          <a:prstGeom prst="rect">
            <a:avLst/>
          </a:prstGeom>
          <a:noFill/>
        </p:spPr>
        <p:txBody>
          <a:bodyPr wrap="square" lIns="0" rIns="0" tIns="0" bIns="0" anchor="t"/>
          <a:lstStyle/>
          <a:p>
            <a:pPr algn="l">
              <a:lnSpc>
                <a:spcPct val="106000"/>
              </a:lnSpc>
            </a:pPr>
            <a:r>
              <a:rPr sz="2400" b="0" i="0">
                <a:solidFill>
                  <a:srgbClr val="F5F1E9"/>
                </a:solidFill>
                <a:latin typeface="Arial"/>
              </a:rPr>
              <a:t>Whether the journey finishes higher than it began.</a:t>
            </a:r>
          </a:p>
        </p:txBody>
      </p:sp>
      <p:sp>
        <p:nvSpPr>
          <p:cNvPr id="11" name="TextBox 10"/>
          <p:cNvSpPr txBox="1"/>
          <p:nvPr/>
        </p:nvSpPr>
        <p:spPr>
          <a:xfrm>
            <a:off x="9753600" y="4448175"/>
            <a:ext cx="7067550" cy="885825"/>
          </a:xfrm>
          <a:prstGeom prst="rect">
            <a:avLst/>
          </a:prstGeom>
          <a:noFill/>
        </p:spPr>
        <p:txBody>
          <a:bodyPr wrap="square" lIns="0" rIns="0" tIns="0" bIns="0" anchor="t"/>
          <a:lstStyle/>
          <a:p>
            <a:pPr algn="l">
              <a:lnSpc>
                <a:spcPct val="106000"/>
              </a:lnSpc>
            </a:pPr>
            <a:r>
              <a:rPr sz="2400" b="0" i="0">
                <a:solidFill>
                  <a:srgbClr val="F5F1E9"/>
                </a:solidFill>
                <a:latin typeface="Arial"/>
              </a:rPr>
              <a:t>A journey that ends below the line produces no advocacy.</a:t>
            </a:r>
          </a:p>
        </p:txBody>
      </p:sp>
      <p:sp>
        <p:nvSpPr>
          <p:cNvPr id="12" name="TextBox 11"/>
          <p:cNvSpPr txBox="1"/>
          <p:nvPr/>
        </p:nvSpPr>
        <p:spPr>
          <a:xfrm>
            <a:off x="9753600" y="5543550"/>
            <a:ext cx="7067550" cy="885825"/>
          </a:xfrm>
          <a:prstGeom prst="rect">
            <a:avLst/>
          </a:prstGeom>
          <a:noFill/>
        </p:spPr>
        <p:txBody>
          <a:bodyPr wrap="square" lIns="0" rIns="0" tIns="0" bIns="0" anchor="t"/>
          <a:lstStyle/>
          <a:p>
            <a:pPr algn="l">
              <a:lnSpc>
                <a:spcPct val="106000"/>
              </a:lnSpc>
            </a:pPr>
            <a:r>
              <a:rPr sz="2400" b="0" i="0">
                <a:solidFill>
                  <a:srgbClr val="F5F1E9"/>
                </a:solidFill>
                <a:latin typeface="Arial"/>
              </a:rPr>
              <a:t>And the end of your curve determines the start of somebody else's.</a:t>
            </a:r>
          </a:p>
        </p:txBody>
      </p:sp>
      <p:sp>
        <p:nvSpPr>
          <p:cNvPr id="13" name="TextBox 12"/>
          <p:cNvSpPr txBox="1"/>
          <p:nvPr/>
        </p:nvSpPr>
        <p:spPr>
          <a:xfrm>
            <a:off x="1047750" y="7458075"/>
            <a:ext cx="16192500" cy="1857375"/>
          </a:xfrm>
          <a:prstGeom prst="rect">
            <a:avLst/>
          </a:prstGeom>
          <a:noFill/>
        </p:spPr>
        <p:txBody>
          <a:bodyPr wrap="square" lIns="0" rIns="0" tIns="0" bIns="0" anchor="t"/>
          <a:lstStyle/>
          <a:p>
            <a:pPr algn="l">
              <a:lnSpc>
                <a:spcPct val="114000"/>
              </a:lnSpc>
            </a:pPr>
            <a:r>
              <a:rPr sz="3300" b="0" i="0">
                <a:solidFill>
                  <a:srgbClr val="362C24"/>
                </a:solidFill>
                <a:latin typeface="Georgia"/>
              </a:rPr>
              <a:t>Spend where the curve is lowest, not where the fix is easiest. Both companies in today's case built their reputations by ignoring the parts of the journey that were already pleasant.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FRAMEWORK 2</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Three kinds of friction — and what each one costs to fix</a:t>
            </a:r>
          </a:p>
        </p:txBody>
      </p:sp>
      <p:sp>
        <p:nvSpPr>
          <p:cNvPr id="4" name="Rectangle 3"/>
          <p:cNvSpPr/>
          <p:nvPr/>
        </p:nvSpPr>
        <p:spPr>
          <a:xfrm>
            <a:off x="1047750" y="3629025"/>
            <a:ext cx="16192500" cy="15716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2550" y="4143375"/>
            <a:ext cx="2543175" cy="533400"/>
          </a:xfrm>
          <a:prstGeom prst="rect">
            <a:avLst/>
          </a:prstGeom>
          <a:noFill/>
        </p:spPr>
        <p:txBody>
          <a:bodyPr wrap="square" lIns="0" rIns="0" tIns="0" bIns="0" anchor="t"/>
          <a:lstStyle/>
          <a:p>
            <a:pPr algn="l"/>
            <a:r>
              <a:rPr sz="3000" b="1" i="0">
                <a:solidFill>
                  <a:srgbClr val="201914"/>
                </a:solidFill>
                <a:latin typeface="Arial"/>
              </a:rPr>
              <a:t>Functional</a:t>
            </a:r>
          </a:p>
        </p:txBody>
      </p:sp>
      <p:sp>
        <p:nvSpPr>
          <p:cNvPr id="6" name="TextBox 5"/>
          <p:cNvSpPr txBox="1"/>
          <p:nvPr/>
        </p:nvSpPr>
        <p:spPr>
          <a:xfrm>
            <a:off x="4429125" y="3857625"/>
            <a:ext cx="4381500" cy="1114425"/>
          </a:xfrm>
          <a:prstGeom prst="rect">
            <a:avLst/>
          </a:prstGeom>
          <a:noFill/>
        </p:spPr>
        <p:txBody>
          <a:bodyPr wrap="square" lIns="0" rIns="0" tIns="0" bIns="0" anchor="t"/>
          <a:lstStyle/>
          <a:p>
            <a:pPr algn="l">
              <a:lnSpc>
                <a:spcPct val="106000"/>
              </a:lnSpc>
            </a:pPr>
            <a:r>
              <a:rPr sz="2100" b="0" i="0">
                <a:solidFill>
                  <a:srgbClr val="201914"/>
                </a:solidFill>
                <a:latin typeface="Arial"/>
              </a:rPr>
              <a:t>Time, money, effort, number of steps. The friction you can see and count.</a:t>
            </a:r>
          </a:p>
        </p:txBody>
      </p:sp>
      <p:sp>
        <p:nvSpPr>
          <p:cNvPr id="7" name="TextBox 6"/>
          <p:cNvSpPr txBox="1"/>
          <p:nvPr/>
        </p:nvSpPr>
        <p:spPr>
          <a:xfrm>
            <a:off x="9115425" y="4029075"/>
            <a:ext cx="3581400" cy="762000"/>
          </a:xfrm>
          <a:prstGeom prst="rect">
            <a:avLst/>
          </a:prstGeom>
          <a:noFill/>
        </p:spPr>
        <p:txBody>
          <a:bodyPr wrap="square" lIns="0" rIns="0" tIns="0" bIns="0" anchor="t"/>
          <a:lstStyle/>
          <a:p>
            <a:pPr algn="l">
              <a:lnSpc>
                <a:spcPct val="106000"/>
              </a:lnSpc>
            </a:pPr>
            <a:r>
              <a:rPr sz="2100" b="0" i="0">
                <a:solidFill>
                  <a:srgbClr val="201914"/>
                </a:solidFill>
                <a:latin typeface="Arial"/>
              </a:rPr>
              <a:t>Taking a day off work to visit two agents in office hours</a:t>
            </a:r>
          </a:p>
        </p:txBody>
      </p:sp>
      <p:sp>
        <p:nvSpPr>
          <p:cNvPr id="8" name="TextBox 7"/>
          <p:cNvSpPr txBox="1"/>
          <p:nvPr/>
        </p:nvSpPr>
        <p:spPr>
          <a:xfrm>
            <a:off x="13001625" y="3857625"/>
            <a:ext cx="4229100" cy="1114425"/>
          </a:xfrm>
          <a:prstGeom prst="rect">
            <a:avLst/>
          </a:prstGeom>
          <a:noFill/>
        </p:spPr>
        <p:txBody>
          <a:bodyPr wrap="square" lIns="0" rIns="0" tIns="0" bIns="0" anchor="t"/>
          <a:lstStyle/>
          <a:p>
            <a:pPr algn="l">
              <a:lnSpc>
                <a:spcPct val="106000"/>
              </a:lnSpc>
            </a:pPr>
            <a:r>
              <a:rPr sz="2100" b="0" i="0">
                <a:solidFill>
                  <a:srgbClr val="201914"/>
                </a:solidFill>
                <a:latin typeface="Arial"/>
              </a:rPr>
              <a:t>Engineering. Remove steps, fields, trips. Cheapest to fix and usually the least valuable.</a:t>
            </a:r>
          </a:p>
        </p:txBody>
      </p:sp>
      <p:sp>
        <p:nvSpPr>
          <p:cNvPr id="9" name="Rectangle 8"/>
          <p:cNvSpPr/>
          <p:nvPr/>
        </p:nvSpPr>
        <p:spPr>
          <a:xfrm>
            <a:off x="1047750" y="5410200"/>
            <a:ext cx="16192500" cy="1924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2550" y="5867400"/>
            <a:ext cx="2543175" cy="1009650"/>
          </a:xfrm>
          <a:prstGeom prst="rect">
            <a:avLst/>
          </a:prstGeom>
          <a:noFill/>
        </p:spPr>
        <p:txBody>
          <a:bodyPr wrap="square" lIns="0" rIns="0" tIns="0" bIns="0" anchor="t"/>
          <a:lstStyle/>
          <a:p>
            <a:pPr algn="l"/>
            <a:r>
              <a:rPr sz="3000" b="1" i="0">
                <a:solidFill>
                  <a:srgbClr val="201914"/>
                </a:solidFill>
                <a:latin typeface="Arial"/>
              </a:rPr>
              <a:t>Informational / trust</a:t>
            </a:r>
          </a:p>
        </p:txBody>
      </p:sp>
      <p:sp>
        <p:nvSpPr>
          <p:cNvPr id="11" name="TextBox 10"/>
          <p:cNvSpPr txBox="1"/>
          <p:nvPr/>
        </p:nvSpPr>
        <p:spPr>
          <a:xfrm>
            <a:off x="4429125" y="5810250"/>
            <a:ext cx="4381500" cy="1114425"/>
          </a:xfrm>
          <a:prstGeom prst="rect">
            <a:avLst/>
          </a:prstGeom>
          <a:noFill/>
        </p:spPr>
        <p:txBody>
          <a:bodyPr wrap="square" lIns="0" rIns="0" tIns="0" bIns="0" anchor="t"/>
          <a:lstStyle/>
          <a:p>
            <a:pPr algn="l">
              <a:lnSpc>
                <a:spcPct val="106000"/>
              </a:lnSpc>
            </a:pPr>
            <a:r>
              <a:rPr sz="2100" b="0" i="0">
                <a:solidFill>
                  <a:srgbClr val="201914"/>
                </a:solidFill>
                <a:latin typeface="Arial"/>
              </a:rPr>
              <a:t>Not knowing whether the price is fair, the seller is real, the seat exists.</a:t>
            </a:r>
          </a:p>
        </p:txBody>
      </p:sp>
      <p:sp>
        <p:nvSpPr>
          <p:cNvPr id="12" name="TextBox 11"/>
          <p:cNvSpPr txBox="1"/>
          <p:nvPr/>
        </p:nvSpPr>
        <p:spPr>
          <a:xfrm>
            <a:off x="9115425" y="5991225"/>
            <a:ext cx="3581400" cy="762000"/>
          </a:xfrm>
          <a:prstGeom prst="rect">
            <a:avLst/>
          </a:prstGeom>
          <a:noFill/>
        </p:spPr>
        <p:txBody>
          <a:bodyPr wrap="square" lIns="0" rIns="0" tIns="0" bIns="0" anchor="t"/>
          <a:lstStyle/>
          <a:p>
            <a:pPr algn="l">
              <a:lnSpc>
                <a:spcPct val="106000"/>
              </a:lnSpc>
            </a:pPr>
            <a:r>
              <a:rPr sz="2100" b="0" i="0">
                <a:solidFill>
                  <a:srgbClr val="201914"/>
                </a:solidFill>
                <a:latin typeface="Arial"/>
              </a:rPr>
              <a:t>Being quoted a price with no way on earth to judge it</a:t>
            </a:r>
          </a:p>
        </p:txBody>
      </p:sp>
      <p:sp>
        <p:nvSpPr>
          <p:cNvPr id="13" name="TextBox 12"/>
          <p:cNvSpPr txBox="1"/>
          <p:nvPr/>
        </p:nvSpPr>
        <p:spPr>
          <a:xfrm>
            <a:off x="13001625" y="5638800"/>
            <a:ext cx="4229100" cy="1466850"/>
          </a:xfrm>
          <a:prstGeom prst="rect">
            <a:avLst/>
          </a:prstGeom>
          <a:noFill/>
        </p:spPr>
        <p:txBody>
          <a:bodyPr wrap="square" lIns="0" rIns="0" tIns="0" bIns="0" anchor="t"/>
          <a:lstStyle/>
          <a:p>
            <a:pPr algn="l">
              <a:lnSpc>
                <a:spcPct val="106000"/>
              </a:lnSpc>
            </a:pPr>
            <a:r>
              <a:rPr sz="2100" b="0" i="0">
                <a:solidFill>
                  <a:srgbClr val="201914"/>
                </a:solidFill>
                <a:latin typeface="Arial"/>
              </a:rPr>
              <a:t>Transparency and proof. Every fare on one screen; inventory made visible; policies written before payment.</a:t>
            </a:r>
          </a:p>
        </p:txBody>
      </p:sp>
      <p:sp>
        <p:nvSpPr>
          <p:cNvPr id="14" name="Rectangle 13"/>
          <p:cNvSpPr/>
          <p:nvPr/>
        </p:nvSpPr>
        <p:spPr>
          <a:xfrm>
            <a:off x="1047750" y="7543800"/>
            <a:ext cx="16192500" cy="192405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2550" y="8001000"/>
            <a:ext cx="2543175" cy="1009650"/>
          </a:xfrm>
          <a:prstGeom prst="rect">
            <a:avLst/>
          </a:prstGeom>
          <a:noFill/>
        </p:spPr>
        <p:txBody>
          <a:bodyPr wrap="square" lIns="0" rIns="0" tIns="0" bIns="0" anchor="t"/>
          <a:lstStyle/>
          <a:p>
            <a:pPr algn="l"/>
            <a:r>
              <a:rPr sz="3000" b="1" i="0">
                <a:solidFill>
                  <a:srgbClr val="FCF8F1"/>
                </a:solidFill>
                <a:latin typeface="Arial"/>
              </a:rPr>
              <a:t>Emotional / social</a:t>
            </a:r>
          </a:p>
        </p:txBody>
      </p:sp>
      <p:sp>
        <p:nvSpPr>
          <p:cNvPr id="16" name="TextBox 15"/>
          <p:cNvSpPr txBox="1"/>
          <p:nvPr/>
        </p:nvSpPr>
        <p:spPr>
          <a:xfrm>
            <a:off x="4429125" y="7943850"/>
            <a:ext cx="4381500" cy="1114425"/>
          </a:xfrm>
          <a:prstGeom prst="rect">
            <a:avLst/>
          </a:prstGeom>
          <a:noFill/>
        </p:spPr>
        <p:txBody>
          <a:bodyPr wrap="square" lIns="0" rIns="0" tIns="0" bIns="0" anchor="t"/>
          <a:lstStyle/>
          <a:p>
            <a:pPr algn="l">
              <a:lnSpc>
                <a:spcPct val="106000"/>
              </a:lnSpc>
            </a:pPr>
            <a:r>
              <a:rPr sz="2100" b="0" i="0">
                <a:solidFill>
                  <a:srgbClr val="FCF8F1"/>
                </a:solidFill>
                <a:latin typeface="Arial"/>
              </a:rPr>
              <a:t>How the step makes the customer feel — exposed, helpless, judged, or blamed later by the family.</a:t>
            </a:r>
          </a:p>
        </p:txBody>
      </p:sp>
      <p:sp>
        <p:nvSpPr>
          <p:cNvPr id="17" name="TextBox 16"/>
          <p:cNvSpPr txBox="1"/>
          <p:nvPr/>
        </p:nvSpPr>
        <p:spPr>
          <a:xfrm>
            <a:off x="9115425" y="8124825"/>
            <a:ext cx="3581400" cy="762000"/>
          </a:xfrm>
          <a:prstGeom prst="rect">
            <a:avLst/>
          </a:prstGeom>
          <a:noFill/>
        </p:spPr>
        <p:txBody>
          <a:bodyPr wrap="square" lIns="0" rIns="0" tIns="0" bIns="0" anchor="t"/>
          <a:lstStyle/>
          <a:p>
            <a:pPr algn="l">
              <a:lnSpc>
                <a:spcPct val="106000"/>
              </a:lnSpc>
            </a:pPr>
            <a:r>
              <a:rPr sz="2100" b="0" i="0">
                <a:solidFill>
                  <a:srgbClr val="FCF8F1"/>
                </a:solidFill>
                <a:latin typeface="Arial"/>
              </a:rPr>
              <a:t>The weeks between handing over the cash and travelling</a:t>
            </a:r>
          </a:p>
        </p:txBody>
      </p:sp>
      <p:sp>
        <p:nvSpPr>
          <p:cNvPr id="18" name="TextBox 17"/>
          <p:cNvSpPr txBox="1"/>
          <p:nvPr/>
        </p:nvSpPr>
        <p:spPr>
          <a:xfrm>
            <a:off x="13001625" y="7772400"/>
            <a:ext cx="4229100" cy="1466850"/>
          </a:xfrm>
          <a:prstGeom prst="rect">
            <a:avLst/>
          </a:prstGeom>
          <a:noFill/>
        </p:spPr>
        <p:txBody>
          <a:bodyPr wrap="square" lIns="0" rIns="0" tIns="0" bIns="0" anchor="t"/>
          <a:lstStyle/>
          <a:p>
            <a:pPr algn="l">
              <a:lnSpc>
                <a:spcPct val="106000"/>
              </a:lnSpc>
            </a:pPr>
            <a:r>
              <a:rPr sz="2100" b="0" i="0">
                <a:solidFill>
                  <a:srgbClr val="FCF8F1"/>
                </a:solidFill>
                <a:latin typeface="Arial"/>
              </a:rPr>
              <a:t>Reassurance and control. Confirmation, tracking, a human being who answers, and a way to act while waiting.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TRY THESE YOURSELF · FUNCTIONAL, TRUST OR EMOTIONAL?</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Classify these four</a:t>
            </a:r>
          </a:p>
        </p:txBody>
      </p:sp>
      <p:sp>
        <p:nvSpPr>
          <p:cNvPr id="4" name="Rectangle 3"/>
          <p:cNvSpPr/>
          <p:nvPr/>
        </p:nvSpPr>
        <p:spPr>
          <a:xfrm>
            <a:off x="1047750" y="2838450"/>
            <a:ext cx="3848100" cy="51720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90650" y="3181350"/>
            <a:ext cx="3162300" cy="1257300"/>
          </a:xfrm>
          <a:prstGeom prst="rect">
            <a:avLst/>
          </a:prstGeom>
          <a:noFill/>
        </p:spPr>
        <p:txBody>
          <a:bodyPr wrap="square" lIns="0" rIns="0" tIns="0" bIns="0" anchor="t"/>
          <a:lstStyle/>
          <a:p>
            <a:pPr algn="l"/>
            <a:r>
              <a:rPr sz="3750" b="1" i="0">
                <a:solidFill>
                  <a:srgbClr val="201914"/>
                </a:solidFill>
                <a:latin typeface="Arial"/>
              </a:rPr>
              <a:t>The rider's dot on a map</a:t>
            </a:r>
          </a:p>
        </p:txBody>
      </p:sp>
      <p:sp>
        <p:nvSpPr>
          <p:cNvPr id="6" name="TextBox 5"/>
          <p:cNvSpPr txBox="1"/>
          <p:nvPr/>
        </p:nvSpPr>
        <p:spPr>
          <a:xfrm>
            <a:off x="1390650" y="4648200"/>
            <a:ext cx="3162300" cy="2190750"/>
          </a:xfrm>
          <a:prstGeom prst="rect">
            <a:avLst/>
          </a:prstGeom>
          <a:noFill/>
        </p:spPr>
        <p:txBody>
          <a:bodyPr wrap="square" lIns="0" rIns="0" tIns="0" bIns="0" anchor="t"/>
          <a:lstStyle/>
          <a:p>
            <a:pPr algn="l">
              <a:lnSpc>
                <a:spcPct val="105000"/>
              </a:lnSpc>
            </a:pPr>
            <a:r>
              <a:rPr sz="2550" b="0" i="0">
                <a:solidFill>
                  <a:srgbClr val="50453D"/>
                </a:solidFill>
                <a:latin typeface="Arial"/>
              </a:rPr>
              <a:t>It does not make the food arrive one second sooner, and everybody watches it.</a:t>
            </a:r>
          </a:p>
        </p:txBody>
      </p:sp>
      <p:sp>
        <p:nvSpPr>
          <p:cNvPr id="7" name="Rectangle 6"/>
          <p:cNvSpPr/>
          <p:nvPr/>
        </p:nvSpPr>
        <p:spPr>
          <a:xfrm>
            <a:off x="5162550" y="2838450"/>
            <a:ext cx="3848100" cy="51720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05450" y="3181350"/>
            <a:ext cx="3162300" cy="1028700"/>
          </a:xfrm>
          <a:prstGeom prst="rect">
            <a:avLst/>
          </a:prstGeom>
          <a:noFill/>
        </p:spPr>
        <p:txBody>
          <a:bodyPr wrap="square" lIns="0" rIns="0" tIns="0" bIns="0" anchor="t"/>
          <a:lstStyle/>
          <a:p>
            <a:pPr algn="l"/>
            <a:r>
              <a:rPr sz="3000" b="1" i="0">
                <a:solidFill>
                  <a:srgbClr val="201914"/>
                </a:solidFill>
                <a:latin typeface="Arial"/>
              </a:rPr>
              <a:t>The Tatkal payment screen</a:t>
            </a:r>
          </a:p>
        </p:txBody>
      </p:sp>
      <p:sp>
        <p:nvSpPr>
          <p:cNvPr id="9" name="TextBox 8"/>
          <p:cNvSpPr txBox="1"/>
          <p:nvPr/>
        </p:nvSpPr>
        <p:spPr>
          <a:xfrm>
            <a:off x="5505450" y="4419600"/>
            <a:ext cx="3162300" cy="2190750"/>
          </a:xfrm>
          <a:prstGeom prst="rect">
            <a:avLst/>
          </a:prstGeom>
          <a:noFill/>
        </p:spPr>
        <p:txBody>
          <a:bodyPr wrap="square" lIns="0" rIns="0" tIns="0" bIns="0" anchor="t"/>
          <a:lstStyle/>
          <a:p>
            <a:pPr algn="l">
              <a:lnSpc>
                <a:spcPct val="105000"/>
              </a:lnSpc>
            </a:pPr>
            <a:r>
              <a:rPr sz="2550" b="0" i="0">
                <a:solidFill>
                  <a:srgbClr val="50453D"/>
                </a:solidFill>
                <a:latin typeface="Arial"/>
              </a:rPr>
              <a:t>The seat was there at 10:00:20 and the page has been loading for eleven seconds.</a:t>
            </a:r>
          </a:p>
        </p:txBody>
      </p:sp>
      <p:sp>
        <p:nvSpPr>
          <p:cNvPr id="10" name="Rectangle 9"/>
          <p:cNvSpPr/>
          <p:nvPr/>
        </p:nvSpPr>
        <p:spPr>
          <a:xfrm>
            <a:off x="9277350" y="2838450"/>
            <a:ext cx="3848100" cy="51720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20250" y="3181350"/>
            <a:ext cx="3162300" cy="1257300"/>
          </a:xfrm>
          <a:prstGeom prst="rect">
            <a:avLst/>
          </a:prstGeom>
          <a:noFill/>
        </p:spPr>
        <p:txBody>
          <a:bodyPr wrap="square" lIns="0" rIns="0" tIns="0" bIns="0" anchor="t"/>
          <a:lstStyle/>
          <a:p>
            <a:pPr algn="l"/>
            <a:r>
              <a:rPr sz="3750" b="1" i="0">
                <a:solidFill>
                  <a:srgbClr val="201914"/>
                </a:solidFill>
                <a:latin typeface="Arial"/>
              </a:rPr>
              <a:t>Check-in at 11pm</a:t>
            </a:r>
          </a:p>
        </p:txBody>
      </p:sp>
      <p:sp>
        <p:nvSpPr>
          <p:cNvPr id="12" name="TextBox 11"/>
          <p:cNvSpPr txBox="1"/>
          <p:nvPr/>
        </p:nvSpPr>
        <p:spPr>
          <a:xfrm>
            <a:off x="9620250" y="4648200"/>
            <a:ext cx="3162300" cy="2190750"/>
          </a:xfrm>
          <a:prstGeom prst="rect">
            <a:avLst/>
          </a:prstGeom>
          <a:noFill/>
        </p:spPr>
        <p:txBody>
          <a:bodyPr wrap="square" lIns="0" rIns="0" tIns="0" bIns="0" anchor="t"/>
          <a:lstStyle/>
          <a:p>
            <a:pPr algn="l">
              <a:lnSpc>
                <a:spcPct val="105000"/>
              </a:lnSpc>
            </a:pPr>
            <a:r>
              <a:rPr sz="2550" b="0" i="0">
                <a:solidFill>
                  <a:srgbClr val="50453D"/>
                </a:solidFill>
                <a:latin typeface="Arial"/>
              </a:rPr>
              <a:t>The hotel was booked six weeks ago. He is asked for ID, a signature and a card for incidentals.</a:t>
            </a:r>
          </a:p>
        </p:txBody>
      </p:sp>
      <p:sp>
        <p:nvSpPr>
          <p:cNvPr id="13" name="Rectangle 12"/>
          <p:cNvSpPr/>
          <p:nvPr/>
        </p:nvSpPr>
        <p:spPr>
          <a:xfrm>
            <a:off x="13392150" y="2838450"/>
            <a:ext cx="3848100" cy="517207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35050" y="3181350"/>
            <a:ext cx="3162300" cy="1076325"/>
          </a:xfrm>
          <a:prstGeom prst="rect">
            <a:avLst/>
          </a:prstGeom>
          <a:noFill/>
        </p:spPr>
        <p:txBody>
          <a:bodyPr wrap="square" lIns="0" rIns="0" tIns="0" bIns="0" anchor="t"/>
          <a:lstStyle/>
          <a:p>
            <a:pPr algn="l"/>
            <a:r>
              <a:rPr sz="3150" b="1" i="0">
                <a:solidFill>
                  <a:srgbClr val="201914"/>
                </a:solidFill>
                <a:latin typeface="Arial"/>
              </a:rPr>
              <a:t>A day off to visit two agents</a:t>
            </a:r>
          </a:p>
        </p:txBody>
      </p:sp>
      <p:sp>
        <p:nvSpPr>
          <p:cNvPr id="15" name="TextBox 14"/>
          <p:cNvSpPr txBox="1"/>
          <p:nvPr/>
        </p:nvSpPr>
        <p:spPr>
          <a:xfrm>
            <a:off x="13735050" y="4467225"/>
            <a:ext cx="3162300" cy="1771650"/>
          </a:xfrm>
          <a:prstGeom prst="rect">
            <a:avLst/>
          </a:prstGeom>
          <a:noFill/>
        </p:spPr>
        <p:txBody>
          <a:bodyPr wrap="square" lIns="0" rIns="0" tIns="0" bIns="0" anchor="t"/>
          <a:lstStyle/>
          <a:p>
            <a:pPr algn="l">
              <a:lnSpc>
                <a:spcPct val="105000"/>
              </a:lnSpc>
            </a:pPr>
            <a:r>
              <a:rPr sz="2550" b="0" i="0">
                <a:solidFill>
                  <a:srgbClr val="50453D"/>
                </a:solidFill>
                <a:latin typeface="Arial"/>
              </a:rPr>
              <a:t>Both offices open only in working hours, and neither price is comparable.</a:t>
            </a:r>
          </a:p>
        </p:txBody>
      </p:sp>
      <p:sp>
        <p:nvSpPr>
          <p:cNvPr id="16" name="TextBox 15"/>
          <p:cNvSpPr txBox="1"/>
          <p:nvPr/>
        </p:nvSpPr>
        <p:spPr>
          <a:xfrm>
            <a:off x="1047750" y="8334375"/>
            <a:ext cx="16192500" cy="1209675"/>
          </a:xfrm>
          <a:prstGeom prst="rect">
            <a:avLst/>
          </a:prstGeom>
          <a:noFill/>
        </p:spPr>
        <p:txBody>
          <a:bodyPr wrap="square" lIns="0" rIns="0" tIns="0" bIns="0" anchor="t"/>
          <a:lstStyle/>
          <a:p>
            <a:pPr algn="l">
              <a:lnSpc>
                <a:spcPct val="114000"/>
              </a:lnSpc>
            </a:pPr>
            <a:r>
              <a:rPr sz="3150" b="0" i="0">
                <a:solidFill>
                  <a:srgbClr val="433830"/>
                </a:solidFill>
                <a:latin typeface="Georgia"/>
              </a:rPr>
              <a:t>Decide each one. Then write what you would build to fix it — and whether it improves the product at all.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 ANSWERS</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Classify these four</a:t>
            </a:r>
          </a:p>
        </p:txBody>
      </p:sp>
      <p:sp>
        <p:nvSpPr>
          <p:cNvPr id="4" name="Rectangle 3"/>
          <p:cNvSpPr/>
          <p:nvPr/>
        </p:nvSpPr>
        <p:spPr>
          <a:xfrm>
            <a:off x="1047750" y="2838450"/>
            <a:ext cx="3848100" cy="6800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90650" y="3181350"/>
            <a:ext cx="3162300" cy="1123950"/>
          </a:xfrm>
          <a:prstGeom prst="rect">
            <a:avLst/>
          </a:prstGeom>
          <a:noFill/>
        </p:spPr>
        <p:txBody>
          <a:bodyPr wrap="square" lIns="0" rIns="0" tIns="0" bIns="0" anchor="t"/>
          <a:lstStyle/>
          <a:p>
            <a:pPr algn="l"/>
            <a:r>
              <a:rPr sz="3300" b="1" i="0">
                <a:solidFill>
                  <a:srgbClr val="201914"/>
                </a:solidFill>
                <a:latin typeface="Arial"/>
              </a:rPr>
              <a:t>The rider's dot on a map</a:t>
            </a:r>
          </a:p>
        </p:txBody>
      </p:sp>
      <p:sp>
        <p:nvSpPr>
          <p:cNvPr id="6" name="TextBox 5"/>
          <p:cNvSpPr txBox="1"/>
          <p:nvPr/>
        </p:nvSpPr>
        <p:spPr>
          <a:xfrm>
            <a:off x="1390650" y="4514850"/>
            <a:ext cx="3162300" cy="1200150"/>
          </a:xfrm>
          <a:prstGeom prst="rect">
            <a:avLst/>
          </a:prstGeom>
          <a:noFill/>
        </p:spPr>
        <p:txBody>
          <a:bodyPr wrap="square" lIns="0" rIns="0" tIns="0" bIns="0" anchor="t"/>
          <a:lstStyle/>
          <a:p>
            <a:pPr algn="l">
              <a:lnSpc>
                <a:spcPct val="105000"/>
              </a:lnSpc>
            </a:pPr>
            <a:r>
              <a:rPr sz="2250" b="0" i="0">
                <a:solidFill>
                  <a:srgbClr val="50453D"/>
                </a:solidFill>
                <a:latin typeface="Arial"/>
              </a:rPr>
              <a:t>It does not make the food arrive sooner, and everybody watches it.</a:t>
            </a:r>
          </a:p>
        </p:txBody>
      </p:sp>
      <p:sp>
        <p:nvSpPr>
          <p:cNvPr id="7" name="Rectangle 6"/>
          <p:cNvSpPr/>
          <p:nvPr/>
        </p:nvSpPr>
        <p:spPr>
          <a:xfrm>
            <a:off x="1047750" y="6524625"/>
            <a:ext cx="3848100" cy="31146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90650" y="6829425"/>
            <a:ext cx="3162300" cy="904875"/>
          </a:xfrm>
          <a:prstGeom prst="rect">
            <a:avLst/>
          </a:prstGeom>
          <a:noFill/>
        </p:spPr>
        <p:txBody>
          <a:bodyPr wrap="square" lIns="0" rIns="0" tIns="0" bIns="0" anchor="t"/>
          <a:lstStyle/>
          <a:p>
            <a:pPr algn="l">
              <a:lnSpc>
                <a:spcPct val="102000"/>
              </a:lnSpc>
            </a:pPr>
            <a:r>
              <a:rPr sz="2550" b="1" i="0">
                <a:solidFill>
                  <a:srgbClr val="F5F1E9"/>
                </a:solidFill>
                <a:latin typeface="Arial"/>
              </a:rPr>
              <a:t>Trust, with an emotional payoff</a:t>
            </a:r>
          </a:p>
        </p:txBody>
      </p:sp>
      <p:sp>
        <p:nvSpPr>
          <p:cNvPr id="9" name="TextBox 8"/>
          <p:cNvSpPr txBox="1"/>
          <p:nvPr/>
        </p:nvSpPr>
        <p:spPr>
          <a:xfrm>
            <a:off x="1390650" y="7867650"/>
            <a:ext cx="3162300" cy="1466850"/>
          </a:xfrm>
          <a:prstGeom prst="rect">
            <a:avLst/>
          </a:prstGeom>
          <a:noFill/>
        </p:spPr>
        <p:txBody>
          <a:bodyPr wrap="square" lIns="0" rIns="0" tIns="0" bIns="0" anchor="t"/>
          <a:lstStyle/>
          <a:p>
            <a:pPr algn="l">
              <a:lnSpc>
                <a:spcPct val="105000"/>
              </a:lnSpc>
            </a:pPr>
            <a:r>
              <a:rPr sz="2100" b="0" i="0">
                <a:solidFill>
                  <a:srgbClr val="C8BBB1"/>
                </a:solidFill>
                <a:latin typeface="Arial"/>
              </a:rPr>
              <a:t>It converts not-knowing into watching, which turns an unbounded wait into a bounded one.</a:t>
            </a:r>
          </a:p>
        </p:txBody>
      </p:sp>
      <p:sp>
        <p:nvSpPr>
          <p:cNvPr id="10" name="Rectangle 9"/>
          <p:cNvSpPr/>
          <p:nvPr/>
        </p:nvSpPr>
        <p:spPr>
          <a:xfrm>
            <a:off x="5162550" y="2838450"/>
            <a:ext cx="3848100" cy="6800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05450" y="3181350"/>
            <a:ext cx="3162300" cy="1028700"/>
          </a:xfrm>
          <a:prstGeom prst="rect">
            <a:avLst/>
          </a:prstGeom>
          <a:noFill/>
        </p:spPr>
        <p:txBody>
          <a:bodyPr wrap="square" lIns="0" rIns="0" tIns="0" bIns="0" anchor="t"/>
          <a:lstStyle/>
          <a:p>
            <a:pPr algn="l"/>
            <a:r>
              <a:rPr sz="3000" b="1" i="0">
                <a:solidFill>
                  <a:srgbClr val="201914"/>
                </a:solidFill>
                <a:latin typeface="Arial"/>
              </a:rPr>
              <a:t>The Tatkal payment screen</a:t>
            </a:r>
          </a:p>
        </p:txBody>
      </p:sp>
      <p:sp>
        <p:nvSpPr>
          <p:cNvPr id="12" name="TextBox 11"/>
          <p:cNvSpPr txBox="1"/>
          <p:nvPr/>
        </p:nvSpPr>
        <p:spPr>
          <a:xfrm>
            <a:off x="5505450" y="4419600"/>
            <a:ext cx="3162300" cy="971550"/>
          </a:xfrm>
          <a:prstGeom prst="rect">
            <a:avLst/>
          </a:prstGeom>
          <a:noFill/>
        </p:spPr>
        <p:txBody>
          <a:bodyPr wrap="square" lIns="0" rIns="0" tIns="0" bIns="0" anchor="t"/>
          <a:lstStyle/>
          <a:p>
            <a:pPr algn="l">
              <a:lnSpc>
                <a:spcPct val="105000"/>
              </a:lnSpc>
            </a:pPr>
            <a:r>
              <a:rPr sz="1800" b="0" i="0">
                <a:solidFill>
                  <a:srgbClr val="50453D"/>
                </a:solidFill>
                <a:latin typeface="Arial"/>
              </a:rPr>
              <a:t>The seat was there at 10:00:20 and the page has been loading eleven seconds.</a:t>
            </a:r>
          </a:p>
        </p:txBody>
      </p:sp>
      <p:sp>
        <p:nvSpPr>
          <p:cNvPr id="13" name="Rectangle 12"/>
          <p:cNvSpPr/>
          <p:nvPr/>
        </p:nvSpPr>
        <p:spPr>
          <a:xfrm>
            <a:off x="5162550" y="5829300"/>
            <a:ext cx="3848100" cy="38100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05450" y="6134100"/>
            <a:ext cx="3162300" cy="904875"/>
          </a:xfrm>
          <a:prstGeom prst="rect">
            <a:avLst/>
          </a:prstGeom>
          <a:noFill/>
        </p:spPr>
        <p:txBody>
          <a:bodyPr wrap="square" lIns="0" rIns="0" tIns="0" bIns="0" anchor="t"/>
          <a:lstStyle/>
          <a:p>
            <a:pPr algn="l">
              <a:lnSpc>
                <a:spcPct val="102000"/>
              </a:lnSpc>
            </a:pPr>
            <a:r>
              <a:rPr sz="2550" b="1" i="0">
                <a:solidFill>
                  <a:srgbClr val="FCF8F1"/>
                </a:solidFill>
                <a:latin typeface="Arial"/>
              </a:rPr>
              <a:t>Functional, on an emotional trough</a:t>
            </a:r>
          </a:p>
        </p:txBody>
      </p:sp>
      <p:sp>
        <p:nvSpPr>
          <p:cNvPr id="15" name="TextBox 14"/>
          <p:cNvSpPr txBox="1"/>
          <p:nvPr/>
        </p:nvSpPr>
        <p:spPr>
          <a:xfrm>
            <a:off x="5505450" y="7172325"/>
            <a:ext cx="3162300" cy="2162175"/>
          </a:xfrm>
          <a:prstGeom prst="rect">
            <a:avLst/>
          </a:prstGeom>
          <a:noFill/>
        </p:spPr>
        <p:txBody>
          <a:bodyPr wrap="square" lIns="0" rIns="0" tIns="0" bIns="0" anchor="t"/>
          <a:lstStyle/>
          <a:p>
            <a:pPr algn="l">
              <a:lnSpc>
                <a:spcPct val="105000"/>
              </a:lnSpc>
            </a:pPr>
            <a:r>
              <a:rPr sz="2100" b="0" i="0">
                <a:solidFill>
                  <a:srgbClr val="FCF8F1"/>
                </a:solidFill>
                <a:latin typeface="Arial"/>
              </a:rPr>
              <a:t>A real engineering problem at extraordinary scale — unbearable because the customer is helpless and it is decided in seconds.</a:t>
            </a:r>
          </a:p>
        </p:txBody>
      </p:sp>
      <p:sp>
        <p:nvSpPr>
          <p:cNvPr id="16" name="Rectangle 15"/>
          <p:cNvSpPr/>
          <p:nvPr/>
        </p:nvSpPr>
        <p:spPr>
          <a:xfrm>
            <a:off x="9277350" y="2838450"/>
            <a:ext cx="3848100" cy="6800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20250" y="3181350"/>
            <a:ext cx="3162300" cy="1123950"/>
          </a:xfrm>
          <a:prstGeom prst="rect">
            <a:avLst/>
          </a:prstGeom>
          <a:noFill/>
        </p:spPr>
        <p:txBody>
          <a:bodyPr wrap="square" lIns="0" rIns="0" tIns="0" bIns="0" anchor="t"/>
          <a:lstStyle/>
          <a:p>
            <a:pPr algn="l"/>
            <a:r>
              <a:rPr sz="3300" b="1" i="0">
                <a:solidFill>
                  <a:srgbClr val="201914"/>
                </a:solidFill>
                <a:latin typeface="Arial"/>
              </a:rPr>
              <a:t>Check-in at 11pm</a:t>
            </a:r>
          </a:p>
        </p:txBody>
      </p:sp>
      <p:sp>
        <p:nvSpPr>
          <p:cNvPr id="18" name="TextBox 17"/>
          <p:cNvSpPr txBox="1"/>
          <p:nvPr/>
        </p:nvSpPr>
        <p:spPr>
          <a:xfrm>
            <a:off x="9620250" y="4514850"/>
            <a:ext cx="3162300" cy="1571625"/>
          </a:xfrm>
          <a:prstGeom prst="rect">
            <a:avLst/>
          </a:prstGeom>
          <a:noFill/>
        </p:spPr>
        <p:txBody>
          <a:bodyPr wrap="square" lIns="0" rIns="0" tIns="0" bIns="0" anchor="t"/>
          <a:lstStyle/>
          <a:p>
            <a:pPr algn="l">
              <a:lnSpc>
                <a:spcPct val="105000"/>
              </a:lnSpc>
            </a:pPr>
            <a:r>
              <a:rPr sz="2250" b="0" i="0">
                <a:solidFill>
                  <a:srgbClr val="50453D"/>
                </a:solidFill>
                <a:latin typeface="Arial"/>
              </a:rPr>
              <a:t>The hotel was booked six weeks ago. He is asked for ID and a card.</a:t>
            </a:r>
          </a:p>
        </p:txBody>
      </p:sp>
      <p:sp>
        <p:nvSpPr>
          <p:cNvPr id="19" name="Rectangle 18"/>
          <p:cNvSpPr/>
          <p:nvPr/>
        </p:nvSpPr>
        <p:spPr>
          <a:xfrm>
            <a:off x="9277350" y="6581775"/>
            <a:ext cx="3848100" cy="305752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0250" y="6886575"/>
            <a:ext cx="3162300" cy="495300"/>
          </a:xfrm>
          <a:prstGeom prst="rect">
            <a:avLst/>
          </a:prstGeom>
          <a:noFill/>
        </p:spPr>
        <p:txBody>
          <a:bodyPr wrap="square" lIns="0" rIns="0" tIns="0" bIns="0" anchor="t"/>
          <a:lstStyle/>
          <a:p>
            <a:pPr algn="l">
              <a:lnSpc>
                <a:spcPct val="102000"/>
              </a:lnSpc>
            </a:pPr>
            <a:r>
              <a:rPr sz="2550" b="1" i="0">
                <a:solidFill>
                  <a:srgbClr val="F5F1E9"/>
                </a:solidFill>
                <a:latin typeface="Arial"/>
              </a:rPr>
              <a:t>Emotional</a:t>
            </a:r>
          </a:p>
        </p:txBody>
      </p:sp>
      <p:sp>
        <p:nvSpPr>
          <p:cNvPr id="21" name="TextBox 20"/>
          <p:cNvSpPr txBox="1"/>
          <p:nvPr/>
        </p:nvSpPr>
        <p:spPr>
          <a:xfrm>
            <a:off x="9620250" y="7515225"/>
            <a:ext cx="3162300" cy="1819275"/>
          </a:xfrm>
          <a:prstGeom prst="rect">
            <a:avLst/>
          </a:prstGeom>
          <a:noFill/>
        </p:spPr>
        <p:txBody>
          <a:bodyPr wrap="square" lIns="0" rIns="0" tIns="0" bIns="0" anchor="t"/>
          <a:lstStyle/>
          <a:p>
            <a:pPr algn="l">
              <a:lnSpc>
                <a:spcPct val="105000"/>
              </a:lnSpc>
            </a:pPr>
            <a:r>
              <a:rPr sz="2100" b="0" i="0">
                <a:solidFill>
                  <a:srgbClr val="C8BBB1"/>
                </a:solidFill>
                <a:latin typeface="Arial"/>
              </a:rPr>
              <a:t>Maximum exhaustion, minimum patience. This is the ninety seconds the whole trip is remembered by.</a:t>
            </a:r>
          </a:p>
        </p:txBody>
      </p:sp>
      <p:sp>
        <p:nvSpPr>
          <p:cNvPr id="22" name="Rectangle 21"/>
          <p:cNvSpPr/>
          <p:nvPr/>
        </p:nvSpPr>
        <p:spPr>
          <a:xfrm>
            <a:off x="13392150" y="2838450"/>
            <a:ext cx="3848100" cy="6800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735050" y="3181350"/>
            <a:ext cx="3162300" cy="1076325"/>
          </a:xfrm>
          <a:prstGeom prst="rect">
            <a:avLst/>
          </a:prstGeom>
          <a:noFill/>
        </p:spPr>
        <p:txBody>
          <a:bodyPr wrap="square" lIns="0" rIns="0" tIns="0" bIns="0" anchor="t"/>
          <a:lstStyle/>
          <a:p>
            <a:pPr algn="l"/>
            <a:r>
              <a:rPr sz="3150" b="1" i="0">
                <a:solidFill>
                  <a:srgbClr val="201914"/>
                </a:solidFill>
                <a:latin typeface="Arial"/>
              </a:rPr>
              <a:t>A day off to visit two agents</a:t>
            </a:r>
          </a:p>
        </p:txBody>
      </p:sp>
      <p:sp>
        <p:nvSpPr>
          <p:cNvPr id="24" name="TextBox 23"/>
          <p:cNvSpPr txBox="1"/>
          <p:nvPr/>
        </p:nvSpPr>
        <p:spPr>
          <a:xfrm>
            <a:off x="13735050" y="4467225"/>
            <a:ext cx="3162300" cy="1466850"/>
          </a:xfrm>
          <a:prstGeom prst="rect">
            <a:avLst/>
          </a:prstGeom>
          <a:noFill/>
        </p:spPr>
        <p:txBody>
          <a:bodyPr wrap="square" lIns="0" rIns="0" tIns="0" bIns="0" anchor="t"/>
          <a:lstStyle/>
          <a:p>
            <a:pPr algn="l">
              <a:lnSpc>
                <a:spcPct val="105000"/>
              </a:lnSpc>
            </a:pPr>
            <a:r>
              <a:rPr sz="2100" b="0" i="0">
                <a:solidFill>
                  <a:srgbClr val="50453D"/>
                </a:solidFill>
                <a:latin typeface="Arial"/>
              </a:rPr>
              <a:t>Both offices open only in working hours, and neither price is comparable.</a:t>
            </a:r>
          </a:p>
        </p:txBody>
      </p:sp>
      <p:sp>
        <p:nvSpPr>
          <p:cNvPr id="25" name="Rectangle 24"/>
          <p:cNvSpPr/>
          <p:nvPr/>
        </p:nvSpPr>
        <p:spPr>
          <a:xfrm>
            <a:off x="13392150" y="6172200"/>
            <a:ext cx="3848100" cy="3467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735050" y="6477000"/>
            <a:ext cx="3162300" cy="904875"/>
          </a:xfrm>
          <a:prstGeom prst="rect">
            <a:avLst/>
          </a:prstGeom>
          <a:noFill/>
        </p:spPr>
        <p:txBody>
          <a:bodyPr wrap="square" lIns="0" rIns="0" tIns="0" bIns="0" anchor="t"/>
          <a:lstStyle/>
          <a:p>
            <a:pPr algn="l">
              <a:lnSpc>
                <a:spcPct val="102000"/>
              </a:lnSpc>
            </a:pPr>
            <a:r>
              <a:rPr sz="2550" b="1" i="0">
                <a:solidFill>
                  <a:srgbClr val="FCF8F1"/>
                </a:solidFill>
                <a:latin typeface="Arial"/>
              </a:rPr>
              <a:t>Functional and trust</a:t>
            </a:r>
          </a:p>
        </p:txBody>
      </p:sp>
      <p:sp>
        <p:nvSpPr>
          <p:cNvPr id="27" name="TextBox 26"/>
          <p:cNvSpPr txBox="1"/>
          <p:nvPr/>
        </p:nvSpPr>
        <p:spPr>
          <a:xfrm>
            <a:off x="13735050" y="7515225"/>
            <a:ext cx="3162300" cy="1819275"/>
          </a:xfrm>
          <a:prstGeom prst="rect">
            <a:avLst/>
          </a:prstGeom>
          <a:noFill/>
        </p:spPr>
        <p:txBody>
          <a:bodyPr wrap="square" lIns="0" rIns="0" tIns="0" bIns="0" anchor="t"/>
          <a:lstStyle/>
          <a:p>
            <a:pPr algn="l">
              <a:lnSpc>
                <a:spcPct val="105000"/>
              </a:lnSpc>
            </a:pPr>
            <a:r>
              <a:rPr sz="2100" b="0" i="0">
                <a:solidFill>
                  <a:srgbClr val="FCF8F1"/>
                </a:solidFill>
                <a:latin typeface="Arial"/>
              </a:rPr>
              <a:t>The day off is countable. Not being able to judge either price is the part that actually stopped people buying.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JAN CARLZON · SAS · EARLY 1980s</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The arithmetic that made him famous</a:t>
            </a:r>
          </a:p>
        </p:txBody>
      </p:sp>
      <p:sp>
        <p:nvSpPr>
          <p:cNvPr id="4" name="TextBox 3"/>
          <p:cNvSpPr txBox="1"/>
          <p:nvPr/>
        </p:nvSpPr>
        <p:spPr>
          <a:xfrm>
            <a:off x="1047750" y="4876800"/>
            <a:ext cx="5524500" cy="1785938"/>
          </a:xfrm>
          <a:prstGeom prst="rect">
            <a:avLst/>
          </a:prstGeom>
          <a:noFill/>
        </p:spPr>
        <p:txBody>
          <a:bodyPr wrap="square" lIns="0" rIns="0" tIns="0" bIns="0" anchor="t"/>
          <a:lstStyle/>
          <a:p>
            <a:pPr algn="l">
              <a:lnSpc>
                <a:spcPct val="90000"/>
              </a:lnSpc>
            </a:pPr>
            <a:r>
              <a:rPr sz="11250" b="1" i="0" spc="-250">
                <a:solidFill>
                  <a:srgbClr val="C35141"/>
                </a:solidFill>
                <a:latin typeface="Arial"/>
              </a:rPr>
              <a:t>10 mn</a:t>
            </a:r>
          </a:p>
        </p:txBody>
      </p:sp>
      <p:sp>
        <p:nvSpPr>
          <p:cNvPr id="5" name="TextBox 4"/>
          <p:cNvSpPr txBox="1"/>
          <p:nvPr/>
        </p:nvSpPr>
        <p:spPr>
          <a:xfrm>
            <a:off x="1047750" y="6772275"/>
            <a:ext cx="4953000" cy="1266825"/>
          </a:xfrm>
          <a:prstGeom prst="rect">
            <a:avLst/>
          </a:prstGeom>
          <a:noFill/>
        </p:spPr>
        <p:txBody>
          <a:bodyPr wrap="square" lIns="0" rIns="0" tIns="0" bIns="0" anchor="t"/>
          <a:lstStyle/>
          <a:p>
            <a:pPr algn="l">
              <a:lnSpc>
                <a:spcPct val="105000"/>
              </a:lnSpc>
            </a:pPr>
            <a:r>
              <a:rPr sz="2400" b="0" i="0">
                <a:solidFill>
                  <a:srgbClr val="50453D"/>
                </a:solidFill>
                <a:latin typeface="Arial"/>
              </a:rPr>
              <a:t>Customers a year, each meeting about five employees.</a:t>
            </a:r>
          </a:p>
        </p:txBody>
      </p:sp>
      <p:sp>
        <p:nvSpPr>
          <p:cNvPr id="6" name="TextBox 5"/>
          <p:cNvSpPr txBox="1"/>
          <p:nvPr/>
        </p:nvSpPr>
        <p:spPr>
          <a:xfrm>
            <a:off x="6572250" y="4876800"/>
            <a:ext cx="5524500" cy="1785938"/>
          </a:xfrm>
          <a:prstGeom prst="rect">
            <a:avLst/>
          </a:prstGeom>
          <a:noFill/>
        </p:spPr>
        <p:txBody>
          <a:bodyPr wrap="square" lIns="0" rIns="0" tIns="0" bIns="0" anchor="t"/>
          <a:lstStyle/>
          <a:p>
            <a:pPr algn="l">
              <a:lnSpc>
                <a:spcPct val="90000"/>
              </a:lnSpc>
            </a:pPr>
            <a:r>
              <a:rPr sz="11250" b="1" i="0" spc="-250">
                <a:solidFill>
                  <a:srgbClr val="C35141"/>
                </a:solidFill>
                <a:latin typeface="Arial"/>
              </a:rPr>
              <a:t>15 sec</a:t>
            </a:r>
          </a:p>
        </p:txBody>
      </p:sp>
      <p:sp>
        <p:nvSpPr>
          <p:cNvPr id="7" name="TextBox 6"/>
          <p:cNvSpPr txBox="1"/>
          <p:nvPr/>
        </p:nvSpPr>
        <p:spPr>
          <a:xfrm>
            <a:off x="6572250" y="6772275"/>
            <a:ext cx="4953000" cy="1266825"/>
          </a:xfrm>
          <a:prstGeom prst="rect">
            <a:avLst/>
          </a:prstGeom>
          <a:noFill/>
        </p:spPr>
        <p:txBody>
          <a:bodyPr wrap="square" lIns="0" rIns="0" tIns="0" bIns="0" anchor="t"/>
          <a:lstStyle/>
          <a:p>
            <a:pPr algn="l">
              <a:lnSpc>
                <a:spcPct val="105000"/>
              </a:lnSpc>
            </a:pPr>
            <a:r>
              <a:rPr sz="2400" b="0" i="0">
                <a:solidFill>
                  <a:srgbClr val="50453D"/>
                </a:solidFill>
                <a:latin typeface="Arial"/>
              </a:rPr>
              <a:t>The length of a typical contact with one of them.</a:t>
            </a:r>
          </a:p>
        </p:txBody>
      </p:sp>
      <p:sp>
        <p:nvSpPr>
          <p:cNvPr id="8" name="TextBox 7"/>
          <p:cNvSpPr txBox="1"/>
          <p:nvPr/>
        </p:nvSpPr>
        <p:spPr>
          <a:xfrm>
            <a:off x="12096750" y="4876800"/>
            <a:ext cx="5524500" cy="1785938"/>
          </a:xfrm>
          <a:prstGeom prst="rect">
            <a:avLst/>
          </a:prstGeom>
          <a:noFill/>
        </p:spPr>
        <p:txBody>
          <a:bodyPr wrap="square" lIns="0" rIns="0" tIns="0" bIns="0" anchor="t"/>
          <a:lstStyle/>
          <a:p>
            <a:pPr algn="l">
              <a:lnSpc>
                <a:spcPct val="90000"/>
              </a:lnSpc>
            </a:pPr>
            <a:r>
              <a:rPr sz="11250" b="1" i="0" spc="-250">
                <a:solidFill>
                  <a:srgbClr val="C35141"/>
                </a:solidFill>
                <a:latin typeface="Arial"/>
              </a:rPr>
              <a:t>50 mn</a:t>
            </a:r>
          </a:p>
        </p:txBody>
      </p:sp>
      <p:sp>
        <p:nvSpPr>
          <p:cNvPr id="9" name="TextBox 8"/>
          <p:cNvSpPr txBox="1"/>
          <p:nvPr/>
        </p:nvSpPr>
        <p:spPr>
          <a:xfrm>
            <a:off x="12096750" y="6772275"/>
            <a:ext cx="4953000" cy="1266825"/>
          </a:xfrm>
          <a:prstGeom prst="rect">
            <a:avLst/>
          </a:prstGeom>
          <a:noFill/>
        </p:spPr>
        <p:txBody>
          <a:bodyPr wrap="square" lIns="0" rIns="0" tIns="0" bIns="0" anchor="t"/>
          <a:lstStyle/>
          <a:p>
            <a:pPr algn="l">
              <a:lnSpc>
                <a:spcPct val="105000"/>
              </a:lnSpc>
            </a:pPr>
            <a:r>
              <a:rPr sz="2400" b="0" i="0">
                <a:solidFill>
                  <a:srgbClr val="50453D"/>
                </a:solidFill>
                <a:latin typeface="Arial"/>
              </a:rPr>
              <a:t>Moments a year in which the company was created or destroyed in somebody's mind.</a:t>
            </a:r>
          </a:p>
        </p:txBody>
      </p:sp>
      <p:sp>
        <p:nvSpPr>
          <p:cNvPr id="10" name="Rectangle 9"/>
          <p:cNvSpPr/>
          <p:nvPr/>
        </p:nvSpPr>
        <p:spPr>
          <a:xfrm>
            <a:off x="1047750" y="8229600"/>
            <a:ext cx="16192500" cy="19050"/>
          </a:xfrm>
          <a:prstGeom prst="rect">
            <a:avLst/>
          </a:prstGeom>
          <a:solidFill>
            <a:srgbClr val="D4C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8553450"/>
            <a:ext cx="16192500" cy="1047750"/>
          </a:xfrm>
          <a:prstGeom prst="rect">
            <a:avLst/>
          </a:prstGeom>
          <a:noFill/>
        </p:spPr>
        <p:txBody>
          <a:bodyPr wrap="square" lIns="0" rIns="0" tIns="0" bIns="0" anchor="t"/>
          <a:lstStyle/>
          <a:p>
            <a:pPr algn="l">
              <a:lnSpc>
                <a:spcPct val="114000"/>
              </a:lnSpc>
            </a:pPr>
            <a:r>
              <a:rPr sz="2700" b="0" i="0">
                <a:solidFill>
                  <a:srgbClr val="50453D"/>
                </a:solidFill>
                <a:latin typeface="Georgia"/>
              </a:rPr>
              <a:t>His conclusion: those fifty million fifteen-second interactions, not the aircraft and not the timetable, were the airline — so authority had to move to the people having them.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WHERE THEY SIT</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Find the point of maximum helplessness</a:t>
            </a:r>
          </a:p>
        </p:txBody>
      </p:sp>
      <p:sp>
        <p:nvSpPr>
          <p:cNvPr id="4" name="Rectangle 3"/>
          <p:cNvSpPr/>
          <p:nvPr/>
        </p:nvSpPr>
        <p:spPr>
          <a:xfrm>
            <a:off x="1047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143250"/>
            <a:ext cx="5143500" cy="600075"/>
          </a:xfrm>
          <a:prstGeom prst="rect">
            <a:avLst/>
          </a:prstGeom>
          <a:noFill/>
        </p:spPr>
        <p:txBody>
          <a:bodyPr wrap="square" lIns="0" rIns="0" tIns="0" bIns="0" anchor="t"/>
          <a:lstStyle/>
          <a:p>
            <a:pPr algn="l"/>
            <a:r>
              <a:rPr sz="3300" b="1" i="0">
                <a:solidFill>
                  <a:srgbClr val="201914"/>
                </a:solidFill>
                <a:latin typeface="Arial"/>
              </a:rPr>
              <a:t>The 2004 holiday</a:t>
            </a:r>
          </a:p>
        </p:txBody>
      </p:sp>
      <p:sp>
        <p:nvSpPr>
          <p:cNvPr id="6" name="TextBox 5"/>
          <p:cNvSpPr txBox="1"/>
          <p:nvPr/>
        </p:nvSpPr>
        <p:spPr>
          <a:xfrm>
            <a:off x="1047750" y="3876675"/>
            <a:ext cx="5143500" cy="1343025"/>
          </a:xfrm>
          <a:prstGeom prst="rect">
            <a:avLst/>
          </a:prstGeom>
          <a:noFill/>
        </p:spPr>
        <p:txBody>
          <a:bodyPr wrap="square" lIns="0" rIns="0" tIns="0" bIns="0" anchor="t"/>
          <a:lstStyle/>
          <a:p>
            <a:pPr algn="l">
              <a:lnSpc>
                <a:spcPct val="105000"/>
              </a:lnSpc>
            </a:pPr>
            <a:r>
              <a:rPr sz="2550" b="0" i="0">
                <a:solidFill>
                  <a:srgbClr val="665B53"/>
                </a:solidFill>
                <a:latin typeface="Arial"/>
              </a:rPr>
              <a:t>The moment the money leaves your hands, against a printed voucher.</a:t>
            </a:r>
          </a:p>
        </p:txBody>
      </p:sp>
      <p:sp>
        <p:nvSpPr>
          <p:cNvPr id="7" name="Rectangle 6"/>
          <p:cNvSpPr/>
          <p:nvPr/>
        </p:nvSpPr>
        <p:spPr>
          <a:xfrm>
            <a:off x="65722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143250"/>
            <a:ext cx="5143500" cy="600075"/>
          </a:xfrm>
          <a:prstGeom prst="rect">
            <a:avLst/>
          </a:prstGeom>
          <a:noFill/>
        </p:spPr>
        <p:txBody>
          <a:bodyPr wrap="square" lIns="0" rIns="0" tIns="0" bIns="0" anchor="t"/>
          <a:lstStyle/>
          <a:p>
            <a:pPr algn="l"/>
            <a:r>
              <a:rPr sz="3300" b="1" i="0">
                <a:solidFill>
                  <a:srgbClr val="201914"/>
                </a:solidFill>
                <a:latin typeface="Arial"/>
              </a:rPr>
              <a:t>The bus journey</a:t>
            </a:r>
          </a:p>
        </p:txBody>
      </p:sp>
      <p:sp>
        <p:nvSpPr>
          <p:cNvPr id="9" name="TextBox 8"/>
          <p:cNvSpPr txBox="1"/>
          <p:nvPr/>
        </p:nvSpPr>
        <p:spPr>
          <a:xfrm>
            <a:off x="6572250" y="3876675"/>
            <a:ext cx="5143500" cy="2190750"/>
          </a:xfrm>
          <a:prstGeom prst="rect">
            <a:avLst/>
          </a:prstGeom>
          <a:noFill/>
        </p:spPr>
        <p:txBody>
          <a:bodyPr wrap="square" lIns="0" rIns="0" tIns="0" bIns="0" anchor="t"/>
          <a:lstStyle/>
          <a:p>
            <a:pPr algn="l">
              <a:lnSpc>
                <a:spcPct val="105000"/>
              </a:lnSpc>
            </a:pPr>
            <a:r>
              <a:rPr sz="2550" b="0" i="0">
                <a:solidFill>
                  <a:srgbClr val="665B53"/>
                </a:solidFill>
                <a:latin typeface="Arial"/>
              </a:rPr>
              <a:t>Standing at the pick-up point at 9pm, wondering whether the bus is coming — which is why real-time tracking mattered more than any booking screen.</a:t>
            </a:r>
          </a:p>
        </p:txBody>
      </p:sp>
      <p:sp>
        <p:nvSpPr>
          <p:cNvPr id="10" name="Rectangle 9"/>
          <p:cNvSpPr/>
          <p:nvPr/>
        </p:nvSpPr>
        <p:spPr>
          <a:xfrm>
            <a:off x="12096750" y="2838450"/>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143250"/>
            <a:ext cx="5143500" cy="600075"/>
          </a:xfrm>
          <a:prstGeom prst="rect">
            <a:avLst/>
          </a:prstGeom>
          <a:noFill/>
        </p:spPr>
        <p:txBody>
          <a:bodyPr wrap="square" lIns="0" rIns="0" tIns="0" bIns="0" anchor="t"/>
          <a:lstStyle/>
          <a:p>
            <a:pPr algn="l"/>
            <a:r>
              <a:rPr sz="3300" b="1" i="0">
                <a:solidFill>
                  <a:srgbClr val="201914"/>
                </a:solidFill>
                <a:latin typeface="Arial"/>
              </a:rPr>
              <a:t>Tatkal</a:t>
            </a:r>
          </a:p>
        </p:txBody>
      </p:sp>
      <p:sp>
        <p:nvSpPr>
          <p:cNvPr id="12" name="TextBox 11"/>
          <p:cNvSpPr txBox="1"/>
          <p:nvPr/>
        </p:nvSpPr>
        <p:spPr>
          <a:xfrm>
            <a:off x="12096750" y="3876675"/>
            <a:ext cx="5143500" cy="1343025"/>
          </a:xfrm>
          <a:prstGeom prst="rect">
            <a:avLst/>
          </a:prstGeom>
          <a:noFill/>
        </p:spPr>
        <p:txBody>
          <a:bodyPr wrap="square" lIns="0" rIns="0" tIns="0" bIns="0" anchor="t"/>
          <a:lstStyle/>
          <a:p>
            <a:pPr algn="l">
              <a:lnSpc>
                <a:spcPct val="105000"/>
              </a:lnSpc>
            </a:pPr>
            <a:r>
              <a:rPr sz="2550" b="0" i="0">
                <a:solidFill>
                  <a:srgbClr val="665B53"/>
                </a:solidFill>
                <a:latin typeface="Arial"/>
              </a:rPr>
              <a:t>The payment screen at 10:01, with the seat visible and the page loading.</a:t>
            </a:r>
          </a:p>
        </p:txBody>
      </p:sp>
      <p:sp>
        <p:nvSpPr>
          <p:cNvPr id="13" name="Rectangle 12"/>
          <p:cNvSpPr/>
          <p:nvPr/>
        </p:nvSpPr>
        <p:spPr>
          <a:xfrm>
            <a:off x="1047750" y="7429500"/>
            <a:ext cx="16192500" cy="217170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43050" y="7886700"/>
            <a:ext cx="15240000" cy="1123950"/>
          </a:xfrm>
          <a:prstGeom prst="rect">
            <a:avLst/>
          </a:prstGeom>
          <a:noFill/>
        </p:spPr>
        <p:txBody>
          <a:bodyPr wrap="square" lIns="0" rIns="0" tIns="0" bIns="0" anchor="t"/>
          <a:lstStyle/>
          <a:p>
            <a:pPr algn="l">
              <a:lnSpc>
                <a:spcPct val="114000"/>
              </a:lnSpc>
            </a:pPr>
            <a:r>
              <a:rPr sz="2850" b="0" i="0">
                <a:solidFill>
                  <a:srgbClr val="F5F1E9"/>
                </a:solidFill>
                <a:latin typeface="Georgia"/>
              </a:rPr>
              <a:t>Moments of truth cluster where the customer is most exposed and least able to act — which is exactly where helplessness kept appearing in the Feel quadrant last week.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2552700"/>
            <a:ext cx="16192500" cy="323850"/>
          </a:xfrm>
          <a:prstGeom prst="rect">
            <a:avLst/>
          </a:prstGeom>
          <a:noFill/>
        </p:spPr>
        <p:txBody>
          <a:bodyPr wrap="square" lIns="0" rIns="0" tIns="0" bIns="0" anchor="t"/>
          <a:lstStyle/>
          <a:p>
            <a:pPr algn="l"/>
            <a:r>
              <a:rPr sz="1950" b="1" i="0" spc="312">
                <a:solidFill>
                  <a:srgbClr val="EF806F"/>
                </a:solidFill>
                <a:latin typeface="Arial"/>
              </a:rPr>
              <a:t>11PM · AFTER A DELAYED FLIGHT</a:t>
            </a:r>
          </a:p>
        </p:txBody>
      </p:sp>
      <p:sp>
        <p:nvSpPr>
          <p:cNvPr id="3" name="TextBox 2"/>
          <p:cNvSpPr txBox="1"/>
          <p:nvPr/>
        </p:nvSpPr>
        <p:spPr>
          <a:xfrm>
            <a:off x="1047750" y="3143250"/>
            <a:ext cx="15697200" cy="2419350"/>
          </a:xfrm>
          <a:prstGeom prst="rect">
            <a:avLst/>
          </a:prstGeom>
          <a:noFill/>
        </p:spPr>
        <p:txBody>
          <a:bodyPr wrap="square" lIns="0" rIns="0" tIns="0" bIns="0" anchor="t"/>
          <a:lstStyle/>
          <a:p>
            <a:pPr algn="l">
              <a:lnSpc>
                <a:spcPct val="90000"/>
              </a:lnSpc>
            </a:pPr>
            <a:r>
              <a:rPr sz="8100" b="1" i="0" spc="-250">
                <a:solidFill>
                  <a:srgbClr val="F5F1E9"/>
                </a:solidFill>
                <a:latin typeface="Arial"/>
              </a:rPr>
              <a:t>The moment of truth is not the hotel room.</a:t>
            </a:r>
          </a:p>
        </p:txBody>
      </p:sp>
      <p:sp>
        <p:nvSpPr>
          <p:cNvPr id="4" name="TextBox 3"/>
          <p:cNvSpPr txBox="1"/>
          <p:nvPr/>
        </p:nvSpPr>
        <p:spPr>
          <a:xfrm>
            <a:off x="1047750" y="5981700"/>
            <a:ext cx="14287500" cy="2619375"/>
          </a:xfrm>
          <a:prstGeom prst="rect">
            <a:avLst/>
          </a:prstGeom>
          <a:noFill/>
        </p:spPr>
        <p:txBody>
          <a:bodyPr wrap="square" lIns="0" rIns="0" tIns="0" bIns="0" anchor="t"/>
          <a:lstStyle/>
          <a:p>
            <a:pPr algn="l">
              <a:lnSpc>
                <a:spcPct val="112000"/>
              </a:lnSpc>
            </a:pPr>
            <a:r>
              <a:rPr sz="3600" b="0" i="0">
                <a:solidFill>
                  <a:srgbClr val="C1B5AB"/>
                </a:solidFill>
                <a:latin typeface="Georgia"/>
              </a:rPr>
              <a:t>The hotel was decided six weeks ago. What decides how the trip is remembered is ninety seconds at a desk, at maximum exhaustion and minimum patience — where a lost booking becomes the story told afterwards.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 WHOLE JOURNEY, NOT THE PRODUCTS</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The stage that brings the customer in is not the stage that pays for the company</a:t>
            </a:r>
          </a:p>
        </p:txBody>
      </p:sp>
      <p:sp>
        <p:nvSpPr>
          <p:cNvPr id="4" name="Rectangle 3"/>
          <p:cNvSpPr/>
          <p:nvPr/>
        </p:nvSpPr>
        <p:spPr>
          <a:xfrm>
            <a:off x="1047750" y="3629025"/>
            <a:ext cx="7905750" cy="4048125"/>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4010025"/>
            <a:ext cx="7067550" cy="352425"/>
          </a:xfrm>
          <a:prstGeom prst="rect">
            <a:avLst/>
          </a:prstGeom>
          <a:noFill/>
        </p:spPr>
        <p:txBody>
          <a:bodyPr wrap="square" lIns="0" rIns="0" tIns="0" bIns="0" anchor="t"/>
          <a:lstStyle/>
          <a:p>
            <a:pPr algn="l"/>
            <a:r>
              <a:rPr sz="2100" b="1" i="0" spc="180">
                <a:solidFill>
                  <a:srgbClr val="5E534A"/>
                </a:solidFill>
                <a:latin typeface="Arial"/>
              </a:rPr>
              <a:t>WHERE THE CUSTOMER ARRIVES</a:t>
            </a:r>
          </a:p>
        </p:txBody>
      </p:sp>
      <p:sp>
        <p:nvSpPr>
          <p:cNvPr id="6" name="TextBox 5"/>
          <p:cNvSpPr txBox="1"/>
          <p:nvPr/>
        </p:nvSpPr>
        <p:spPr>
          <a:xfrm>
            <a:off x="1466850" y="4543425"/>
            <a:ext cx="7067550" cy="933450"/>
          </a:xfrm>
          <a:prstGeom prst="rect">
            <a:avLst/>
          </a:prstGeom>
          <a:noFill/>
        </p:spPr>
        <p:txBody>
          <a:bodyPr wrap="square" lIns="0" rIns="0" tIns="0" bIns="0" anchor="t"/>
          <a:lstStyle/>
          <a:p>
            <a:pPr algn="l">
              <a:lnSpc>
                <a:spcPct val="106000"/>
              </a:lnSpc>
            </a:pPr>
            <a:r>
              <a:rPr sz="2550" b="0" i="0">
                <a:solidFill>
                  <a:srgbClr val="201914"/>
                </a:solidFill>
                <a:latin typeface="Arial"/>
              </a:rPr>
              <a:t>Air ticketing — fiercely competitive and price-transparent.</a:t>
            </a:r>
          </a:p>
        </p:txBody>
      </p:sp>
      <p:sp>
        <p:nvSpPr>
          <p:cNvPr id="7" name="TextBox 6"/>
          <p:cNvSpPr txBox="1"/>
          <p:nvPr/>
        </p:nvSpPr>
        <p:spPr>
          <a:xfrm>
            <a:off x="1466850" y="5686425"/>
            <a:ext cx="7067550" cy="1362075"/>
          </a:xfrm>
          <a:prstGeom prst="rect">
            <a:avLst/>
          </a:prstGeom>
          <a:noFill/>
        </p:spPr>
        <p:txBody>
          <a:bodyPr wrap="square" lIns="0" rIns="0" tIns="0" bIns="0" anchor="t"/>
          <a:lstStyle/>
          <a:p>
            <a:pPr algn="l">
              <a:lnSpc>
                <a:spcPct val="106000"/>
              </a:lnSpc>
            </a:pPr>
            <a:r>
              <a:rPr sz="2550" b="0" i="0">
                <a:solidFill>
                  <a:srgbClr val="201914"/>
                </a:solidFill>
                <a:latin typeface="Arial"/>
              </a:rPr>
              <a:t>The intermediary's take rate on a flight is thin. A few per cent at best, sometimes almost nothing.</a:t>
            </a:r>
          </a:p>
        </p:txBody>
      </p:sp>
      <p:sp>
        <p:nvSpPr>
          <p:cNvPr id="8" name="Rectangle 7"/>
          <p:cNvSpPr/>
          <p:nvPr/>
        </p:nvSpPr>
        <p:spPr>
          <a:xfrm>
            <a:off x="9334500" y="3629025"/>
            <a:ext cx="7905750" cy="404812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53600" y="4010025"/>
            <a:ext cx="7067550" cy="352425"/>
          </a:xfrm>
          <a:prstGeom prst="rect">
            <a:avLst/>
          </a:prstGeom>
          <a:noFill/>
        </p:spPr>
        <p:txBody>
          <a:bodyPr wrap="square" lIns="0" rIns="0" tIns="0" bIns="0" anchor="t"/>
          <a:lstStyle/>
          <a:p>
            <a:pPr algn="l"/>
            <a:r>
              <a:rPr sz="2100" b="1" i="0" spc="180">
                <a:solidFill>
                  <a:srgbClr val="EF806F"/>
                </a:solidFill>
                <a:latin typeface="Arial"/>
              </a:rPr>
              <a:t>WHERE THE MONEY IS MADE</a:t>
            </a:r>
          </a:p>
        </p:txBody>
      </p:sp>
      <p:sp>
        <p:nvSpPr>
          <p:cNvPr id="10" name="TextBox 9"/>
          <p:cNvSpPr txBox="1"/>
          <p:nvPr/>
        </p:nvSpPr>
        <p:spPr>
          <a:xfrm>
            <a:off x="9753600" y="4543425"/>
            <a:ext cx="7067550" cy="1362075"/>
          </a:xfrm>
          <a:prstGeom prst="rect">
            <a:avLst/>
          </a:prstGeom>
          <a:noFill/>
        </p:spPr>
        <p:txBody>
          <a:bodyPr wrap="square" lIns="0" rIns="0" tIns="0" bIns="0" anchor="t"/>
          <a:lstStyle/>
          <a:p>
            <a:pPr algn="l">
              <a:lnSpc>
                <a:spcPct val="106000"/>
              </a:lnSpc>
            </a:pPr>
            <a:r>
              <a:rPr sz="2550" b="0" i="0">
                <a:solidFill>
                  <a:srgbClr val="F5F1E9"/>
                </a:solidFill>
                <a:latin typeface="Arial"/>
              </a:rPr>
              <a:t>Hotels and packages, where the commission is reported in the region of fifteen to twenty per cent.</a:t>
            </a:r>
          </a:p>
        </p:txBody>
      </p:sp>
      <p:sp>
        <p:nvSpPr>
          <p:cNvPr id="11" name="TextBox 10"/>
          <p:cNvSpPr txBox="1"/>
          <p:nvPr/>
        </p:nvSpPr>
        <p:spPr>
          <a:xfrm>
            <a:off x="9753600" y="6115050"/>
            <a:ext cx="7067550" cy="933450"/>
          </a:xfrm>
          <a:prstGeom prst="rect">
            <a:avLst/>
          </a:prstGeom>
          <a:noFill/>
        </p:spPr>
        <p:txBody>
          <a:bodyPr wrap="square" lIns="0" rIns="0" tIns="0" bIns="0" anchor="t"/>
          <a:lstStyle/>
          <a:p>
            <a:pPr algn="l">
              <a:lnSpc>
                <a:spcPct val="106000"/>
              </a:lnSpc>
            </a:pPr>
            <a:r>
              <a:rPr sz="2550" b="0" i="0">
                <a:solidFill>
                  <a:srgbClr val="F5F1E9"/>
                </a:solidFill>
                <a:latin typeface="Arial"/>
              </a:rPr>
              <a:t>Visible only when you look at the journey as a whole rather than as a set of products.</a:t>
            </a:r>
          </a:p>
        </p:txBody>
      </p:sp>
      <p:sp>
        <p:nvSpPr>
          <p:cNvPr id="12" name="TextBox 11"/>
          <p:cNvSpPr txBox="1"/>
          <p:nvPr/>
        </p:nvSpPr>
        <p:spPr>
          <a:xfrm>
            <a:off x="1047750" y="8077200"/>
            <a:ext cx="16192500" cy="1266825"/>
          </a:xfrm>
          <a:prstGeom prst="rect">
            <a:avLst/>
          </a:prstGeom>
          <a:noFill/>
        </p:spPr>
        <p:txBody>
          <a:bodyPr wrap="square" lIns="0" rIns="0" tIns="0" bIns="0" anchor="t"/>
          <a:lstStyle/>
          <a:p>
            <a:pPr algn="l">
              <a:lnSpc>
                <a:spcPct val="114000"/>
              </a:lnSpc>
            </a:pPr>
            <a:r>
              <a:rPr sz="3300" b="0" i="0">
                <a:solidFill>
                  <a:srgbClr val="362C24"/>
                </a:solidFill>
                <a:latin typeface="Georgia"/>
              </a:rPr>
              <a:t>A company that optimised each stage for its own profitability would have made flight search worse — and lost the customer at step one.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A TRAVEL BOOKING FUNNEL</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Where do a thousand people go?</a:t>
            </a:r>
          </a:p>
        </p:txBody>
      </p:sp>
      <p:sp>
        <p:nvSpPr>
          <p:cNvPr id="4" name="TextBox 3"/>
          <p:cNvSpPr txBox="1"/>
          <p:nvPr/>
        </p:nvSpPr>
        <p:spPr>
          <a:xfrm>
            <a:off x="1314450" y="2838450"/>
            <a:ext cx="4610100" cy="381000"/>
          </a:xfrm>
          <a:prstGeom prst="rect">
            <a:avLst/>
          </a:prstGeom>
          <a:noFill/>
        </p:spPr>
        <p:txBody>
          <a:bodyPr wrap="square" lIns="0" rIns="0" tIns="0" bIns="0" anchor="t"/>
          <a:lstStyle/>
          <a:p>
            <a:pPr algn="l"/>
            <a:r>
              <a:rPr sz="1800" b="1" i="0" spc="150">
                <a:solidFill>
                  <a:srgbClr val="5E534A"/>
                </a:solidFill>
                <a:latin typeface="Arial"/>
              </a:rPr>
              <a:t>STAGE</a:t>
            </a:r>
          </a:p>
        </p:txBody>
      </p:sp>
      <p:sp>
        <p:nvSpPr>
          <p:cNvPr id="5" name="TextBox 4"/>
          <p:cNvSpPr txBox="1"/>
          <p:nvPr/>
        </p:nvSpPr>
        <p:spPr>
          <a:xfrm>
            <a:off x="6172200" y="2838450"/>
            <a:ext cx="2343150" cy="381000"/>
          </a:xfrm>
          <a:prstGeom prst="rect">
            <a:avLst/>
          </a:prstGeom>
          <a:noFill/>
        </p:spPr>
        <p:txBody>
          <a:bodyPr wrap="square" lIns="0" rIns="0" tIns="0" bIns="0" anchor="t"/>
          <a:lstStyle/>
          <a:p>
            <a:pPr algn="l"/>
            <a:r>
              <a:rPr sz="1800" b="1" i="0" spc="150">
                <a:solidFill>
                  <a:srgbClr val="5E534A"/>
                </a:solidFill>
                <a:latin typeface="Arial"/>
              </a:rPr>
              <a:t>PEOPLE</a:t>
            </a:r>
          </a:p>
        </p:txBody>
      </p:sp>
      <p:sp>
        <p:nvSpPr>
          <p:cNvPr id="6" name="TextBox 5"/>
          <p:cNvSpPr txBox="1"/>
          <p:nvPr/>
        </p:nvSpPr>
        <p:spPr>
          <a:xfrm>
            <a:off x="8763000" y="2838450"/>
            <a:ext cx="8496300" cy="381000"/>
          </a:xfrm>
          <a:prstGeom prst="rect">
            <a:avLst/>
          </a:prstGeom>
          <a:noFill/>
        </p:spPr>
        <p:txBody>
          <a:bodyPr wrap="square" lIns="0" rIns="0" tIns="0" bIns="0" anchor="t"/>
          <a:lstStyle/>
          <a:p>
            <a:pPr algn="l"/>
            <a:r>
              <a:rPr sz="1800" b="1" i="0" spc="150">
                <a:solidFill>
                  <a:srgbClr val="5E534A"/>
                </a:solidFill>
                <a:latin typeface="Arial"/>
              </a:rPr>
              <a:t>WHAT HAPPENED HERE</a:t>
            </a:r>
          </a:p>
        </p:txBody>
      </p:sp>
      <p:sp>
        <p:nvSpPr>
          <p:cNvPr id="7" name="Rectangle 6"/>
          <p:cNvSpPr/>
          <p:nvPr/>
        </p:nvSpPr>
        <p:spPr>
          <a:xfrm>
            <a:off x="1047750" y="335280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47750" y="4476750"/>
            <a:ext cx="16192500" cy="84772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47750" y="6172200"/>
            <a:ext cx="16192500" cy="1228725"/>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47750" y="7400925"/>
            <a:ext cx="16192500" cy="157162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14450" y="3829050"/>
            <a:ext cx="4610100" cy="447675"/>
          </a:xfrm>
          <a:prstGeom prst="rect">
            <a:avLst/>
          </a:prstGeom>
          <a:noFill/>
        </p:spPr>
        <p:txBody>
          <a:bodyPr wrap="square" lIns="0" rIns="0" tIns="0" bIns="0" anchor="t"/>
          <a:lstStyle/>
          <a:p>
            <a:pPr algn="l">
              <a:lnSpc>
                <a:spcPct val="102000"/>
              </a:lnSpc>
            </a:pPr>
            <a:r>
              <a:rPr sz="2400" b="1" i="0">
                <a:solidFill>
                  <a:srgbClr val="201914"/>
                </a:solidFill>
                <a:latin typeface="Arial"/>
              </a:rPr>
              <a:t>Opened the search page</a:t>
            </a:r>
          </a:p>
        </p:txBody>
      </p:sp>
      <p:sp>
        <p:nvSpPr>
          <p:cNvPr id="12" name="TextBox 11"/>
          <p:cNvSpPr txBox="1"/>
          <p:nvPr/>
        </p:nvSpPr>
        <p:spPr>
          <a:xfrm>
            <a:off x="6172200" y="3829050"/>
            <a:ext cx="2343150" cy="447675"/>
          </a:xfrm>
          <a:prstGeom prst="rect">
            <a:avLst/>
          </a:prstGeom>
          <a:noFill/>
        </p:spPr>
        <p:txBody>
          <a:bodyPr wrap="square" lIns="0" rIns="0" tIns="0" bIns="0" anchor="t"/>
          <a:lstStyle/>
          <a:p>
            <a:pPr algn="l">
              <a:lnSpc>
                <a:spcPct val="102000"/>
              </a:lnSpc>
            </a:pPr>
            <a:r>
              <a:rPr sz="2400" b="0" i="0">
                <a:solidFill>
                  <a:srgbClr val="6C6158"/>
                </a:solidFill>
                <a:latin typeface="Arial"/>
              </a:rPr>
              <a:t>1,000</a:t>
            </a:r>
          </a:p>
        </p:txBody>
      </p:sp>
      <p:sp>
        <p:nvSpPr>
          <p:cNvPr id="13" name="TextBox 12"/>
          <p:cNvSpPr txBox="1"/>
          <p:nvPr/>
        </p:nvSpPr>
        <p:spPr>
          <a:xfrm>
            <a:off x="8763000" y="3829050"/>
            <a:ext cx="8496300" cy="447675"/>
          </a:xfrm>
          <a:prstGeom prst="rect">
            <a:avLst/>
          </a:prstGeom>
          <a:noFill/>
        </p:spPr>
        <p:txBody>
          <a:bodyPr wrap="square" lIns="0" rIns="0" tIns="0" bIns="0" anchor="t"/>
          <a:lstStyle/>
          <a:p>
            <a:pPr algn="l">
              <a:lnSpc>
                <a:spcPct val="102000"/>
              </a:lnSpc>
            </a:pPr>
            <a:r>
              <a:rPr sz="2400" b="0" i="0">
                <a:solidFill>
                  <a:srgbClr val="6C6158"/>
                </a:solidFill>
                <a:latin typeface="Arial"/>
              </a:rPr>
              <a:t>Arrived from an advertisement, a search, or a friend's link</a:t>
            </a:r>
          </a:p>
        </p:txBody>
      </p:sp>
      <p:sp>
        <p:nvSpPr>
          <p:cNvPr id="14" name="Rectangle 13"/>
          <p:cNvSpPr/>
          <p:nvPr/>
        </p:nvSpPr>
        <p:spPr>
          <a:xfrm>
            <a:off x="1047750" y="446722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14450" y="4676775"/>
            <a:ext cx="4610100" cy="447675"/>
          </a:xfrm>
          <a:prstGeom prst="rect">
            <a:avLst/>
          </a:prstGeom>
          <a:noFill/>
        </p:spPr>
        <p:txBody>
          <a:bodyPr wrap="square" lIns="0" rIns="0" tIns="0" bIns="0" anchor="t"/>
          <a:lstStyle/>
          <a:p>
            <a:pPr algn="l">
              <a:lnSpc>
                <a:spcPct val="102000"/>
              </a:lnSpc>
            </a:pPr>
            <a:r>
              <a:rPr sz="2400" b="1" i="0">
                <a:solidFill>
                  <a:srgbClr val="201914"/>
                </a:solidFill>
                <a:latin typeface="Arial"/>
              </a:rPr>
              <a:t>Ran a search</a:t>
            </a:r>
          </a:p>
        </p:txBody>
      </p:sp>
      <p:sp>
        <p:nvSpPr>
          <p:cNvPr id="16" name="TextBox 15"/>
          <p:cNvSpPr txBox="1"/>
          <p:nvPr/>
        </p:nvSpPr>
        <p:spPr>
          <a:xfrm>
            <a:off x="6172200" y="4676775"/>
            <a:ext cx="2343150" cy="447675"/>
          </a:xfrm>
          <a:prstGeom prst="rect">
            <a:avLst/>
          </a:prstGeom>
          <a:noFill/>
        </p:spPr>
        <p:txBody>
          <a:bodyPr wrap="square" lIns="0" rIns="0" tIns="0" bIns="0" anchor="t"/>
          <a:lstStyle/>
          <a:p>
            <a:pPr algn="l">
              <a:lnSpc>
                <a:spcPct val="102000"/>
              </a:lnSpc>
            </a:pPr>
            <a:r>
              <a:rPr sz="2400" b="0" i="0">
                <a:solidFill>
                  <a:srgbClr val="6C6158"/>
                </a:solidFill>
                <a:latin typeface="Arial"/>
              </a:rPr>
              <a:t>620</a:t>
            </a:r>
          </a:p>
        </p:txBody>
      </p:sp>
      <p:sp>
        <p:nvSpPr>
          <p:cNvPr id="17" name="TextBox 16"/>
          <p:cNvSpPr txBox="1"/>
          <p:nvPr/>
        </p:nvSpPr>
        <p:spPr>
          <a:xfrm>
            <a:off x="8763000" y="4676775"/>
            <a:ext cx="8496300" cy="447675"/>
          </a:xfrm>
          <a:prstGeom prst="rect">
            <a:avLst/>
          </a:prstGeom>
          <a:noFill/>
        </p:spPr>
        <p:txBody>
          <a:bodyPr wrap="square" lIns="0" rIns="0" tIns="0" bIns="0" anchor="t"/>
          <a:lstStyle/>
          <a:p>
            <a:pPr algn="l">
              <a:lnSpc>
                <a:spcPct val="102000"/>
              </a:lnSpc>
            </a:pPr>
            <a:r>
              <a:rPr sz="2400" b="0" i="0">
                <a:solidFill>
                  <a:srgbClr val="6C6158"/>
                </a:solidFill>
                <a:latin typeface="Arial"/>
              </a:rPr>
              <a:t>380 left without searching — functional friction</a:t>
            </a:r>
          </a:p>
        </p:txBody>
      </p:sp>
      <p:sp>
        <p:nvSpPr>
          <p:cNvPr id="18" name="Rectangle 17"/>
          <p:cNvSpPr/>
          <p:nvPr/>
        </p:nvSpPr>
        <p:spPr>
          <a:xfrm>
            <a:off x="1047750" y="531495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14450" y="5524500"/>
            <a:ext cx="4610100" cy="447675"/>
          </a:xfrm>
          <a:prstGeom prst="rect">
            <a:avLst/>
          </a:prstGeom>
          <a:noFill/>
        </p:spPr>
        <p:txBody>
          <a:bodyPr wrap="square" lIns="0" rIns="0" tIns="0" bIns="0" anchor="t"/>
          <a:lstStyle/>
          <a:p>
            <a:pPr algn="l">
              <a:lnSpc>
                <a:spcPct val="102000"/>
              </a:lnSpc>
            </a:pPr>
            <a:r>
              <a:rPr sz="2400" b="1" i="0">
                <a:solidFill>
                  <a:srgbClr val="201914"/>
                </a:solidFill>
                <a:latin typeface="Arial"/>
              </a:rPr>
              <a:t>Selected an option</a:t>
            </a:r>
          </a:p>
        </p:txBody>
      </p:sp>
      <p:sp>
        <p:nvSpPr>
          <p:cNvPr id="20" name="TextBox 19"/>
          <p:cNvSpPr txBox="1"/>
          <p:nvPr/>
        </p:nvSpPr>
        <p:spPr>
          <a:xfrm>
            <a:off x="6172200" y="5524500"/>
            <a:ext cx="2343150" cy="447675"/>
          </a:xfrm>
          <a:prstGeom prst="rect">
            <a:avLst/>
          </a:prstGeom>
          <a:noFill/>
        </p:spPr>
        <p:txBody>
          <a:bodyPr wrap="square" lIns="0" rIns="0" tIns="0" bIns="0" anchor="t"/>
          <a:lstStyle/>
          <a:p>
            <a:pPr algn="l">
              <a:lnSpc>
                <a:spcPct val="102000"/>
              </a:lnSpc>
            </a:pPr>
            <a:r>
              <a:rPr sz="2400" b="0" i="0">
                <a:solidFill>
                  <a:srgbClr val="6C6158"/>
                </a:solidFill>
                <a:latin typeface="Arial"/>
              </a:rPr>
              <a:t>310</a:t>
            </a:r>
          </a:p>
        </p:txBody>
      </p:sp>
      <p:sp>
        <p:nvSpPr>
          <p:cNvPr id="21" name="TextBox 20"/>
          <p:cNvSpPr txBox="1"/>
          <p:nvPr/>
        </p:nvSpPr>
        <p:spPr>
          <a:xfrm>
            <a:off x="8763000" y="5524500"/>
            <a:ext cx="8496300" cy="447675"/>
          </a:xfrm>
          <a:prstGeom prst="rect">
            <a:avLst/>
          </a:prstGeom>
          <a:noFill/>
        </p:spPr>
        <p:txBody>
          <a:bodyPr wrap="square" lIns="0" rIns="0" tIns="0" bIns="0" anchor="t"/>
          <a:lstStyle/>
          <a:p>
            <a:pPr algn="l">
              <a:lnSpc>
                <a:spcPct val="102000"/>
              </a:lnSpc>
            </a:pPr>
            <a:r>
              <a:rPr sz="2400" b="0" i="0">
                <a:solidFill>
                  <a:srgbClr val="6C6158"/>
                </a:solidFill>
                <a:latin typeface="Arial"/>
              </a:rPr>
              <a:t>Half could not decide — informational friction</a:t>
            </a:r>
          </a:p>
        </p:txBody>
      </p:sp>
      <p:sp>
        <p:nvSpPr>
          <p:cNvPr id="22" name="Rectangle 21"/>
          <p:cNvSpPr/>
          <p:nvPr/>
        </p:nvSpPr>
        <p:spPr>
          <a:xfrm>
            <a:off x="1047750" y="61626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14450" y="6562725"/>
            <a:ext cx="4610100" cy="447675"/>
          </a:xfrm>
          <a:prstGeom prst="rect">
            <a:avLst/>
          </a:prstGeom>
          <a:noFill/>
        </p:spPr>
        <p:txBody>
          <a:bodyPr wrap="square" lIns="0" rIns="0" tIns="0" bIns="0" anchor="t"/>
          <a:lstStyle/>
          <a:p>
            <a:pPr algn="l">
              <a:lnSpc>
                <a:spcPct val="102000"/>
              </a:lnSpc>
            </a:pPr>
            <a:r>
              <a:rPr sz="2400" b="1" i="0">
                <a:solidFill>
                  <a:srgbClr val="201914"/>
                </a:solidFill>
                <a:latin typeface="Arial"/>
              </a:rPr>
              <a:t>Reached the payment page</a:t>
            </a:r>
          </a:p>
        </p:txBody>
      </p:sp>
      <p:sp>
        <p:nvSpPr>
          <p:cNvPr id="24" name="TextBox 23"/>
          <p:cNvSpPr txBox="1"/>
          <p:nvPr/>
        </p:nvSpPr>
        <p:spPr>
          <a:xfrm>
            <a:off x="6172200" y="6562725"/>
            <a:ext cx="2343150" cy="447675"/>
          </a:xfrm>
          <a:prstGeom prst="rect">
            <a:avLst/>
          </a:prstGeom>
          <a:noFill/>
        </p:spPr>
        <p:txBody>
          <a:bodyPr wrap="square" lIns="0" rIns="0" tIns="0" bIns="0" anchor="t"/>
          <a:lstStyle/>
          <a:p>
            <a:pPr algn="l">
              <a:lnSpc>
                <a:spcPct val="102000"/>
              </a:lnSpc>
            </a:pPr>
            <a:r>
              <a:rPr sz="2400" b="0" i="0">
                <a:solidFill>
                  <a:srgbClr val="6C6158"/>
                </a:solidFill>
                <a:latin typeface="Arial"/>
              </a:rPr>
              <a:t>140</a:t>
            </a:r>
          </a:p>
        </p:txBody>
      </p:sp>
      <p:sp>
        <p:nvSpPr>
          <p:cNvPr id="25" name="TextBox 24"/>
          <p:cNvSpPr txBox="1"/>
          <p:nvPr/>
        </p:nvSpPr>
        <p:spPr>
          <a:xfrm>
            <a:off x="8763000" y="6372225"/>
            <a:ext cx="8496300" cy="828675"/>
          </a:xfrm>
          <a:prstGeom prst="rect">
            <a:avLst/>
          </a:prstGeom>
          <a:noFill/>
        </p:spPr>
        <p:txBody>
          <a:bodyPr wrap="square" lIns="0" rIns="0" tIns="0" bIns="0" anchor="t"/>
          <a:lstStyle/>
          <a:p>
            <a:pPr algn="l">
              <a:lnSpc>
                <a:spcPct val="102000"/>
              </a:lnSpc>
            </a:pPr>
            <a:r>
              <a:rPr sz="2400" b="0" i="0">
                <a:solidFill>
                  <a:srgbClr val="6C6158"/>
                </a:solidFill>
                <a:latin typeface="Arial"/>
              </a:rPr>
              <a:t>The price changed when fees appeared, or a login was demanded — trust</a:t>
            </a:r>
          </a:p>
        </p:txBody>
      </p:sp>
      <p:sp>
        <p:nvSpPr>
          <p:cNvPr id="26" name="Rectangle 25"/>
          <p:cNvSpPr/>
          <p:nvPr/>
        </p:nvSpPr>
        <p:spPr>
          <a:xfrm>
            <a:off x="1047750" y="7391400"/>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14450" y="7943850"/>
            <a:ext cx="4610100" cy="476250"/>
          </a:xfrm>
          <a:prstGeom prst="rect">
            <a:avLst/>
          </a:prstGeom>
          <a:noFill/>
        </p:spPr>
        <p:txBody>
          <a:bodyPr wrap="square" lIns="0" rIns="0" tIns="0" bIns="0" anchor="t"/>
          <a:lstStyle/>
          <a:p>
            <a:pPr algn="l">
              <a:lnSpc>
                <a:spcPct val="102000"/>
              </a:lnSpc>
            </a:pPr>
            <a:r>
              <a:rPr sz="2550" b="1" i="0">
                <a:solidFill>
                  <a:srgbClr val="F5F1E9"/>
                </a:solidFill>
                <a:latin typeface="Arial"/>
              </a:rPr>
              <a:t>Paid</a:t>
            </a:r>
          </a:p>
        </p:txBody>
      </p:sp>
      <p:sp>
        <p:nvSpPr>
          <p:cNvPr id="28" name="TextBox 27"/>
          <p:cNvSpPr txBox="1"/>
          <p:nvPr/>
        </p:nvSpPr>
        <p:spPr>
          <a:xfrm>
            <a:off x="6172200" y="7943850"/>
            <a:ext cx="2343150" cy="476250"/>
          </a:xfrm>
          <a:prstGeom prst="rect">
            <a:avLst/>
          </a:prstGeom>
          <a:noFill/>
        </p:spPr>
        <p:txBody>
          <a:bodyPr wrap="square" lIns="0" rIns="0" tIns="0" bIns="0" anchor="t"/>
          <a:lstStyle/>
          <a:p>
            <a:pPr algn="l">
              <a:lnSpc>
                <a:spcPct val="102000"/>
              </a:lnSpc>
            </a:pPr>
            <a:r>
              <a:rPr sz="2550" b="1" i="0">
                <a:solidFill>
                  <a:srgbClr val="F5F1E9"/>
                </a:solidFill>
                <a:latin typeface="Arial"/>
              </a:rPr>
              <a:t>70</a:t>
            </a:r>
          </a:p>
        </p:txBody>
      </p:sp>
      <p:sp>
        <p:nvSpPr>
          <p:cNvPr id="29" name="TextBox 28"/>
          <p:cNvSpPr txBox="1"/>
          <p:nvPr/>
        </p:nvSpPr>
        <p:spPr>
          <a:xfrm>
            <a:off x="8763000" y="7743825"/>
            <a:ext cx="8496300" cy="885825"/>
          </a:xfrm>
          <a:prstGeom prst="rect">
            <a:avLst/>
          </a:prstGeom>
          <a:noFill/>
        </p:spPr>
        <p:txBody>
          <a:bodyPr wrap="square" lIns="0" rIns="0" tIns="0" bIns="0" anchor="t"/>
          <a:lstStyle/>
          <a:p>
            <a:pPr algn="l">
              <a:lnSpc>
                <a:spcPct val="102000"/>
              </a:lnSpc>
            </a:pPr>
            <a:r>
              <a:rPr sz="2550" b="1" i="0">
                <a:solidFill>
                  <a:srgbClr val="FFAF9F"/>
                </a:solidFill>
                <a:latin typeface="Arial"/>
              </a:rPr>
              <a:t>Half of the people who reached the payment page did not complete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WHERE THE DROPS CLUSTER</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Four places, in every funnel anybody has ever counted</a:t>
            </a:r>
          </a:p>
        </p:txBody>
      </p:sp>
      <p:sp>
        <p:nvSpPr>
          <p:cNvPr id="4" name="Rectangle 3"/>
          <p:cNvSpPr/>
          <p:nvPr/>
        </p:nvSpPr>
        <p:spPr>
          <a:xfrm>
            <a:off x="1047750"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933825"/>
            <a:ext cx="3762375" cy="790575"/>
          </a:xfrm>
          <a:prstGeom prst="rect">
            <a:avLst/>
          </a:prstGeom>
          <a:noFill/>
        </p:spPr>
        <p:txBody>
          <a:bodyPr wrap="square" lIns="0" rIns="0" tIns="0" bIns="0" anchor="t"/>
          <a:lstStyle/>
          <a:p>
            <a:pPr algn="l"/>
            <a:r>
              <a:rPr sz="2250" b="1" i="0">
                <a:solidFill>
                  <a:srgbClr val="201914"/>
                </a:solidFill>
                <a:latin typeface="Arial"/>
              </a:rPr>
              <a:t>A form asks for something you must go and find</a:t>
            </a:r>
          </a:p>
        </p:txBody>
      </p:sp>
      <p:sp>
        <p:nvSpPr>
          <p:cNvPr id="6" name="TextBox 5"/>
          <p:cNvSpPr txBox="1"/>
          <p:nvPr/>
        </p:nvSpPr>
        <p:spPr>
          <a:xfrm>
            <a:off x="1047750" y="4857750"/>
            <a:ext cx="3762375" cy="1123950"/>
          </a:xfrm>
          <a:prstGeom prst="rect">
            <a:avLst/>
          </a:prstGeom>
          <a:noFill/>
        </p:spPr>
        <p:txBody>
          <a:bodyPr wrap="square" lIns="0" rIns="0" tIns="0" bIns="0" anchor="t"/>
          <a:lstStyle/>
          <a:p>
            <a:pPr algn="l">
              <a:lnSpc>
                <a:spcPct val="105000"/>
              </a:lnSpc>
            </a:pPr>
            <a:r>
              <a:rPr sz="2100" b="0" i="0">
                <a:solidFill>
                  <a:srgbClr val="665B53"/>
                </a:solidFill>
                <a:latin typeface="Arial"/>
              </a:rPr>
              <a:t>A document number, a policy, an address you do not have on you.</a:t>
            </a:r>
          </a:p>
        </p:txBody>
      </p:sp>
      <p:sp>
        <p:nvSpPr>
          <p:cNvPr id="7" name="Rectangle 6"/>
          <p:cNvSpPr/>
          <p:nvPr/>
        </p:nvSpPr>
        <p:spPr>
          <a:xfrm>
            <a:off x="5191125"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91125" y="3933825"/>
            <a:ext cx="3762375" cy="438150"/>
          </a:xfrm>
          <a:prstGeom prst="rect">
            <a:avLst/>
          </a:prstGeom>
          <a:noFill/>
        </p:spPr>
        <p:txBody>
          <a:bodyPr wrap="square" lIns="0" rIns="0" tIns="0" bIns="0" anchor="t"/>
          <a:lstStyle/>
          <a:p>
            <a:pPr algn="l"/>
            <a:r>
              <a:rPr sz="2250" b="1" i="0">
                <a:solidFill>
                  <a:srgbClr val="201914"/>
                </a:solidFill>
                <a:latin typeface="Arial"/>
              </a:rPr>
              <a:t>The price changes</a:t>
            </a:r>
          </a:p>
        </p:txBody>
      </p:sp>
      <p:sp>
        <p:nvSpPr>
          <p:cNvPr id="9" name="TextBox 8"/>
          <p:cNvSpPr txBox="1"/>
          <p:nvPr/>
        </p:nvSpPr>
        <p:spPr>
          <a:xfrm>
            <a:off x="5191125" y="4505325"/>
            <a:ext cx="3762375" cy="1123950"/>
          </a:xfrm>
          <a:prstGeom prst="rect">
            <a:avLst/>
          </a:prstGeom>
          <a:noFill/>
        </p:spPr>
        <p:txBody>
          <a:bodyPr wrap="square" lIns="0" rIns="0" tIns="0" bIns="0" anchor="t"/>
          <a:lstStyle/>
          <a:p>
            <a:pPr algn="l">
              <a:lnSpc>
                <a:spcPct val="105000"/>
              </a:lnSpc>
            </a:pPr>
            <a:r>
              <a:rPr sz="2100" b="0" i="0">
                <a:solidFill>
                  <a:srgbClr val="665B53"/>
                </a:solidFill>
                <a:latin typeface="Arial"/>
              </a:rPr>
              <a:t>A fee appears at the last step and the number is no longer the number you agreed to.</a:t>
            </a:r>
          </a:p>
        </p:txBody>
      </p:sp>
      <p:sp>
        <p:nvSpPr>
          <p:cNvPr id="10" name="Rectangle 9"/>
          <p:cNvSpPr/>
          <p:nvPr/>
        </p:nvSpPr>
        <p:spPr>
          <a:xfrm>
            <a:off x="9334500"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34500" y="3933825"/>
            <a:ext cx="3762375" cy="438150"/>
          </a:xfrm>
          <a:prstGeom prst="rect">
            <a:avLst/>
          </a:prstGeom>
          <a:noFill/>
        </p:spPr>
        <p:txBody>
          <a:bodyPr wrap="square" lIns="0" rIns="0" tIns="0" bIns="0" anchor="t"/>
          <a:lstStyle/>
          <a:p>
            <a:pPr algn="l"/>
            <a:r>
              <a:rPr sz="2250" b="1" i="0">
                <a:solidFill>
                  <a:srgbClr val="201914"/>
                </a:solidFill>
                <a:latin typeface="Arial"/>
              </a:rPr>
              <a:t>A login is demanded</a:t>
            </a:r>
          </a:p>
        </p:txBody>
      </p:sp>
      <p:sp>
        <p:nvSpPr>
          <p:cNvPr id="12" name="TextBox 11"/>
          <p:cNvSpPr txBox="1"/>
          <p:nvPr/>
        </p:nvSpPr>
        <p:spPr>
          <a:xfrm>
            <a:off x="9334500" y="4505325"/>
            <a:ext cx="3762375" cy="771525"/>
          </a:xfrm>
          <a:prstGeom prst="rect">
            <a:avLst/>
          </a:prstGeom>
          <a:noFill/>
        </p:spPr>
        <p:txBody>
          <a:bodyPr wrap="square" lIns="0" rIns="0" tIns="0" bIns="0" anchor="t"/>
          <a:lstStyle/>
          <a:p>
            <a:pPr algn="l">
              <a:lnSpc>
                <a:spcPct val="105000"/>
              </a:lnSpc>
            </a:pPr>
            <a:r>
              <a:rPr sz="2100" b="0" i="0">
                <a:solidFill>
                  <a:srgbClr val="665B53"/>
                </a:solidFill>
                <a:latin typeface="Arial"/>
              </a:rPr>
              <a:t>From somebody who does not remember their password.</a:t>
            </a:r>
          </a:p>
        </p:txBody>
      </p:sp>
      <p:sp>
        <p:nvSpPr>
          <p:cNvPr id="13" name="Rectangle 12"/>
          <p:cNvSpPr/>
          <p:nvPr/>
        </p:nvSpPr>
        <p:spPr>
          <a:xfrm>
            <a:off x="13477875"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77875" y="3933825"/>
            <a:ext cx="3762375" cy="438150"/>
          </a:xfrm>
          <a:prstGeom prst="rect">
            <a:avLst/>
          </a:prstGeom>
          <a:noFill/>
        </p:spPr>
        <p:txBody>
          <a:bodyPr wrap="square" lIns="0" rIns="0" tIns="0" bIns="0" anchor="t"/>
          <a:lstStyle/>
          <a:p>
            <a:pPr algn="l"/>
            <a:r>
              <a:rPr sz="2250" b="1" i="0">
                <a:solidFill>
                  <a:srgbClr val="201914"/>
                </a:solidFill>
                <a:latin typeface="Arial"/>
              </a:rPr>
              <a:t>The payment step itself</a:t>
            </a:r>
          </a:p>
        </p:txBody>
      </p:sp>
      <p:sp>
        <p:nvSpPr>
          <p:cNvPr id="15" name="TextBox 14"/>
          <p:cNvSpPr txBox="1"/>
          <p:nvPr/>
        </p:nvSpPr>
        <p:spPr>
          <a:xfrm>
            <a:off x="13477875" y="4505325"/>
            <a:ext cx="3762375" cy="1123950"/>
          </a:xfrm>
          <a:prstGeom prst="rect">
            <a:avLst/>
          </a:prstGeom>
          <a:noFill/>
        </p:spPr>
        <p:txBody>
          <a:bodyPr wrap="square" lIns="0" rIns="0" tIns="0" bIns="0" anchor="t"/>
          <a:lstStyle/>
          <a:p>
            <a:pPr algn="l">
              <a:lnSpc>
                <a:spcPct val="105000"/>
              </a:lnSpc>
            </a:pPr>
            <a:r>
              <a:rPr sz="2100" b="0" i="0">
                <a:solidFill>
                  <a:srgbClr val="665B53"/>
                </a:solidFill>
                <a:latin typeface="Arial"/>
              </a:rPr>
              <a:t>The last moment at which anybody can change their mind.</a:t>
            </a:r>
          </a:p>
        </p:txBody>
      </p:sp>
      <p:sp>
        <p:nvSpPr>
          <p:cNvPr id="16" name="TextBox 15"/>
          <p:cNvSpPr txBox="1"/>
          <p:nvPr/>
        </p:nvSpPr>
        <p:spPr>
          <a:xfrm>
            <a:off x="1047750" y="8439150"/>
            <a:ext cx="16192500" cy="942975"/>
          </a:xfrm>
          <a:prstGeom prst="rect">
            <a:avLst/>
          </a:prstGeom>
          <a:noFill/>
        </p:spPr>
        <p:txBody>
          <a:bodyPr wrap="square" lIns="0" rIns="0" tIns="0" bIns="0" anchor="t"/>
          <a:lstStyle/>
          <a:p>
            <a:pPr algn="l">
              <a:lnSpc>
                <a:spcPct val="114000"/>
              </a:lnSpc>
            </a:pPr>
            <a:r>
              <a:rPr sz="2400" b="0" i="0">
                <a:solidFill>
                  <a:srgbClr val="362C24"/>
                </a:solidFill>
                <a:latin typeface="Georgia"/>
              </a:rPr>
              <a:t>Physical journeys have drop-offs too — they are simply harder to see. The customer nobody approaches for four minutes in a showroom. The applicant sent back for one document who never returns.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FRAMEWORK 3 · THE MOST USEFUL IDEA IN THE HOUR</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Not every drop-off should be fixed</a:t>
            </a:r>
          </a:p>
        </p:txBody>
      </p:sp>
      <p:sp>
        <p:nvSpPr>
          <p:cNvPr id="4" name="Rectangle 3"/>
          <p:cNvSpPr/>
          <p:nvPr/>
        </p:nvSpPr>
        <p:spPr>
          <a:xfrm>
            <a:off x="1047750" y="2838450"/>
            <a:ext cx="16192500" cy="1466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2550" y="3276600"/>
            <a:ext cx="3028950" cy="581025"/>
          </a:xfrm>
          <a:prstGeom prst="rect">
            <a:avLst/>
          </a:prstGeom>
          <a:noFill/>
        </p:spPr>
        <p:txBody>
          <a:bodyPr wrap="square" lIns="0" rIns="0" tIns="0" bIns="0" anchor="t"/>
          <a:lstStyle/>
          <a:p>
            <a:pPr algn="l"/>
            <a:r>
              <a:rPr sz="3300" b="1" i="0">
                <a:solidFill>
                  <a:srgbClr val="201914"/>
                </a:solidFill>
                <a:latin typeface="Arial"/>
              </a:rPr>
              <a:t>Friction</a:t>
            </a:r>
          </a:p>
        </p:txBody>
      </p:sp>
      <p:sp>
        <p:nvSpPr>
          <p:cNvPr id="6" name="TextBox 5"/>
          <p:cNvSpPr txBox="1"/>
          <p:nvPr/>
        </p:nvSpPr>
        <p:spPr>
          <a:xfrm>
            <a:off x="4914900" y="3067050"/>
            <a:ext cx="6496050" cy="1009650"/>
          </a:xfrm>
          <a:prstGeom prst="rect">
            <a:avLst/>
          </a:prstGeom>
          <a:noFill/>
        </p:spPr>
        <p:txBody>
          <a:bodyPr wrap="square" lIns="0" rIns="0" tIns="0" bIns="0" anchor="t"/>
          <a:lstStyle/>
          <a:p>
            <a:pPr algn="l">
              <a:lnSpc>
                <a:spcPct val="106000"/>
              </a:lnSpc>
            </a:pPr>
            <a:r>
              <a:rPr sz="2850" b="0" i="0">
                <a:solidFill>
                  <a:srgbClr val="201914"/>
                </a:solidFill>
                <a:latin typeface="Arial"/>
              </a:rPr>
              <a:t>They want it and the process is fighting them.</a:t>
            </a:r>
          </a:p>
        </p:txBody>
      </p:sp>
      <p:sp>
        <p:nvSpPr>
          <p:cNvPr id="7" name="TextBox 6"/>
          <p:cNvSpPr txBox="1"/>
          <p:nvPr/>
        </p:nvSpPr>
        <p:spPr>
          <a:xfrm>
            <a:off x="11715750" y="3067050"/>
            <a:ext cx="5524500" cy="1009650"/>
          </a:xfrm>
          <a:prstGeom prst="rect">
            <a:avLst/>
          </a:prstGeom>
          <a:noFill/>
        </p:spPr>
        <p:txBody>
          <a:bodyPr wrap="square" lIns="0" rIns="0" tIns="0" bIns="0" anchor="t"/>
          <a:lstStyle/>
          <a:p>
            <a:pPr algn="l">
              <a:lnSpc>
                <a:spcPct val="106000"/>
              </a:lnSpc>
            </a:pPr>
            <a:r>
              <a:rPr sz="2850" b="0" i="0">
                <a:solidFill>
                  <a:srgbClr val="201914"/>
                </a:solidFill>
                <a:latin typeface="Arial"/>
              </a:rPr>
              <a:t>Engineer it away. Remove the step, the field, the trip.</a:t>
            </a:r>
          </a:p>
        </p:txBody>
      </p:sp>
      <p:sp>
        <p:nvSpPr>
          <p:cNvPr id="8" name="Rectangle 7"/>
          <p:cNvSpPr/>
          <p:nvPr/>
        </p:nvSpPr>
        <p:spPr>
          <a:xfrm>
            <a:off x="1047750" y="4514850"/>
            <a:ext cx="16192500" cy="194310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2550" y="5191125"/>
            <a:ext cx="3028950" cy="581025"/>
          </a:xfrm>
          <a:prstGeom prst="rect">
            <a:avLst/>
          </a:prstGeom>
          <a:noFill/>
        </p:spPr>
        <p:txBody>
          <a:bodyPr wrap="square" lIns="0" rIns="0" tIns="0" bIns="0" anchor="t"/>
          <a:lstStyle/>
          <a:p>
            <a:pPr algn="l"/>
            <a:r>
              <a:rPr sz="3300" b="1" i="0">
                <a:solidFill>
                  <a:srgbClr val="201914"/>
                </a:solidFill>
                <a:latin typeface="Arial"/>
              </a:rPr>
              <a:t>Doubt</a:t>
            </a:r>
          </a:p>
        </p:txBody>
      </p:sp>
      <p:sp>
        <p:nvSpPr>
          <p:cNvPr id="10" name="TextBox 9"/>
          <p:cNvSpPr txBox="1"/>
          <p:nvPr/>
        </p:nvSpPr>
        <p:spPr>
          <a:xfrm>
            <a:off x="4914900" y="4981575"/>
            <a:ext cx="6496050" cy="1009650"/>
          </a:xfrm>
          <a:prstGeom prst="rect">
            <a:avLst/>
          </a:prstGeom>
          <a:noFill/>
        </p:spPr>
        <p:txBody>
          <a:bodyPr wrap="square" lIns="0" rIns="0" tIns="0" bIns="0" anchor="t"/>
          <a:lstStyle/>
          <a:p>
            <a:pPr algn="l">
              <a:lnSpc>
                <a:spcPct val="106000"/>
              </a:lnSpc>
            </a:pPr>
            <a:r>
              <a:rPr sz="2850" b="0" i="0">
                <a:solidFill>
                  <a:srgbClr val="201914"/>
                </a:solidFill>
                <a:latin typeface="Arial"/>
              </a:rPr>
              <a:t>They want it and are not convinced it is safe.</a:t>
            </a:r>
          </a:p>
        </p:txBody>
      </p:sp>
      <p:sp>
        <p:nvSpPr>
          <p:cNvPr id="11" name="TextBox 10"/>
          <p:cNvSpPr txBox="1"/>
          <p:nvPr/>
        </p:nvSpPr>
        <p:spPr>
          <a:xfrm>
            <a:off x="11715750" y="4743450"/>
            <a:ext cx="5524500" cy="1485900"/>
          </a:xfrm>
          <a:prstGeom prst="rect">
            <a:avLst/>
          </a:prstGeom>
          <a:noFill/>
        </p:spPr>
        <p:txBody>
          <a:bodyPr wrap="square" lIns="0" rIns="0" tIns="0" bIns="0" anchor="t"/>
          <a:lstStyle/>
          <a:p>
            <a:pPr algn="l">
              <a:lnSpc>
                <a:spcPct val="106000"/>
              </a:lnSpc>
            </a:pPr>
            <a:r>
              <a:rPr sz="2850" b="0" i="0">
                <a:solidFill>
                  <a:srgbClr val="201914"/>
                </a:solidFill>
                <a:latin typeface="Arial"/>
              </a:rPr>
              <a:t>Answer with evidence, guarantees and a human being to speak to.</a:t>
            </a:r>
          </a:p>
        </p:txBody>
      </p:sp>
      <p:sp>
        <p:nvSpPr>
          <p:cNvPr id="12" name="Rectangle 11"/>
          <p:cNvSpPr/>
          <p:nvPr/>
        </p:nvSpPr>
        <p:spPr>
          <a:xfrm>
            <a:off x="1047750" y="6667500"/>
            <a:ext cx="16192500" cy="241935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2550" y="7324725"/>
            <a:ext cx="3028950" cy="1104900"/>
          </a:xfrm>
          <a:prstGeom prst="rect">
            <a:avLst/>
          </a:prstGeom>
          <a:noFill/>
        </p:spPr>
        <p:txBody>
          <a:bodyPr wrap="square" lIns="0" rIns="0" tIns="0" bIns="0" anchor="t"/>
          <a:lstStyle/>
          <a:p>
            <a:pPr algn="l"/>
            <a:r>
              <a:rPr sz="3300" b="1" i="0">
                <a:solidFill>
                  <a:srgbClr val="FCF8F1"/>
                </a:solidFill>
                <a:latin typeface="Arial"/>
              </a:rPr>
              <a:t>The wrong customer</a:t>
            </a:r>
          </a:p>
        </p:txBody>
      </p:sp>
      <p:sp>
        <p:nvSpPr>
          <p:cNvPr id="14" name="TextBox 13"/>
          <p:cNvSpPr txBox="1"/>
          <p:nvPr/>
        </p:nvSpPr>
        <p:spPr>
          <a:xfrm>
            <a:off x="4914900" y="7372350"/>
            <a:ext cx="6496050" cy="1009650"/>
          </a:xfrm>
          <a:prstGeom prst="rect">
            <a:avLst/>
          </a:prstGeom>
          <a:noFill/>
        </p:spPr>
        <p:txBody>
          <a:bodyPr wrap="square" lIns="0" rIns="0" tIns="0" bIns="0" anchor="t"/>
          <a:lstStyle/>
          <a:p>
            <a:pPr algn="l">
              <a:lnSpc>
                <a:spcPct val="106000"/>
              </a:lnSpc>
            </a:pPr>
            <a:r>
              <a:rPr sz="2850" b="0" i="0">
                <a:solidFill>
                  <a:srgbClr val="FCF8F1"/>
                </a:solidFill>
                <a:latin typeface="Arial"/>
              </a:rPr>
              <a:t>Somebody who correctly decided this is not for them.</a:t>
            </a:r>
          </a:p>
        </p:txBody>
      </p:sp>
      <p:sp>
        <p:nvSpPr>
          <p:cNvPr id="15" name="TextBox 14"/>
          <p:cNvSpPr txBox="1"/>
          <p:nvPr/>
        </p:nvSpPr>
        <p:spPr>
          <a:xfrm>
            <a:off x="11715750" y="6896100"/>
            <a:ext cx="5524500" cy="1962150"/>
          </a:xfrm>
          <a:prstGeom prst="rect">
            <a:avLst/>
          </a:prstGeom>
          <a:noFill/>
        </p:spPr>
        <p:txBody>
          <a:bodyPr wrap="square" lIns="0" rIns="0" tIns="0" bIns="0" anchor="t"/>
          <a:lstStyle/>
          <a:p>
            <a:pPr algn="l">
              <a:lnSpc>
                <a:spcPct val="106000"/>
              </a:lnSpc>
            </a:pPr>
            <a:r>
              <a:rPr sz="2850" b="0" i="0">
                <a:solidFill>
                  <a:srgbClr val="FCF8F1"/>
                </a:solidFill>
                <a:latin typeface="Arial"/>
              </a:rPr>
              <a:t>Let them leave. Chasing them with a discount converts a clean exit into a refund, a complaint and a bad review.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EF806F"/>
                </a:solidFill>
                <a:latin typeface="Arial"/>
              </a:rPr>
              <a:t>THE TRAP</a:t>
            </a:r>
          </a:p>
        </p:txBody>
      </p:sp>
      <p:sp>
        <p:nvSpPr>
          <p:cNvPr id="3" name="TextBox 2"/>
          <p:cNvSpPr txBox="1"/>
          <p:nvPr/>
        </p:nvSpPr>
        <p:spPr>
          <a:xfrm>
            <a:off x="1714500" y="3390900"/>
            <a:ext cx="14859000" cy="2362200"/>
          </a:xfrm>
          <a:prstGeom prst="rect">
            <a:avLst/>
          </a:prstGeom>
          <a:noFill/>
        </p:spPr>
        <p:txBody>
          <a:bodyPr wrap="square" lIns="0" rIns="0" tIns="0" bIns="0" anchor="t"/>
          <a:lstStyle/>
          <a:p>
            <a:pPr algn="ctr">
              <a:lnSpc>
                <a:spcPct val="88000"/>
              </a:lnSpc>
            </a:pPr>
            <a:r>
              <a:rPr sz="5400" b="1" i="0" spc="-250">
                <a:solidFill>
                  <a:srgbClr val="F5F1E9"/>
                </a:solidFill>
                <a:latin typeface="Arial"/>
              </a:rPr>
              <a:t>Cut the payment form from eleven fields to four and completions rise a fifth. Have you succeeded?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NOT NECESSARILY</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Always read a stage's number next to the stage after it</a:t>
            </a:r>
          </a:p>
        </p:txBody>
      </p:sp>
      <p:sp>
        <p:nvSpPr>
          <p:cNvPr id="4" name="Rectangle 3"/>
          <p:cNvSpPr/>
          <p:nvPr/>
        </p:nvSpPr>
        <p:spPr>
          <a:xfrm>
            <a:off x="1047750"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7750" y="3933825"/>
            <a:ext cx="5143500" cy="600075"/>
          </a:xfrm>
          <a:prstGeom prst="rect">
            <a:avLst/>
          </a:prstGeom>
          <a:noFill/>
        </p:spPr>
        <p:txBody>
          <a:bodyPr wrap="square" lIns="0" rIns="0" tIns="0" bIns="0" anchor="t"/>
          <a:lstStyle/>
          <a:p>
            <a:pPr algn="l"/>
            <a:r>
              <a:rPr sz="3300" b="1" i="0">
                <a:solidFill>
                  <a:srgbClr val="201914"/>
                </a:solidFill>
                <a:latin typeface="Arial"/>
              </a:rPr>
              <a:t>The number that moved</a:t>
            </a:r>
          </a:p>
        </p:txBody>
      </p:sp>
      <p:sp>
        <p:nvSpPr>
          <p:cNvPr id="6" name="TextBox 5"/>
          <p:cNvSpPr txBox="1"/>
          <p:nvPr/>
        </p:nvSpPr>
        <p:spPr>
          <a:xfrm>
            <a:off x="1047750" y="4667250"/>
            <a:ext cx="5143500" cy="1343025"/>
          </a:xfrm>
          <a:prstGeom prst="rect">
            <a:avLst/>
          </a:prstGeom>
          <a:noFill/>
        </p:spPr>
        <p:txBody>
          <a:bodyPr wrap="square" lIns="0" rIns="0" tIns="0" bIns="0" anchor="t"/>
          <a:lstStyle/>
          <a:p>
            <a:pPr algn="l">
              <a:lnSpc>
                <a:spcPct val="105000"/>
              </a:lnSpc>
            </a:pPr>
            <a:r>
              <a:rPr sz="2550" b="0" i="0">
                <a:solidFill>
                  <a:srgbClr val="665B53"/>
                </a:solidFill>
                <a:latin typeface="Arial"/>
              </a:rPr>
              <a:t>Completions rose a fifth. It is visible, countable, and it will be in somebody's review.</a:t>
            </a:r>
          </a:p>
        </p:txBody>
      </p:sp>
      <p:sp>
        <p:nvSpPr>
          <p:cNvPr id="7" name="Rectangle 6"/>
          <p:cNvSpPr/>
          <p:nvPr/>
        </p:nvSpPr>
        <p:spPr>
          <a:xfrm>
            <a:off x="6572250"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2250" y="3933825"/>
            <a:ext cx="5143500" cy="600075"/>
          </a:xfrm>
          <a:prstGeom prst="rect">
            <a:avLst/>
          </a:prstGeom>
          <a:noFill/>
        </p:spPr>
        <p:txBody>
          <a:bodyPr wrap="square" lIns="0" rIns="0" tIns="0" bIns="0" anchor="t"/>
          <a:lstStyle/>
          <a:p>
            <a:pPr algn="l"/>
            <a:r>
              <a:rPr sz="3300" b="1" i="0">
                <a:solidFill>
                  <a:srgbClr val="201914"/>
                </a:solidFill>
                <a:latin typeface="Arial"/>
              </a:rPr>
              <a:t>The field you removed</a:t>
            </a:r>
          </a:p>
        </p:txBody>
      </p:sp>
      <p:sp>
        <p:nvSpPr>
          <p:cNvPr id="9" name="TextBox 8"/>
          <p:cNvSpPr txBox="1"/>
          <p:nvPr/>
        </p:nvSpPr>
        <p:spPr>
          <a:xfrm>
            <a:off x="6572250" y="4667250"/>
            <a:ext cx="5143500" cy="1343025"/>
          </a:xfrm>
          <a:prstGeom prst="rect">
            <a:avLst/>
          </a:prstGeom>
          <a:noFill/>
        </p:spPr>
        <p:txBody>
          <a:bodyPr wrap="square" lIns="0" rIns="0" tIns="0" bIns="0" anchor="t"/>
          <a:lstStyle/>
          <a:p>
            <a:pPr algn="l">
              <a:lnSpc>
                <a:spcPct val="105000"/>
              </a:lnSpc>
            </a:pPr>
            <a:r>
              <a:rPr sz="2550" b="0" i="0">
                <a:solidFill>
                  <a:srgbClr val="665B53"/>
                </a:solidFill>
                <a:latin typeface="Arial"/>
              </a:rPr>
              <a:t>If it verified something — an address, a size, an eligibility — the next stage quietly degrades.</a:t>
            </a:r>
          </a:p>
        </p:txBody>
      </p:sp>
      <p:sp>
        <p:nvSpPr>
          <p:cNvPr id="10" name="Rectangle 9"/>
          <p:cNvSpPr/>
          <p:nvPr/>
        </p:nvSpPr>
        <p:spPr>
          <a:xfrm>
            <a:off x="12096750" y="3629025"/>
            <a:ext cx="3028950" cy="571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96750" y="3933825"/>
            <a:ext cx="5143500" cy="600075"/>
          </a:xfrm>
          <a:prstGeom prst="rect">
            <a:avLst/>
          </a:prstGeom>
          <a:noFill/>
        </p:spPr>
        <p:txBody>
          <a:bodyPr wrap="square" lIns="0" rIns="0" tIns="0" bIns="0" anchor="t"/>
          <a:lstStyle/>
          <a:p>
            <a:pPr algn="l"/>
            <a:r>
              <a:rPr sz="3300" b="1" i="0">
                <a:solidFill>
                  <a:srgbClr val="201914"/>
                </a:solidFill>
                <a:latin typeface="Arial"/>
              </a:rPr>
              <a:t>What shows up later</a:t>
            </a:r>
          </a:p>
        </p:txBody>
      </p:sp>
      <p:sp>
        <p:nvSpPr>
          <p:cNvPr id="12" name="TextBox 11"/>
          <p:cNvSpPr txBox="1"/>
          <p:nvPr/>
        </p:nvSpPr>
        <p:spPr>
          <a:xfrm>
            <a:off x="12096750" y="4667250"/>
            <a:ext cx="5143500" cy="1343025"/>
          </a:xfrm>
          <a:prstGeom prst="rect">
            <a:avLst/>
          </a:prstGeom>
          <a:noFill/>
        </p:spPr>
        <p:txBody>
          <a:bodyPr wrap="square" lIns="0" rIns="0" tIns="0" bIns="0" anchor="t"/>
          <a:lstStyle/>
          <a:p>
            <a:pPr algn="l">
              <a:lnSpc>
                <a:spcPct val="105000"/>
              </a:lnSpc>
            </a:pPr>
            <a:r>
              <a:rPr sz="2550" b="0" i="0">
                <a:solidFill>
                  <a:srgbClr val="665B53"/>
                </a:solidFill>
                <a:latin typeface="Arial"/>
              </a:rPr>
              <a:t>Wrong deliveries, support calls, refunds and returns, in a different team's dashboard.</a:t>
            </a:r>
          </a:p>
        </p:txBody>
      </p:sp>
      <p:sp>
        <p:nvSpPr>
          <p:cNvPr id="13" name="TextBox 12"/>
          <p:cNvSpPr txBox="1"/>
          <p:nvPr/>
        </p:nvSpPr>
        <p:spPr>
          <a:xfrm>
            <a:off x="1047750" y="8439150"/>
            <a:ext cx="16192500" cy="1000125"/>
          </a:xfrm>
          <a:prstGeom prst="rect">
            <a:avLst/>
          </a:prstGeom>
          <a:noFill/>
        </p:spPr>
        <p:txBody>
          <a:bodyPr wrap="square" lIns="0" rIns="0" tIns="0" bIns="0" anchor="t"/>
          <a:lstStyle/>
          <a:p>
            <a:pPr algn="l">
              <a:lnSpc>
                <a:spcPct val="114000"/>
              </a:lnSpc>
            </a:pPr>
            <a:r>
              <a:rPr sz="2550" b="0" i="0">
                <a:solidFill>
                  <a:srgbClr val="362C24"/>
                </a:solidFill>
                <a:latin typeface="Georgia"/>
              </a:rPr>
              <a:t>Some friction is load-bearing. It creates the pause in which a customer confirms an irreversible decision — which is why nobody lets you buy a ₹60,000 phone in one tap with no review screen.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THE BOUNDARY</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Four ways a journey map misleads you</a:t>
            </a:r>
          </a:p>
        </p:txBody>
      </p:sp>
      <p:sp>
        <p:nvSpPr>
          <p:cNvPr id="4" name="Rectangle 3"/>
          <p:cNvSpPr/>
          <p:nvPr/>
        </p:nvSpPr>
        <p:spPr>
          <a:xfrm>
            <a:off x="1047750" y="2838450"/>
            <a:ext cx="16192500" cy="1543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52550" y="3200400"/>
            <a:ext cx="3352800" cy="819150"/>
          </a:xfrm>
          <a:prstGeom prst="rect">
            <a:avLst/>
          </a:prstGeom>
          <a:noFill/>
        </p:spPr>
        <p:txBody>
          <a:bodyPr wrap="square" lIns="0" rIns="0" tIns="0" bIns="0" anchor="t"/>
          <a:lstStyle/>
          <a:p>
            <a:pPr algn="l"/>
            <a:r>
              <a:rPr sz="2400" b="1" i="0">
                <a:solidFill>
                  <a:srgbClr val="201914"/>
                </a:solidFill>
                <a:latin typeface="Arial"/>
              </a:rPr>
              <a:t>1 · The average journey nobody takes</a:t>
            </a:r>
          </a:p>
        </p:txBody>
      </p:sp>
      <p:sp>
        <p:nvSpPr>
          <p:cNvPr id="6" name="TextBox 5"/>
          <p:cNvSpPr txBox="1"/>
          <p:nvPr/>
        </p:nvSpPr>
        <p:spPr>
          <a:xfrm>
            <a:off x="5238750" y="3086100"/>
            <a:ext cx="6172200" cy="1038225"/>
          </a:xfrm>
          <a:prstGeom prst="rect">
            <a:avLst/>
          </a:prstGeom>
          <a:noFill/>
        </p:spPr>
        <p:txBody>
          <a:bodyPr wrap="square" lIns="0" rIns="0" tIns="0" bIns="0" anchor="t"/>
          <a:lstStyle/>
          <a:p>
            <a:pPr algn="l">
              <a:lnSpc>
                <a:spcPct val="106000"/>
              </a:lnSpc>
            </a:pPr>
            <a:r>
              <a:rPr sz="1950" b="0" i="0">
                <a:solidFill>
                  <a:srgbClr val="201914"/>
                </a:solidFill>
                <a:latin typeface="Arial"/>
              </a:rPr>
              <a:t>A first-time buyer and a repeat buyer smoothed into one line. The averaging removes the troughs, which were the only useful part.</a:t>
            </a:r>
          </a:p>
        </p:txBody>
      </p:sp>
      <p:sp>
        <p:nvSpPr>
          <p:cNvPr id="7" name="TextBox 6"/>
          <p:cNvSpPr txBox="1"/>
          <p:nvPr/>
        </p:nvSpPr>
        <p:spPr>
          <a:xfrm>
            <a:off x="11715750" y="3248025"/>
            <a:ext cx="5524500" cy="714375"/>
          </a:xfrm>
          <a:prstGeom prst="rect">
            <a:avLst/>
          </a:prstGeom>
          <a:noFill/>
        </p:spPr>
        <p:txBody>
          <a:bodyPr wrap="square" lIns="0" rIns="0" tIns="0" bIns="0" anchor="t"/>
          <a:lstStyle/>
          <a:p>
            <a:pPr algn="l">
              <a:lnSpc>
                <a:spcPct val="106000"/>
              </a:lnSpc>
            </a:pPr>
            <a:r>
              <a:rPr sz="1950" b="0" i="0">
                <a:solidFill>
                  <a:srgbClr val="201914"/>
                </a:solidFill>
                <a:latin typeface="Arial"/>
              </a:rPr>
              <a:t>The tell: the curve is almost flat. Map one persona, one situation.</a:t>
            </a:r>
          </a:p>
        </p:txBody>
      </p:sp>
      <p:sp>
        <p:nvSpPr>
          <p:cNvPr id="8" name="Rectangle 7"/>
          <p:cNvSpPr/>
          <p:nvPr/>
        </p:nvSpPr>
        <p:spPr>
          <a:xfrm>
            <a:off x="1047750" y="4591050"/>
            <a:ext cx="16192500" cy="1543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2550" y="4953000"/>
            <a:ext cx="3352800" cy="819150"/>
          </a:xfrm>
          <a:prstGeom prst="rect">
            <a:avLst/>
          </a:prstGeom>
          <a:noFill/>
        </p:spPr>
        <p:txBody>
          <a:bodyPr wrap="square" lIns="0" rIns="0" tIns="0" bIns="0" anchor="t"/>
          <a:lstStyle/>
          <a:p>
            <a:pPr algn="l"/>
            <a:r>
              <a:rPr sz="2400" b="1" i="0">
                <a:solidFill>
                  <a:srgbClr val="201914"/>
                </a:solidFill>
                <a:latin typeface="Arial"/>
              </a:rPr>
              <a:t>2 · The happy path only</a:t>
            </a:r>
          </a:p>
        </p:txBody>
      </p:sp>
      <p:sp>
        <p:nvSpPr>
          <p:cNvPr id="10" name="TextBox 9"/>
          <p:cNvSpPr txBox="1"/>
          <p:nvPr/>
        </p:nvSpPr>
        <p:spPr>
          <a:xfrm>
            <a:off x="5238750" y="4838700"/>
            <a:ext cx="6172200" cy="1038225"/>
          </a:xfrm>
          <a:prstGeom prst="rect">
            <a:avLst/>
          </a:prstGeom>
          <a:noFill/>
        </p:spPr>
        <p:txBody>
          <a:bodyPr wrap="square" lIns="0" rIns="0" tIns="0" bIns="0" anchor="t"/>
          <a:lstStyle/>
          <a:p>
            <a:pPr algn="l">
              <a:lnSpc>
                <a:spcPct val="106000"/>
              </a:lnSpc>
            </a:pPr>
            <a:r>
              <a:rPr sz="1950" b="0" i="0">
                <a:solidFill>
                  <a:srgbClr val="201914"/>
                </a:solidFill>
                <a:latin typeface="Arial"/>
              </a:rPr>
              <a:t>The map records what happens when everything works. Your reputation is built on the journey where something breaks.</a:t>
            </a:r>
          </a:p>
        </p:txBody>
      </p:sp>
      <p:sp>
        <p:nvSpPr>
          <p:cNvPr id="11" name="TextBox 10"/>
          <p:cNvSpPr txBox="1"/>
          <p:nvPr/>
        </p:nvSpPr>
        <p:spPr>
          <a:xfrm>
            <a:off x="11715750" y="4676775"/>
            <a:ext cx="5524500" cy="1362075"/>
          </a:xfrm>
          <a:prstGeom prst="rect">
            <a:avLst/>
          </a:prstGeom>
          <a:noFill/>
        </p:spPr>
        <p:txBody>
          <a:bodyPr wrap="square" lIns="0" rIns="0" tIns="0" bIns="0" anchor="t"/>
          <a:lstStyle/>
          <a:p>
            <a:pPr algn="l">
              <a:lnSpc>
                <a:spcPct val="106000"/>
              </a:lnSpc>
            </a:pPr>
            <a:r>
              <a:rPr sz="1950" b="0" i="0">
                <a:solidFill>
                  <a:srgbClr val="201914"/>
                </a:solidFill>
                <a:latin typeface="Arial"/>
              </a:rPr>
              <a:t>The tell: no branch, and no stage called 'something went wrong'. Ask what the customer does at 11pm when the booking does not appear.</a:t>
            </a:r>
          </a:p>
        </p:txBody>
      </p:sp>
      <p:sp>
        <p:nvSpPr>
          <p:cNvPr id="12" name="Rectangle 11"/>
          <p:cNvSpPr/>
          <p:nvPr/>
        </p:nvSpPr>
        <p:spPr>
          <a:xfrm>
            <a:off x="1047750" y="6343650"/>
            <a:ext cx="16192500" cy="1543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2550" y="6515100"/>
            <a:ext cx="3352800" cy="1200150"/>
          </a:xfrm>
          <a:prstGeom prst="rect">
            <a:avLst/>
          </a:prstGeom>
          <a:noFill/>
        </p:spPr>
        <p:txBody>
          <a:bodyPr wrap="square" lIns="0" rIns="0" tIns="0" bIns="0" anchor="t"/>
          <a:lstStyle/>
          <a:p>
            <a:pPr algn="l"/>
            <a:r>
              <a:rPr sz="2400" b="1" i="0">
                <a:solidFill>
                  <a:srgbClr val="201914"/>
                </a:solidFill>
                <a:latin typeface="Arial"/>
              </a:rPr>
              <a:t>3 · Optimising a stage and breaking the whole</a:t>
            </a:r>
          </a:p>
        </p:txBody>
      </p:sp>
      <p:sp>
        <p:nvSpPr>
          <p:cNvPr id="14" name="TextBox 13"/>
          <p:cNvSpPr txBox="1"/>
          <p:nvPr/>
        </p:nvSpPr>
        <p:spPr>
          <a:xfrm>
            <a:off x="5238750" y="6591300"/>
            <a:ext cx="6172200" cy="1038225"/>
          </a:xfrm>
          <a:prstGeom prst="rect">
            <a:avLst/>
          </a:prstGeom>
          <a:noFill/>
        </p:spPr>
        <p:txBody>
          <a:bodyPr wrap="square" lIns="0" rIns="0" tIns="0" bIns="0" anchor="t"/>
          <a:lstStyle/>
          <a:p>
            <a:pPr algn="l">
              <a:lnSpc>
                <a:spcPct val="106000"/>
              </a:lnSpc>
            </a:pPr>
            <a:r>
              <a:rPr sz="1950" b="0" i="0">
                <a:solidFill>
                  <a:srgbClr val="201914"/>
                </a:solidFill>
                <a:latin typeface="Arial"/>
              </a:rPr>
              <a:t>Each team owns one stage and improves its own number, while the journey degrades and every dashboard rises.</a:t>
            </a:r>
          </a:p>
        </p:txBody>
      </p:sp>
      <p:sp>
        <p:nvSpPr>
          <p:cNvPr id="15" name="TextBox 14"/>
          <p:cNvSpPr txBox="1"/>
          <p:nvPr/>
        </p:nvSpPr>
        <p:spPr>
          <a:xfrm>
            <a:off x="11715750" y="6753225"/>
            <a:ext cx="5524500" cy="714375"/>
          </a:xfrm>
          <a:prstGeom prst="rect">
            <a:avLst/>
          </a:prstGeom>
          <a:noFill/>
        </p:spPr>
        <p:txBody>
          <a:bodyPr wrap="square" lIns="0" rIns="0" tIns="0" bIns="0" anchor="t"/>
          <a:lstStyle/>
          <a:p>
            <a:pPr algn="l">
              <a:lnSpc>
                <a:spcPct val="106000"/>
              </a:lnSpc>
            </a:pPr>
            <a:r>
              <a:rPr sz="1950" b="0" i="0">
                <a:solidFill>
                  <a:srgbClr val="201914"/>
                </a:solidFill>
                <a:latin typeface="Arial"/>
              </a:rPr>
              <a:t>The tell: stage metrics all rising while complaints, refunds or repeat purchase fall.</a:t>
            </a:r>
          </a:p>
        </p:txBody>
      </p:sp>
      <p:sp>
        <p:nvSpPr>
          <p:cNvPr id="16" name="Rectangle 15"/>
          <p:cNvSpPr/>
          <p:nvPr/>
        </p:nvSpPr>
        <p:spPr>
          <a:xfrm>
            <a:off x="1047750" y="8096250"/>
            <a:ext cx="16192500" cy="15430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2550" y="8458200"/>
            <a:ext cx="3352800" cy="819150"/>
          </a:xfrm>
          <a:prstGeom prst="rect">
            <a:avLst/>
          </a:prstGeom>
          <a:noFill/>
        </p:spPr>
        <p:txBody>
          <a:bodyPr wrap="square" lIns="0" rIns="0" tIns="0" bIns="0" anchor="t"/>
          <a:lstStyle/>
          <a:p>
            <a:pPr algn="l"/>
            <a:r>
              <a:rPr sz="2400" b="1" i="0">
                <a:solidFill>
                  <a:srgbClr val="201914"/>
                </a:solidFill>
                <a:latin typeface="Arial"/>
              </a:rPr>
              <a:t>4 · Treating every drop-off as a defect</a:t>
            </a:r>
          </a:p>
        </p:txBody>
      </p:sp>
      <p:sp>
        <p:nvSpPr>
          <p:cNvPr id="18" name="TextBox 17"/>
          <p:cNvSpPr txBox="1"/>
          <p:nvPr/>
        </p:nvSpPr>
        <p:spPr>
          <a:xfrm>
            <a:off x="5238750" y="8505825"/>
            <a:ext cx="6172200" cy="714375"/>
          </a:xfrm>
          <a:prstGeom prst="rect">
            <a:avLst/>
          </a:prstGeom>
          <a:noFill/>
        </p:spPr>
        <p:txBody>
          <a:bodyPr wrap="square" lIns="0" rIns="0" tIns="0" bIns="0" anchor="t"/>
          <a:lstStyle/>
          <a:p>
            <a:pPr algn="l">
              <a:lnSpc>
                <a:spcPct val="106000"/>
              </a:lnSpc>
            </a:pPr>
            <a:r>
              <a:rPr sz="1950" b="0" i="0">
                <a:solidFill>
                  <a:srgbClr val="201914"/>
                </a:solidFill>
                <a:latin typeface="Arial"/>
              </a:rPr>
              <a:t>Chasing the customer who correctly decided this was not for them, usually with a discount.</a:t>
            </a:r>
          </a:p>
        </p:txBody>
      </p:sp>
      <p:sp>
        <p:nvSpPr>
          <p:cNvPr id="19" name="TextBox 18"/>
          <p:cNvSpPr txBox="1"/>
          <p:nvPr/>
        </p:nvSpPr>
        <p:spPr>
          <a:xfrm>
            <a:off x="11715750" y="8505825"/>
            <a:ext cx="5524500" cy="714375"/>
          </a:xfrm>
          <a:prstGeom prst="rect">
            <a:avLst/>
          </a:prstGeom>
          <a:noFill/>
        </p:spPr>
        <p:txBody>
          <a:bodyPr wrap="square" lIns="0" rIns="0" tIns="0" bIns="0" anchor="t"/>
          <a:lstStyle/>
          <a:p>
            <a:pPr algn="l">
              <a:lnSpc>
                <a:spcPct val="106000"/>
              </a:lnSpc>
            </a:pPr>
            <a:r>
              <a:rPr sz="1950" b="0" i="0">
                <a:solidFill>
                  <a:srgbClr val="201914"/>
                </a:solidFill>
                <a:latin typeface="Arial"/>
              </a:rPr>
              <a:t>The tell: falling drop-off and rising returns at the same time.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ACTIVITY · ON ONE LANDSCAPE SHEET</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Ten o'clock — map the Tatkal journey</a:t>
            </a:r>
          </a:p>
        </p:txBody>
      </p:sp>
      <p:sp>
        <p:nvSpPr>
          <p:cNvPr id="4" name="TextBox 3"/>
          <p:cNvSpPr txBox="1"/>
          <p:nvPr/>
        </p:nvSpPr>
        <p:spPr>
          <a:xfrm>
            <a:off x="1247775" y="2838450"/>
            <a:ext cx="16192500" cy="1019175"/>
          </a:xfrm>
          <a:prstGeom prst="rect">
            <a:avLst/>
          </a:prstGeom>
          <a:noFill/>
        </p:spPr>
        <p:txBody>
          <a:bodyPr wrap="square" lIns="0" rIns="0" tIns="0" bIns="0" anchor="t"/>
          <a:lstStyle/>
          <a:p>
            <a:pPr algn="l">
              <a:lnSpc>
                <a:spcPct val="105000"/>
              </a:lnSpc>
            </a:pPr>
            <a:r>
              <a:rPr sz="2850" b="1" i="0">
                <a:solidFill>
                  <a:srgbClr val="201914"/>
                </a:solidFill>
                <a:latin typeface="Arial"/>
              </a:rPr>
              <a:t>Map the journey of booking family train tickets for a festival trip — from the first conversation at home, through the Tatkal window at ten, to sitting on the train.</a:t>
            </a:r>
          </a:p>
        </p:txBody>
      </p:sp>
      <p:sp>
        <p:nvSpPr>
          <p:cNvPr id="5" name="TextBox 4"/>
          <p:cNvSpPr txBox="1"/>
          <p:nvPr/>
        </p:nvSpPr>
        <p:spPr>
          <a:xfrm>
            <a:off x="1247775" y="4238625"/>
            <a:ext cx="285750" cy="390525"/>
          </a:xfrm>
          <a:prstGeom prst="rect">
            <a:avLst/>
          </a:prstGeom>
          <a:noFill/>
        </p:spPr>
        <p:txBody>
          <a:bodyPr wrap="square" lIns="0" rIns="0" tIns="0" bIns="0" anchor="t"/>
          <a:lstStyle/>
          <a:p>
            <a:pPr algn="l"/>
            <a:r>
              <a:rPr sz="2400" b="1" i="0">
                <a:solidFill>
                  <a:srgbClr val="C35141"/>
                </a:solidFill>
                <a:latin typeface="Arial"/>
              </a:rPr>
              <a:t>1</a:t>
            </a:r>
          </a:p>
        </p:txBody>
      </p:sp>
      <p:sp>
        <p:nvSpPr>
          <p:cNvPr id="6" name="TextBox 5"/>
          <p:cNvSpPr txBox="1"/>
          <p:nvPr/>
        </p:nvSpPr>
        <p:spPr>
          <a:xfrm>
            <a:off x="1609725" y="4238625"/>
            <a:ext cx="6667500" cy="1266825"/>
          </a:xfrm>
          <a:prstGeom prst="rect">
            <a:avLst/>
          </a:prstGeom>
          <a:noFill/>
        </p:spPr>
        <p:txBody>
          <a:bodyPr wrap="square" lIns="0" rIns="0" tIns="0" bIns="0" anchor="t"/>
          <a:lstStyle/>
          <a:p>
            <a:pPr algn="l">
              <a:lnSpc>
                <a:spcPct val="105000"/>
              </a:lnSpc>
            </a:pPr>
            <a:r>
              <a:rPr sz="2400" b="0" i="0">
                <a:solidFill>
                  <a:srgbClr val="201914"/>
                </a:solidFill>
                <a:latin typeface="Arial"/>
              </a:rPr>
              <a:t>STAGES — at least six, in the customer's words. Start earlier than you think: the journey does not begin at 9:55.</a:t>
            </a:r>
          </a:p>
        </p:txBody>
      </p:sp>
      <p:sp>
        <p:nvSpPr>
          <p:cNvPr id="7" name="TextBox 6"/>
          <p:cNvSpPr txBox="1"/>
          <p:nvPr/>
        </p:nvSpPr>
        <p:spPr>
          <a:xfrm>
            <a:off x="1247775" y="5638800"/>
            <a:ext cx="285750" cy="390525"/>
          </a:xfrm>
          <a:prstGeom prst="rect">
            <a:avLst/>
          </a:prstGeom>
          <a:noFill/>
        </p:spPr>
        <p:txBody>
          <a:bodyPr wrap="square" lIns="0" rIns="0" tIns="0" bIns="0" anchor="t"/>
          <a:lstStyle/>
          <a:p>
            <a:pPr algn="l"/>
            <a:r>
              <a:rPr sz="2400" b="1" i="0">
                <a:solidFill>
                  <a:srgbClr val="C35141"/>
                </a:solidFill>
                <a:latin typeface="Arial"/>
              </a:rPr>
              <a:t>2</a:t>
            </a:r>
          </a:p>
        </p:txBody>
      </p:sp>
      <p:sp>
        <p:nvSpPr>
          <p:cNvPr id="8" name="TextBox 7"/>
          <p:cNvSpPr txBox="1"/>
          <p:nvPr/>
        </p:nvSpPr>
        <p:spPr>
          <a:xfrm>
            <a:off x="1609725" y="5638800"/>
            <a:ext cx="6667500" cy="1266825"/>
          </a:xfrm>
          <a:prstGeom prst="rect">
            <a:avLst/>
          </a:prstGeom>
          <a:noFill/>
        </p:spPr>
        <p:txBody>
          <a:bodyPr wrap="square" lIns="0" rIns="0" tIns="0" bIns="0" anchor="t"/>
          <a:lstStyle/>
          <a:p>
            <a:pPr algn="l">
              <a:lnSpc>
                <a:spcPct val="105000"/>
              </a:lnSpc>
            </a:pPr>
            <a:r>
              <a:rPr sz="2400" b="0" i="0">
                <a:solidFill>
                  <a:srgbClr val="201914"/>
                </a:solidFill>
                <a:latin typeface="Arial"/>
              </a:rPr>
              <a:t>ACTION — what the family physically does, including who is assigned to do it. That allocation is itself a finding.</a:t>
            </a:r>
          </a:p>
        </p:txBody>
      </p:sp>
      <p:sp>
        <p:nvSpPr>
          <p:cNvPr id="9" name="TextBox 8"/>
          <p:cNvSpPr txBox="1"/>
          <p:nvPr/>
        </p:nvSpPr>
        <p:spPr>
          <a:xfrm>
            <a:off x="1247775" y="7038975"/>
            <a:ext cx="285750" cy="390525"/>
          </a:xfrm>
          <a:prstGeom prst="rect">
            <a:avLst/>
          </a:prstGeom>
          <a:noFill/>
        </p:spPr>
        <p:txBody>
          <a:bodyPr wrap="square" lIns="0" rIns="0" tIns="0" bIns="0" anchor="t"/>
          <a:lstStyle/>
          <a:p>
            <a:pPr algn="l"/>
            <a:r>
              <a:rPr sz="2400" b="1" i="0">
                <a:solidFill>
                  <a:srgbClr val="C35141"/>
                </a:solidFill>
                <a:latin typeface="Arial"/>
              </a:rPr>
              <a:t>3</a:t>
            </a:r>
          </a:p>
        </p:txBody>
      </p:sp>
      <p:sp>
        <p:nvSpPr>
          <p:cNvPr id="10" name="TextBox 9"/>
          <p:cNvSpPr txBox="1"/>
          <p:nvPr/>
        </p:nvSpPr>
        <p:spPr>
          <a:xfrm>
            <a:off x="1609725" y="7038975"/>
            <a:ext cx="6667500" cy="1266825"/>
          </a:xfrm>
          <a:prstGeom prst="rect">
            <a:avLst/>
          </a:prstGeom>
          <a:noFill/>
        </p:spPr>
        <p:txBody>
          <a:bodyPr wrap="square" lIns="0" rIns="0" tIns="0" bIns="0" anchor="t"/>
          <a:lstStyle/>
          <a:p>
            <a:pPr algn="l">
              <a:lnSpc>
                <a:spcPct val="105000"/>
              </a:lnSpc>
            </a:pPr>
            <a:r>
              <a:rPr sz="2400" b="0" i="0">
                <a:solidFill>
                  <a:srgbClr val="201914"/>
                </a:solidFill>
                <a:latin typeface="Arial"/>
              </a:rPr>
              <a:t>TOUCHPOINT — a relative's advice, the app, the payment gateway, an agent, a helpline, an enquiry counter.</a:t>
            </a:r>
          </a:p>
        </p:txBody>
      </p:sp>
      <p:sp>
        <p:nvSpPr>
          <p:cNvPr id="11" name="TextBox 10"/>
          <p:cNvSpPr txBox="1"/>
          <p:nvPr/>
        </p:nvSpPr>
        <p:spPr>
          <a:xfrm>
            <a:off x="1247775" y="8439150"/>
            <a:ext cx="285750" cy="390525"/>
          </a:xfrm>
          <a:prstGeom prst="rect">
            <a:avLst/>
          </a:prstGeom>
          <a:noFill/>
        </p:spPr>
        <p:txBody>
          <a:bodyPr wrap="square" lIns="0" rIns="0" tIns="0" bIns="0" anchor="t"/>
          <a:lstStyle/>
          <a:p>
            <a:pPr algn="l"/>
            <a:r>
              <a:rPr sz="2400" b="1" i="0">
                <a:solidFill>
                  <a:srgbClr val="C35141"/>
                </a:solidFill>
                <a:latin typeface="Arial"/>
              </a:rPr>
              <a:t>4</a:t>
            </a:r>
          </a:p>
        </p:txBody>
      </p:sp>
      <p:sp>
        <p:nvSpPr>
          <p:cNvPr id="12" name="TextBox 11"/>
          <p:cNvSpPr txBox="1"/>
          <p:nvPr/>
        </p:nvSpPr>
        <p:spPr>
          <a:xfrm>
            <a:off x="1609725" y="8439150"/>
            <a:ext cx="6667500" cy="876300"/>
          </a:xfrm>
          <a:prstGeom prst="rect">
            <a:avLst/>
          </a:prstGeom>
          <a:noFill/>
        </p:spPr>
        <p:txBody>
          <a:bodyPr wrap="square" lIns="0" rIns="0" tIns="0" bIns="0" anchor="t"/>
          <a:lstStyle/>
          <a:p>
            <a:pPr algn="l">
              <a:lnSpc>
                <a:spcPct val="105000"/>
              </a:lnSpc>
            </a:pPr>
            <a:r>
              <a:rPr sz="2400" b="0" i="0">
                <a:solidFill>
                  <a:srgbClr val="201914"/>
                </a:solidFill>
                <a:latin typeface="Arial"/>
              </a:rPr>
              <a:t>EMOTION — one precise word per stage. Not ‘stressed’ six times.</a:t>
            </a:r>
          </a:p>
        </p:txBody>
      </p:sp>
      <p:sp>
        <p:nvSpPr>
          <p:cNvPr id="13" name="TextBox 12"/>
          <p:cNvSpPr txBox="1"/>
          <p:nvPr/>
        </p:nvSpPr>
        <p:spPr>
          <a:xfrm>
            <a:off x="9629775" y="4238625"/>
            <a:ext cx="285750" cy="390525"/>
          </a:xfrm>
          <a:prstGeom prst="rect">
            <a:avLst/>
          </a:prstGeom>
          <a:noFill/>
        </p:spPr>
        <p:txBody>
          <a:bodyPr wrap="square" lIns="0" rIns="0" tIns="0" bIns="0" anchor="t"/>
          <a:lstStyle/>
          <a:p>
            <a:pPr algn="l"/>
            <a:r>
              <a:rPr sz="2400" b="1" i="0">
                <a:solidFill>
                  <a:srgbClr val="C35141"/>
                </a:solidFill>
                <a:latin typeface="Arial"/>
              </a:rPr>
              <a:t>5</a:t>
            </a:r>
          </a:p>
        </p:txBody>
      </p:sp>
      <p:sp>
        <p:nvSpPr>
          <p:cNvPr id="14" name="TextBox 13"/>
          <p:cNvSpPr txBox="1"/>
          <p:nvPr/>
        </p:nvSpPr>
        <p:spPr>
          <a:xfrm>
            <a:off x="9991725" y="4238625"/>
            <a:ext cx="6667500" cy="1266825"/>
          </a:xfrm>
          <a:prstGeom prst="rect">
            <a:avLst/>
          </a:prstGeom>
          <a:noFill/>
        </p:spPr>
        <p:txBody>
          <a:bodyPr wrap="square" lIns="0" rIns="0" tIns="0" bIns="0" anchor="t"/>
          <a:lstStyle/>
          <a:p>
            <a:pPr algn="l">
              <a:lnSpc>
                <a:spcPct val="105000"/>
              </a:lnSpc>
            </a:pPr>
            <a:r>
              <a:rPr sz="2400" b="0" i="0">
                <a:solidFill>
                  <a:srgbClr val="201914"/>
                </a:solidFill>
                <a:latin typeface="Arial"/>
              </a:rPr>
              <a:t>FRICTION — tagged FUNCTIONAL, INFORMATIONAL or EMOTIONAL. The tag decides the fix.</a:t>
            </a:r>
          </a:p>
        </p:txBody>
      </p:sp>
      <p:sp>
        <p:nvSpPr>
          <p:cNvPr id="15" name="TextBox 14"/>
          <p:cNvSpPr txBox="1"/>
          <p:nvPr/>
        </p:nvSpPr>
        <p:spPr>
          <a:xfrm>
            <a:off x="9629775" y="5638800"/>
            <a:ext cx="285750" cy="390525"/>
          </a:xfrm>
          <a:prstGeom prst="rect">
            <a:avLst/>
          </a:prstGeom>
          <a:noFill/>
        </p:spPr>
        <p:txBody>
          <a:bodyPr wrap="square" lIns="0" rIns="0" tIns="0" bIns="0" anchor="t"/>
          <a:lstStyle/>
          <a:p>
            <a:pPr algn="l"/>
            <a:r>
              <a:rPr sz="2400" b="1" i="0">
                <a:solidFill>
                  <a:srgbClr val="C35141"/>
                </a:solidFill>
                <a:latin typeface="Arial"/>
              </a:rPr>
              <a:t>6</a:t>
            </a:r>
          </a:p>
        </p:txBody>
      </p:sp>
      <p:sp>
        <p:nvSpPr>
          <p:cNvPr id="16" name="TextBox 15"/>
          <p:cNvSpPr txBox="1"/>
          <p:nvPr/>
        </p:nvSpPr>
        <p:spPr>
          <a:xfrm>
            <a:off x="9991725" y="5638800"/>
            <a:ext cx="6667500" cy="1266825"/>
          </a:xfrm>
          <a:prstGeom prst="rect">
            <a:avLst/>
          </a:prstGeom>
          <a:noFill/>
        </p:spPr>
        <p:txBody>
          <a:bodyPr wrap="square" lIns="0" rIns="0" tIns="0" bIns="0" anchor="t"/>
          <a:lstStyle/>
          <a:p>
            <a:pPr algn="l">
              <a:lnSpc>
                <a:spcPct val="105000"/>
              </a:lnSpc>
            </a:pPr>
            <a:r>
              <a:rPr sz="2400" b="0" i="0">
                <a:solidFill>
                  <a:srgbClr val="201914"/>
                </a:solidFill>
                <a:latin typeface="Arial"/>
              </a:rPr>
              <a:t>THE CURVE — a dot above the line for positive, below for negative, joined up. Circle the deepest trough.</a:t>
            </a:r>
          </a:p>
        </p:txBody>
      </p:sp>
      <p:sp>
        <p:nvSpPr>
          <p:cNvPr id="17" name="TextBox 16"/>
          <p:cNvSpPr txBox="1"/>
          <p:nvPr/>
        </p:nvSpPr>
        <p:spPr>
          <a:xfrm>
            <a:off x="9629775" y="7038975"/>
            <a:ext cx="285750" cy="390525"/>
          </a:xfrm>
          <a:prstGeom prst="rect">
            <a:avLst/>
          </a:prstGeom>
          <a:noFill/>
        </p:spPr>
        <p:txBody>
          <a:bodyPr wrap="square" lIns="0" rIns="0" tIns="0" bIns="0" anchor="t"/>
          <a:lstStyle/>
          <a:p>
            <a:pPr algn="l"/>
            <a:r>
              <a:rPr sz="2400" b="1" i="0">
                <a:solidFill>
                  <a:srgbClr val="C35141"/>
                </a:solidFill>
                <a:latin typeface="Arial"/>
              </a:rPr>
              <a:t>7</a:t>
            </a:r>
          </a:p>
        </p:txBody>
      </p:sp>
      <p:sp>
        <p:nvSpPr>
          <p:cNvPr id="18" name="TextBox 17"/>
          <p:cNvSpPr txBox="1"/>
          <p:nvPr/>
        </p:nvSpPr>
        <p:spPr>
          <a:xfrm>
            <a:off x="9991725" y="7038975"/>
            <a:ext cx="6667500" cy="876300"/>
          </a:xfrm>
          <a:prstGeom prst="rect">
            <a:avLst/>
          </a:prstGeom>
          <a:noFill/>
        </p:spPr>
        <p:txBody>
          <a:bodyPr wrap="square" lIns="0" rIns="0" tIns="0" bIns="0" anchor="t"/>
          <a:lstStyle/>
          <a:p>
            <a:pPr algn="l">
              <a:lnSpc>
                <a:spcPct val="105000"/>
              </a:lnSpc>
            </a:pPr>
            <a:r>
              <a:rPr sz="2400" b="0" i="0">
                <a:solidFill>
                  <a:srgbClr val="201914"/>
                </a:solidFill>
                <a:latin typeface="Arial"/>
              </a:rPr>
              <a:t>MARK the moment of truth and the drop-off point. They are usually not the same step.</a:t>
            </a:r>
          </a:p>
        </p:txBody>
      </p:sp>
      <p:sp>
        <p:nvSpPr>
          <p:cNvPr id="19" name="TextBox 18"/>
          <p:cNvSpPr txBox="1"/>
          <p:nvPr/>
        </p:nvSpPr>
        <p:spPr>
          <a:xfrm>
            <a:off x="9629775" y="8048625"/>
            <a:ext cx="285750" cy="390525"/>
          </a:xfrm>
          <a:prstGeom prst="rect">
            <a:avLst/>
          </a:prstGeom>
          <a:noFill/>
        </p:spPr>
        <p:txBody>
          <a:bodyPr wrap="square" lIns="0" rIns="0" tIns="0" bIns="0" anchor="t"/>
          <a:lstStyle/>
          <a:p>
            <a:pPr algn="l"/>
            <a:r>
              <a:rPr sz="2400" b="1" i="0">
                <a:solidFill>
                  <a:srgbClr val="C35141"/>
                </a:solidFill>
                <a:latin typeface="Arial"/>
              </a:rPr>
              <a:t>8</a:t>
            </a:r>
          </a:p>
        </p:txBody>
      </p:sp>
      <p:sp>
        <p:nvSpPr>
          <p:cNvPr id="20" name="TextBox 19"/>
          <p:cNvSpPr txBox="1"/>
          <p:nvPr/>
        </p:nvSpPr>
        <p:spPr>
          <a:xfrm>
            <a:off x="9991725" y="8048625"/>
            <a:ext cx="6667500" cy="1266825"/>
          </a:xfrm>
          <a:prstGeom prst="rect">
            <a:avLst/>
          </a:prstGeom>
          <a:noFill/>
        </p:spPr>
        <p:txBody>
          <a:bodyPr wrap="square" lIns="0" rIns="0" tIns="0" bIns="0" anchor="t"/>
          <a:lstStyle/>
          <a:p>
            <a:pPr algn="l">
              <a:lnSpc>
                <a:spcPct val="105000"/>
              </a:lnSpc>
            </a:pPr>
            <a:r>
              <a:rPr sz="2400" b="0" i="0">
                <a:solidFill>
                  <a:srgbClr val="201914"/>
                </a:solidFill>
                <a:latin typeface="Arial"/>
              </a:rPr>
              <a:t>THE FAILURE BRANCH — the money left the account and no ticket exists. What happens next, and where does that sit on your curve?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YOUR TEMPLATE</a:t>
            </a:r>
          </a:p>
        </p:txBody>
      </p:sp>
      <p:sp>
        <p:nvSpPr>
          <p:cNvPr id="3" name="TextBox 2"/>
          <p:cNvSpPr txBox="1"/>
          <p:nvPr/>
        </p:nvSpPr>
        <p:spPr>
          <a:xfrm>
            <a:off x="1047750" y="1504950"/>
            <a:ext cx="16192500" cy="1685925"/>
          </a:xfrm>
          <a:prstGeom prst="rect">
            <a:avLst/>
          </a:prstGeom>
          <a:noFill/>
        </p:spPr>
        <p:txBody>
          <a:bodyPr wrap="square" lIns="0" rIns="0" tIns="0" bIns="0" anchor="t"/>
          <a:lstStyle/>
          <a:p>
            <a:pPr algn="l">
              <a:lnSpc>
                <a:spcPct val="88600"/>
              </a:lnSpc>
            </a:pPr>
            <a:r>
              <a:rPr sz="5700" b="1" i="0" spc="-142">
                <a:solidFill>
                  <a:srgbClr val="201914"/>
                </a:solidFill>
                <a:latin typeface="Arial"/>
              </a:rPr>
              <a:t>Six stages minimum, and one word per emotion</a:t>
            </a:r>
          </a:p>
        </p:txBody>
      </p:sp>
      <p:sp>
        <p:nvSpPr>
          <p:cNvPr id="4" name="TextBox 3"/>
          <p:cNvSpPr txBox="1"/>
          <p:nvPr/>
        </p:nvSpPr>
        <p:spPr>
          <a:xfrm>
            <a:off x="1276350" y="3629025"/>
            <a:ext cx="2409825" cy="676275"/>
          </a:xfrm>
          <a:prstGeom prst="rect">
            <a:avLst/>
          </a:prstGeom>
          <a:noFill/>
        </p:spPr>
        <p:txBody>
          <a:bodyPr wrap="square" lIns="0" rIns="0" tIns="0" bIns="0" anchor="t"/>
          <a:lstStyle/>
          <a:p>
            <a:pPr algn="l"/>
            <a:r>
              <a:rPr sz="1800" b="1" i="0" spc="150">
                <a:solidFill>
                  <a:srgbClr val="5E534A"/>
                </a:solidFill>
                <a:latin typeface="Arial"/>
              </a:rPr>
              <a:t>#</a:t>
            </a:r>
          </a:p>
        </p:txBody>
      </p:sp>
      <p:sp>
        <p:nvSpPr>
          <p:cNvPr id="5" name="TextBox 4"/>
          <p:cNvSpPr txBox="1"/>
          <p:nvPr/>
        </p:nvSpPr>
        <p:spPr>
          <a:xfrm>
            <a:off x="3971925" y="3629025"/>
            <a:ext cx="2409825" cy="676275"/>
          </a:xfrm>
          <a:prstGeom prst="rect">
            <a:avLst/>
          </a:prstGeom>
          <a:noFill/>
        </p:spPr>
        <p:txBody>
          <a:bodyPr wrap="square" lIns="0" rIns="0" tIns="0" bIns="0" anchor="t"/>
          <a:lstStyle/>
          <a:p>
            <a:pPr algn="l"/>
            <a:r>
              <a:rPr sz="1800" b="1" i="0" spc="150">
                <a:solidFill>
                  <a:srgbClr val="5E534A"/>
                </a:solidFill>
                <a:latin typeface="Arial"/>
              </a:rPr>
              <a:t>STAGE (IN THEIR WORDS)</a:t>
            </a:r>
          </a:p>
        </p:txBody>
      </p:sp>
      <p:sp>
        <p:nvSpPr>
          <p:cNvPr id="6" name="TextBox 5"/>
          <p:cNvSpPr txBox="1"/>
          <p:nvPr/>
        </p:nvSpPr>
        <p:spPr>
          <a:xfrm>
            <a:off x="6667500" y="3629025"/>
            <a:ext cx="2409825" cy="676275"/>
          </a:xfrm>
          <a:prstGeom prst="rect">
            <a:avLst/>
          </a:prstGeom>
          <a:noFill/>
        </p:spPr>
        <p:txBody>
          <a:bodyPr wrap="square" lIns="0" rIns="0" tIns="0" bIns="0" anchor="t"/>
          <a:lstStyle/>
          <a:p>
            <a:pPr algn="l"/>
            <a:r>
              <a:rPr sz="1800" b="1" i="0" spc="150">
                <a:solidFill>
                  <a:srgbClr val="5E534A"/>
                </a:solidFill>
                <a:latin typeface="Arial"/>
              </a:rPr>
              <a:t>ACTION</a:t>
            </a:r>
          </a:p>
        </p:txBody>
      </p:sp>
      <p:sp>
        <p:nvSpPr>
          <p:cNvPr id="7" name="TextBox 6"/>
          <p:cNvSpPr txBox="1"/>
          <p:nvPr/>
        </p:nvSpPr>
        <p:spPr>
          <a:xfrm>
            <a:off x="9363075" y="3629025"/>
            <a:ext cx="2409825" cy="676275"/>
          </a:xfrm>
          <a:prstGeom prst="rect">
            <a:avLst/>
          </a:prstGeom>
          <a:noFill/>
        </p:spPr>
        <p:txBody>
          <a:bodyPr wrap="square" lIns="0" rIns="0" tIns="0" bIns="0" anchor="t"/>
          <a:lstStyle/>
          <a:p>
            <a:pPr algn="l"/>
            <a:r>
              <a:rPr sz="1800" b="1" i="0" spc="150">
                <a:solidFill>
                  <a:srgbClr val="5E534A"/>
                </a:solidFill>
                <a:latin typeface="Arial"/>
              </a:rPr>
              <a:t>TOUCHPOINT</a:t>
            </a:r>
          </a:p>
        </p:txBody>
      </p:sp>
      <p:sp>
        <p:nvSpPr>
          <p:cNvPr id="8" name="TextBox 7"/>
          <p:cNvSpPr txBox="1"/>
          <p:nvPr/>
        </p:nvSpPr>
        <p:spPr>
          <a:xfrm>
            <a:off x="12058650" y="3629025"/>
            <a:ext cx="2409825" cy="676275"/>
          </a:xfrm>
          <a:prstGeom prst="rect">
            <a:avLst/>
          </a:prstGeom>
          <a:noFill/>
        </p:spPr>
        <p:txBody>
          <a:bodyPr wrap="square" lIns="0" rIns="0" tIns="0" bIns="0" anchor="t"/>
          <a:lstStyle/>
          <a:p>
            <a:pPr algn="l"/>
            <a:r>
              <a:rPr sz="1800" b="1" i="0" spc="150">
                <a:solidFill>
                  <a:srgbClr val="5E534A"/>
                </a:solidFill>
                <a:latin typeface="Arial"/>
              </a:rPr>
              <a:t>EMOTION</a:t>
            </a:r>
          </a:p>
        </p:txBody>
      </p:sp>
      <p:sp>
        <p:nvSpPr>
          <p:cNvPr id="9" name="TextBox 8"/>
          <p:cNvSpPr txBox="1"/>
          <p:nvPr/>
        </p:nvSpPr>
        <p:spPr>
          <a:xfrm>
            <a:off x="14754225" y="3629025"/>
            <a:ext cx="2409825" cy="676275"/>
          </a:xfrm>
          <a:prstGeom prst="rect">
            <a:avLst/>
          </a:prstGeom>
          <a:noFill/>
        </p:spPr>
        <p:txBody>
          <a:bodyPr wrap="square" lIns="0" rIns="0" tIns="0" bIns="0" anchor="t"/>
          <a:lstStyle/>
          <a:p>
            <a:pPr algn="l"/>
            <a:r>
              <a:rPr sz="1800" b="1" i="0" spc="150">
                <a:solidFill>
                  <a:srgbClr val="5E534A"/>
                </a:solidFill>
                <a:latin typeface="Arial"/>
              </a:rPr>
              <a:t>FRICTION + TYPE</a:t>
            </a:r>
          </a:p>
        </p:txBody>
      </p:sp>
      <p:sp>
        <p:nvSpPr>
          <p:cNvPr id="10" name="Rectangle 9"/>
          <p:cNvSpPr/>
          <p:nvPr/>
        </p:nvSpPr>
        <p:spPr>
          <a:xfrm>
            <a:off x="1047750" y="4438650"/>
            <a:ext cx="16192500" cy="28575"/>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76350" y="4781550"/>
            <a:ext cx="571500" cy="390525"/>
          </a:xfrm>
          <a:prstGeom prst="rect">
            <a:avLst/>
          </a:prstGeom>
          <a:noFill/>
        </p:spPr>
        <p:txBody>
          <a:bodyPr wrap="square" lIns="0" rIns="0" tIns="0" bIns="0" anchor="t"/>
          <a:lstStyle/>
          <a:p>
            <a:pPr algn="l"/>
            <a:r>
              <a:rPr sz="2400" b="1" i="0">
                <a:solidFill>
                  <a:srgbClr val="C35141"/>
                </a:solidFill>
                <a:latin typeface="Arial"/>
              </a:rPr>
              <a:t>1</a:t>
            </a:r>
          </a:p>
        </p:txBody>
      </p:sp>
      <p:sp>
        <p:nvSpPr>
          <p:cNvPr id="12" name="Rectangle 11"/>
          <p:cNvSpPr/>
          <p:nvPr/>
        </p:nvSpPr>
        <p:spPr>
          <a:xfrm>
            <a:off x="1047750" y="52482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7750" y="5257800"/>
            <a:ext cx="16192500" cy="5715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76350" y="5353050"/>
            <a:ext cx="571500" cy="390525"/>
          </a:xfrm>
          <a:prstGeom prst="rect">
            <a:avLst/>
          </a:prstGeom>
          <a:noFill/>
        </p:spPr>
        <p:txBody>
          <a:bodyPr wrap="square" lIns="0" rIns="0" tIns="0" bIns="0" anchor="t"/>
          <a:lstStyle/>
          <a:p>
            <a:pPr algn="l"/>
            <a:r>
              <a:rPr sz="2400" b="1" i="0">
                <a:solidFill>
                  <a:srgbClr val="C35141"/>
                </a:solidFill>
                <a:latin typeface="Arial"/>
              </a:rPr>
              <a:t>2</a:t>
            </a:r>
          </a:p>
        </p:txBody>
      </p:sp>
      <p:sp>
        <p:nvSpPr>
          <p:cNvPr id="15" name="Rectangle 14"/>
          <p:cNvSpPr/>
          <p:nvPr/>
        </p:nvSpPr>
        <p:spPr>
          <a:xfrm>
            <a:off x="1047750" y="58197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76350" y="5924550"/>
            <a:ext cx="571500" cy="390525"/>
          </a:xfrm>
          <a:prstGeom prst="rect">
            <a:avLst/>
          </a:prstGeom>
          <a:noFill/>
        </p:spPr>
        <p:txBody>
          <a:bodyPr wrap="square" lIns="0" rIns="0" tIns="0" bIns="0" anchor="t"/>
          <a:lstStyle/>
          <a:p>
            <a:pPr algn="l"/>
            <a:r>
              <a:rPr sz="2400" b="1" i="0">
                <a:solidFill>
                  <a:srgbClr val="C35141"/>
                </a:solidFill>
                <a:latin typeface="Arial"/>
              </a:rPr>
              <a:t>3</a:t>
            </a:r>
          </a:p>
        </p:txBody>
      </p:sp>
      <p:sp>
        <p:nvSpPr>
          <p:cNvPr id="17" name="Rectangle 16"/>
          <p:cNvSpPr/>
          <p:nvPr/>
        </p:nvSpPr>
        <p:spPr>
          <a:xfrm>
            <a:off x="1047750" y="63912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47750" y="6400800"/>
            <a:ext cx="16192500" cy="5715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76350" y="6496050"/>
            <a:ext cx="571500" cy="390525"/>
          </a:xfrm>
          <a:prstGeom prst="rect">
            <a:avLst/>
          </a:prstGeom>
          <a:noFill/>
        </p:spPr>
        <p:txBody>
          <a:bodyPr wrap="square" lIns="0" rIns="0" tIns="0" bIns="0" anchor="t"/>
          <a:lstStyle/>
          <a:p>
            <a:pPr algn="l"/>
            <a:r>
              <a:rPr sz="2400" b="1" i="0">
                <a:solidFill>
                  <a:srgbClr val="C35141"/>
                </a:solidFill>
                <a:latin typeface="Arial"/>
              </a:rPr>
              <a:t>4</a:t>
            </a:r>
          </a:p>
        </p:txBody>
      </p:sp>
      <p:sp>
        <p:nvSpPr>
          <p:cNvPr id="20" name="Rectangle 19"/>
          <p:cNvSpPr/>
          <p:nvPr/>
        </p:nvSpPr>
        <p:spPr>
          <a:xfrm>
            <a:off x="1047750" y="69627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6350" y="7067550"/>
            <a:ext cx="571500" cy="390525"/>
          </a:xfrm>
          <a:prstGeom prst="rect">
            <a:avLst/>
          </a:prstGeom>
          <a:noFill/>
        </p:spPr>
        <p:txBody>
          <a:bodyPr wrap="square" lIns="0" rIns="0" tIns="0" bIns="0" anchor="t"/>
          <a:lstStyle/>
          <a:p>
            <a:pPr algn="l"/>
            <a:r>
              <a:rPr sz="2400" b="1" i="0">
                <a:solidFill>
                  <a:srgbClr val="C35141"/>
                </a:solidFill>
                <a:latin typeface="Arial"/>
              </a:rPr>
              <a:t>5</a:t>
            </a:r>
          </a:p>
        </p:txBody>
      </p:sp>
      <p:sp>
        <p:nvSpPr>
          <p:cNvPr id="22" name="Rectangle 21"/>
          <p:cNvSpPr/>
          <p:nvPr/>
        </p:nvSpPr>
        <p:spPr>
          <a:xfrm>
            <a:off x="1047750" y="75342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47750" y="7543800"/>
            <a:ext cx="16192500" cy="571500"/>
          </a:xfrm>
          <a:prstGeom prst="rect">
            <a:avLst/>
          </a:prstGeom>
          <a:solidFill>
            <a:srgbClr val="F3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76350" y="7639050"/>
            <a:ext cx="571500" cy="390525"/>
          </a:xfrm>
          <a:prstGeom prst="rect">
            <a:avLst/>
          </a:prstGeom>
          <a:noFill/>
        </p:spPr>
        <p:txBody>
          <a:bodyPr wrap="square" lIns="0" rIns="0" tIns="0" bIns="0" anchor="t"/>
          <a:lstStyle/>
          <a:p>
            <a:pPr algn="l"/>
            <a:r>
              <a:rPr sz="2400" b="1" i="0">
                <a:solidFill>
                  <a:srgbClr val="C35141"/>
                </a:solidFill>
                <a:latin typeface="Arial"/>
              </a:rPr>
              <a:t>6</a:t>
            </a:r>
          </a:p>
        </p:txBody>
      </p:sp>
      <p:sp>
        <p:nvSpPr>
          <p:cNvPr id="25" name="Rectangle 24"/>
          <p:cNvSpPr/>
          <p:nvPr/>
        </p:nvSpPr>
        <p:spPr>
          <a:xfrm>
            <a:off x="1047750" y="8105775"/>
            <a:ext cx="16192500" cy="9525"/>
          </a:xfrm>
          <a:prstGeom prst="rect">
            <a:avLst/>
          </a:prstGeom>
          <a:solidFill>
            <a:srgbClr val="D8C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7750" y="8439150"/>
            <a:ext cx="16192500" cy="1104900"/>
          </a:xfrm>
          <a:prstGeom prst="rect">
            <a:avLst/>
          </a:prstGeom>
          <a:noFill/>
        </p:spPr>
        <p:txBody>
          <a:bodyPr wrap="square" lIns="0" rIns="0" tIns="0" bIns="0" anchor="t"/>
          <a:lstStyle/>
          <a:p>
            <a:pPr algn="l">
              <a:lnSpc>
                <a:spcPct val="114000"/>
              </a:lnSpc>
            </a:pPr>
            <a:r>
              <a:rPr sz="2850" b="1" i="0">
                <a:solidFill>
                  <a:srgbClr val="50453D"/>
                </a:solidFill>
                <a:latin typeface="Arial"/>
              </a:rPr>
              <a:t>Then draw the curve underneath the grid — above the line for positive, below for negative — and circle the deepest trough.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THREE WORKED EXAMPLES</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The trough is not the moment of truth</a:t>
            </a:r>
          </a:p>
        </p:txBody>
      </p:sp>
      <p:sp>
        <p:nvSpPr>
          <p:cNvPr id="4" name="Rectangle 3"/>
          <p:cNvSpPr/>
          <p:nvPr/>
        </p:nvSpPr>
        <p:spPr>
          <a:xfrm>
            <a:off x="1047750" y="2838450"/>
            <a:ext cx="5162550" cy="6800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257550"/>
            <a:ext cx="4324350" cy="457200"/>
          </a:xfrm>
          <a:prstGeom prst="rect">
            <a:avLst/>
          </a:prstGeom>
          <a:noFill/>
        </p:spPr>
        <p:txBody>
          <a:bodyPr wrap="square" lIns="0" rIns="0" tIns="0" bIns="0" anchor="t"/>
          <a:lstStyle/>
          <a:p>
            <a:pPr algn="l"/>
            <a:r>
              <a:rPr sz="2400" b="1" i="0">
                <a:solidFill>
                  <a:srgbClr val="201914"/>
                </a:solidFill>
                <a:latin typeface="Arial"/>
              </a:rPr>
              <a:t>Booking a sleeper bus</a:t>
            </a:r>
          </a:p>
        </p:txBody>
      </p:sp>
      <p:sp>
        <p:nvSpPr>
          <p:cNvPr id="6" name="TextBox 5"/>
          <p:cNvSpPr txBox="1"/>
          <p:nvPr/>
        </p:nvSpPr>
        <p:spPr>
          <a:xfrm>
            <a:off x="1466850" y="3962400"/>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Trough: </a:t>
            </a:r>
            <a:r>
              <a:rPr sz="1800" b="0" i="0">
                <a:solidFill>
                  <a:srgbClr val="201914"/>
                </a:solidFill>
                <a:latin typeface="Arial"/>
              </a:rPr>
              <a:t>standing at the pick-up point at 9pm with no idea whether the bus is coming.</a:t>
            </a:r>
          </a:p>
        </p:txBody>
      </p:sp>
      <p:sp>
        <p:nvSpPr>
          <p:cNvPr id="7" name="TextBox 6"/>
          <p:cNvSpPr txBox="1"/>
          <p:nvPr/>
        </p:nvSpPr>
        <p:spPr>
          <a:xfrm>
            <a:off x="1466850" y="5076825"/>
            <a:ext cx="4324350" cy="666750"/>
          </a:xfrm>
          <a:prstGeom prst="rect">
            <a:avLst/>
          </a:prstGeom>
          <a:noFill/>
        </p:spPr>
        <p:txBody>
          <a:bodyPr wrap="square" lIns="0" rIns="0" tIns="0" bIns="0" anchor="t"/>
          <a:lstStyle/>
          <a:p>
            <a:pPr algn="l">
              <a:lnSpc>
                <a:spcPct val="104000"/>
              </a:lnSpc>
            </a:pPr>
            <a:r>
              <a:rPr sz="1800" b="1" i="0">
                <a:solidFill>
                  <a:srgbClr val="201914"/>
                </a:solidFill>
                <a:latin typeface="Arial"/>
              </a:rPr>
              <a:t>Moment of truth: </a:t>
            </a:r>
            <a:r>
              <a:rPr sz="1800" b="0" i="0">
                <a:solidFill>
                  <a:srgbClr val="201914"/>
                </a:solidFill>
                <a:latin typeface="Arial"/>
              </a:rPr>
              <a:t>the pick-up, not the booking.</a:t>
            </a:r>
          </a:p>
        </p:txBody>
      </p:sp>
      <p:sp>
        <p:nvSpPr>
          <p:cNvPr id="8" name="TextBox 7"/>
          <p:cNvSpPr txBox="1"/>
          <p:nvPr/>
        </p:nvSpPr>
        <p:spPr>
          <a:xfrm>
            <a:off x="1466850" y="5895975"/>
            <a:ext cx="4324350" cy="666750"/>
          </a:xfrm>
          <a:prstGeom prst="rect">
            <a:avLst/>
          </a:prstGeom>
          <a:noFill/>
        </p:spPr>
        <p:txBody>
          <a:bodyPr wrap="square" lIns="0" rIns="0" tIns="0" bIns="0" anchor="t"/>
          <a:lstStyle/>
          <a:p>
            <a:pPr algn="l">
              <a:lnSpc>
                <a:spcPct val="104000"/>
              </a:lnSpc>
            </a:pPr>
            <a:r>
              <a:rPr sz="1800" b="1" i="0">
                <a:solidFill>
                  <a:srgbClr val="201914"/>
                </a:solidFill>
                <a:latin typeface="Arial"/>
              </a:rPr>
              <a:t>Drop-off: </a:t>
            </a:r>
            <a:r>
              <a:rPr sz="1800" b="0" i="0">
                <a:solidFill>
                  <a:srgbClr val="201914"/>
                </a:solidFill>
                <a:latin typeface="Arial"/>
              </a:rPr>
              <a:t>between comparing and choosing — too many similar operators.</a:t>
            </a:r>
          </a:p>
        </p:txBody>
      </p:sp>
      <p:sp>
        <p:nvSpPr>
          <p:cNvPr id="9" name="Rectangle 8"/>
          <p:cNvSpPr/>
          <p:nvPr/>
        </p:nvSpPr>
        <p:spPr>
          <a:xfrm>
            <a:off x="1466850" y="7724775"/>
            <a:ext cx="4210050" cy="19050"/>
          </a:xfrm>
          <a:prstGeom prst="rect">
            <a:avLst/>
          </a:prstGeom>
          <a:solidFill>
            <a:srgbClr val="C8B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6850" y="8048625"/>
            <a:ext cx="4324350" cy="438150"/>
          </a:xfrm>
          <a:prstGeom prst="rect">
            <a:avLst/>
          </a:prstGeom>
          <a:noFill/>
        </p:spPr>
        <p:txBody>
          <a:bodyPr wrap="square" lIns="0" rIns="0" tIns="0" bIns="0" anchor="t"/>
          <a:lstStyle/>
          <a:p>
            <a:pPr algn="l"/>
            <a:r>
              <a:rPr sz="2250" b="1" i="0">
                <a:solidFill>
                  <a:srgbClr val="A8372A"/>
                </a:solidFill>
                <a:latin typeface="Arial"/>
              </a:rPr>
              <a:t>Trust friction</a:t>
            </a:r>
          </a:p>
        </p:txBody>
      </p:sp>
      <p:sp>
        <p:nvSpPr>
          <p:cNvPr id="11" name="TextBox 10"/>
          <p:cNvSpPr txBox="1"/>
          <p:nvPr/>
        </p:nvSpPr>
        <p:spPr>
          <a:xfrm>
            <a:off x="1466850" y="8582025"/>
            <a:ext cx="4324350" cy="676275"/>
          </a:xfrm>
          <a:prstGeom prst="rect">
            <a:avLst/>
          </a:prstGeom>
          <a:noFill/>
        </p:spPr>
        <p:txBody>
          <a:bodyPr wrap="square" lIns="0" rIns="0" tIns="0" bIns="0" anchor="t"/>
          <a:lstStyle/>
          <a:p>
            <a:pPr algn="l">
              <a:lnSpc>
                <a:spcPct val="105000"/>
              </a:lnSpc>
            </a:pPr>
            <a:r>
              <a:rPr sz="1800" b="0" i="0">
                <a:solidFill>
                  <a:srgbClr val="564B42"/>
                </a:solidFill>
                <a:latin typeface="Arial"/>
              </a:rPr>
              <a:t>Real-time tracking, which mattered more than any improvement to the booking screen.</a:t>
            </a:r>
          </a:p>
        </p:txBody>
      </p:sp>
      <p:sp>
        <p:nvSpPr>
          <p:cNvPr id="12" name="Rectangle 11"/>
          <p:cNvSpPr/>
          <p:nvPr/>
        </p:nvSpPr>
        <p:spPr>
          <a:xfrm>
            <a:off x="6553200" y="2838450"/>
            <a:ext cx="5162550" cy="68008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72300" y="3257550"/>
            <a:ext cx="4324350" cy="457200"/>
          </a:xfrm>
          <a:prstGeom prst="rect">
            <a:avLst/>
          </a:prstGeom>
          <a:noFill/>
        </p:spPr>
        <p:txBody>
          <a:bodyPr wrap="square" lIns="0" rIns="0" tIns="0" bIns="0" anchor="t"/>
          <a:lstStyle/>
          <a:p>
            <a:pPr algn="l"/>
            <a:r>
              <a:rPr sz="2400" b="1" i="0">
                <a:solidFill>
                  <a:srgbClr val="F5F1E9"/>
                </a:solidFill>
                <a:latin typeface="Arial"/>
              </a:rPr>
              <a:t>A cracked phone screen</a:t>
            </a:r>
          </a:p>
        </p:txBody>
      </p:sp>
      <p:sp>
        <p:nvSpPr>
          <p:cNvPr id="14" name="TextBox 13"/>
          <p:cNvSpPr txBox="1"/>
          <p:nvPr/>
        </p:nvSpPr>
        <p:spPr>
          <a:xfrm>
            <a:off x="6972300" y="3962400"/>
            <a:ext cx="4324350" cy="962025"/>
          </a:xfrm>
          <a:prstGeom prst="rect">
            <a:avLst/>
          </a:prstGeom>
          <a:noFill/>
        </p:spPr>
        <p:txBody>
          <a:bodyPr wrap="square" lIns="0" rIns="0" tIns="0" bIns="0" anchor="t"/>
          <a:lstStyle/>
          <a:p>
            <a:pPr algn="l">
              <a:lnSpc>
                <a:spcPct val="104000"/>
              </a:lnSpc>
            </a:pPr>
            <a:r>
              <a:rPr sz="1800" b="1" i="0">
                <a:solidFill>
                  <a:srgbClr val="F5F1E9"/>
                </a:solidFill>
                <a:latin typeface="Arial"/>
              </a:rPr>
              <a:t>Trough: </a:t>
            </a:r>
            <a:r>
              <a:rPr sz="1800" b="0" i="0">
                <a:solidFill>
                  <a:srgbClr val="F5F1E9"/>
                </a:solidFill>
                <a:latin typeface="Arial"/>
              </a:rPr>
              <a:t>handing an unlocked device containing everything you own to a stranger.</a:t>
            </a:r>
          </a:p>
        </p:txBody>
      </p:sp>
      <p:sp>
        <p:nvSpPr>
          <p:cNvPr id="15" name="TextBox 14"/>
          <p:cNvSpPr txBox="1"/>
          <p:nvPr/>
        </p:nvSpPr>
        <p:spPr>
          <a:xfrm>
            <a:off x="6972300" y="5076825"/>
            <a:ext cx="4324350" cy="666750"/>
          </a:xfrm>
          <a:prstGeom prst="rect">
            <a:avLst/>
          </a:prstGeom>
          <a:noFill/>
        </p:spPr>
        <p:txBody>
          <a:bodyPr wrap="square" lIns="0" rIns="0" tIns="0" bIns="0" anchor="t"/>
          <a:lstStyle/>
          <a:p>
            <a:pPr algn="l">
              <a:lnSpc>
                <a:spcPct val="104000"/>
              </a:lnSpc>
            </a:pPr>
            <a:r>
              <a:rPr sz="1800" b="1" i="0">
                <a:solidFill>
                  <a:srgbClr val="F5F1E9"/>
                </a:solidFill>
                <a:latin typeface="Arial"/>
              </a:rPr>
              <a:t>Moment of truth: </a:t>
            </a:r>
            <a:r>
              <a:rPr sz="1800" b="0" i="0">
                <a:solidFill>
                  <a:srgbClr val="F5F1E9"/>
                </a:solidFill>
                <a:latin typeface="Arial"/>
              </a:rPr>
              <a:t>the handover. Trust is decided before any work is done.</a:t>
            </a:r>
          </a:p>
        </p:txBody>
      </p:sp>
      <p:sp>
        <p:nvSpPr>
          <p:cNvPr id="16" name="TextBox 15"/>
          <p:cNvSpPr txBox="1"/>
          <p:nvPr/>
        </p:nvSpPr>
        <p:spPr>
          <a:xfrm>
            <a:off x="6972300" y="5895975"/>
            <a:ext cx="4324350" cy="666750"/>
          </a:xfrm>
          <a:prstGeom prst="rect">
            <a:avLst/>
          </a:prstGeom>
          <a:noFill/>
        </p:spPr>
        <p:txBody>
          <a:bodyPr wrap="square" lIns="0" rIns="0" tIns="0" bIns="0" anchor="t"/>
          <a:lstStyle/>
          <a:p>
            <a:pPr algn="l">
              <a:lnSpc>
                <a:spcPct val="104000"/>
              </a:lnSpc>
            </a:pPr>
            <a:r>
              <a:rPr sz="1800" b="1" i="0">
                <a:solidFill>
                  <a:srgbClr val="F5F1E9"/>
                </a:solidFill>
                <a:latin typeface="Arial"/>
              </a:rPr>
              <a:t>Drop-off: </a:t>
            </a:r>
            <a:r>
              <a:rPr sz="1800" b="0" i="0">
                <a:solidFill>
                  <a:srgbClr val="F5F1E9"/>
                </a:solidFill>
                <a:latin typeface="Arial"/>
              </a:rPr>
              <a:t>at the quote — half leave to ‘think about it’.</a:t>
            </a:r>
          </a:p>
        </p:txBody>
      </p:sp>
      <p:sp>
        <p:nvSpPr>
          <p:cNvPr id="17" name="Rectangle 16"/>
          <p:cNvSpPr/>
          <p:nvPr/>
        </p:nvSpPr>
        <p:spPr>
          <a:xfrm>
            <a:off x="6972300" y="7429500"/>
            <a:ext cx="4210050" cy="19050"/>
          </a:xfrm>
          <a:prstGeom prst="rect">
            <a:avLst/>
          </a:prstGeom>
          <a:solidFill>
            <a:srgbClr val="504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72300" y="7753350"/>
            <a:ext cx="4324350" cy="438150"/>
          </a:xfrm>
          <a:prstGeom prst="rect">
            <a:avLst/>
          </a:prstGeom>
          <a:noFill/>
        </p:spPr>
        <p:txBody>
          <a:bodyPr wrap="square" lIns="0" rIns="0" tIns="0" bIns="0" anchor="t"/>
          <a:lstStyle/>
          <a:p>
            <a:pPr algn="l"/>
            <a:r>
              <a:rPr sz="2250" b="1" i="0">
                <a:solidFill>
                  <a:srgbClr val="FFAF9F"/>
                </a:solidFill>
                <a:latin typeface="Arial"/>
              </a:rPr>
              <a:t>Trust friction</a:t>
            </a:r>
          </a:p>
        </p:txBody>
      </p:sp>
      <p:sp>
        <p:nvSpPr>
          <p:cNvPr id="19" name="TextBox 18"/>
          <p:cNvSpPr txBox="1"/>
          <p:nvPr/>
        </p:nvSpPr>
        <p:spPr>
          <a:xfrm>
            <a:off x="6972300" y="8286750"/>
            <a:ext cx="4324350" cy="971550"/>
          </a:xfrm>
          <a:prstGeom prst="rect">
            <a:avLst/>
          </a:prstGeom>
          <a:noFill/>
        </p:spPr>
        <p:txBody>
          <a:bodyPr wrap="square" lIns="0" rIns="0" tIns="0" bIns="0" anchor="t"/>
          <a:lstStyle/>
          <a:p>
            <a:pPr algn="l">
              <a:lnSpc>
                <a:spcPct val="105000"/>
              </a:lnSpc>
            </a:pPr>
            <a:r>
              <a:rPr sz="1800" b="0" i="0">
                <a:solidFill>
                  <a:srgbClr val="C8BBB1"/>
                </a:solidFill>
                <a:latin typeface="Arial"/>
              </a:rPr>
              <a:t>Repair done in front of the customer, and a photograph of the part being fitted. Most of this is still not standard.</a:t>
            </a:r>
          </a:p>
        </p:txBody>
      </p:sp>
      <p:sp>
        <p:nvSpPr>
          <p:cNvPr id="20" name="Rectangle 19"/>
          <p:cNvSpPr/>
          <p:nvPr/>
        </p:nvSpPr>
        <p:spPr>
          <a:xfrm>
            <a:off x="12058650" y="2838450"/>
            <a:ext cx="5162550" cy="6800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477750" y="3257550"/>
            <a:ext cx="4324350" cy="457200"/>
          </a:xfrm>
          <a:prstGeom prst="rect">
            <a:avLst/>
          </a:prstGeom>
          <a:noFill/>
        </p:spPr>
        <p:txBody>
          <a:bodyPr wrap="square" lIns="0" rIns="0" tIns="0" bIns="0" anchor="t"/>
          <a:lstStyle/>
          <a:p>
            <a:pPr algn="l"/>
            <a:r>
              <a:rPr sz="2400" b="1" i="0">
                <a:solidFill>
                  <a:srgbClr val="201914"/>
                </a:solidFill>
                <a:latin typeface="Arial"/>
              </a:rPr>
              <a:t>Applying for a passport</a:t>
            </a:r>
          </a:p>
        </p:txBody>
      </p:sp>
      <p:sp>
        <p:nvSpPr>
          <p:cNvPr id="22" name="TextBox 21"/>
          <p:cNvSpPr txBox="1"/>
          <p:nvPr/>
        </p:nvSpPr>
        <p:spPr>
          <a:xfrm>
            <a:off x="12477750" y="3962400"/>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Trough: </a:t>
            </a:r>
            <a:r>
              <a:rPr sz="1800" b="0" i="0">
                <a:solidFill>
                  <a:srgbClr val="201914"/>
                </a:solidFill>
                <a:latin typeface="Arial"/>
              </a:rPr>
              <a:t>the document requirement discovered late — the address proof that does not match.</a:t>
            </a:r>
          </a:p>
        </p:txBody>
      </p:sp>
      <p:sp>
        <p:nvSpPr>
          <p:cNvPr id="23" name="TextBox 22"/>
          <p:cNvSpPr txBox="1"/>
          <p:nvPr/>
        </p:nvSpPr>
        <p:spPr>
          <a:xfrm>
            <a:off x="12477750" y="5076825"/>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Moment of truth: </a:t>
            </a:r>
            <a:r>
              <a:rPr sz="1800" b="0" i="0">
                <a:solidFill>
                  <a:srgbClr val="201914"/>
                </a:solidFill>
                <a:latin typeface="Arial"/>
              </a:rPr>
              <a:t>the verification counter, where one mismatch means a second trip.</a:t>
            </a:r>
          </a:p>
        </p:txBody>
      </p:sp>
      <p:sp>
        <p:nvSpPr>
          <p:cNvPr id="24" name="TextBox 23"/>
          <p:cNvSpPr txBox="1"/>
          <p:nvPr/>
        </p:nvSpPr>
        <p:spPr>
          <a:xfrm>
            <a:off x="12477750" y="6191250"/>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Drop-off: </a:t>
            </a:r>
            <a:r>
              <a:rPr sz="1800" b="0" i="0">
                <a:solidFill>
                  <a:srgbClr val="201914"/>
                </a:solidFill>
                <a:latin typeface="Arial"/>
              </a:rPr>
              <a:t>before the appointment is booked — the list defeats people for weeks.</a:t>
            </a:r>
          </a:p>
        </p:txBody>
      </p:sp>
      <p:sp>
        <p:nvSpPr>
          <p:cNvPr id="25" name="Rectangle 24"/>
          <p:cNvSpPr/>
          <p:nvPr/>
        </p:nvSpPr>
        <p:spPr>
          <a:xfrm>
            <a:off x="12477750" y="7429500"/>
            <a:ext cx="4210050" cy="19050"/>
          </a:xfrm>
          <a:prstGeom prst="rect">
            <a:avLst/>
          </a:prstGeom>
          <a:solidFill>
            <a:srgbClr val="C8B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477750" y="7753350"/>
            <a:ext cx="4324350" cy="438150"/>
          </a:xfrm>
          <a:prstGeom prst="rect">
            <a:avLst/>
          </a:prstGeom>
          <a:noFill/>
        </p:spPr>
        <p:txBody>
          <a:bodyPr wrap="square" lIns="0" rIns="0" tIns="0" bIns="0" anchor="t"/>
          <a:lstStyle/>
          <a:p>
            <a:pPr algn="l"/>
            <a:r>
              <a:rPr sz="2250" b="1" i="0">
                <a:solidFill>
                  <a:srgbClr val="A8372A"/>
                </a:solidFill>
                <a:latin typeface="Arial"/>
              </a:rPr>
              <a:t>Functional friction</a:t>
            </a:r>
          </a:p>
        </p:txBody>
      </p:sp>
      <p:sp>
        <p:nvSpPr>
          <p:cNvPr id="27" name="TextBox 26"/>
          <p:cNvSpPr txBox="1"/>
          <p:nvPr/>
        </p:nvSpPr>
        <p:spPr>
          <a:xfrm>
            <a:off x="12477750" y="8286750"/>
            <a:ext cx="4324350" cy="971550"/>
          </a:xfrm>
          <a:prstGeom prst="rect">
            <a:avLst/>
          </a:prstGeom>
          <a:noFill/>
        </p:spPr>
        <p:txBody>
          <a:bodyPr wrap="square" lIns="0" rIns="0" tIns="0" bIns="0" anchor="t"/>
          <a:lstStyle/>
          <a:p>
            <a:pPr algn="l">
              <a:lnSpc>
                <a:spcPct val="105000"/>
              </a:lnSpc>
            </a:pPr>
            <a:r>
              <a:rPr sz="1800" b="0" i="0">
                <a:solidFill>
                  <a:srgbClr val="564B42"/>
                </a:solidFill>
                <a:latin typeface="Arial"/>
              </a:rPr>
              <a:t>Online appointments were the genuine win. The agent industry is a map of unclear instructions.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THREE MORE, IN OTHER CATEGORIES</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The deepest trough sits after the money</a:t>
            </a:r>
          </a:p>
        </p:txBody>
      </p:sp>
      <p:sp>
        <p:nvSpPr>
          <p:cNvPr id="4" name="Rectangle 3"/>
          <p:cNvSpPr/>
          <p:nvPr/>
        </p:nvSpPr>
        <p:spPr>
          <a:xfrm>
            <a:off x="1047750" y="2838450"/>
            <a:ext cx="5162550" cy="6800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6850" y="3257550"/>
            <a:ext cx="4324350" cy="552450"/>
          </a:xfrm>
          <a:prstGeom prst="rect">
            <a:avLst/>
          </a:prstGeom>
          <a:noFill/>
        </p:spPr>
        <p:txBody>
          <a:bodyPr wrap="square" lIns="0" rIns="0" tIns="0" bIns="0" anchor="t"/>
          <a:lstStyle/>
          <a:p>
            <a:pPr algn="l"/>
            <a:r>
              <a:rPr sz="3000" b="1" i="0">
                <a:solidFill>
                  <a:srgbClr val="201914"/>
                </a:solidFill>
                <a:latin typeface="Arial"/>
              </a:rPr>
              <a:t>A two-wheeler on EMI</a:t>
            </a:r>
          </a:p>
        </p:txBody>
      </p:sp>
      <p:sp>
        <p:nvSpPr>
          <p:cNvPr id="6" name="TextBox 5"/>
          <p:cNvSpPr txBox="1"/>
          <p:nvPr/>
        </p:nvSpPr>
        <p:spPr>
          <a:xfrm>
            <a:off x="1466850" y="4057650"/>
            <a:ext cx="4324350" cy="1257300"/>
          </a:xfrm>
          <a:prstGeom prst="rect">
            <a:avLst/>
          </a:prstGeom>
          <a:noFill/>
        </p:spPr>
        <p:txBody>
          <a:bodyPr wrap="square" lIns="0" rIns="0" tIns="0" bIns="0" anchor="t"/>
          <a:lstStyle/>
          <a:p>
            <a:pPr algn="l">
              <a:lnSpc>
                <a:spcPct val="104000"/>
              </a:lnSpc>
            </a:pPr>
            <a:r>
              <a:rPr sz="1800" b="1" i="0">
                <a:solidFill>
                  <a:srgbClr val="201914"/>
                </a:solidFill>
                <a:latin typeface="Arial"/>
              </a:rPr>
              <a:t>Trough: </a:t>
            </a:r>
            <a:r>
              <a:rPr sz="1800" b="0" i="0">
                <a:solidFill>
                  <a:srgbClr val="201914"/>
                </a:solidFill>
                <a:latin typeface="Arial"/>
              </a:rPr>
              <a:t>the finance desk — fees, insurance bundles and a rate he cannot evaluate, negotiated in front of the uncle who came along.</a:t>
            </a:r>
          </a:p>
        </p:txBody>
      </p:sp>
      <p:sp>
        <p:nvSpPr>
          <p:cNvPr id="7" name="TextBox 6"/>
          <p:cNvSpPr txBox="1"/>
          <p:nvPr/>
        </p:nvSpPr>
        <p:spPr>
          <a:xfrm>
            <a:off x="1466850" y="5467350"/>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Moment of truth: </a:t>
            </a:r>
            <a:r>
              <a:rPr sz="1800" b="0" i="0">
                <a:solidFill>
                  <a:srgbClr val="201914"/>
                </a:solidFill>
                <a:latin typeface="Arial"/>
              </a:rPr>
              <a:t>that same conversation, where a proud purchase can become a humiliation about affordability.</a:t>
            </a:r>
          </a:p>
        </p:txBody>
      </p:sp>
      <p:sp>
        <p:nvSpPr>
          <p:cNvPr id="8" name="Rectangle 7"/>
          <p:cNvSpPr/>
          <p:nvPr/>
        </p:nvSpPr>
        <p:spPr>
          <a:xfrm>
            <a:off x="1466850" y="7381875"/>
            <a:ext cx="4210050" cy="19050"/>
          </a:xfrm>
          <a:prstGeom prst="rect">
            <a:avLst/>
          </a:prstGeom>
          <a:solidFill>
            <a:srgbClr val="C8B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6850" y="7705725"/>
            <a:ext cx="4324350" cy="485775"/>
          </a:xfrm>
          <a:prstGeom prst="rect">
            <a:avLst/>
          </a:prstGeom>
          <a:noFill/>
        </p:spPr>
        <p:txBody>
          <a:bodyPr wrap="square" lIns="0" rIns="0" tIns="0" bIns="0" anchor="t"/>
          <a:lstStyle/>
          <a:p>
            <a:pPr algn="l"/>
            <a:r>
              <a:rPr sz="2550" b="1" i="0">
                <a:solidFill>
                  <a:srgbClr val="A8372A"/>
                </a:solidFill>
                <a:latin typeface="Arial"/>
              </a:rPr>
              <a:t>Emotional friction</a:t>
            </a:r>
          </a:p>
        </p:txBody>
      </p:sp>
      <p:sp>
        <p:nvSpPr>
          <p:cNvPr id="10" name="TextBox 9"/>
          <p:cNvSpPr txBox="1"/>
          <p:nvPr/>
        </p:nvSpPr>
        <p:spPr>
          <a:xfrm>
            <a:off x="1466850" y="8286750"/>
            <a:ext cx="4324350" cy="971550"/>
          </a:xfrm>
          <a:prstGeom prst="rect">
            <a:avLst/>
          </a:prstGeom>
          <a:noFill/>
        </p:spPr>
        <p:txBody>
          <a:bodyPr wrap="square" lIns="0" rIns="0" tIns="0" bIns="0" anchor="t"/>
          <a:lstStyle/>
          <a:p>
            <a:pPr algn="l">
              <a:lnSpc>
                <a:spcPct val="105000"/>
              </a:lnSpc>
            </a:pPr>
            <a:r>
              <a:rPr sz="1800" b="0" i="0">
                <a:solidFill>
                  <a:srgbClr val="564B42"/>
                </a:solidFill>
                <a:latin typeface="Arial"/>
              </a:rPr>
              <a:t>‘I agreed to the insurance add-on because I did not want to look like I was counting rupees in front of my uncle.’</a:t>
            </a:r>
          </a:p>
        </p:txBody>
      </p:sp>
      <p:sp>
        <p:nvSpPr>
          <p:cNvPr id="11" name="Rectangle 10"/>
          <p:cNvSpPr/>
          <p:nvPr/>
        </p:nvSpPr>
        <p:spPr>
          <a:xfrm>
            <a:off x="6553200" y="2838450"/>
            <a:ext cx="5162550" cy="6800850"/>
          </a:xfrm>
          <a:prstGeom prst="rect">
            <a:avLst/>
          </a:prstGeom>
          <a:solidFill>
            <a:srgbClr val="2019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72300" y="3257550"/>
            <a:ext cx="4324350" cy="552450"/>
          </a:xfrm>
          <a:prstGeom prst="rect">
            <a:avLst/>
          </a:prstGeom>
          <a:noFill/>
        </p:spPr>
        <p:txBody>
          <a:bodyPr wrap="square" lIns="0" rIns="0" tIns="0" bIns="0" anchor="t"/>
          <a:lstStyle/>
          <a:p>
            <a:pPr algn="l"/>
            <a:r>
              <a:rPr sz="3000" b="1" i="0">
                <a:solidFill>
                  <a:srgbClr val="F5F1E9"/>
                </a:solidFill>
                <a:latin typeface="Arial"/>
              </a:rPr>
              <a:t>A first flight</a:t>
            </a:r>
          </a:p>
        </p:txBody>
      </p:sp>
      <p:sp>
        <p:nvSpPr>
          <p:cNvPr id="13" name="TextBox 12"/>
          <p:cNvSpPr txBox="1"/>
          <p:nvPr/>
        </p:nvSpPr>
        <p:spPr>
          <a:xfrm>
            <a:off x="6972300" y="4057650"/>
            <a:ext cx="4324350" cy="962025"/>
          </a:xfrm>
          <a:prstGeom prst="rect">
            <a:avLst/>
          </a:prstGeom>
          <a:noFill/>
        </p:spPr>
        <p:txBody>
          <a:bodyPr wrap="square" lIns="0" rIns="0" tIns="0" bIns="0" anchor="t"/>
          <a:lstStyle/>
          <a:p>
            <a:pPr algn="l">
              <a:lnSpc>
                <a:spcPct val="104000"/>
              </a:lnSpc>
            </a:pPr>
            <a:r>
              <a:rPr sz="1800" b="1" i="0">
                <a:solidFill>
                  <a:srgbClr val="F5F1E9"/>
                </a:solidFill>
                <a:latin typeface="Arial"/>
              </a:rPr>
              <a:t>Trough: </a:t>
            </a:r>
            <a:r>
              <a:rPr sz="1800" b="0" i="0">
                <a:solidFill>
                  <a:srgbClr val="F5F1E9"/>
                </a:solidFill>
                <a:latin typeface="Arial"/>
              </a:rPr>
              <a:t>security. Which items come out of the bag, which queue is right, and the fear of holding two hundred people up.</a:t>
            </a:r>
          </a:p>
        </p:txBody>
      </p:sp>
      <p:sp>
        <p:nvSpPr>
          <p:cNvPr id="14" name="TextBox 13"/>
          <p:cNvSpPr txBox="1"/>
          <p:nvPr/>
        </p:nvSpPr>
        <p:spPr>
          <a:xfrm>
            <a:off x="6972300" y="5172075"/>
            <a:ext cx="4324350" cy="666750"/>
          </a:xfrm>
          <a:prstGeom prst="rect">
            <a:avLst/>
          </a:prstGeom>
          <a:noFill/>
        </p:spPr>
        <p:txBody>
          <a:bodyPr wrap="square" lIns="0" rIns="0" tIns="0" bIns="0" anchor="t"/>
          <a:lstStyle/>
          <a:p>
            <a:pPr algn="l">
              <a:lnSpc>
                <a:spcPct val="104000"/>
              </a:lnSpc>
            </a:pPr>
            <a:r>
              <a:rPr sz="1800" b="1" i="0">
                <a:solidFill>
                  <a:srgbClr val="F5F1E9"/>
                </a:solidFill>
                <a:latin typeface="Arial"/>
              </a:rPr>
              <a:t>Moment of truth: </a:t>
            </a:r>
            <a:r>
              <a:rPr sz="1800" b="0" i="0">
                <a:solidFill>
                  <a:srgbClr val="F5F1E9"/>
                </a:solidFill>
                <a:latin typeface="Arial"/>
              </a:rPr>
              <a:t>the first interaction with a uniformed member of staff.</a:t>
            </a:r>
          </a:p>
        </p:txBody>
      </p:sp>
      <p:sp>
        <p:nvSpPr>
          <p:cNvPr id="15" name="Rectangle 14"/>
          <p:cNvSpPr/>
          <p:nvPr/>
        </p:nvSpPr>
        <p:spPr>
          <a:xfrm>
            <a:off x="6972300" y="7086600"/>
            <a:ext cx="4210050" cy="19050"/>
          </a:xfrm>
          <a:prstGeom prst="rect">
            <a:avLst/>
          </a:prstGeom>
          <a:solidFill>
            <a:srgbClr val="5045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72300" y="7410450"/>
            <a:ext cx="4324350" cy="485775"/>
          </a:xfrm>
          <a:prstGeom prst="rect">
            <a:avLst/>
          </a:prstGeom>
          <a:noFill/>
        </p:spPr>
        <p:txBody>
          <a:bodyPr wrap="square" lIns="0" rIns="0" tIns="0" bIns="0" anchor="t"/>
          <a:lstStyle/>
          <a:p>
            <a:pPr algn="l"/>
            <a:r>
              <a:rPr sz="2550" b="1" i="0">
                <a:solidFill>
                  <a:srgbClr val="FFAF9F"/>
                </a:solidFill>
                <a:latin typeface="Arial"/>
              </a:rPr>
              <a:t>Emotional friction</a:t>
            </a:r>
          </a:p>
        </p:txBody>
      </p:sp>
      <p:sp>
        <p:nvSpPr>
          <p:cNvPr id="17" name="TextBox 16"/>
          <p:cNvSpPr txBox="1"/>
          <p:nvPr/>
        </p:nvSpPr>
        <p:spPr>
          <a:xfrm>
            <a:off x="6972300" y="7991475"/>
            <a:ext cx="4324350" cy="1266825"/>
          </a:xfrm>
          <a:prstGeom prst="rect">
            <a:avLst/>
          </a:prstGeom>
          <a:noFill/>
        </p:spPr>
        <p:txBody>
          <a:bodyPr wrap="square" lIns="0" rIns="0" tIns="0" bIns="0" anchor="t"/>
          <a:lstStyle/>
          <a:p>
            <a:pPr algn="l">
              <a:lnSpc>
                <a:spcPct val="105000"/>
              </a:lnSpc>
            </a:pPr>
            <a:r>
              <a:rPr sz="1800" b="0" i="0">
                <a:solidFill>
                  <a:srgbClr val="C8BBB1"/>
                </a:solidFill>
                <a:latin typeface="Arial"/>
              </a:rPr>
              <a:t>‘I watched what the person in front of me did at every step and copied it.’ For a first-timer the whole journey is an exam nobody let them study for.</a:t>
            </a:r>
          </a:p>
        </p:txBody>
      </p:sp>
      <p:sp>
        <p:nvSpPr>
          <p:cNvPr id="18" name="Rectangle 17"/>
          <p:cNvSpPr/>
          <p:nvPr/>
        </p:nvSpPr>
        <p:spPr>
          <a:xfrm>
            <a:off x="12058650" y="2838450"/>
            <a:ext cx="5162550" cy="6800850"/>
          </a:xfrm>
          <a:prstGeom prst="rect">
            <a:avLst/>
          </a:prstGeom>
          <a:solidFill>
            <a:srgbClr val="F0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477750" y="3257550"/>
            <a:ext cx="4324350" cy="552450"/>
          </a:xfrm>
          <a:prstGeom prst="rect">
            <a:avLst/>
          </a:prstGeom>
          <a:noFill/>
        </p:spPr>
        <p:txBody>
          <a:bodyPr wrap="square" lIns="0" rIns="0" tIns="0" bIns="0" anchor="t"/>
          <a:lstStyle/>
          <a:p>
            <a:pPr algn="l"/>
            <a:r>
              <a:rPr sz="3000" b="1" i="0">
                <a:solidFill>
                  <a:srgbClr val="201914"/>
                </a:solidFill>
                <a:latin typeface="Arial"/>
              </a:rPr>
              <a:t>A hospital discharge</a:t>
            </a:r>
          </a:p>
        </p:txBody>
      </p:sp>
      <p:sp>
        <p:nvSpPr>
          <p:cNvPr id="20" name="TextBox 19"/>
          <p:cNvSpPr txBox="1"/>
          <p:nvPr/>
        </p:nvSpPr>
        <p:spPr>
          <a:xfrm>
            <a:off x="12477750" y="4057650"/>
            <a:ext cx="4324350" cy="1257300"/>
          </a:xfrm>
          <a:prstGeom prst="rect">
            <a:avLst/>
          </a:prstGeom>
          <a:noFill/>
        </p:spPr>
        <p:txBody>
          <a:bodyPr wrap="square" lIns="0" rIns="0" tIns="0" bIns="0" anchor="t"/>
          <a:lstStyle/>
          <a:p>
            <a:pPr algn="l">
              <a:lnSpc>
                <a:spcPct val="104000"/>
              </a:lnSpc>
            </a:pPr>
            <a:r>
              <a:rPr sz="1800" b="1" i="0">
                <a:solidFill>
                  <a:srgbClr val="201914"/>
                </a:solidFill>
                <a:latin typeface="Arial"/>
              </a:rPr>
              <a:t>Trough: </a:t>
            </a:r>
            <a:r>
              <a:rPr sz="1800" b="0" i="0">
                <a:solidFill>
                  <a:srgbClr val="201914"/>
                </a:solidFill>
                <a:latin typeface="Arial"/>
              </a:rPr>
              <a:t>the four hours between ‘she can go home today’ and the final bill, in which nothing happens and nobody can say when it will.</a:t>
            </a:r>
          </a:p>
        </p:txBody>
      </p:sp>
      <p:sp>
        <p:nvSpPr>
          <p:cNvPr id="21" name="TextBox 20"/>
          <p:cNvSpPr txBox="1"/>
          <p:nvPr/>
        </p:nvSpPr>
        <p:spPr>
          <a:xfrm>
            <a:off x="12477750" y="5467350"/>
            <a:ext cx="4324350" cy="962025"/>
          </a:xfrm>
          <a:prstGeom prst="rect">
            <a:avLst/>
          </a:prstGeom>
          <a:noFill/>
        </p:spPr>
        <p:txBody>
          <a:bodyPr wrap="square" lIns="0" rIns="0" tIns="0" bIns="0" anchor="t"/>
          <a:lstStyle/>
          <a:p>
            <a:pPr algn="l">
              <a:lnSpc>
                <a:spcPct val="104000"/>
              </a:lnSpc>
            </a:pPr>
            <a:r>
              <a:rPr sz="1800" b="1" i="0">
                <a:solidFill>
                  <a:srgbClr val="201914"/>
                </a:solidFill>
                <a:latin typeface="Arial"/>
              </a:rPr>
              <a:t>Moment of truth: </a:t>
            </a:r>
            <a:r>
              <a:rPr sz="1800" b="0" i="0">
                <a:solidFill>
                  <a:srgbClr val="201914"/>
                </a:solidFill>
                <a:latin typeface="Arial"/>
              </a:rPr>
              <a:t>the billing counter — the last interaction, at maximum exhaustion.</a:t>
            </a:r>
          </a:p>
        </p:txBody>
      </p:sp>
      <p:sp>
        <p:nvSpPr>
          <p:cNvPr id="22" name="Rectangle 21"/>
          <p:cNvSpPr/>
          <p:nvPr/>
        </p:nvSpPr>
        <p:spPr>
          <a:xfrm>
            <a:off x="12477750" y="7086600"/>
            <a:ext cx="4210050" cy="19050"/>
          </a:xfrm>
          <a:prstGeom prst="rect">
            <a:avLst/>
          </a:prstGeom>
          <a:solidFill>
            <a:srgbClr val="C8BB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477750" y="7410450"/>
            <a:ext cx="4324350" cy="485775"/>
          </a:xfrm>
          <a:prstGeom prst="rect">
            <a:avLst/>
          </a:prstGeom>
          <a:noFill/>
        </p:spPr>
        <p:txBody>
          <a:bodyPr wrap="square" lIns="0" rIns="0" tIns="0" bIns="0" anchor="t"/>
          <a:lstStyle/>
          <a:p>
            <a:pPr algn="l"/>
            <a:r>
              <a:rPr sz="2550" b="1" i="0">
                <a:solidFill>
                  <a:srgbClr val="A8372A"/>
                </a:solidFill>
                <a:latin typeface="Arial"/>
              </a:rPr>
              <a:t>Emotional friction</a:t>
            </a:r>
          </a:p>
        </p:txBody>
      </p:sp>
      <p:sp>
        <p:nvSpPr>
          <p:cNvPr id="24" name="TextBox 23"/>
          <p:cNvSpPr txBox="1"/>
          <p:nvPr/>
        </p:nvSpPr>
        <p:spPr>
          <a:xfrm>
            <a:off x="12477750" y="7991475"/>
            <a:ext cx="4324350" cy="1266825"/>
          </a:xfrm>
          <a:prstGeom prst="rect">
            <a:avLst/>
          </a:prstGeom>
          <a:noFill/>
        </p:spPr>
        <p:txBody>
          <a:bodyPr wrap="square" lIns="0" rIns="0" tIns="0" bIns="0" anchor="t"/>
          <a:lstStyle/>
          <a:p>
            <a:pPr algn="l">
              <a:lnSpc>
                <a:spcPct val="105000"/>
              </a:lnSpc>
            </a:pPr>
            <a:r>
              <a:rPr sz="1800" b="0" i="0">
                <a:solidFill>
                  <a:srgbClr val="564B42"/>
                </a:solidFill>
                <a:latin typeface="Arial"/>
              </a:rPr>
              <a:t>‘The treatment was good, and what I tell everyone about is the billing counter.’ No drop-off is possible, which is precisely why it stays broken.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lstStyle/>
          <a:p>
            <a:pPr algn="l"/>
            <a:r>
              <a:rPr sz="1950" b="1" i="0" spc="312">
                <a:solidFill>
                  <a:srgbClr val="C35141"/>
                </a:solidFill>
                <a:latin typeface="Arial"/>
              </a:rPr>
              <a:t>READ AFTER CLASS · DO NOT MEMORISE</a:t>
            </a:r>
          </a:p>
        </p:txBody>
      </p:sp>
      <p:sp>
        <p:nvSpPr>
          <p:cNvPr id="3" name="TextBox 2"/>
          <p:cNvSpPr txBox="1"/>
          <p:nvPr/>
        </p:nvSpPr>
        <p:spPr>
          <a:xfrm>
            <a:off x="1047750" y="1504950"/>
            <a:ext cx="16192500" cy="895350"/>
          </a:xfrm>
          <a:prstGeom prst="rect">
            <a:avLst/>
          </a:prstGeom>
          <a:noFill/>
        </p:spPr>
        <p:txBody>
          <a:bodyPr wrap="square" lIns="0" rIns="0" tIns="0" bIns="0" anchor="t"/>
          <a:lstStyle/>
          <a:p>
            <a:pPr algn="l">
              <a:lnSpc>
                <a:spcPct val="88600"/>
              </a:lnSpc>
            </a:pPr>
            <a:r>
              <a:rPr sz="5700" b="1" i="0" spc="-142">
                <a:solidFill>
                  <a:srgbClr val="201914"/>
                </a:solidFill>
                <a:latin typeface="Arial"/>
              </a:rPr>
              <a:t>Six terms, in plain English</a:t>
            </a:r>
          </a:p>
        </p:txBody>
      </p:sp>
      <p:sp>
        <p:nvSpPr>
          <p:cNvPr id="4" name="TextBox 3"/>
          <p:cNvSpPr txBox="1"/>
          <p:nvPr/>
        </p:nvSpPr>
        <p:spPr>
          <a:xfrm>
            <a:off x="1047750" y="2838450"/>
            <a:ext cx="5191125" cy="838200"/>
          </a:xfrm>
          <a:prstGeom prst="rect">
            <a:avLst/>
          </a:prstGeom>
          <a:noFill/>
        </p:spPr>
        <p:txBody>
          <a:bodyPr wrap="square" lIns="0" rIns="0" tIns="0" bIns="0" anchor="t"/>
          <a:lstStyle/>
          <a:p>
            <a:pPr algn="l"/>
            <a:r>
              <a:rPr sz="2400" b="1" i="0">
                <a:solidFill>
                  <a:srgbClr val="201914"/>
                </a:solidFill>
                <a:latin typeface="Arial"/>
              </a:rPr>
              <a:t>Journey mapping</a:t>
            </a:r>
          </a:p>
        </p:txBody>
      </p:sp>
      <p:sp>
        <p:nvSpPr>
          <p:cNvPr id="5" name="Rectangle 4"/>
          <p:cNvSpPr/>
          <p:nvPr/>
        </p:nvSpPr>
        <p:spPr>
          <a:xfrm>
            <a:off x="1047750" y="3790950"/>
            <a:ext cx="5038725" cy="38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7750" y="4019550"/>
            <a:ext cx="5191125" cy="1819275"/>
          </a:xfrm>
          <a:prstGeom prst="rect">
            <a:avLst/>
          </a:prstGeom>
          <a:noFill/>
        </p:spPr>
        <p:txBody>
          <a:bodyPr wrap="square" lIns="0" rIns="0" tIns="0" bIns="0" anchor="t"/>
          <a:lstStyle/>
          <a:p>
            <a:pPr algn="l">
              <a:lnSpc>
                <a:spcPct val="105000"/>
              </a:lnSpc>
            </a:pPr>
            <a:r>
              <a:rPr sz="2100" b="0" i="0">
                <a:solidFill>
                  <a:srgbClr val="201914"/>
                </a:solidFill>
                <a:latin typeface="Arial"/>
              </a:rPr>
              <a:t>Writing down every step a customer takes, in order, with what they do, what they touch, how they feel and what gets in the way at each one. Its purpose is to defeat compression.</a:t>
            </a:r>
          </a:p>
        </p:txBody>
      </p:sp>
      <p:sp>
        <p:nvSpPr>
          <p:cNvPr id="7" name="TextBox 6"/>
          <p:cNvSpPr txBox="1"/>
          <p:nvPr/>
        </p:nvSpPr>
        <p:spPr>
          <a:xfrm>
            <a:off x="6619875" y="2838450"/>
            <a:ext cx="5191125" cy="838200"/>
          </a:xfrm>
          <a:prstGeom prst="rect">
            <a:avLst/>
          </a:prstGeom>
          <a:noFill/>
        </p:spPr>
        <p:txBody>
          <a:bodyPr wrap="square" lIns="0" rIns="0" tIns="0" bIns="0" anchor="t"/>
          <a:lstStyle/>
          <a:p>
            <a:pPr algn="l"/>
            <a:r>
              <a:rPr sz="2400" b="1" i="0">
                <a:solidFill>
                  <a:srgbClr val="201914"/>
                </a:solidFill>
                <a:latin typeface="Arial"/>
              </a:rPr>
              <a:t>The emotion curve</a:t>
            </a:r>
          </a:p>
        </p:txBody>
      </p:sp>
      <p:sp>
        <p:nvSpPr>
          <p:cNvPr id="8" name="Rectangle 7"/>
          <p:cNvSpPr/>
          <p:nvPr/>
        </p:nvSpPr>
        <p:spPr>
          <a:xfrm>
            <a:off x="6619875" y="3790950"/>
            <a:ext cx="5038725" cy="38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19875" y="4019550"/>
            <a:ext cx="5191125" cy="1819275"/>
          </a:xfrm>
          <a:prstGeom prst="rect">
            <a:avLst/>
          </a:prstGeom>
          <a:noFill/>
        </p:spPr>
        <p:txBody>
          <a:bodyPr wrap="square" lIns="0" rIns="0" tIns="0" bIns="0" anchor="t"/>
          <a:lstStyle/>
          <a:p>
            <a:pPr algn="l">
              <a:lnSpc>
                <a:spcPct val="105000"/>
              </a:lnSpc>
            </a:pPr>
            <a:r>
              <a:rPr sz="2100" b="0" i="0">
                <a:solidFill>
                  <a:srgbClr val="201914"/>
                </a:solidFill>
                <a:latin typeface="Arial"/>
              </a:rPr>
              <a:t>The rising and falling line drawn under the map — positive above, negative below. The troughs are where the opportunities are, and the ending decides whether there is any advocacy.</a:t>
            </a:r>
          </a:p>
        </p:txBody>
      </p:sp>
      <p:sp>
        <p:nvSpPr>
          <p:cNvPr id="10" name="TextBox 9"/>
          <p:cNvSpPr txBox="1"/>
          <p:nvPr/>
        </p:nvSpPr>
        <p:spPr>
          <a:xfrm>
            <a:off x="12192000" y="2838450"/>
            <a:ext cx="5191125" cy="838200"/>
          </a:xfrm>
          <a:prstGeom prst="rect">
            <a:avLst/>
          </a:prstGeom>
          <a:noFill/>
        </p:spPr>
        <p:txBody>
          <a:bodyPr wrap="square" lIns="0" rIns="0" tIns="0" bIns="0" anchor="t"/>
          <a:lstStyle/>
          <a:p>
            <a:pPr algn="l"/>
            <a:r>
              <a:rPr sz="2400" b="1" i="0">
                <a:solidFill>
                  <a:srgbClr val="201914"/>
                </a:solidFill>
                <a:latin typeface="Arial"/>
              </a:rPr>
              <a:t>Three kinds of friction</a:t>
            </a:r>
          </a:p>
        </p:txBody>
      </p:sp>
      <p:sp>
        <p:nvSpPr>
          <p:cNvPr id="11" name="Rectangle 10"/>
          <p:cNvSpPr/>
          <p:nvPr/>
        </p:nvSpPr>
        <p:spPr>
          <a:xfrm>
            <a:off x="12192000" y="3790950"/>
            <a:ext cx="5038725" cy="38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192000" y="4019550"/>
            <a:ext cx="5191125" cy="1819275"/>
          </a:xfrm>
          <a:prstGeom prst="rect">
            <a:avLst/>
          </a:prstGeom>
          <a:noFill/>
        </p:spPr>
        <p:txBody>
          <a:bodyPr wrap="square" lIns="0" rIns="0" tIns="0" bIns="0" anchor="t"/>
          <a:lstStyle/>
          <a:p>
            <a:pPr algn="l">
              <a:lnSpc>
                <a:spcPct val="105000"/>
              </a:lnSpc>
            </a:pPr>
            <a:r>
              <a:rPr sz="2100" b="0" i="0">
                <a:solidFill>
                  <a:srgbClr val="201914"/>
                </a:solidFill>
                <a:latin typeface="Arial"/>
              </a:rPr>
              <a:t>Functional is time, money, effort and steps. Informational is not knowing. Emotional is feeling exposed, helpless or judged — the most valuable to fix and the least likely to be in a dashboard.</a:t>
            </a:r>
          </a:p>
        </p:txBody>
      </p:sp>
      <p:sp>
        <p:nvSpPr>
          <p:cNvPr id="13" name="TextBox 12"/>
          <p:cNvSpPr txBox="1"/>
          <p:nvPr/>
        </p:nvSpPr>
        <p:spPr>
          <a:xfrm>
            <a:off x="1047750" y="6238875"/>
            <a:ext cx="5191125" cy="838200"/>
          </a:xfrm>
          <a:prstGeom prst="rect">
            <a:avLst/>
          </a:prstGeom>
          <a:noFill/>
        </p:spPr>
        <p:txBody>
          <a:bodyPr wrap="square" lIns="0" rIns="0" tIns="0" bIns="0" anchor="t"/>
          <a:lstStyle/>
          <a:p>
            <a:pPr algn="l"/>
            <a:r>
              <a:rPr sz="2400" b="1" i="0">
                <a:solidFill>
                  <a:srgbClr val="201914"/>
                </a:solidFill>
                <a:latin typeface="Arial"/>
              </a:rPr>
              <a:t>Moments of truth</a:t>
            </a:r>
          </a:p>
        </p:txBody>
      </p:sp>
      <p:sp>
        <p:nvSpPr>
          <p:cNvPr id="14" name="Rectangle 13"/>
          <p:cNvSpPr/>
          <p:nvPr/>
        </p:nvSpPr>
        <p:spPr>
          <a:xfrm>
            <a:off x="1047750" y="7191375"/>
            <a:ext cx="5038725" cy="38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7750" y="7419975"/>
            <a:ext cx="5191125" cy="1466850"/>
          </a:xfrm>
          <a:prstGeom prst="rect">
            <a:avLst/>
          </a:prstGeom>
          <a:noFill/>
        </p:spPr>
        <p:txBody>
          <a:bodyPr wrap="square" lIns="0" rIns="0" tIns="0" bIns="0" anchor="t"/>
          <a:lstStyle/>
          <a:p>
            <a:pPr algn="l">
              <a:lnSpc>
                <a:spcPct val="105000"/>
              </a:lnSpc>
            </a:pPr>
            <a:r>
              <a:rPr sz="2100" b="0" i="0">
                <a:solidFill>
                  <a:srgbClr val="201914"/>
                </a:solidFill>
                <a:latin typeface="Arial"/>
              </a:rPr>
              <a:t>The two or three touchpoints that decide, out of all proportion to their length, how the whole journey is remembered. They sit at the point of maximum helplessness.</a:t>
            </a:r>
          </a:p>
        </p:txBody>
      </p:sp>
      <p:sp>
        <p:nvSpPr>
          <p:cNvPr id="16" name="TextBox 15"/>
          <p:cNvSpPr txBox="1"/>
          <p:nvPr/>
        </p:nvSpPr>
        <p:spPr>
          <a:xfrm>
            <a:off x="6619875" y="6238875"/>
            <a:ext cx="5191125" cy="838200"/>
          </a:xfrm>
          <a:prstGeom prst="rect">
            <a:avLst/>
          </a:prstGeom>
          <a:noFill/>
        </p:spPr>
        <p:txBody>
          <a:bodyPr wrap="square" lIns="0" rIns="0" tIns="0" bIns="0" anchor="t"/>
          <a:lstStyle/>
          <a:p>
            <a:pPr algn="l"/>
            <a:r>
              <a:rPr sz="2400" b="1" i="0">
                <a:solidFill>
                  <a:srgbClr val="201914"/>
                </a:solidFill>
                <a:latin typeface="Arial"/>
              </a:rPr>
              <a:t>Drop-off points</a:t>
            </a:r>
          </a:p>
        </p:txBody>
      </p:sp>
      <p:sp>
        <p:nvSpPr>
          <p:cNvPr id="17" name="Rectangle 16"/>
          <p:cNvSpPr/>
          <p:nvPr/>
        </p:nvSpPr>
        <p:spPr>
          <a:xfrm>
            <a:off x="6619875" y="7191375"/>
            <a:ext cx="5038725" cy="38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19875" y="7419975"/>
            <a:ext cx="5191125" cy="1819275"/>
          </a:xfrm>
          <a:prstGeom prst="rect">
            <a:avLst/>
          </a:prstGeom>
          <a:noFill/>
        </p:spPr>
        <p:txBody>
          <a:bodyPr wrap="square" lIns="0" rIns="0" tIns="0" bIns="0" anchor="t"/>
          <a:lstStyle/>
          <a:p>
            <a:pPr algn="l">
              <a:lnSpc>
                <a:spcPct val="105000"/>
              </a:lnSpc>
            </a:pPr>
            <a:r>
              <a:rPr sz="2100" b="0" i="0">
                <a:solidFill>
                  <a:srgbClr val="201914"/>
                </a:solidFill>
                <a:latin typeface="Arial"/>
              </a:rPr>
              <a:t>Places where you can count how many people were present before a step and after it. A measurement rather than an opinion — and the first number this course has produced.</a:t>
            </a:r>
          </a:p>
        </p:txBody>
      </p:sp>
      <p:sp>
        <p:nvSpPr>
          <p:cNvPr id="19" name="TextBox 18"/>
          <p:cNvSpPr txBox="1"/>
          <p:nvPr/>
        </p:nvSpPr>
        <p:spPr>
          <a:xfrm>
            <a:off x="12192000" y="6238875"/>
            <a:ext cx="5191125" cy="838200"/>
          </a:xfrm>
          <a:prstGeom prst="rect">
            <a:avLst/>
          </a:prstGeom>
          <a:noFill/>
        </p:spPr>
        <p:txBody>
          <a:bodyPr wrap="square" lIns="0" rIns="0" tIns="0" bIns="0" anchor="t"/>
          <a:lstStyle/>
          <a:p>
            <a:pPr algn="l"/>
            <a:r>
              <a:rPr sz="2400" b="1" i="0">
                <a:solidFill>
                  <a:srgbClr val="201914"/>
                </a:solidFill>
                <a:latin typeface="Arial"/>
              </a:rPr>
              <a:t>Friction, doubt or the wrong customer</a:t>
            </a:r>
          </a:p>
        </p:txBody>
      </p:sp>
      <p:sp>
        <p:nvSpPr>
          <p:cNvPr id="20" name="Rectangle 19"/>
          <p:cNvSpPr/>
          <p:nvPr/>
        </p:nvSpPr>
        <p:spPr>
          <a:xfrm>
            <a:off x="12192000" y="7191375"/>
            <a:ext cx="5038725" cy="38100"/>
          </a:xfrm>
          <a:prstGeom prst="rect">
            <a:avLst/>
          </a:prstGeom>
          <a:solidFill>
            <a:srgbClr val="C35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192000" y="7419975"/>
            <a:ext cx="5191125" cy="1466850"/>
          </a:xfrm>
          <a:prstGeom prst="rect">
            <a:avLst/>
          </a:prstGeom>
          <a:noFill/>
        </p:spPr>
        <p:txBody>
          <a:bodyPr wrap="square" lIns="0" rIns="0" tIns="0" bIns="0" anchor="t"/>
          <a:lstStyle/>
          <a:p>
            <a:pPr algn="l">
              <a:lnSpc>
                <a:spcPct val="105000"/>
              </a:lnSpc>
            </a:pPr>
            <a:r>
              <a:rPr sz="2100" b="0" i="0">
                <a:solidFill>
                  <a:srgbClr val="201914"/>
                </a:solidFill>
                <a:latin typeface="Arial"/>
              </a:rPr>
              <a:t>The three things a trough can be. Friction gets engineered away, doubt gets answered with evidence, and the wrong customer should be allowed to leave.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2838450"/>
            <a:ext cx="16192500" cy="323850"/>
          </a:xfrm>
          <a:prstGeom prst="rect">
            <a:avLst/>
          </a:prstGeom>
          <a:noFill/>
        </p:spPr>
        <p:txBody>
          <a:bodyPr wrap="square" lIns="0" rIns="0" tIns="0" bIns="0" anchor="t"/>
          <a:lstStyle/>
          <a:p>
            <a:pPr algn="l"/>
            <a:r>
              <a:rPr sz="1950" b="1" i="0" spc="312">
                <a:solidFill>
                  <a:srgbClr val="EF806F"/>
                </a:solidFill>
                <a:latin typeface="Arial"/>
              </a:rPr>
              <a:t>NEXT SESSION</a:t>
            </a:r>
          </a:p>
        </p:txBody>
      </p:sp>
      <p:sp>
        <p:nvSpPr>
          <p:cNvPr id="3" name="TextBox 2"/>
          <p:cNvSpPr txBox="1"/>
          <p:nvPr/>
        </p:nvSpPr>
        <p:spPr>
          <a:xfrm>
            <a:off x="1047750" y="3429000"/>
            <a:ext cx="15697200" cy="3562350"/>
          </a:xfrm>
          <a:prstGeom prst="rect">
            <a:avLst/>
          </a:prstGeom>
          <a:noFill/>
        </p:spPr>
        <p:txBody>
          <a:bodyPr wrap="square" lIns="0" rIns="0" tIns="0" bIns="0" anchor="t"/>
          <a:lstStyle/>
          <a:p>
            <a:pPr algn="l">
              <a:lnSpc>
                <a:spcPct val="90000"/>
              </a:lnSpc>
            </a:pPr>
            <a:r>
              <a:rPr sz="8100" b="1" i="0" spc="-250">
                <a:solidFill>
                  <a:srgbClr val="F5F1E9"/>
                </a:solidFill>
                <a:latin typeface="Arial"/>
              </a:rPr>
              <a:t>Every trough you found today becomes a pain you can build against.</a:t>
            </a:r>
          </a:p>
        </p:txBody>
      </p:sp>
      <p:sp>
        <p:nvSpPr>
          <p:cNvPr id="4" name="TextBox 3"/>
          <p:cNvSpPr txBox="1"/>
          <p:nvPr/>
        </p:nvSpPr>
        <p:spPr>
          <a:xfrm>
            <a:off x="1047750" y="7562850"/>
            <a:ext cx="13735050" cy="1981200"/>
          </a:xfrm>
          <a:prstGeom prst="rect">
            <a:avLst/>
          </a:prstGeom>
          <a:noFill/>
        </p:spPr>
        <p:txBody>
          <a:bodyPr wrap="square" lIns="0" rIns="0" tIns="0" bIns="0" anchor="t"/>
          <a:lstStyle/>
          <a:p>
            <a:pPr algn="l">
              <a:lnSpc>
                <a:spcPct val="112000"/>
              </a:lnSpc>
            </a:pPr>
            <a:r>
              <a:rPr sz="3600" b="0" i="0">
                <a:solidFill>
                  <a:srgbClr val="C1B5AB"/>
                </a:solidFill>
                <a:latin typeface="Georgia"/>
              </a:rPr>
              <a:t>Next time we separate the pains from the gains — what a customer is trying to avoid, and what they are trying to reach — and find out which of the two people actually pay for.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