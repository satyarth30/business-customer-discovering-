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tif" ContentType="image/tif"/>
  <Override PartName="/ppt/media/image2.tif" ContentType="image/tif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7"/>
  </p:normalViewPr>
  <p:slideViewPr>
    <p:cSldViewPr snapToGrid="0">
      <p:cViewPr varScale="1">
        <p:scale>
          <a:sx n="58" d="100"/>
          <a:sy n="58" d="100"/>
        </p:scale>
        <p:origin x="14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" name="Shape 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" name="Shape 1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9" name="Shape 1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" name="Shape 1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0" name="Shape 2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6" name="Shape 2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2" name="Shape 2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2" name="Shape 3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0" name="Shape 3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0" name="Shape 3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6" name="Shape 3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8" name="Shape 3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92" name="Shape 3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2" name="Shape 4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2" name="Shape 4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0" name="Shape 4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8" name="Shape 4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73" name="Shape 4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48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5" name="Shape 4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53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1" name="Shape 5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62" name="Shape 5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71" name="Shape 5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58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5" name="Shape 5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8" name="Shape 5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5" name="Shape 6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hape 6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2" name="Shape 6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66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1" name="Shape 6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69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4" name="Shape 6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Shape 7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8" name="Shape 7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26" name="Shape 7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Shape 7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7" name="Shape 7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hape 7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63" name="Shape 7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7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9" name="Shape 7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Shape 8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12" name="Shape 8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Shape 8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18" name="Shape 8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t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t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hyperlink" Target="https://www.wired.it/economia/start-up/2017/11/29/startup-i-flop-peggiori-del-2017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bloomberg.com/news/videos/2017-04-18/do-you-need-a-400-juicer-video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1047750" y="952500"/>
            <a:ext cx="818644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ZENITH SCHOOL OF AI · CUSTOMER DISCOVERY · CLASS 2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1047749" y="2864346"/>
            <a:ext cx="15206664" cy="2294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73768"/>
              </a:lnSpc>
              <a:defRPr sz="8930" b="1" spc="-285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Value, Price, and Real Problems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1047750" y="5463480"/>
            <a:ext cx="12753975" cy="182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5186"/>
              </a:lnSpc>
              <a:defRPr sz="3900" i="1">
                <a:solidFill>
                  <a:srgbClr val="C1B5A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Why the same cup of chai is worth ₹5 and ₹180 — and why $120 million could not save a machine nobody needed.</a:t>
            </a:r>
          </a:p>
        </p:txBody>
      </p:sp>
      <p:sp>
        <p:nvSpPr>
          <p:cNvPr id="23" name="Shape 4"/>
          <p:cNvSpPr/>
          <p:nvPr/>
        </p:nvSpPr>
        <p:spPr>
          <a:xfrm>
            <a:off x="1047750" y="8872538"/>
            <a:ext cx="16192500" cy="19051"/>
          </a:xfrm>
          <a:prstGeom prst="rect">
            <a:avLst/>
          </a:prstGeom>
          <a:solidFill>
            <a:srgbClr val="4036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" name="Text 5"/>
          <p:cNvSpPr txBox="1"/>
          <p:nvPr/>
        </p:nvSpPr>
        <p:spPr>
          <a:xfrm>
            <a:off x="1047750" y="9234488"/>
            <a:ext cx="2791272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AEA2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Three Layers of Value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4118669" y="9234488"/>
            <a:ext cx="243012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AEA2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Value Propositions</a:t>
            </a:r>
          </a:p>
        </p:txBody>
      </p:sp>
      <p:sp>
        <p:nvSpPr>
          <p:cNvPr id="26" name="Text 7"/>
          <p:cNvSpPr txBox="1"/>
          <p:nvPr/>
        </p:nvSpPr>
        <p:spPr>
          <a:xfrm>
            <a:off x="6861274" y="9234488"/>
            <a:ext cx="324401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AEA2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Problem vs Solution First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10343777" y="9234488"/>
            <a:ext cx="255790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AEA2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Vitamin or Painkiller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13202542" y="9234488"/>
            <a:ext cx="135814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AEA2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Four Tests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WHERE WE LEFT OFF</a:t>
            </a:r>
          </a:p>
        </p:txBody>
      </p:sp>
      <p:sp>
        <p:nvSpPr>
          <p:cNvPr id="33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two ideas the last class ended on</a:t>
            </a:r>
          </a:p>
        </p:txBody>
      </p:sp>
      <p:sp>
        <p:nvSpPr>
          <p:cNvPr id="34" name="Shape 2"/>
          <p:cNvSpPr/>
          <p:nvPr/>
        </p:nvSpPr>
        <p:spPr>
          <a:xfrm>
            <a:off x="1047750" y="2852885"/>
            <a:ext cx="782955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Text 3"/>
          <p:cNvSpPr txBox="1"/>
          <p:nvPr/>
        </p:nvSpPr>
        <p:spPr>
          <a:xfrm>
            <a:off x="1543050" y="4872111"/>
            <a:ext cx="7522844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GAP MODEL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1543050" y="5410274"/>
            <a:ext cx="7044119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058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Current state → desired state. A business exists to bridge that distance, and the customer pays for the bridge.</a:t>
            </a:r>
          </a:p>
        </p:txBody>
      </p:sp>
      <p:sp>
        <p:nvSpPr>
          <p:cNvPr id="37" name="Shape 5"/>
          <p:cNvSpPr/>
          <p:nvPr/>
        </p:nvSpPr>
        <p:spPr>
          <a:xfrm>
            <a:off x="9410700" y="2852885"/>
            <a:ext cx="782955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Text 6"/>
          <p:cNvSpPr txBox="1"/>
          <p:nvPr/>
        </p:nvSpPr>
        <p:spPr>
          <a:xfrm>
            <a:off x="9906000" y="4953074"/>
            <a:ext cx="7522844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FOUR KINDS OF PROBLEMS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9906000" y="5491236"/>
            <a:ext cx="3593783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 · Efficiency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13477875" y="5491236"/>
            <a:ext cx="3593783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 · Access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9906000" y="6048449"/>
            <a:ext cx="3593783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 · Experience</a:t>
            </a:r>
          </a:p>
        </p:txBody>
      </p:sp>
      <p:sp>
        <p:nvSpPr>
          <p:cNvPr id="42" name="Text 10"/>
          <p:cNvSpPr txBox="1"/>
          <p:nvPr/>
        </p:nvSpPr>
        <p:spPr>
          <a:xfrm>
            <a:off x="13477875" y="6048449"/>
            <a:ext cx="3593783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 · Identity</a:t>
            </a:r>
          </a:p>
        </p:txBody>
      </p:sp>
      <p:sp>
        <p:nvSpPr>
          <p:cNvPr id="43" name="Text 11"/>
          <p:cNvSpPr txBox="1"/>
          <p:nvPr/>
        </p:nvSpPr>
        <p:spPr>
          <a:xfrm>
            <a:off x="9906000" y="6681861"/>
            <a:ext cx="7044119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Today we take categories 3 and 4 seriously — and find out what they are worth in rupees.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 txBox="1"/>
          <p:nvPr/>
        </p:nvSpPr>
        <p:spPr>
          <a:xfrm>
            <a:off x="1910803" y="3088481"/>
            <a:ext cx="2458366" cy="2038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58951">
              <a:lnSpc>
                <a:spcPct val="78261"/>
              </a:lnSpc>
              <a:defRPr sz="13031" b="1" spc="-66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₹5</a:t>
            </a:r>
          </a:p>
        </p:txBody>
      </p:sp>
      <p:sp>
        <p:nvSpPr>
          <p:cNvPr id="48" name="Text 1"/>
          <p:cNvSpPr txBox="1"/>
          <p:nvPr/>
        </p:nvSpPr>
        <p:spPr>
          <a:xfrm>
            <a:off x="4755281" y="3774280"/>
            <a:ext cx="1219201" cy="1281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8300">
                <a:solidFill>
                  <a:srgbClr val="B8ABA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—</a:t>
            </a:r>
          </a:p>
        </p:txBody>
      </p:sp>
      <p:sp>
        <p:nvSpPr>
          <p:cNvPr id="49" name="Text 2"/>
          <p:cNvSpPr txBox="1"/>
          <p:nvPr/>
        </p:nvSpPr>
        <p:spPr>
          <a:xfrm>
            <a:off x="6507881" y="3088481"/>
            <a:ext cx="3572010" cy="2038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58951">
              <a:lnSpc>
                <a:spcPct val="78261"/>
              </a:lnSpc>
              <a:defRPr sz="13031" b="1" spc="-66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₹35</a:t>
            </a:r>
          </a:p>
        </p:txBody>
      </p:sp>
      <p:sp>
        <p:nvSpPr>
          <p:cNvPr id="50" name="Text 3"/>
          <p:cNvSpPr txBox="1"/>
          <p:nvPr/>
        </p:nvSpPr>
        <p:spPr>
          <a:xfrm>
            <a:off x="10364762" y="3774280"/>
            <a:ext cx="1219201" cy="1281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8300">
                <a:solidFill>
                  <a:srgbClr val="B8ABA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—</a:t>
            </a:r>
          </a:p>
        </p:txBody>
      </p:sp>
      <p:sp>
        <p:nvSpPr>
          <p:cNvPr id="51" name="Text 4"/>
          <p:cNvSpPr txBox="1"/>
          <p:nvPr/>
        </p:nvSpPr>
        <p:spPr>
          <a:xfrm>
            <a:off x="12117362" y="3088481"/>
            <a:ext cx="4685735" cy="2038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58951">
              <a:lnSpc>
                <a:spcPct val="78261"/>
              </a:lnSpc>
              <a:defRPr sz="13031" b="1" spc="-664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₹180</a:t>
            </a:r>
          </a:p>
        </p:txBody>
      </p:sp>
      <p:sp>
        <p:nvSpPr>
          <p:cNvPr id="52" name="Text 5"/>
          <p:cNvSpPr txBox="1"/>
          <p:nvPr/>
        </p:nvSpPr>
        <p:spPr>
          <a:xfrm>
            <a:off x="5894561" y="5850730"/>
            <a:ext cx="7148684" cy="87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5700" b="1" spc="-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Same product. Why?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1047750" y="952500"/>
            <a:ext cx="17811750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1881" b="1" spc="197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₹8 A CUP</a:t>
            </a:r>
          </a:p>
        </p:txBody>
      </p:sp>
      <p:sp>
        <p:nvSpPr>
          <p:cNvPr id="57" name="Text 1"/>
          <p:cNvSpPr txBox="1"/>
          <p:nvPr/>
        </p:nvSpPr>
        <p:spPr>
          <a:xfrm>
            <a:off x="1047750" y="1514475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street tapri is a ruthlessly optimised business</a:t>
            </a:r>
          </a:p>
        </p:txBody>
      </p:sp>
      <p:sp>
        <p:nvSpPr>
          <p:cNvPr id="58" name="Shape 5"/>
          <p:cNvSpPr/>
          <p:nvPr/>
        </p:nvSpPr>
        <p:spPr>
          <a:xfrm>
            <a:off x="9077770" y="2786210"/>
            <a:ext cx="3966939" cy="160496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Text 6"/>
          <p:cNvSpPr txBox="1"/>
          <p:nvPr/>
        </p:nvSpPr>
        <p:spPr>
          <a:xfrm>
            <a:off x="9382570" y="3091010"/>
            <a:ext cx="36930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8367"/>
              </a:lnSpc>
              <a:defRPr sz="4224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400–800</a:t>
            </a:r>
          </a:p>
        </p:txBody>
      </p:sp>
      <p:sp>
        <p:nvSpPr>
          <p:cNvPr id="60" name="Text 7"/>
          <p:cNvSpPr txBox="1"/>
          <p:nvPr/>
        </p:nvSpPr>
        <p:spPr>
          <a:xfrm>
            <a:off x="9382570" y="3795860"/>
            <a:ext cx="369307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cups a day</a:t>
            </a:r>
          </a:p>
        </p:txBody>
      </p:sp>
      <p:sp>
        <p:nvSpPr>
          <p:cNvPr id="61" name="Shape 8"/>
          <p:cNvSpPr/>
          <p:nvPr/>
        </p:nvSpPr>
        <p:spPr>
          <a:xfrm>
            <a:off x="13273310" y="2786210"/>
            <a:ext cx="3966939" cy="160496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" name="Text 9"/>
          <p:cNvSpPr txBox="1"/>
          <p:nvPr/>
        </p:nvSpPr>
        <p:spPr>
          <a:xfrm>
            <a:off x="13578110" y="3091010"/>
            <a:ext cx="36930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49808">
              <a:lnSpc>
                <a:spcPct val="78367"/>
              </a:lnSpc>
              <a:defRPr sz="3936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₹2.50</a:t>
            </a:r>
          </a:p>
        </p:txBody>
      </p:sp>
      <p:sp>
        <p:nvSpPr>
          <p:cNvPr id="63" name="Text 10"/>
          <p:cNvSpPr txBox="1"/>
          <p:nvPr/>
        </p:nvSpPr>
        <p:spPr>
          <a:xfrm>
            <a:off x="13578110" y="3795860"/>
            <a:ext cx="369307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input cost per cup</a:t>
            </a:r>
          </a:p>
        </p:txBody>
      </p:sp>
      <p:sp>
        <p:nvSpPr>
          <p:cNvPr id="64" name="Shape 11"/>
          <p:cNvSpPr/>
          <p:nvPr/>
        </p:nvSpPr>
        <p:spPr>
          <a:xfrm>
            <a:off x="9077770" y="4619773"/>
            <a:ext cx="3966939" cy="160496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" name="Text 12"/>
          <p:cNvSpPr txBox="1"/>
          <p:nvPr/>
        </p:nvSpPr>
        <p:spPr>
          <a:xfrm>
            <a:off x="9382570" y="4924573"/>
            <a:ext cx="36930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8367"/>
              </a:lnSpc>
              <a:defRPr sz="4224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69%</a:t>
            </a:r>
          </a:p>
        </p:txBody>
      </p:sp>
      <p:sp>
        <p:nvSpPr>
          <p:cNvPr id="66" name="Text 13"/>
          <p:cNvSpPr txBox="1"/>
          <p:nvPr/>
        </p:nvSpPr>
        <p:spPr>
          <a:xfrm>
            <a:off x="9382570" y="5629423"/>
            <a:ext cx="369307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gross margin</a:t>
            </a:r>
          </a:p>
        </p:txBody>
      </p:sp>
      <p:sp>
        <p:nvSpPr>
          <p:cNvPr id="67" name="Shape 14"/>
          <p:cNvSpPr/>
          <p:nvPr/>
        </p:nvSpPr>
        <p:spPr>
          <a:xfrm>
            <a:off x="13273310" y="4619773"/>
            <a:ext cx="3966939" cy="1604964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Text 15"/>
          <p:cNvSpPr txBox="1"/>
          <p:nvPr/>
        </p:nvSpPr>
        <p:spPr>
          <a:xfrm>
            <a:off x="13578110" y="4924573"/>
            <a:ext cx="36930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49808">
              <a:lnSpc>
                <a:spcPct val="78367"/>
              </a:lnSpc>
              <a:defRPr sz="3936" b="1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₹4,000</a:t>
            </a:r>
          </a:p>
        </p:txBody>
      </p:sp>
      <p:sp>
        <p:nvSpPr>
          <p:cNvPr id="69" name="Text 16"/>
          <p:cNvSpPr txBox="1"/>
          <p:nvPr/>
        </p:nvSpPr>
        <p:spPr>
          <a:xfrm>
            <a:off x="13578110" y="5629423"/>
            <a:ext cx="369307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FCF8F1">
                    <a:alpha val="9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day, net, well-placed</a:t>
            </a:r>
          </a:p>
        </p:txBody>
      </p:sp>
      <p:sp>
        <p:nvSpPr>
          <p:cNvPr id="70" name="Shape 17"/>
          <p:cNvSpPr/>
          <p:nvPr/>
        </p:nvSpPr>
        <p:spPr>
          <a:xfrm>
            <a:off x="2898760" y="7149551"/>
            <a:ext cx="13225903" cy="1838333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Text 18"/>
          <p:cNvSpPr txBox="1"/>
          <p:nvPr/>
        </p:nvSpPr>
        <p:spPr>
          <a:xfrm>
            <a:off x="3131384" y="7279709"/>
            <a:ext cx="13090913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AND YET</a:t>
            </a:r>
          </a:p>
        </p:txBody>
      </p:sp>
      <p:sp>
        <p:nvSpPr>
          <p:cNvPr id="72" name="Text 19"/>
          <p:cNvSpPr txBox="1"/>
          <p:nvPr/>
        </p:nvSpPr>
        <p:spPr>
          <a:xfrm>
            <a:off x="3131384" y="7741670"/>
            <a:ext cx="12257855" cy="137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4146"/>
              </a:lnSpc>
              <a:defRPr sz="27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It cannot scale, cannot raise prices with a rival 50 metres away, and dies the day the chaiwala falls ill.</a:t>
            </a:r>
          </a:p>
        </p:txBody>
      </p:sp>
      <p:pic>
        <p:nvPicPr>
          <p:cNvPr id="7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615" y="2519510"/>
            <a:ext cx="6322554" cy="42170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 txBox="1"/>
          <p:nvPr/>
        </p:nvSpPr>
        <p:spPr>
          <a:xfrm>
            <a:off x="1047750" y="952500"/>
            <a:ext cx="17811750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1881" b="1" spc="197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₹35 A CUP</a:t>
            </a:r>
          </a:p>
        </p:txBody>
      </p:sp>
      <p:sp>
        <p:nvSpPr>
          <p:cNvPr id="78" name="Text 1"/>
          <p:cNvSpPr txBox="1"/>
          <p:nvPr/>
        </p:nvSpPr>
        <p:spPr>
          <a:xfrm>
            <a:off x="1047750" y="1514475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Chai Point sold a customer, not a beverage</a:t>
            </a:r>
          </a:p>
        </p:txBody>
      </p:sp>
      <p:sp>
        <p:nvSpPr>
          <p:cNvPr id="79" name="Shape 2"/>
          <p:cNvSpPr/>
          <p:nvPr/>
        </p:nvSpPr>
        <p:spPr>
          <a:xfrm>
            <a:off x="1047749" y="2786210"/>
            <a:ext cx="8162406" cy="2671765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" name="Text 3"/>
          <p:cNvSpPr txBox="1"/>
          <p:nvPr/>
        </p:nvSpPr>
        <p:spPr>
          <a:xfrm>
            <a:off x="1428750" y="3167210"/>
            <a:ext cx="814044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CUSTOMER</a:t>
            </a:r>
          </a:p>
        </p:txBody>
      </p:sp>
      <p:sp>
        <p:nvSpPr>
          <p:cNvPr id="81" name="Text 4"/>
          <p:cNvSpPr txBox="1"/>
          <p:nvPr/>
        </p:nvSpPr>
        <p:spPr>
          <a:xfrm>
            <a:off x="1428749" y="3648223"/>
            <a:ext cx="7622418" cy="146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826"/>
              </a:lnSpc>
              <a:defRPr sz="30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urban office professional drinking four to five cups a day, with no good option inside the building.</a:t>
            </a:r>
          </a:p>
        </p:txBody>
      </p:sp>
      <p:sp>
        <p:nvSpPr>
          <p:cNvPr id="82" name="Shape 5"/>
          <p:cNvSpPr/>
          <p:nvPr/>
        </p:nvSpPr>
        <p:spPr>
          <a:xfrm>
            <a:off x="1047749" y="5724673"/>
            <a:ext cx="8162406" cy="258023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Text 6"/>
          <p:cNvSpPr txBox="1"/>
          <p:nvPr/>
        </p:nvSpPr>
        <p:spPr>
          <a:xfrm>
            <a:off x="1428750" y="6105673"/>
            <a:ext cx="814044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TWO BAD OPTIONS</a:t>
            </a:r>
          </a:p>
        </p:txBody>
      </p:sp>
      <p:sp>
        <p:nvSpPr>
          <p:cNvPr id="84" name="Text 7"/>
          <p:cNvSpPr txBox="1"/>
          <p:nvPr/>
        </p:nvSpPr>
        <p:spPr>
          <a:xfrm>
            <a:off x="1428749" y="6586686"/>
            <a:ext cx="7622418" cy="137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tapri outside — pavement, shared glass. Or the pantry machine, which dispenses something technically described as tea.</a:t>
            </a:r>
          </a:p>
        </p:txBody>
      </p:sp>
      <p:sp>
        <p:nvSpPr>
          <p:cNvPr id="85" name="Shape 8"/>
          <p:cNvSpPr/>
          <p:nvPr/>
        </p:nvSpPr>
        <p:spPr>
          <a:xfrm>
            <a:off x="1047749" y="8571607"/>
            <a:ext cx="8162406" cy="170304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Text 9"/>
          <p:cNvSpPr txBox="1"/>
          <p:nvPr/>
        </p:nvSpPr>
        <p:spPr>
          <a:xfrm>
            <a:off x="1428749" y="8952607"/>
            <a:ext cx="7622418" cy="97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None of this made the chai better. All of it made getting chai more reliable.</a:t>
            </a:r>
          </a:p>
        </p:txBody>
      </p:sp>
      <p:sp>
        <p:nvSpPr>
          <p:cNvPr id="87" name="Shape 10"/>
          <p:cNvSpPr/>
          <p:nvPr/>
        </p:nvSpPr>
        <p:spPr>
          <a:xfrm>
            <a:off x="9819754" y="2786210"/>
            <a:ext cx="57151" cy="1119189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Text 11"/>
          <p:cNvSpPr txBox="1"/>
          <p:nvPr/>
        </p:nvSpPr>
        <p:spPr>
          <a:xfrm>
            <a:off x="10181704" y="2786210"/>
            <a:ext cx="776440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150+ kiosks</a:t>
            </a:r>
          </a:p>
        </p:txBody>
      </p:sp>
      <p:sp>
        <p:nvSpPr>
          <p:cNvPr id="89" name="Text 12"/>
          <p:cNvSpPr txBox="1"/>
          <p:nvPr/>
        </p:nvSpPr>
        <p:spPr>
          <a:xfrm>
            <a:off x="10181704" y="3276748"/>
            <a:ext cx="7270303" cy="66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0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Inside corporate campuses, company-operated, never franchised</a:t>
            </a:r>
          </a:p>
        </p:txBody>
      </p:sp>
      <p:sp>
        <p:nvSpPr>
          <p:cNvPr id="90" name="Shape 13"/>
          <p:cNvSpPr/>
          <p:nvPr/>
        </p:nvSpPr>
        <p:spPr>
          <a:xfrm>
            <a:off x="9819754" y="4114948"/>
            <a:ext cx="57151" cy="804864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Text 14"/>
          <p:cNvSpPr txBox="1"/>
          <p:nvPr/>
        </p:nvSpPr>
        <p:spPr>
          <a:xfrm>
            <a:off x="10181704" y="4114948"/>
            <a:ext cx="776440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Pre-order app</a:t>
            </a:r>
          </a:p>
        </p:txBody>
      </p:sp>
      <p:sp>
        <p:nvSpPr>
          <p:cNvPr id="92" name="Text 15"/>
          <p:cNvSpPr txBox="1"/>
          <p:nvPr/>
        </p:nvSpPr>
        <p:spPr>
          <a:xfrm>
            <a:off x="10181704" y="4605485"/>
            <a:ext cx="776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0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Ready when you arrive. No queue.</a:t>
            </a:r>
          </a:p>
        </p:txBody>
      </p:sp>
      <p:sp>
        <p:nvSpPr>
          <p:cNvPr id="93" name="Shape 16"/>
          <p:cNvSpPr/>
          <p:nvPr/>
        </p:nvSpPr>
        <p:spPr>
          <a:xfrm>
            <a:off x="9819754" y="5129360"/>
            <a:ext cx="57151" cy="1119189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Text 17"/>
          <p:cNvSpPr txBox="1"/>
          <p:nvPr/>
        </p:nvSpPr>
        <p:spPr>
          <a:xfrm>
            <a:off x="10181704" y="5129360"/>
            <a:ext cx="776440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Machines in offices</a:t>
            </a:r>
          </a:p>
        </p:txBody>
      </p:sp>
      <p:sp>
        <p:nvSpPr>
          <p:cNvPr id="95" name="Text 18"/>
          <p:cNvSpPr txBox="1"/>
          <p:nvPr/>
        </p:nvSpPr>
        <p:spPr>
          <a:xfrm>
            <a:off x="10181704" y="5619898"/>
            <a:ext cx="7270303" cy="66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0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B2B premix. No real estate, recurring revenue, near-100% margin.</a:t>
            </a:r>
          </a:p>
        </p:txBody>
      </p:sp>
      <p:sp>
        <p:nvSpPr>
          <p:cNvPr id="96" name="Shape 19"/>
          <p:cNvSpPr/>
          <p:nvPr/>
        </p:nvSpPr>
        <p:spPr>
          <a:xfrm>
            <a:off x="9819754" y="6458098"/>
            <a:ext cx="57151" cy="1133476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Text 20"/>
          <p:cNvSpPr txBox="1"/>
          <p:nvPr/>
        </p:nvSpPr>
        <p:spPr>
          <a:xfrm>
            <a:off x="10181704" y="6458098"/>
            <a:ext cx="7764400" cy="466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772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₹400 cr raised</a:t>
            </a:r>
          </a:p>
        </p:txBody>
      </p:sp>
      <p:sp>
        <p:nvSpPr>
          <p:cNvPr id="98" name="Text 21"/>
          <p:cNvSpPr txBox="1"/>
          <p:nvPr/>
        </p:nvSpPr>
        <p:spPr>
          <a:xfrm>
            <a:off x="10181704" y="6962923"/>
            <a:ext cx="7270303" cy="66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0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Investors were buying the customer insight, not the recipe.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047750" y="952500"/>
            <a:ext cx="17811750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1881" b="1" spc="197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₹180 A CUP</a:t>
            </a:r>
          </a:p>
        </p:txBody>
      </p:sp>
      <p:sp>
        <p:nvSpPr>
          <p:cNvPr id="103" name="Text 1"/>
          <p:cNvSpPr txBox="1"/>
          <p:nvPr/>
        </p:nvSpPr>
        <p:spPr>
          <a:xfrm>
            <a:off x="1047750" y="1514475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Blue Tokai sells a version of yourself</a:t>
            </a:r>
          </a:p>
        </p:txBody>
      </p:sp>
      <p:sp>
        <p:nvSpPr>
          <p:cNvPr id="104" name="Shape 3"/>
          <p:cNvSpPr/>
          <p:nvPr/>
        </p:nvSpPr>
        <p:spPr>
          <a:xfrm>
            <a:off x="1409700" y="6645175"/>
            <a:ext cx="7105650" cy="923926"/>
          </a:xfrm>
          <a:prstGeom prst="rect">
            <a:avLst/>
          </a:prstGeom>
          <a:solidFill>
            <a:srgbClr val="F9F5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Shape 5"/>
          <p:cNvSpPr/>
          <p:nvPr/>
        </p:nvSpPr>
        <p:spPr>
          <a:xfrm>
            <a:off x="9410700" y="2710010"/>
            <a:ext cx="7829550" cy="2095501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Text 6"/>
          <p:cNvSpPr txBox="1"/>
          <p:nvPr/>
        </p:nvSpPr>
        <p:spPr>
          <a:xfrm>
            <a:off x="9715500" y="3014810"/>
            <a:ext cx="7454838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857"/>
              </a:lnSpc>
              <a:defRPr sz="3000">
                <a:solidFill>
                  <a:srgbClr val="20191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"Attikan Estate, Chikmagalur, Karnataka. Natural process. Notes of dark chocolate, blueberry, caramel."</a:t>
            </a:r>
          </a:p>
        </p:txBody>
      </p:sp>
      <p:sp>
        <p:nvSpPr>
          <p:cNvPr id="107" name="Text 7"/>
          <p:cNvSpPr txBox="1"/>
          <p:nvPr/>
        </p:nvSpPr>
        <p:spPr>
          <a:xfrm>
            <a:off x="9410700" y="5034110"/>
            <a:ext cx="8064438" cy="1311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513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menu is written like a wine list. The space is closer to a gallery than a café. The baristas speak a specific language — pour-over, AeroPress, cold brew.</a:t>
            </a:r>
          </a:p>
        </p:txBody>
      </p:sp>
      <p:sp>
        <p:nvSpPr>
          <p:cNvPr id="108" name="Shape 8"/>
          <p:cNvSpPr/>
          <p:nvPr/>
        </p:nvSpPr>
        <p:spPr>
          <a:xfrm>
            <a:off x="9410700" y="6535638"/>
            <a:ext cx="3819525" cy="13954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ext 9"/>
          <p:cNvSpPr txBox="1"/>
          <p:nvPr/>
        </p:nvSpPr>
        <p:spPr>
          <a:xfrm>
            <a:off x="9677400" y="6802338"/>
            <a:ext cx="361473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lnSpc>
                <a:spcPct val="78655"/>
              </a:lnSpc>
              <a:defRPr sz="3471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100+</a:t>
            </a:r>
          </a:p>
        </p:txBody>
      </p:sp>
      <p:sp>
        <p:nvSpPr>
          <p:cNvPr id="110" name="Text 10"/>
          <p:cNvSpPr txBox="1"/>
          <p:nvPr/>
        </p:nvSpPr>
        <p:spPr>
          <a:xfrm>
            <a:off x="9677400" y="7373838"/>
            <a:ext cx="361473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cafés by 2023</a:t>
            </a:r>
          </a:p>
        </p:txBody>
      </p:sp>
      <p:sp>
        <p:nvSpPr>
          <p:cNvPr id="111" name="Shape 11"/>
          <p:cNvSpPr/>
          <p:nvPr/>
        </p:nvSpPr>
        <p:spPr>
          <a:xfrm>
            <a:off x="13420725" y="6535638"/>
            <a:ext cx="3819525" cy="13954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" name="Text 12"/>
          <p:cNvSpPr txBox="1"/>
          <p:nvPr/>
        </p:nvSpPr>
        <p:spPr>
          <a:xfrm>
            <a:off x="13687425" y="6802338"/>
            <a:ext cx="361473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49808">
              <a:lnSpc>
                <a:spcPct val="78655"/>
              </a:lnSpc>
              <a:defRPr sz="3198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₹100 cr</a:t>
            </a:r>
          </a:p>
        </p:txBody>
      </p:sp>
      <p:sp>
        <p:nvSpPr>
          <p:cNvPr id="113" name="Text 13"/>
          <p:cNvSpPr txBox="1"/>
          <p:nvPr/>
        </p:nvSpPr>
        <p:spPr>
          <a:xfrm>
            <a:off x="13687425" y="7373838"/>
            <a:ext cx="361473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FY23 revenue</a:t>
            </a:r>
          </a:p>
        </p:txBody>
      </p:sp>
      <p:sp>
        <p:nvSpPr>
          <p:cNvPr id="114" name="Shape 14"/>
          <p:cNvSpPr/>
          <p:nvPr/>
        </p:nvSpPr>
        <p:spPr>
          <a:xfrm>
            <a:off x="1033462" y="8350150"/>
            <a:ext cx="16192501" cy="168592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15"/>
          <p:cNvSpPr txBox="1"/>
          <p:nvPr/>
        </p:nvSpPr>
        <p:spPr>
          <a:xfrm>
            <a:off x="1490662" y="8693050"/>
            <a:ext cx="15763876" cy="103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422"/>
              </a:lnSpc>
              <a:defRPr sz="31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"I was working out of Blue Tokai this morning" is a statement about who you are — not about where you got coffee.</a:t>
            </a:r>
          </a:p>
        </p:txBody>
      </p:sp>
      <p:pic>
        <p:nvPicPr>
          <p:cNvPr id="1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2601814"/>
            <a:ext cx="7105650" cy="53292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WHAT’S THE VALUE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is actually different?</a:t>
            </a:r>
          </a:p>
        </p:txBody>
      </p:sp>
      <p:sp>
        <p:nvSpPr>
          <p:cNvPr id="122" name="Shape 2"/>
          <p:cNvSpPr/>
          <p:nvPr/>
        </p:nvSpPr>
        <p:spPr>
          <a:xfrm>
            <a:off x="1047750" y="2852885"/>
            <a:ext cx="6524625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Text 3"/>
          <p:cNvSpPr txBox="1"/>
          <p:nvPr/>
        </p:nvSpPr>
        <p:spPr>
          <a:xfrm>
            <a:off x="1504949" y="3310085"/>
            <a:ext cx="6171250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0079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SAME</a:t>
            </a:r>
          </a:p>
        </p:txBody>
      </p:sp>
      <p:sp>
        <p:nvSpPr>
          <p:cNvPr id="124" name="Text 4"/>
          <p:cNvSpPr txBox="1"/>
          <p:nvPr/>
        </p:nvSpPr>
        <p:spPr>
          <a:xfrm>
            <a:off x="1504949" y="3886348"/>
            <a:ext cx="5778534" cy="1889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6683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Tea leaves. Milk. Sugar. Water. The caffeine reaching your bloodstream. The warm cup in your hand. The pause in your day.</a:t>
            </a:r>
          </a:p>
        </p:txBody>
      </p:sp>
      <p:sp>
        <p:nvSpPr>
          <p:cNvPr id="125" name="Text 5"/>
          <p:cNvSpPr txBox="1"/>
          <p:nvPr/>
        </p:nvSpPr>
        <p:spPr>
          <a:xfrm>
            <a:off x="1504949" y="7756252"/>
            <a:ext cx="5778534" cy="134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7298"/>
              </a:lnSpc>
              <a:defRPr sz="2500" i="1">
                <a:solidFill>
                  <a:srgbClr val="564B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In a blind taste test, a skilled chaiwala's masala chai often beats the branded outlet.</a:t>
            </a:r>
          </a:p>
        </p:txBody>
      </p:sp>
      <p:sp>
        <p:nvSpPr>
          <p:cNvPr id="126" name="Shape 6"/>
          <p:cNvSpPr/>
          <p:nvPr/>
        </p:nvSpPr>
        <p:spPr>
          <a:xfrm>
            <a:off x="8105775" y="2852885"/>
            <a:ext cx="9134475" cy="667211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Text 7"/>
          <p:cNvSpPr txBox="1"/>
          <p:nvPr/>
        </p:nvSpPr>
        <p:spPr>
          <a:xfrm>
            <a:off x="8562975" y="3310085"/>
            <a:ext cx="9042083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EVERYTHING ELSE</a:t>
            </a:r>
          </a:p>
        </p:txBody>
      </p:sp>
      <p:sp>
        <p:nvSpPr>
          <p:cNvPr id="128" name="Text 8"/>
          <p:cNvSpPr txBox="1"/>
          <p:nvPr/>
        </p:nvSpPr>
        <p:spPr>
          <a:xfrm>
            <a:off x="8562975" y="3886348"/>
            <a:ext cx="4353401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environment</a:t>
            </a:r>
          </a:p>
        </p:txBody>
      </p:sp>
      <p:sp>
        <p:nvSpPr>
          <p:cNvPr id="129" name="Text 9"/>
          <p:cNvSpPr txBox="1"/>
          <p:nvPr/>
        </p:nvSpPr>
        <p:spPr>
          <a:xfrm>
            <a:off x="12825413" y="3886348"/>
            <a:ext cx="4353402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hygiene</a:t>
            </a:r>
          </a:p>
        </p:txBody>
      </p:sp>
      <p:sp>
        <p:nvSpPr>
          <p:cNvPr id="130" name="Text 10"/>
          <p:cNvSpPr txBox="1"/>
          <p:nvPr/>
        </p:nvSpPr>
        <p:spPr>
          <a:xfrm>
            <a:off x="8562975" y="4434928"/>
            <a:ext cx="4353401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consistency</a:t>
            </a:r>
          </a:p>
        </p:txBody>
      </p:sp>
      <p:sp>
        <p:nvSpPr>
          <p:cNvPr id="131" name="Text 11"/>
          <p:cNvSpPr txBox="1"/>
          <p:nvPr/>
        </p:nvSpPr>
        <p:spPr>
          <a:xfrm>
            <a:off x="12825413" y="4434928"/>
            <a:ext cx="4353402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story attached</a:t>
            </a:r>
          </a:p>
        </p:txBody>
      </p:sp>
      <p:sp>
        <p:nvSpPr>
          <p:cNvPr id="132" name="Text 12"/>
          <p:cNvSpPr txBox="1"/>
          <p:nvPr/>
        </p:nvSpPr>
        <p:spPr>
          <a:xfrm>
            <a:off x="8562975" y="4983510"/>
            <a:ext cx="4353401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it signals</a:t>
            </a:r>
          </a:p>
        </p:txBody>
      </p:sp>
      <p:sp>
        <p:nvSpPr>
          <p:cNvPr id="133" name="Text 13"/>
          <p:cNvSpPr txBox="1"/>
          <p:nvPr/>
        </p:nvSpPr>
        <p:spPr>
          <a:xfrm>
            <a:off x="12825413" y="4983510"/>
            <a:ext cx="4353402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it makes you feel</a:t>
            </a:r>
          </a:p>
        </p:txBody>
      </p:sp>
      <p:sp>
        <p:nvSpPr>
          <p:cNvPr id="134" name="Text 14"/>
          <p:cNvSpPr txBox="1"/>
          <p:nvPr/>
        </p:nvSpPr>
        <p:spPr>
          <a:xfrm>
            <a:off x="8562975" y="5532089"/>
            <a:ext cx="407636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432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Effort to obtain it</a:t>
            </a:r>
          </a:p>
        </p:txBody>
      </p:sp>
      <p:sp>
        <p:nvSpPr>
          <p:cNvPr id="135" name="Text 15"/>
          <p:cNvSpPr txBox="1"/>
          <p:nvPr/>
        </p:nvSpPr>
        <p:spPr>
          <a:xfrm>
            <a:off x="12825413" y="5532089"/>
            <a:ext cx="407636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Whether it is worth photographing</a:t>
            </a:r>
          </a:p>
        </p:txBody>
      </p:sp>
      <p:sp>
        <p:nvSpPr>
          <p:cNvPr id="136" name="Text 16"/>
          <p:cNvSpPr txBox="1"/>
          <p:nvPr/>
        </p:nvSpPr>
        <p:spPr>
          <a:xfrm>
            <a:off x="8562975" y="6476851"/>
            <a:ext cx="407636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Whether you would take a client there</a:t>
            </a:r>
          </a:p>
        </p:txBody>
      </p:sp>
      <p:sp>
        <p:nvSpPr>
          <p:cNvPr id="137" name="Text 17"/>
          <p:cNvSpPr txBox="1"/>
          <p:nvPr/>
        </p:nvSpPr>
        <p:spPr>
          <a:xfrm>
            <a:off x="12825413" y="6476851"/>
            <a:ext cx="407636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Whether your parents would understand the bill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ARJUN, 24, SOFTWARE ENGINEER, BENGALURU</a:t>
            </a:r>
          </a:p>
        </p:txBody>
      </p:sp>
      <p:sp>
        <p:nvSpPr>
          <p:cNvPr id="142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One person. One day. Three prices.</a:t>
            </a:r>
          </a:p>
        </p:txBody>
      </p:sp>
      <p:sp>
        <p:nvSpPr>
          <p:cNvPr id="143" name="Shape 2"/>
          <p:cNvSpPr/>
          <p:nvPr/>
        </p:nvSpPr>
        <p:spPr>
          <a:xfrm>
            <a:off x="1047750" y="2852885"/>
            <a:ext cx="5168875" cy="7620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Text 3"/>
          <p:cNvSpPr txBox="1"/>
          <p:nvPr/>
        </p:nvSpPr>
        <p:spPr>
          <a:xfrm>
            <a:off x="1047750" y="3233885"/>
            <a:ext cx="5685764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7:15 am · bus stop</a:t>
            </a:r>
          </a:p>
        </p:txBody>
      </p:sp>
      <p:sp>
        <p:nvSpPr>
          <p:cNvPr id="145" name="Text 4"/>
          <p:cNvSpPr txBox="1"/>
          <p:nvPr/>
        </p:nvSpPr>
        <p:spPr>
          <a:xfrm>
            <a:off x="1047750" y="3833960"/>
            <a:ext cx="5323941" cy="144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Rushing for the office shuttle. Drinks it standing, in sixty seconds.</a:t>
            </a:r>
          </a:p>
        </p:txBody>
      </p:sp>
      <p:sp>
        <p:nvSpPr>
          <p:cNvPr id="146" name="Text 5"/>
          <p:cNvSpPr txBox="1"/>
          <p:nvPr/>
        </p:nvSpPr>
        <p:spPr>
          <a:xfrm>
            <a:off x="1047750" y="5474122"/>
            <a:ext cx="5323941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he wants: hot chai, now, cheapest, no wait.</a:t>
            </a:r>
          </a:p>
        </p:txBody>
      </p:sp>
      <p:sp>
        <p:nvSpPr>
          <p:cNvPr id="147" name="Text 6"/>
          <p:cNvSpPr txBox="1"/>
          <p:nvPr/>
        </p:nvSpPr>
        <p:spPr>
          <a:xfrm>
            <a:off x="1047750" y="7439025"/>
            <a:ext cx="5685764" cy="118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49808">
              <a:lnSpc>
                <a:spcPct val="78261"/>
              </a:lnSpc>
              <a:defRPr sz="7380" b="1" spc="-328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₹8</a:t>
            </a:r>
          </a:p>
        </p:txBody>
      </p:sp>
      <p:sp>
        <p:nvSpPr>
          <p:cNvPr id="148" name="Shape 7"/>
          <p:cNvSpPr/>
          <p:nvPr/>
        </p:nvSpPr>
        <p:spPr>
          <a:xfrm>
            <a:off x="6559525" y="2852885"/>
            <a:ext cx="5168875" cy="7620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9" name="Text 8"/>
          <p:cNvSpPr txBox="1"/>
          <p:nvPr/>
        </p:nvSpPr>
        <p:spPr>
          <a:xfrm>
            <a:off x="6559525" y="3233885"/>
            <a:ext cx="5685764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11:00 am · office kiosk</a:t>
            </a:r>
          </a:p>
        </p:txBody>
      </p:sp>
      <p:sp>
        <p:nvSpPr>
          <p:cNvPr id="150" name="Text 9"/>
          <p:cNvSpPr txBox="1"/>
          <p:nvPr/>
        </p:nvSpPr>
        <p:spPr>
          <a:xfrm>
            <a:off x="6559525" y="3833960"/>
            <a:ext cx="5323942" cy="97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Orders ahead on the app. Drinks it at his desk, unhurried.</a:t>
            </a:r>
          </a:p>
        </p:txBody>
      </p:sp>
      <p:sp>
        <p:nvSpPr>
          <p:cNvPr id="151" name="Text 10"/>
          <p:cNvSpPr txBox="1"/>
          <p:nvPr/>
        </p:nvSpPr>
        <p:spPr>
          <a:xfrm>
            <a:off x="6559525" y="5003601"/>
            <a:ext cx="5323942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he wants: good chai, clean, consistent, no going out.</a:t>
            </a:r>
          </a:p>
        </p:txBody>
      </p:sp>
      <p:sp>
        <p:nvSpPr>
          <p:cNvPr id="152" name="Text 11"/>
          <p:cNvSpPr txBox="1"/>
          <p:nvPr/>
        </p:nvSpPr>
        <p:spPr>
          <a:xfrm>
            <a:off x="6559525" y="7439025"/>
            <a:ext cx="5685764" cy="118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49808">
              <a:lnSpc>
                <a:spcPct val="78261"/>
              </a:lnSpc>
              <a:defRPr sz="7380" b="1" spc="-328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₹35</a:t>
            </a:r>
          </a:p>
        </p:txBody>
      </p:sp>
      <p:sp>
        <p:nvSpPr>
          <p:cNvPr id="153" name="Shape 12"/>
          <p:cNvSpPr/>
          <p:nvPr/>
        </p:nvSpPr>
        <p:spPr>
          <a:xfrm>
            <a:off x="12071299" y="2852885"/>
            <a:ext cx="5168951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Text 13"/>
          <p:cNvSpPr txBox="1"/>
          <p:nvPr/>
        </p:nvSpPr>
        <p:spPr>
          <a:xfrm>
            <a:off x="12071299" y="3233885"/>
            <a:ext cx="5685846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Saturday · Indiranagar</a:t>
            </a:r>
          </a:p>
        </p:txBody>
      </p:sp>
      <p:sp>
        <p:nvSpPr>
          <p:cNvPr id="155" name="Text 14"/>
          <p:cNvSpPr txBox="1"/>
          <p:nvPr/>
        </p:nvSpPr>
        <p:spPr>
          <a:xfrm>
            <a:off x="12071299" y="3833960"/>
            <a:ext cx="5324019" cy="144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Laptop out, single-origin pour-over, photo posted. Three hours here.</a:t>
            </a:r>
          </a:p>
        </p:txBody>
      </p:sp>
      <p:sp>
        <p:nvSpPr>
          <p:cNvPr id="156" name="Text 15"/>
          <p:cNvSpPr txBox="1"/>
          <p:nvPr/>
        </p:nvSpPr>
        <p:spPr>
          <a:xfrm>
            <a:off x="12071299" y="5474122"/>
            <a:ext cx="5324019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he wants: great coffee — and to be seen wanting it.</a:t>
            </a:r>
          </a:p>
        </p:txBody>
      </p:sp>
      <p:sp>
        <p:nvSpPr>
          <p:cNvPr id="157" name="Text 16"/>
          <p:cNvSpPr txBox="1"/>
          <p:nvPr/>
        </p:nvSpPr>
        <p:spPr>
          <a:xfrm>
            <a:off x="12071299" y="7439025"/>
            <a:ext cx="5685846" cy="118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49808">
              <a:lnSpc>
                <a:spcPct val="78261"/>
              </a:lnSpc>
              <a:defRPr sz="7380" b="1" spc="-328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₹190</a:t>
            </a:r>
          </a:p>
        </p:txBody>
      </p:sp>
      <p:sp>
        <p:nvSpPr>
          <p:cNvPr id="158" name="Text 17"/>
          <p:cNvSpPr txBox="1"/>
          <p:nvPr/>
        </p:nvSpPr>
        <p:spPr>
          <a:xfrm>
            <a:off x="238125" y="9039225"/>
            <a:ext cx="17811750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algn="ctr">
              <a:lnSpc>
                <a:spcPct val="90000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He is not overpaying on Saturday. The value of the product genuinely changed.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 txBox="1"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FRAMEWORK</a:t>
            </a:r>
          </a:p>
        </p:txBody>
      </p:sp>
      <p:sp>
        <p:nvSpPr>
          <p:cNvPr id="179" name="Text 1"/>
          <p:cNvSpPr txBox="1"/>
          <p:nvPr/>
        </p:nvSpPr>
        <p:spPr>
          <a:xfrm>
            <a:off x="1047750" y="1352550"/>
            <a:ext cx="17811750" cy="73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633"/>
              </a:lnSpc>
              <a:defRPr sz="4752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Three layers of value. Every premium you will ever pay.</a:t>
            </a:r>
          </a:p>
        </p:txBody>
      </p:sp>
      <p:sp>
        <p:nvSpPr>
          <p:cNvPr id="180" name="Shape 2"/>
          <p:cNvSpPr/>
          <p:nvPr/>
        </p:nvSpPr>
        <p:spPr>
          <a:xfrm>
            <a:off x="1047750" y="2547341"/>
            <a:ext cx="16192500" cy="1401963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Text 3"/>
          <p:cNvSpPr txBox="1"/>
          <p:nvPr/>
        </p:nvSpPr>
        <p:spPr>
          <a:xfrm>
            <a:off x="1390650" y="2852141"/>
            <a:ext cx="2818139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588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 · Functional</a:t>
            </a:r>
          </a:p>
        </p:txBody>
      </p:sp>
      <p:sp>
        <p:nvSpPr>
          <p:cNvPr id="182" name="Text 4"/>
          <p:cNvSpPr txBox="1"/>
          <p:nvPr/>
        </p:nvSpPr>
        <p:spPr>
          <a:xfrm>
            <a:off x="4431505" y="2852141"/>
            <a:ext cx="4508960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Does it do what it claims? Is the basic need met?</a:t>
            </a:r>
          </a:p>
        </p:txBody>
      </p:sp>
      <p:sp>
        <p:nvSpPr>
          <p:cNvPr id="183" name="Text 5"/>
          <p:cNvSpPr txBox="1"/>
          <p:nvPr/>
        </p:nvSpPr>
        <p:spPr>
          <a:xfrm>
            <a:off x="9113936" y="2852141"/>
            <a:ext cx="356965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432"/>
              </a:lnSpc>
              <a:defRPr sz="2400" i="1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"Does it work?"</a:t>
            </a:r>
          </a:p>
        </p:txBody>
      </p:sp>
      <p:sp>
        <p:nvSpPr>
          <p:cNvPr id="184" name="Text 6"/>
          <p:cNvSpPr txBox="1"/>
          <p:nvPr/>
        </p:nvSpPr>
        <p:spPr>
          <a:xfrm>
            <a:off x="12884422" y="2852141"/>
            <a:ext cx="4133317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Tapri chai. Generic paracetamol. A fan.</a:t>
            </a:r>
          </a:p>
        </p:txBody>
      </p:sp>
      <p:sp>
        <p:nvSpPr>
          <p:cNvPr id="185" name="Shape 7"/>
          <p:cNvSpPr/>
          <p:nvPr/>
        </p:nvSpPr>
        <p:spPr>
          <a:xfrm>
            <a:off x="1047750" y="4158853"/>
            <a:ext cx="16192500" cy="1489622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" name="Text 8"/>
          <p:cNvSpPr txBox="1"/>
          <p:nvPr/>
        </p:nvSpPr>
        <p:spPr>
          <a:xfrm>
            <a:off x="1390650" y="4463653"/>
            <a:ext cx="2818139" cy="918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81529"/>
              </a:lnSpc>
              <a:defRPr sz="3234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 · Experiential</a:t>
            </a:r>
          </a:p>
        </p:txBody>
      </p:sp>
      <p:sp>
        <p:nvSpPr>
          <p:cNvPr id="187" name="Text 9"/>
          <p:cNvSpPr txBox="1"/>
          <p:nvPr/>
        </p:nvSpPr>
        <p:spPr>
          <a:xfrm>
            <a:off x="4431505" y="4463653"/>
            <a:ext cx="4508960" cy="918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432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Does using it feel good? Convenient, pleasant, reliable?</a:t>
            </a:r>
          </a:p>
        </p:txBody>
      </p:sp>
      <p:sp>
        <p:nvSpPr>
          <p:cNvPr id="188" name="Text 10"/>
          <p:cNvSpPr txBox="1"/>
          <p:nvPr/>
        </p:nvSpPr>
        <p:spPr>
          <a:xfrm>
            <a:off x="9113936" y="4463653"/>
            <a:ext cx="3569658" cy="918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432"/>
              </a:lnSpc>
              <a:defRPr sz="2400" i="1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"Is it enjoyable — or merely functional?"</a:t>
            </a:r>
          </a:p>
        </p:txBody>
      </p:sp>
      <p:sp>
        <p:nvSpPr>
          <p:cNvPr id="189" name="Text 11"/>
          <p:cNvSpPr txBox="1"/>
          <p:nvPr/>
        </p:nvSpPr>
        <p:spPr>
          <a:xfrm>
            <a:off x="12884422" y="4463653"/>
            <a:ext cx="4133317" cy="918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432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Chai Point. Swiggy. Spotify over a folder of MP3s.</a:t>
            </a:r>
          </a:p>
        </p:txBody>
      </p:sp>
      <p:sp>
        <p:nvSpPr>
          <p:cNvPr id="190" name="Shape 12"/>
          <p:cNvSpPr/>
          <p:nvPr/>
        </p:nvSpPr>
        <p:spPr>
          <a:xfrm>
            <a:off x="1047750" y="5858023"/>
            <a:ext cx="16192500" cy="1798142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Text 13"/>
          <p:cNvSpPr txBox="1"/>
          <p:nvPr/>
        </p:nvSpPr>
        <p:spPr>
          <a:xfrm>
            <a:off x="1390650" y="6162823"/>
            <a:ext cx="2818139" cy="122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588"/>
              </a:lnSpc>
              <a:defRPr sz="3300" b="1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 · Identity</a:t>
            </a:r>
          </a:p>
        </p:txBody>
      </p:sp>
      <p:sp>
        <p:nvSpPr>
          <p:cNvPr id="192" name="Text 14"/>
          <p:cNvSpPr txBox="1"/>
          <p:nvPr/>
        </p:nvSpPr>
        <p:spPr>
          <a:xfrm>
            <a:off x="4431505" y="6162823"/>
            <a:ext cx="4508960" cy="122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Does buying it say something about who you are or are becoming?</a:t>
            </a:r>
          </a:p>
        </p:txBody>
      </p:sp>
      <p:sp>
        <p:nvSpPr>
          <p:cNvPr id="193" name="Text 15"/>
          <p:cNvSpPr txBox="1"/>
          <p:nvPr/>
        </p:nvSpPr>
        <p:spPr>
          <a:xfrm>
            <a:off x="9113936" y="6162823"/>
            <a:ext cx="3569658" cy="122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 i="1">
                <a:solidFill>
                  <a:srgbClr val="FCF8F1">
                    <a:alpha val="9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"Would you still buy it if nobody could see you using it?"</a:t>
            </a:r>
          </a:p>
        </p:txBody>
      </p:sp>
      <p:sp>
        <p:nvSpPr>
          <p:cNvPr id="194" name="Text 16"/>
          <p:cNvSpPr txBox="1"/>
          <p:nvPr/>
        </p:nvSpPr>
        <p:spPr>
          <a:xfrm>
            <a:off x="12884422" y="6162823"/>
            <a:ext cx="4133317" cy="122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432"/>
              </a:lnSpc>
              <a:defRPr sz="2400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Blue Tokai. An IIM degree. Nike at five times Bata.</a:t>
            </a:r>
          </a:p>
        </p:txBody>
      </p:sp>
      <p:sp>
        <p:nvSpPr>
          <p:cNvPr id="195" name="Shape 17"/>
          <p:cNvSpPr/>
          <p:nvPr/>
        </p:nvSpPr>
        <p:spPr>
          <a:xfrm>
            <a:off x="1047750" y="8411616"/>
            <a:ext cx="16192500" cy="19051"/>
          </a:xfrm>
          <a:prstGeom prst="rect">
            <a:avLst/>
          </a:prstGeom>
          <a:solidFill>
            <a:srgbClr val="D4CCC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 18"/>
          <p:cNvSpPr txBox="1"/>
          <p:nvPr/>
        </p:nvSpPr>
        <p:spPr>
          <a:xfrm>
            <a:off x="1047750" y="8773566"/>
            <a:ext cx="5323941" cy="884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1999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Functional: </a:t>
            </a:r>
            <a:r>
              <a:rPr b="0"/>
              <a:t>everyone competes here.</a:t>
            </a:r>
          </a:p>
        </p:txBody>
      </p:sp>
      <p:sp>
        <p:nvSpPr>
          <p:cNvPr id="197" name="Text 19"/>
          <p:cNvSpPr txBox="1"/>
          <p:nvPr/>
        </p:nvSpPr>
        <p:spPr>
          <a:xfrm>
            <a:off x="6559525" y="8773566"/>
            <a:ext cx="5323942" cy="884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13333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Experiential: </a:t>
            </a:r>
            <a:r>
              <a:rPr b="0"/>
              <a:t>fewer competitors.</a:t>
            </a:r>
          </a:p>
        </p:txBody>
      </p:sp>
      <p:sp>
        <p:nvSpPr>
          <p:cNvPr id="198" name="Text 20"/>
          <p:cNvSpPr txBox="1"/>
          <p:nvPr/>
        </p:nvSpPr>
        <p:spPr>
          <a:xfrm>
            <a:off x="12071299" y="8773566"/>
            <a:ext cx="5324019" cy="884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1999"/>
              </a:lnSpc>
              <a:defRPr sz="2500" b="1">
                <a:solidFill>
                  <a:srgbClr val="A837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Identity: </a:t>
            </a:r>
            <a:r>
              <a:rPr b="0"/>
              <a:t>almost none — you cannot copy what a brand means to people.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TRY THESE YOURSELF · WHICH LAYERS ARE ACTIVE?</a:t>
            </a:r>
          </a:p>
        </p:txBody>
      </p:sp>
      <p:sp>
        <p:nvSpPr>
          <p:cNvPr id="203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Four premiums. Which layer is each one selling?</a:t>
            </a:r>
          </a:p>
        </p:txBody>
      </p:sp>
      <p:sp>
        <p:nvSpPr>
          <p:cNvPr id="204" name="Shape 2"/>
          <p:cNvSpPr/>
          <p:nvPr/>
        </p:nvSpPr>
        <p:spPr>
          <a:xfrm>
            <a:off x="10477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Text 3"/>
          <p:cNvSpPr txBox="1"/>
          <p:nvPr/>
        </p:nvSpPr>
        <p:spPr>
          <a:xfrm>
            <a:off x="1466850" y="3271985"/>
            <a:ext cx="3100198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Instamart vs kirana</a:t>
            </a:r>
          </a:p>
        </p:txBody>
      </p:sp>
      <p:sp>
        <p:nvSpPr>
          <p:cNvPr id="206" name="Text 4"/>
          <p:cNvSpPr txBox="1"/>
          <p:nvPr/>
        </p:nvSpPr>
        <p:spPr>
          <a:xfrm>
            <a:off x="1466850" y="4460676"/>
            <a:ext cx="3100198" cy="91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922"/>
              </a:lnSpc>
              <a:defRPr sz="25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Same groceries, plus a delivery fee.</a:t>
            </a:r>
          </a:p>
        </p:txBody>
      </p:sp>
      <p:sp>
        <p:nvSpPr>
          <p:cNvPr id="207" name="Shape 5"/>
          <p:cNvSpPr/>
          <p:nvPr/>
        </p:nvSpPr>
        <p:spPr>
          <a:xfrm>
            <a:off x="51625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6"/>
          <p:cNvSpPr txBox="1"/>
          <p:nvPr/>
        </p:nvSpPr>
        <p:spPr>
          <a:xfrm>
            <a:off x="5581650" y="3271985"/>
            <a:ext cx="3100198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Lenskart vs optician</a:t>
            </a:r>
          </a:p>
        </p:txBody>
      </p:sp>
      <p:sp>
        <p:nvSpPr>
          <p:cNvPr id="209" name="Text 7"/>
          <p:cNvSpPr txBox="1"/>
          <p:nvPr/>
        </p:nvSpPr>
        <p:spPr>
          <a:xfrm>
            <a:off x="5581650" y="4460676"/>
            <a:ext cx="3100198" cy="91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922"/>
              </a:lnSpc>
              <a:defRPr sz="25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₹500 glasses versus ₹2,000–4,000.</a:t>
            </a:r>
          </a:p>
        </p:txBody>
      </p:sp>
      <p:sp>
        <p:nvSpPr>
          <p:cNvPr id="210" name="Shape 8"/>
          <p:cNvSpPr/>
          <p:nvPr/>
        </p:nvSpPr>
        <p:spPr>
          <a:xfrm>
            <a:off x="92773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Text 9"/>
          <p:cNvSpPr txBox="1"/>
          <p:nvPr/>
        </p:nvSpPr>
        <p:spPr>
          <a:xfrm>
            <a:off x="9696450" y="3271985"/>
            <a:ext cx="3100198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Bira 91 vs Kingfisher</a:t>
            </a:r>
          </a:p>
        </p:txBody>
      </p:sp>
      <p:sp>
        <p:nvSpPr>
          <p:cNvPr id="212" name="Text 10"/>
          <p:cNvSpPr txBox="1"/>
          <p:nvPr/>
        </p:nvSpPr>
        <p:spPr>
          <a:xfrm>
            <a:off x="9696450" y="4460676"/>
            <a:ext cx="3100198" cy="91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922"/>
              </a:lnSpc>
              <a:defRPr sz="25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30–40% more for a beer.</a:t>
            </a:r>
          </a:p>
        </p:txBody>
      </p:sp>
      <p:sp>
        <p:nvSpPr>
          <p:cNvPr id="213" name="Shape 11"/>
          <p:cNvSpPr/>
          <p:nvPr/>
        </p:nvSpPr>
        <p:spPr>
          <a:xfrm>
            <a:off x="133921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Text 12"/>
          <p:cNvSpPr txBox="1"/>
          <p:nvPr/>
        </p:nvSpPr>
        <p:spPr>
          <a:xfrm>
            <a:off x="13811250" y="3271985"/>
            <a:ext cx="3100198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85411"/>
              </a:lnSpc>
              <a:defRPr sz="3234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AirPods vs ₹600 pair</a:t>
            </a:r>
          </a:p>
        </p:txBody>
      </p:sp>
      <p:sp>
        <p:nvSpPr>
          <p:cNvPr id="215" name="Text 13"/>
          <p:cNvSpPr txBox="1"/>
          <p:nvPr/>
        </p:nvSpPr>
        <p:spPr>
          <a:xfrm>
            <a:off x="13811250" y="4460676"/>
            <a:ext cx="3100198" cy="91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922"/>
              </a:lnSpc>
              <a:defRPr sz="25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25× price gap. Explain it.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ANSWERS</a:t>
            </a:r>
          </a:p>
        </p:txBody>
      </p:sp>
      <p:sp>
        <p:nvSpPr>
          <p:cNvPr id="220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Four premiums, four different reasons</a:t>
            </a:r>
          </a:p>
        </p:txBody>
      </p:sp>
      <p:sp>
        <p:nvSpPr>
          <p:cNvPr id="221" name="Shape 2"/>
          <p:cNvSpPr/>
          <p:nvPr/>
        </p:nvSpPr>
        <p:spPr>
          <a:xfrm>
            <a:off x="10477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2" name="Text 3"/>
          <p:cNvSpPr txBox="1"/>
          <p:nvPr/>
        </p:nvSpPr>
        <p:spPr>
          <a:xfrm>
            <a:off x="1390650" y="3195785"/>
            <a:ext cx="3257170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6086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Instamart vs kirana</a:t>
            </a:r>
          </a:p>
        </p:txBody>
      </p:sp>
      <p:sp>
        <p:nvSpPr>
          <p:cNvPr id="223" name="Text 4"/>
          <p:cNvSpPr txBox="1"/>
          <p:nvPr/>
        </p:nvSpPr>
        <p:spPr>
          <a:xfrm>
            <a:off x="1390650" y="4224485"/>
            <a:ext cx="3257170" cy="809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651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Same groceries, plus a fee.</a:t>
            </a:r>
          </a:p>
        </p:txBody>
      </p:sp>
      <p:sp>
        <p:nvSpPr>
          <p:cNvPr id="224" name="Shape 5"/>
          <p:cNvSpPr/>
          <p:nvPr/>
        </p:nvSpPr>
        <p:spPr>
          <a:xfrm>
            <a:off x="1047750" y="7370489"/>
            <a:ext cx="3848100" cy="215451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Text 6"/>
          <p:cNvSpPr txBox="1"/>
          <p:nvPr/>
        </p:nvSpPr>
        <p:spPr>
          <a:xfrm>
            <a:off x="1390650" y="7675289"/>
            <a:ext cx="3478530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Layers 1 + 2</a:t>
            </a:r>
          </a:p>
        </p:txBody>
      </p:sp>
      <p:sp>
        <p:nvSpPr>
          <p:cNvPr id="226" name="Text 7"/>
          <p:cNvSpPr txBox="1"/>
          <p:nvPr/>
        </p:nvSpPr>
        <p:spPr>
          <a:xfrm>
            <a:off x="1390650" y="8180114"/>
            <a:ext cx="3257170" cy="1078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0799"/>
              </a:lnSpc>
              <a:defRPr sz="2100">
                <a:solidFill>
                  <a:srgbClr val="C8BBB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Nobody posts about their Instamart order. Identity absent.</a:t>
            </a:r>
          </a:p>
        </p:txBody>
      </p:sp>
      <p:sp>
        <p:nvSpPr>
          <p:cNvPr id="227" name="Shape 8"/>
          <p:cNvSpPr/>
          <p:nvPr/>
        </p:nvSpPr>
        <p:spPr>
          <a:xfrm>
            <a:off x="51625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Text 9"/>
          <p:cNvSpPr txBox="1"/>
          <p:nvPr/>
        </p:nvSpPr>
        <p:spPr>
          <a:xfrm>
            <a:off x="5505450" y="3195785"/>
            <a:ext cx="3257170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6086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Lenskart vs optician</a:t>
            </a:r>
          </a:p>
        </p:txBody>
      </p:sp>
      <p:sp>
        <p:nvSpPr>
          <p:cNvPr id="229" name="Text 10"/>
          <p:cNvSpPr txBox="1"/>
          <p:nvPr/>
        </p:nvSpPr>
        <p:spPr>
          <a:xfrm>
            <a:off x="5505450" y="4224485"/>
            <a:ext cx="3257170" cy="809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651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₹500 versus ₹2,000–4,000.</a:t>
            </a:r>
          </a:p>
        </p:txBody>
      </p:sp>
      <p:sp>
        <p:nvSpPr>
          <p:cNvPr id="230" name="Shape 11"/>
          <p:cNvSpPr/>
          <p:nvPr/>
        </p:nvSpPr>
        <p:spPr>
          <a:xfrm>
            <a:off x="5162550" y="7370489"/>
            <a:ext cx="3848100" cy="215451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Text 12"/>
          <p:cNvSpPr txBox="1"/>
          <p:nvPr/>
        </p:nvSpPr>
        <p:spPr>
          <a:xfrm>
            <a:off x="5505450" y="7675289"/>
            <a:ext cx="3478530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All three</a:t>
            </a:r>
          </a:p>
        </p:txBody>
      </p:sp>
      <p:sp>
        <p:nvSpPr>
          <p:cNvPr id="232" name="Text 13"/>
          <p:cNvSpPr txBox="1"/>
          <p:nvPr/>
        </p:nvSpPr>
        <p:spPr>
          <a:xfrm>
            <a:off x="5505450" y="8180114"/>
            <a:ext cx="3257170" cy="1078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0799"/>
              </a:lnSpc>
              <a:defRPr sz="2100">
                <a:solidFill>
                  <a:srgbClr val="C8BBB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Same vision correction, far better buying, trusted modern brand.</a:t>
            </a:r>
          </a:p>
        </p:txBody>
      </p:sp>
      <p:sp>
        <p:nvSpPr>
          <p:cNvPr id="233" name="Shape 14"/>
          <p:cNvSpPr/>
          <p:nvPr/>
        </p:nvSpPr>
        <p:spPr>
          <a:xfrm>
            <a:off x="92773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Text 15"/>
          <p:cNvSpPr txBox="1"/>
          <p:nvPr/>
        </p:nvSpPr>
        <p:spPr>
          <a:xfrm>
            <a:off x="9620250" y="3195785"/>
            <a:ext cx="3257170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6086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Bira 91 vs Kingfisher</a:t>
            </a:r>
          </a:p>
        </p:txBody>
      </p:sp>
      <p:sp>
        <p:nvSpPr>
          <p:cNvPr id="235" name="Text 16"/>
          <p:cNvSpPr txBox="1"/>
          <p:nvPr/>
        </p:nvSpPr>
        <p:spPr>
          <a:xfrm>
            <a:off x="9620250" y="4224485"/>
            <a:ext cx="3478530" cy="423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651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30–40% more for a beer.</a:t>
            </a:r>
          </a:p>
        </p:txBody>
      </p:sp>
      <p:sp>
        <p:nvSpPr>
          <p:cNvPr id="236" name="Shape 17"/>
          <p:cNvSpPr/>
          <p:nvPr/>
        </p:nvSpPr>
        <p:spPr>
          <a:xfrm>
            <a:off x="9277350" y="7370489"/>
            <a:ext cx="3848100" cy="215451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7" name="Text 18"/>
          <p:cNvSpPr txBox="1"/>
          <p:nvPr/>
        </p:nvSpPr>
        <p:spPr>
          <a:xfrm>
            <a:off x="9620250" y="7675289"/>
            <a:ext cx="3478530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Layer 3 dominant</a:t>
            </a:r>
          </a:p>
        </p:txBody>
      </p:sp>
      <p:sp>
        <p:nvSpPr>
          <p:cNvPr id="238" name="Text 19"/>
          <p:cNvSpPr txBox="1"/>
          <p:nvPr/>
        </p:nvSpPr>
        <p:spPr>
          <a:xfrm>
            <a:off x="9620250" y="8180114"/>
            <a:ext cx="3257170" cy="1078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0799"/>
              </a:lnSpc>
              <a:defRPr sz="2100">
                <a:solidFill>
                  <a:srgbClr val="FCF8F1">
                    <a:alpha val="92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Choosing Bira says something Kingfisher does not.</a:t>
            </a:r>
          </a:p>
        </p:txBody>
      </p:sp>
      <p:sp>
        <p:nvSpPr>
          <p:cNvPr id="239" name="Shape 20"/>
          <p:cNvSpPr/>
          <p:nvPr/>
        </p:nvSpPr>
        <p:spPr>
          <a:xfrm>
            <a:off x="133921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0" name="Text 21"/>
          <p:cNvSpPr txBox="1"/>
          <p:nvPr/>
        </p:nvSpPr>
        <p:spPr>
          <a:xfrm>
            <a:off x="13735050" y="3195785"/>
            <a:ext cx="3257170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6086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AirPods vs ₹600 pair</a:t>
            </a:r>
          </a:p>
        </p:txBody>
      </p:sp>
      <p:sp>
        <p:nvSpPr>
          <p:cNvPr id="241" name="Text 22"/>
          <p:cNvSpPr txBox="1"/>
          <p:nvPr/>
        </p:nvSpPr>
        <p:spPr>
          <a:xfrm>
            <a:off x="13735050" y="4224485"/>
            <a:ext cx="3478530" cy="423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651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25× price gap.</a:t>
            </a:r>
          </a:p>
        </p:txBody>
      </p:sp>
      <p:sp>
        <p:nvSpPr>
          <p:cNvPr id="242" name="Shape 23"/>
          <p:cNvSpPr/>
          <p:nvPr/>
        </p:nvSpPr>
        <p:spPr>
          <a:xfrm>
            <a:off x="13392150" y="7717184"/>
            <a:ext cx="3848100" cy="1807816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3" name="Text 24"/>
          <p:cNvSpPr txBox="1"/>
          <p:nvPr/>
        </p:nvSpPr>
        <p:spPr>
          <a:xfrm>
            <a:off x="13735050" y="8021984"/>
            <a:ext cx="3478530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All three, 3 dominant</a:t>
            </a:r>
          </a:p>
        </p:txBody>
      </p:sp>
      <p:sp>
        <p:nvSpPr>
          <p:cNvPr id="244" name="Text 25"/>
          <p:cNvSpPr txBox="1"/>
          <p:nvPr/>
        </p:nvSpPr>
        <p:spPr>
          <a:xfrm>
            <a:off x="13735050" y="8526809"/>
            <a:ext cx="3257170" cy="731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0799"/>
              </a:lnSpc>
              <a:defRPr sz="2100">
                <a:solidFill>
                  <a:srgbClr val="FCF8F1">
                    <a:alpha val="92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Some real function. Most of the ₹14,400 is the logo.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NUMBERS</a:t>
            </a:r>
          </a:p>
        </p:txBody>
      </p:sp>
      <p:sp>
        <p:nvSpPr>
          <p:cNvPr id="249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Similar margins. Wildly different businesses.</a:t>
            </a:r>
          </a:p>
        </p:txBody>
      </p:sp>
      <p:sp>
        <p:nvSpPr>
          <p:cNvPr id="250" name="Shape 2"/>
          <p:cNvSpPr/>
          <p:nvPr/>
        </p:nvSpPr>
        <p:spPr>
          <a:xfrm>
            <a:off x="1047750" y="3210074"/>
            <a:ext cx="16192500" cy="2857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Text 3"/>
          <p:cNvSpPr txBox="1"/>
          <p:nvPr/>
        </p:nvSpPr>
        <p:spPr>
          <a:xfrm>
            <a:off x="1314450" y="2776685"/>
            <a:ext cx="2801341" cy="30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90000"/>
              </a:lnSpc>
              <a:defRPr sz="1710" b="1" spc="95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BUSINESS</a:t>
            </a:r>
          </a:p>
        </p:txBody>
      </p:sp>
      <p:sp>
        <p:nvSpPr>
          <p:cNvPr id="252" name="Text 4"/>
          <p:cNvSpPr txBox="1"/>
          <p:nvPr/>
        </p:nvSpPr>
        <p:spPr>
          <a:xfrm>
            <a:off x="4089722" y="2776685"/>
            <a:ext cx="2241040" cy="30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90000"/>
              </a:lnSpc>
              <a:defRPr sz="1710" b="1" spc="95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PRICE</a:t>
            </a:r>
          </a:p>
        </p:txBody>
      </p:sp>
      <p:sp>
        <p:nvSpPr>
          <p:cNvPr id="253" name="Text 5"/>
          <p:cNvSpPr txBox="1"/>
          <p:nvPr/>
        </p:nvSpPr>
        <p:spPr>
          <a:xfrm>
            <a:off x="6355631" y="2776685"/>
            <a:ext cx="2241122" cy="30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90000"/>
              </a:lnSpc>
              <a:defRPr sz="1710" b="1" spc="95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COST</a:t>
            </a:r>
          </a:p>
        </p:txBody>
      </p:sp>
      <p:sp>
        <p:nvSpPr>
          <p:cNvPr id="254" name="Text 6"/>
          <p:cNvSpPr txBox="1"/>
          <p:nvPr/>
        </p:nvSpPr>
        <p:spPr>
          <a:xfrm>
            <a:off x="8621613" y="2776685"/>
            <a:ext cx="2521231" cy="30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90000"/>
              </a:lnSpc>
              <a:defRPr sz="1710" b="1" spc="95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GROSS PROFIT</a:t>
            </a:r>
          </a:p>
        </p:txBody>
      </p:sp>
      <p:sp>
        <p:nvSpPr>
          <p:cNvPr id="255" name="Text 7"/>
          <p:cNvSpPr txBox="1"/>
          <p:nvPr/>
        </p:nvSpPr>
        <p:spPr>
          <a:xfrm>
            <a:off x="11142240" y="2776685"/>
            <a:ext cx="2241040" cy="30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90000"/>
              </a:lnSpc>
              <a:defRPr sz="1710" b="1" spc="95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MARGIN</a:t>
            </a:r>
          </a:p>
        </p:txBody>
      </p:sp>
      <p:sp>
        <p:nvSpPr>
          <p:cNvPr id="256" name="Text 8"/>
          <p:cNvSpPr txBox="1"/>
          <p:nvPr/>
        </p:nvSpPr>
        <p:spPr>
          <a:xfrm>
            <a:off x="13408149" y="2776685"/>
            <a:ext cx="3921860" cy="30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90000"/>
              </a:lnSpc>
              <a:defRPr sz="1710" b="1" spc="95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REAL DIFFERENCE</a:t>
            </a:r>
          </a:p>
        </p:txBody>
      </p:sp>
      <p:sp>
        <p:nvSpPr>
          <p:cNvPr id="257" name="Shape 9"/>
          <p:cNvSpPr/>
          <p:nvPr/>
        </p:nvSpPr>
        <p:spPr>
          <a:xfrm>
            <a:off x="1047750" y="4918223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Text 10"/>
          <p:cNvSpPr txBox="1"/>
          <p:nvPr/>
        </p:nvSpPr>
        <p:spPr>
          <a:xfrm>
            <a:off x="1314450" y="3893492"/>
            <a:ext cx="280134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Tapri</a:t>
            </a:r>
          </a:p>
        </p:txBody>
      </p:sp>
      <p:sp>
        <p:nvSpPr>
          <p:cNvPr id="259" name="Text 11"/>
          <p:cNvSpPr txBox="1"/>
          <p:nvPr/>
        </p:nvSpPr>
        <p:spPr>
          <a:xfrm>
            <a:off x="4089722" y="3903017"/>
            <a:ext cx="224104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₹8</a:t>
            </a:r>
          </a:p>
        </p:txBody>
      </p:sp>
      <p:sp>
        <p:nvSpPr>
          <p:cNvPr id="260" name="Text 12"/>
          <p:cNvSpPr txBox="1"/>
          <p:nvPr/>
        </p:nvSpPr>
        <p:spPr>
          <a:xfrm>
            <a:off x="6355631" y="3903017"/>
            <a:ext cx="2241122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₹2.50</a:t>
            </a:r>
          </a:p>
        </p:txBody>
      </p:sp>
      <p:sp>
        <p:nvSpPr>
          <p:cNvPr id="261" name="Text 13"/>
          <p:cNvSpPr txBox="1"/>
          <p:nvPr/>
        </p:nvSpPr>
        <p:spPr>
          <a:xfrm>
            <a:off x="8621613" y="3903017"/>
            <a:ext cx="252123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₹5.50</a:t>
            </a:r>
          </a:p>
        </p:txBody>
      </p:sp>
      <p:sp>
        <p:nvSpPr>
          <p:cNvPr id="262" name="Text 14"/>
          <p:cNvSpPr txBox="1"/>
          <p:nvPr/>
        </p:nvSpPr>
        <p:spPr>
          <a:xfrm>
            <a:off x="11142240" y="3903017"/>
            <a:ext cx="224104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69%</a:t>
            </a:r>
          </a:p>
        </p:txBody>
      </p:sp>
      <p:sp>
        <p:nvSpPr>
          <p:cNvPr id="263" name="Text 15"/>
          <p:cNvSpPr txBox="1"/>
          <p:nvPr/>
        </p:nvSpPr>
        <p:spPr>
          <a:xfrm>
            <a:off x="13408149" y="3543448"/>
            <a:ext cx="3672286" cy="110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826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Great for one person. Cannot scale past one person.</a:t>
            </a:r>
          </a:p>
        </p:txBody>
      </p:sp>
      <p:sp>
        <p:nvSpPr>
          <p:cNvPr id="264" name="Shape 16"/>
          <p:cNvSpPr/>
          <p:nvPr/>
        </p:nvSpPr>
        <p:spPr>
          <a:xfrm>
            <a:off x="1047750" y="4929335"/>
            <a:ext cx="16192500" cy="1690690"/>
          </a:xfrm>
          <a:prstGeom prst="rect">
            <a:avLst/>
          </a:prstGeom>
          <a:solidFill>
            <a:srgbClr val="F3EEE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5" name="Shape 17"/>
          <p:cNvSpPr/>
          <p:nvPr/>
        </p:nvSpPr>
        <p:spPr>
          <a:xfrm>
            <a:off x="1047750" y="6608911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6" name="Text 18"/>
          <p:cNvSpPr txBox="1"/>
          <p:nvPr/>
        </p:nvSpPr>
        <p:spPr>
          <a:xfrm>
            <a:off x="1314450" y="5584180"/>
            <a:ext cx="280134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Chai Point</a:t>
            </a:r>
          </a:p>
        </p:txBody>
      </p:sp>
      <p:sp>
        <p:nvSpPr>
          <p:cNvPr id="267" name="Text 19"/>
          <p:cNvSpPr txBox="1"/>
          <p:nvPr/>
        </p:nvSpPr>
        <p:spPr>
          <a:xfrm>
            <a:off x="4089722" y="5593705"/>
            <a:ext cx="224104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₹35</a:t>
            </a:r>
          </a:p>
        </p:txBody>
      </p:sp>
      <p:sp>
        <p:nvSpPr>
          <p:cNvPr id="268" name="Text 20"/>
          <p:cNvSpPr txBox="1"/>
          <p:nvPr/>
        </p:nvSpPr>
        <p:spPr>
          <a:xfrm>
            <a:off x="6355631" y="5593705"/>
            <a:ext cx="2241122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₹8</a:t>
            </a:r>
          </a:p>
        </p:txBody>
      </p:sp>
      <p:sp>
        <p:nvSpPr>
          <p:cNvPr id="269" name="Text 21"/>
          <p:cNvSpPr txBox="1"/>
          <p:nvPr/>
        </p:nvSpPr>
        <p:spPr>
          <a:xfrm>
            <a:off x="8621613" y="5593705"/>
            <a:ext cx="252123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₹27</a:t>
            </a:r>
          </a:p>
        </p:txBody>
      </p:sp>
      <p:sp>
        <p:nvSpPr>
          <p:cNvPr id="270" name="Text 22"/>
          <p:cNvSpPr txBox="1"/>
          <p:nvPr/>
        </p:nvSpPr>
        <p:spPr>
          <a:xfrm>
            <a:off x="11142240" y="5593705"/>
            <a:ext cx="224104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77%</a:t>
            </a:r>
          </a:p>
        </p:txBody>
      </p:sp>
      <p:sp>
        <p:nvSpPr>
          <p:cNvPr id="271" name="Text 23"/>
          <p:cNvSpPr txBox="1"/>
          <p:nvPr/>
        </p:nvSpPr>
        <p:spPr>
          <a:xfrm>
            <a:off x="13408149" y="5234135"/>
            <a:ext cx="3672286" cy="110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826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Needs 400 cups a day to be comfortably profitable per kiosk.</a:t>
            </a:r>
          </a:p>
        </p:txBody>
      </p:sp>
      <p:sp>
        <p:nvSpPr>
          <p:cNvPr id="272" name="Shape 24"/>
          <p:cNvSpPr/>
          <p:nvPr/>
        </p:nvSpPr>
        <p:spPr>
          <a:xfrm>
            <a:off x="1047750" y="6620023"/>
            <a:ext cx="16192500" cy="168116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3" name="Text 25"/>
          <p:cNvSpPr txBox="1"/>
          <p:nvPr/>
        </p:nvSpPr>
        <p:spPr>
          <a:xfrm>
            <a:off x="1314450" y="7274868"/>
            <a:ext cx="280134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Blue Tokai</a:t>
            </a:r>
          </a:p>
        </p:txBody>
      </p:sp>
      <p:sp>
        <p:nvSpPr>
          <p:cNvPr id="274" name="Text 26"/>
          <p:cNvSpPr txBox="1"/>
          <p:nvPr/>
        </p:nvSpPr>
        <p:spPr>
          <a:xfrm>
            <a:off x="4089722" y="7284393"/>
            <a:ext cx="224104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₹180</a:t>
            </a:r>
          </a:p>
        </p:txBody>
      </p:sp>
      <p:sp>
        <p:nvSpPr>
          <p:cNvPr id="275" name="Text 27"/>
          <p:cNvSpPr txBox="1"/>
          <p:nvPr/>
        </p:nvSpPr>
        <p:spPr>
          <a:xfrm>
            <a:off x="6355631" y="7284393"/>
            <a:ext cx="2241122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₹35</a:t>
            </a:r>
          </a:p>
        </p:txBody>
      </p:sp>
      <p:sp>
        <p:nvSpPr>
          <p:cNvPr id="276" name="Text 28"/>
          <p:cNvSpPr txBox="1"/>
          <p:nvPr/>
        </p:nvSpPr>
        <p:spPr>
          <a:xfrm>
            <a:off x="8621613" y="7284393"/>
            <a:ext cx="252123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254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₹145</a:t>
            </a:r>
          </a:p>
        </p:txBody>
      </p:sp>
      <p:sp>
        <p:nvSpPr>
          <p:cNvPr id="277" name="Text 29"/>
          <p:cNvSpPr txBox="1"/>
          <p:nvPr/>
        </p:nvSpPr>
        <p:spPr>
          <a:xfrm>
            <a:off x="11142240" y="7284393"/>
            <a:ext cx="2241040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3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~80%</a:t>
            </a:r>
          </a:p>
        </p:txBody>
      </p:sp>
      <p:sp>
        <p:nvSpPr>
          <p:cNvPr id="278" name="Text 30"/>
          <p:cNvSpPr txBox="1"/>
          <p:nvPr/>
        </p:nvSpPr>
        <p:spPr>
          <a:xfrm>
            <a:off x="13408149" y="6924823"/>
            <a:ext cx="3672286" cy="110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826"/>
              </a:lnSpc>
              <a:defRPr sz="2200">
                <a:solidFill>
                  <a:srgbClr val="D8CBC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150 cups a day is ₹21,000 of gross profit. And no substitute exists.</a:t>
            </a:r>
          </a:p>
        </p:txBody>
      </p:sp>
      <p:sp>
        <p:nvSpPr>
          <p:cNvPr id="279" name="Shape 31"/>
          <p:cNvSpPr/>
          <p:nvPr/>
        </p:nvSpPr>
        <p:spPr>
          <a:xfrm>
            <a:off x="1047750" y="8301186"/>
            <a:ext cx="16192500" cy="19051"/>
          </a:xfrm>
          <a:prstGeom prst="rect">
            <a:avLst/>
          </a:prstGeom>
          <a:solidFill>
            <a:srgbClr val="D4CCC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0" name="Text 32"/>
          <p:cNvSpPr txBox="1"/>
          <p:nvPr/>
        </p:nvSpPr>
        <p:spPr>
          <a:xfrm>
            <a:off x="1047749" y="8739336"/>
            <a:ext cx="8064439" cy="137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₹100 crore revenue from 80 outlets versus a similar figure from 150+. Each Blue Tokai outlet is roughly twice as productive.</a:t>
            </a:r>
          </a:p>
        </p:txBody>
      </p:sp>
      <p:sp>
        <p:nvSpPr>
          <p:cNvPr id="281" name="Text 33"/>
          <p:cNvSpPr txBox="1"/>
          <p:nvPr/>
        </p:nvSpPr>
        <p:spPr>
          <a:xfrm>
            <a:off x="9410700" y="8739336"/>
            <a:ext cx="8064438" cy="137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4146"/>
              </a:lnSpc>
              <a:defRPr sz="2700" b="1">
                <a:solidFill>
                  <a:srgbClr val="A83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That productivity is the direct financial expression of charging ₹180 instead of ₹35.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FRAMEWORK 2</a:t>
            </a:r>
          </a:p>
        </p:txBody>
      </p:sp>
      <p:sp>
        <p:nvSpPr>
          <p:cNvPr id="286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most important sentence in any business</a:t>
            </a:r>
          </a:p>
        </p:txBody>
      </p:sp>
      <p:sp>
        <p:nvSpPr>
          <p:cNvPr id="287" name="Shape 2"/>
          <p:cNvSpPr/>
          <p:nvPr/>
        </p:nvSpPr>
        <p:spPr>
          <a:xfrm>
            <a:off x="1047750" y="2852885"/>
            <a:ext cx="16192500" cy="2244032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8" name="Text 3"/>
          <p:cNvSpPr txBox="1"/>
          <p:nvPr/>
        </p:nvSpPr>
        <p:spPr>
          <a:xfrm>
            <a:off x="1581150" y="3348185"/>
            <a:ext cx="15611475" cy="1291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6036"/>
              </a:lnSpc>
              <a:defRPr sz="36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FOR </a:t>
            </a:r>
            <a:r>
              <a:rPr b="0">
                <a:solidFill>
                  <a:srgbClr val="FFAF9F"/>
                </a:solidFill>
              </a:rPr>
              <a:t>[a specific customer] </a:t>
            </a:r>
            <a:r>
              <a:t>WHO </a:t>
            </a:r>
            <a:r>
              <a:rPr b="0">
                <a:solidFill>
                  <a:srgbClr val="FFAF9F"/>
                </a:solidFill>
              </a:rPr>
              <a:t>[has this problem]</a:t>
            </a:r>
            <a:r>
              <a:rPr b="0"/>
              <a:t>, </a:t>
            </a:r>
            <a:r>
              <a:t>WE PROVIDE </a:t>
            </a:r>
            <a:r>
              <a:rPr b="0">
                <a:solidFill>
                  <a:srgbClr val="FFAF9F"/>
                </a:solidFill>
              </a:rPr>
              <a:t>[specific value] </a:t>
            </a:r>
            <a:r>
              <a:t>BETTER THAN </a:t>
            </a:r>
            <a:r>
              <a:rPr b="0">
                <a:solidFill>
                  <a:srgbClr val="FFAF9F"/>
                </a:solidFill>
              </a:rPr>
              <a:t>[the alternatives] </a:t>
            </a:r>
            <a:r>
              <a:t>BECAUSE </a:t>
            </a:r>
            <a:r>
              <a:rPr b="0">
                <a:solidFill>
                  <a:srgbClr val="FFAF9F"/>
                </a:solidFill>
              </a:rPr>
              <a:t>[why]</a:t>
            </a:r>
            <a:r>
              <a:rPr b="0"/>
              <a:t>.</a:t>
            </a:r>
          </a:p>
        </p:txBody>
      </p:sp>
      <p:sp>
        <p:nvSpPr>
          <p:cNvPr id="289" name="Text 4"/>
          <p:cNvSpPr txBox="1"/>
          <p:nvPr/>
        </p:nvSpPr>
        <p:spPr>
          <a:xfrm>
            <a:off x="1047750" y="8039100"/>
            <a:ext cx="8025194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3563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It is not a tagline. It is not a mission statement. It is a precise claim you can be wrong about.</a:t>
            </a:r>
          </a:p>
        </p:txBody>
      </p:sp>
      <p:sp>
        <p:nvSpPr>
          <p:cNvPr id="290" name="Text 5"/>
          <p:cNvSpPr txBox="1"/>
          <p:nvPr/>
        </p:nvSpPr>
        <p:spPr>
          <a:xfrm>
            <a:off x="9448800" y="8039100"/>
            <a:ext cx="8025194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857"/>
              </a:lnSpc>
              <a:defRPr sz="3000">
                <a:solidFill>
                  <a:srgbClr val="50453D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Now fill it in for all three chai businesses. Give me the FOR and the WHO first — those two decide everything else.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 txBox="1"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FRAMEWORK 2 · WORKED THROUGH</a:t>
            </a:r>
          </a:p>
        </p:txBody>
      </p:sp>
      <p:sp>
        <p:nvSpPr>
          <p:cNvPr id="295" name="Text 1"/>
          <p:cNvSpPr txBox="1"/>
          <p:nvPr/>
        </p:nvSpPr>
        <p:spPr>
          <a:xfrm>
            <a:off x="1047750" y="1352550"/>
            <a:ext cx="17811750" cy="73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633"/>
              </a:lnSpc>
              <a:defRPr sz="4752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Three businesses, three sentences</a:t>
            </a:r>
          </a:p>
        </p:txBody>
      </p:sp>
      <p:sp>
        <p:nvSpPr>
          <p:cNvPr id="296" name="Shape 2"/>
          <p:cNvSpPr/>
          <p:nvPr/>
        </p:nvSpPr>
        <p:spPr>
          <a:xfrm>
            <a:off x="1047750" y="2937866"/>
            <a:ext cx="16192500" cy="2857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7" name="Text 3"/>
          <p:cNvSpPr txBox="1"/>
          <p:nvPr/>
        </p:nvSpPr>
        <p:spPr>
          <a:xfrm>
            <a:off x="3671142" y="2547341"/>
            <a:ext cx="3344124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FOR</a:t>
            </a:r>
          </a:p>
        </p:txBody>
      </p:sp>
      <p:sp>
        <p:nvSpPr>
          <p:cNvPr id="298" name="Text 4"/>
          <p:cNvSpPr txBox="1"/>
          <p:nvPr/>
        </p:nvSpPr>
        <p:spPr>
          <a:xfrm>
            <a:off x="6939854" y="2547341"/>
            <a:ext cx="3845815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WHO</a:t>
            </a:r>
          </a:p>
        </p:txBody>
      </p:sp>
      <p:sp>
        <p:nvSpPr>
          <p:cNvPr id="299" name="Text 5"/>
          <p:cNvSpPr txBox="1"/>
          <p:nvPr/>
        </p:nvSpPr>
        <p:spPr>
          <a:xfrm>
            <a:off x="10664651" y="2547341"/>
            <a:ext cx="3344124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BETTER THAN</a:t>
            </a:r>
          </a:p>
        </p:txBody>
      </p:sp>
      <p:sp>
        <p:nvSpPr>
          <p:cNvPr id="300" name="Text 6"/>
          <p:cNvSpPr txBox="1"/>
          <p:nvPr/>
        </p:nvSpPr>
        <p:spPr>
          <a:xfrm>
            <a:off x="13933363" y="2547341"/>
            <a:ext cx="3344206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BECAUSE</a:t>
            </a:r>
          </a:p>
        </p:txBody>
      </p:sp>
      <p:sp>
        <p:nvSpPr>
          <p:cNvPr id="301" name="Shape 7"/>
          <p:cNvSpPr/>
          <p:nvPr/>
        </p:nvSpPr>
        <p:spPr>
          <a:xfrm>
            <a:off x="1047750" y="4312642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2" name="Text 8"/>
          <p:cNvSpPr txBox="1"/>
          <p:nvPr/>
        </p:nvSpPr>
        <p:spPr>
          <a:xfrm>
            <a:off x="1314450" y="3271242"/>
            <a:ext cx="220429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9194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Tapri</a:t>
            </a:r>
          </a:p>
        </p:txBody>
      </p:sp>
      <p:sp>
        <p:nvSpPr>
          <p:cNvPr id="303" name="Text 9"/>
          <p:cNvSpPr txBox="1"/>
          <p:nvPr/>
        </p:nvSpPr>
        <p:spPr>
          <a:xfrm>
            <a:off x="3671142" y="3271242"/>
            <a:ext cx="3131317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9155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Anyone nearby</a:t>
            </a:r>
          </a:p>
        </p:txBody>
      </p:sp>
      <p:sp>
        <p:nvSpPr>
          <p:cNvPr id="304" name="Text 10"/>
          <p:cNvSpPr txBox="1"/>
          <p:nvPr/>
        </p:nvSpPr>
        <p:spPr>
          <a:xfrm>
            <a:off x="6939854" y="3271242"/>
            <a:ext cx="360108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Needs chai right now, cheaply</a:t>
            </a:r>
          </a:p>
        </p:txBody>
      </p:sp>
      <p:sp>
        <p:nvSpPr>
          <p:cNvPr id="305" name="Text 11"/>
          <p:cNvSpPr txBox="1"/>
          <p:nvPr/>
        </p:nvSpPr>
        <p:spPr>
          <a:xfrm>
            <a:off x="10664651" y="3271242"/>
            <a:ext cx="3131316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9155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Any other option</a:t>
            </a:r>
          </a:p>
        </p:txBody>
      </p:sp>
      <p:sp>
        <p:nvSpPr>
          <p:cNvPr id="306" name="Text 12"/>
          <p:cNvSpPr txBox="1"/>
          <p:nvPr/>
        </p:nvSpPr>
        <p:spPr>
          <a:xfrm>
            <a:off x="13933363" y="3271242"/>
            <a:ext cx="313139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 wait, no price, no friction</a:t>
            </a:r>
          </a:p>
        </p:txBody>
      </p:sp>
      <p:sp>
        <p:nvSpPr>
          <p:cNvPr id="307" name="Shape 13"/>
          <p:cNvSpPr/>
          <p:nvPr/>
        </p:nvSpPr>
        <p:spPr>
          <a:xfrm>
            <a:off x="1047750" y="4323755"/>
            <a:ext cx="16192500" cy="1357314"/>
          </a:xfrm>
          <a:prstGeom prst="rect">
            <a:avLst/>
          </a:prstGeom>
          <a:solidFill>
            <a:srgbClr val="F3EEE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Shape 14"/>
          <p:cNvSpPr/>
          <p:nvPr/>
        </p:nvSpPr>
        <p:spPr>
          <a:xfrm>
            <a:off x="1047750" y="5669954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9" name="Text 15"/>
          <p:cNvSpPr txBox="1"/>
          <p:nvPr/>
        </p:nvSpPr>
        <p:spPr>
          <a:xfrm>
            <a:off x="1314450" y="4628555"/>
            <a:ext cx="220429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9194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Chai Point</a:t>
            </a:r>
          </a:p>
        </p:txBody>
      </p:sp>
      <p:sp>
        <p:nvSpPr>
          <p:cNvPr id="310" name="Text 16"/>
          <p:cNvSpPr txBox="1"/>
          <p:nvPr/>
        </p:nvSpPr>
        <p:spPr>
          <a:xfrm>
            <a:off x="3671142" y="4628555"/>
            <a:ext cx="3131317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Urban office professional</a:t>
            </a:r>
          </a:p>
        </p:txBody>
      </p:sp>
      <p:sp>
        <p:nvSpPr>
          <p:cNvPr id="311" name="Text 17"/>
          <p:cNvSpPr txBox="1"/>
          <p:nvPr/>
        </p:nvSpPr>
        <p:spPr>
          <a:xfrm>
            <a:off x="6939854" y="4628555"/>
            <a:ext cx="360108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Wants good chai without leaving the building</a:t>
            </a:r>
          </a:p>
        </p:txBody>
      </p:sp>
      <p:sp>
        <p:nvSpPr>
          <p:cNvPr id="312" name="Text 18"/>
          <p:cNvSpPr txBox="1"/>
          <p:nvPr/>
        </p:nvSpPr>
        <p:spPr>
          <a:xfrm>
            <a:off x="10664651" y="4628555"/>
            <a:ext cx="3131316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Tapri outside, pantry machine</a:t>
            </a:r>
          </a:p>
        </p:txBody>
      </p:sp>
      <p:sp>
        <p:nvSpPr>
          <p:cNvPr id="313" name="Text 19"/>
          <p:cNvSpPr txBox="1"/>
          <p:nvPr/>
        </p:nvSpPr>
        <p:spPr>
          <a:xfrm>
            <a:off x="13933363" y="4628555"/>
            <a:ext cx="313139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Inside campus, consistent, hygienic</a:t>
            </a:r>
          </a:p>
        </p:txBody>
      </p:sp>
      <p:sp>
        <p:nvSpPr>
          <p:cNvPr id="314" name="Text 20"/>
          <p:cNvSpPr txBox="1"/>
          <p:nvPr/>
        </p:nvSpPr>
        <p:spPr>
          <a:xfrm>
            <a:off x="1314450" y="5985867"/>
            <a:ext cx="220429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9194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Blue Tokai</a:t>
            </a:r>
          </a:p>
        </p:txBody>
      </p:sp>
      <p:sp>
        <p:nvSpPr>
          <p:cNvPr id="315" name="Text 21"/>
          <p:cNvSpPr txBox="1"/>
          <p:nvPr/>
        </p:nvSpPr>
        <p:spPr>
          <a:xfrm>
            <a:off x="3671142" y="5985867"/>
            <a:ext cx="3131317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Aspirational urban consumer</a:t>
            </a:r>
          </a:p>
        </p:txBody>
      </p:sp>
      <p:sp>
        <p:nvSpPr>
          <p:cNvPr id="316" name="Text 22"/>
          <p:cNvSpPr txBox="1"/>
          <p:nvPr/>
        </p:nvSpPr>
        <p:spPr>
          <a:xfrm>
            <a:off x="6939854" y="5985867"/>
            <a:ext cx="360108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Wants craft coffee and a way to express taste</a:t>
            </a:r>
          </a:p>
        </p:txBody>
      </p:sp>
      <p:sp>
        <p:nvSpPr>
          <p:cNvPr id="317" name="Text 23"/>
          <p:cNvSpPr txBox="1"/>
          <p:nvPr/>
        </p:nvSpPr>
        <p:spPr>
          <a:xfrm>
            <a:off x="10664651" y="5985867"/>
            <a:ext cx="3131316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CCD, Starbucks, home brewing</a:t>
            </a:r>
          </a:p>
        </p:txBody>
      </p:sp>
      <p:sp>
        <p:nvSpPr>
          <p:cNvPr id="318" name="Text 24"/>
          <p:cNvSpPr txBox="1"/>
          <p:nvPr/>
        </p:nvSpPr>
        <p:spPr>
          <a:xfrm>
            <a:off x="13933363" y="5985867"/>
            <a:ext cx="3131393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Single-origin, roaster brand, designed space</a:t>
            </a:r>
          </a:p>
        </p:txBody>
      </p:sp>
      <p:sp>
        <p:nvSpPr>
          <p:cNvPr id="319" name="Shape 25"/>
          <p:cNvSpPr/>
          <p:nvPr/>
        </p:nvSpPr>
        <p:spPr>
          <a:xfrm>
            <a:off x="1047750" y="8404920"/>
            <a:ext cx="16192500" cy="19051"/>
          </a:xfrm>
          <a:prstGeom prst="rect">
            <a:avLst/>
          </a:prstGeom>
          <a:solidFill>
            <a:srgbClr val="D4CCC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Text 26"/>
          <p:cNvSpPr txBox="1"/>
          <p:nvPr/>
        </p:nvSpPr>
        <p:spPr>
          <a:xfrm>
            <a:off x="1047750" y="8728770"/>
            <a:ext cx="16678275" cy="92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362C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Each of these implies a completely different research agenda. To improve the tapri you study speed and price. To improve Blue Tokai you study identity. Same category, opposite questions.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 txBox="1"/>
          <p:nvPr/>
        </p:nvSpPr>
        <p:spPr>
          <a:xfrm>
            <a:off x="1047750" y="2911822"/>
            <a:ext cx="1781175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IN YOUR NOTEBOOK</a:t>
            </a:r>
          </a:p>
        </p:txBody>
      </p:sp>
      <p:sp>
        <p:nvSpPr>
          <p:cNvPr id="325" name="Text 1"/>
          <p:cNvSpPr txBox="1"/>
          <p:nvPr/>
        </p:nvSpPr>
        <p:spPr>
          <a:xfrm>
            <a:off x="1047750" y="3502371"/>
            <a:ext cx="15716250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8326"/>
              </a:lnSpc>
              <a:defRPr sz="6864" b="1" spc="-264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Write Zepto's value proposition.</a:t>
            </a:r>
          </a:p>
        </p:txBody>
      </p:sp>
      <p:sp>
        <p:nvSpPr>
          <p:cNvPr id="326" name="Text 2"/>
          <p:cNvSpPr txBox="1"/>
          <p:nvPr/>
        </p:nvSpPr>
        <p:spPr>
          <a:xfrm>
            <a:off x="1047750" y="5254971"/>
            <a:ext cx="8025194" cy="234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157"/>
              </a:lnSpc>
              <a:defRPr sz="33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Use all five parts. FOR, WHO, WE PROVIDE, BETTER THAN, BECAUSE.</a:t>
            </a:r>
          </a:p>
        </p:txBody>
      </p:sp>
      <p:sp>
        <p:nvSpPr>
          <p:cNvPr id="327" name="Shape 3"/>
          <p:cNvSpPr/>
          <p:nvPr/>
        </p:nvSpPr>
        <p:spPr>
          <a:xfrm>
            <a:off x="9448800" y="5254971"/>
            <a:ext cx="38100" cy="2310706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8" name="Text 4"/>
          <p:cNvSpPr txBox="1"/>
          <p:nvPr/>
        </p:nvSpPr>
        <p:spPr>
          <a:xfrm>
            <a:off x="9944100" y="5254971"/>
            <a:ext cx="7529894" cy="234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6920"/>
              </a:lnSpc>
              <a:defRPr sz="3300">
                <a:solidFill>
                  <a:srgbClr val="C8BBB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If your "FOR" says </a:t>
            </a:r>
            <a:r>
              <a:rPr i="1"/>
              <a:t>everyone </a:t>
            </a:r>
            <a:r>
              <a:t>, you have not written a value proposition yet. Start again with a specific person at a specific moment.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FRAGILITY</a:t>
            </a:r>
          </a:p>
        </p:txBody>
      </p:sp>
      <p:sp>
        <p:nvSpPr>
          <p:cNvPr id="333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Three ways perceived value collapses</a:t>
            </a:r>
          </a:p>
        </p:txBody>
      </p:sp>
      <p:sp>
        <p:nvSpPr>
          <p:cNvPr id="334" name="Shape 2"/>
          <p:cNvSpPr/>
          <p:nvPr/>
        </p:nvSpPr>
        <p:spPr>
          <a:xfrm>
            <a:off x="1047750" y="2929085"/>
            <a:ext cx="5143500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5" name="Text 3"/>
          <p:cNvSpPr txBox="1"/>
          <p:nvPr/>
        </p:nvSpPr>
        <p:spPr>
          <a:xfrm>
            <a:off x="1047750" y="3310085"/>
            <a:ext cx="5297805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product fails the functional test</a:t>
            </a:r>
          </a:p>
        </p:txBody>
      </p:sp>
      <p:sp>
        <p:nvSpPr>
          <p:cNvPr id="336" name="Text 4"/>
          <p:cNvSpPr txBox="1"/>
          <p:nvPr/>
        </p:nvSpPr>
        <p:spPr>
          <a:xfrm>
            <a:off x="1047750" y="4460676"/>
            <a:ext cx="5297805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Break the base layer and every layer above it evaporates at once.</a:t>
            </a:r>
          </a:p>
        </p:txBody>
      </p:sp>
      <p:sp>
        <p:nvSpPr>
          <p:cNvPr id="337" name="Shape 5"/>
          <p:cNvSpPr/>
          <p:nvPr/>
        </p:nvSpPr>
        <p:spPr>
          <a:xfrm>
            <a:off x="1047750" y="7800975"/>
            <a:ext cx="5143500" cy="1724025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8" name="Text 6"/>
          <p:cNvSpPr txBox="1"/>
          <p:nvPr/>
        </p:nvSpPr>
        <p:spPr>
          <a:xfrm>
            <a:off x="1352550" y="8105775"/>
            <a:ext cx="4688205" cy="1152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Zomato Gold collapsed when restaurants started refusing Gold orders at peak hours.</a:t>
            </a:r>
          </a:p>
        </p:txBody>
      </p:sp>
      <p:sp>
        <p:nvSpPr>
          <p:cNvPr id="339" name="Shape 7"/>
          <p:cNvSpPr/>
          <p:nvPr/>
        </p:nvSpPr>
        <p:spPr>
          <a:xfrm>
            <a:off x="6572250" y="2929085"/>
            <a:ext cx="5143500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0" name="Text 8"/>
          <p:cNvSpPr txBox="1"/>
          <p:nvPr/>
        </p:nvSpPr>
        <p:spPr>
          <a:xfrm>
            <a:off x="6572250" y="3310085"/>
            <a:ext cx="5297805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signal becomes common</a:t>
            </a:r>
          </a:p>
        </p:txBody>
      </p:sp>
      <p:sp>
        <p:nvSpPr>
          <p:cNvPr id="341" name="Text 9"/>
          <p:cNvSpPr txBox="1"/>
          <p:nvPr/>
        </p:nvSpPr>
        <p:spPr>
          <a:xfrm>
            <a:off x="6572250" y="4460676"/>
            <a:ext cx="5297805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Identity value needs distinctiveness. Scarcity is part of the product.</a:t>
            </a:r>
          </a:p>
        </p:txBody>
      </p:sp>
      <p:sp>
        <p:nvSpPr>
          <p:cNvPr id="342" name="Shape 10"/>
          <p:cNvSpPr/>
          <p:nvPr/>
        </p:nvSpPr>
        <p:spPr>
          <a:xfrm>
            <a:off x="6572250" y="7429500"/>
            <a:ext cx="5143500" cy="2095500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3" name="Text 11"/>
          <p:cNvSpPr txBox="1"/>
          <p:nvPr/>
        </p:nvSpPr>
        <p:spPr>
          <a:xfrm>
            <a:off x="6877050" y="7734300"/>
            <a:ext cx="4688205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Fastrack was aspirational in the 2000s. Mass distribution and discounting made it a functional purchase.</a:t>
            </a:r>
          </a:p>
        </p:txBody>
      </p:sp>
      <p:sp>
        <p:nvSpPr>
          <p:cNvPr id="344" name="Shape 12"/>
          <p:cNvSpPr/>
          <p:nvPr/>
        </p:nvSpPr>
        <p:spPr>
          <a:xfrm>
            <a:off x="12096750" y="2929085"/>
            <a:ext cx="5143500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5" name="Text 13"/>
          <p:cNvSpPr txBox="1"/>
          <p:nvPr/>
        </p:nvSpPr>
        <p:spPr>
          <a:xfrm>
            <a:off x="12096750" y="3310085"/>
            <a:ext cx="5297805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rival sells the same signal cheaper</a:t>
            </a:r>
          </a:p>
        </p:txBody>
      </p:sp>
      <p:sp>
        <p:nvSpPr>
          <p:cNvPr id="346" name="Text 14"/>
          <p:cNvSpPr txBox="1"/>
          <p:nvPr/>
        </p:nvSpPr>
        <p:spPr>
          <a:xfrm>
            <a:off x="12096750" y="4460676"/>
            <a:ext cx="5297805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Rare at the very top. Common in the middle.</a:t>
            </a:r>
          </a:p>
        </p:txBody>
      </p:sp>
      <p:sp>
        <p:nvSpPr>
          <p:cNvPr id="347" name="Shape 15"/>
          <p:cNvSpPr/>
          <p:nvPr/>
        </p:nvSpPr>
        <p:spPr>
          <a:xfrm>
            <a:off x="12096750" y="7800975"/>
            <a:ext cx="5143500" cy="1724025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8" name="Text 16"/>
          <p:cNvSpPr txBox="1"/>
          <p:nvPr/>
        </p:nvSpPr>
        <p:spPr>
          <a:xfrm>
            <a:off x="12401550" y="8105775"/>
            <a:ext cx="4688205" cy="1152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CCD owned "I like good coffee" until Starbucks arrived at only 30–40% more.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 txBox="1"/>
          <p:nvPr/>
        </p:nvSpPr>
        <p:spPr>
          <a:xfrm>
            <a:off x="1047750" y="6209555"/>
            <a:ext cx="1781175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PART TWO</a:t>
            </a:r>
          </a:p>
        </p:txBody>
      </p:sp>
      <p:sp>
        <p:nvSpPr>
          <p:cNvPr id="353" name="Text 1"/>
          <p:cNvSpPr txBox="1"/>
          <p:nvPr/>
        </p:nvSpPr>
        <p:spPr>
          <a:xfrm>
            <a:off x="1047750" y="6800105"/>
            <a:ext cx="16764000" cy="1219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58951">
              <a:lnSpc>
                <a:spcPct val="73468"/>
              </a:lnSpc>
              <a:defRPr sz="8217" b="1" spc="-332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Problems vs. Solutions</a:t>
            </a:r>
          </a:p>
        </p:txBody>
      </p:sp>
      <p:sp>
        <p:nvSpPr>
          <p:cNvPr id="354" name="Text 2"/>
          <p:cNvSpPr txBox="1"/>
          <p:nvPr/>
        </p:nvSpPr>
        <p:spPr>
          <a:xfrm>
            <a:off x="1047750" y="8286750"/>
            <a:ext cx="13735050" cy="1276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9152"/>
              </a:lnSpc>
              <a:defRPr sz="3900">
                <a:solidFill>
                  <a:srgbClr val="C1B5A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You now know what value looks like. Next question: how do you tell a real problem from a clever idea?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 txBox="1"/>
          <p:nvPr/>
        </p:nvSpPr>
        <p:spPr>
          <a:xfrm>
            <a:off x="1047750" y="2114103"/>
            <a:ext cx="1781175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 HONEST WITH YOURSELF</a:t>
            </a:r>
          </a:p>
        </p:txBody>
      </p:sp>
      <p:sp>
        <p:nvSpPr>
          <p:cNvPr id="359" name="Text 1"/>
          <p:cNvSpPr txBox="1"/>
          <p:nvPr/>
        </p:nvSpPr>
        <p:spPr>
          <a:xfrm>
            <a:off x="1047750" y="2704653"/>
            <a:ext cx="16764000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lnSpc>
                <a:spcPct val="78261"/>
              </a:lnSpc>
              <a:defRPr sz="6675" b="1" spc="-26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Have you ever had a startup idea?</a:t>
            </a:r>
          </a:p>
        </p:txBody>
      </p:sp>
      <p:sp>
        <p:nvSpPr>
          <p:cNvPr id="360" name="Shape 2"/>
          <p:cNvSpPr/>
          <p:nvPr/>
        </p:nvSpPr>
        <p:spPr>
          <a:xfrm>
            <a:off x="1047750" y="4419153"/>
            <a:ext cx="7829550" cy="5715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1" name="Text 3"/>
          <p:cNvSpPr txBox="1"/>
          <p:nvPr/>
        </p:nvSpPr>
        <p:spPr>
          <a:xfrm>
            <a:off x="1047749" y="4781103"/>
            <a:ext cx="8612507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6C615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QUESTION ONE</a:t>
            </a:r>
          </a:p>
        </p:txBody>
      </p:sp>
      <p:sp>
        <p:nvSpPr>
          <p:cNvPr id="362" name="Text 4"/>
          <p:cNvSpPr txBox="1"/>
          <p:nvPr/>
        </p:nvSpPr>
        <p:spPr>
          <a:xfrm>
            <a:off x="1047749" y="5281166"/>
            <a:ext cx="8064439" cy="1226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4386"/>
              </a:lnSpc>
              <a:defRPr sz="39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came first — the product, or the problem it solved?</a:t>
            </a:r>
          </a:p>
        </p:txBody>
      </p:sp>
      <p:sp>
        <p:nvSpPr>
          <p:cNvPr id="363" name="Shape 5"/>
          <p:cNvSpPr/>
          <p:nvPr/>
        </p:nvSpPr>
        <p:spPr>
          <a:xfrm>
            <a:off x="9410700" y="4419153"/>
            <a:ext cx="7829550" cy="5715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4" name="Text 6"/>
          <p:cNvSpPr txBox="1"/>
          <p:nvPr/>
        </p:nvSpPr>
        <p:spPr>
          <a:xfrm>
            <a:off x="9410700" y="4781103"/>
            <a:ext cx="8612506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6C615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QUESTION TWO</a:t>
            </a:r>
          </a:p>
        </p:txBody>
      </p:sp>
      <p:sp>
        <p:nvSpPr>
          <p:cNvPr id="365" name="Text 7"/>
          <p:cNvSpPr txBox="1"/>
          <p:nvPr/>
        </p:nvSpPr>
        <p:spPr>
          <a:xfrm>
            <a:off x="9410700" y="5281166"/>
            <a:ext cx="8064438" cy="1226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94386"/>
              </a:lnSpc>
              <a:defRPr sz="39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And how do you </a:t>
            </a:r>
            <a:r>
              <a:rPr i="1"/>
              <a:t>know </a:t>
            </a:r>
            <a:r>
              <a:t>that problem is real?</a:t>
            </a:r>
          </a:p>
        </p:txBody>
      </p:sp>
      <p:sp>
        <p:nvSpPr>
          <p:cNvPr id="366" name="Text 8"/>
          <p:cNvSpPr txBox="1"/>
          <p:nvPr/>
        </p:nvSpPr>
        <p:spPr>
          <a:xfrm>
            <a:off x="1047750" y="7231856"/>
            <a:ext cx="14716125" cy="116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6920"/>
              </a:lnSpc>
              <a:defRPr sz="3300">
                <a:solidFill>
                  <a:srgbClr val="43383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Almost everyone can answer the first. Almost nobody can answer the second. That gap has cost investors billions.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SILICON VALLEY, 2011–2017</a:t>
            </a:r>
          </a:p>
        </p:txBody>
      </p:sp>
      <p:sp>
        <p:nvSpPr>
          <p:cNvPr id="371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smart-kitchen gold rush</a:t>
            </a:r>
          </a:p>
        </p:txBody>
      </p:sp>
      <p:sp>
        <p:nvSpPr>
          <p:cNvPr id="372" name="Shape 2"/>
          <p:cNvSpPr/>
          <p:nvPr/>
        </p:nvSpPr>
        <p:spPr>
          <a:xfrm>
            <a:off x="1047750" y="2776685"/>
            <a:ext cx="6622702" cy="674831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3" name="Text 3"/>
          <p:cNvSpPr txBox="1"/>
          <p:nvPr/>
        </p:nvSpPr>
        <p:spPr>
          <a:xfrm>
            <a:off x="1504950" y="3823022"/>
            <a:ext cx="6279134" cy="1276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8261"/>
              </a:lnSpc>
              <a:defRPr sz="8536" b="1" spc="-352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$3.2B</a:t>
            </a:r>
          </a:p>
        </p:txBody>
      </p:sp>
      <p:sp>
        <p:nvSpPr>
          <p:cNvPr id="374" name="Text 4"/>
          <p:cNvSpPr txBox="1"/>
          <p:nvPr/>
        </p:nvSpPr>
        <p:spPr>
          <a:xfrm>
            <a:off x="1504950" y="5289872"/>
            <a:ext cx="5879552" cy="92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Google buys Nest, a smart thermostat company, in 2014.</a:t>
            </a:r>
          </a:p>
        </p:txBody>
      </p:sp>
      <p:sp>
        <p:nvSpPr>
          <p:cNvPr id="375" name="Text 5"/>
          <p:cNvSpPr txBox="1"/>
          <p:nvPr/>
        </p:nvSpPr>
        <p:spPr>
          <a:xfrm>
            <a:off x="1504950" y="6524252"/>
            <a:ext cx="5879552" cy="1992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6137"/>
              </a:lnSpc>
              <a:defRPr sz="2800" i="1">
                <a:solidFill>
                  <a:srgbClr val="CEC1B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 lesson investors took: if the most boring object in the house is worth billions, every object is fair game.</a:t>
            </a:r>
          </a:p>
        </p:txBody>
      </p:sp>
      <p:sp>
        <p:nvSpPr>
          <p:cNvPr id="376" name="Text 6"/>
          <p:cNvSpPr txBox="1"/>
          <p:nvPr/>
        </p:nvSpPr>
        <p:spPr>
          <a:xfrm>
            <a:off x="8280052" y="2776685"/>
            <a:ext cx="9229005" cy="97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got funded next, each pitched as "the Nest of X" or "the Nespresso of Y":</a:t>
            </a:r>
          </a:p>
        </p:txBody>
      </p:sp>
      <p:sp>
        <p:nvSpPr>
          <p:cNvPr id="377" name="Shape 7"/>
          <p:cNvSpPr/>
          <p:nvPr/>
        </p:nvSpPr>
        <p:spPr>
          <a:xfrm>
            <a:off x="8280052" y="4060626"/>
            <a:ext cx="3350271" cy="7096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8" name="Text 8"/>
          <p:cNvSpPr txBox="1"/>
          <p:nvPr/>
        </p:nvSpPr>
        <p:spPr>
          <a:xfrm>
            <a:off x="8565802" y="4251126"/>
            <a:ext cx="2879279" cy="375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13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Smart coffee makers</a:t>
            </a:r>
          </a:p>
        </p:txBody>
      </p:sp>
      <p:sp>
        <p:nvSpPr>
          <p:cNvPr id="379" name="Shape 9"/>
          <p:cNvSpPr/>
          <p:nvPr/>
        </p:nvSpPr>
        <p:spPr>
          <a:xfrm>
            <a:off x="11820822" y="4060626"/>
            <a:ext cx="3177928" cy="7096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Text 10"/>
          <p:cNvSpPr txBox="1"/>
          <p:nvPr/>
        </p:nvSpPr>
        <p:spPr>
          <a:xfrm>
            <a:off x="12106572" y="4251126"/>
            <a:ext cx="2701766" cy="375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13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Smart water bottles</a:t>
            </a:r>
          </a:p>
        </p:txBody>
      </p:sp>
      <p:sp>
        <p:nvSpPr>
          <p:cNvPr id="381" name="Shape 11"/>
          <p:cNvSpPr/>
          <p:nvPr/>
        </p:nvSpPr>
        <p:spPr>
          <a:xfrm>
            <a:off x="8280052" y="4960739"/>
            <a:ext cx="3382343" cy="7096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2" name="Text 12"/>
          <p:cNvSpPr txBox="1"/>
          <p:nvPr/>
        </p:nvSpPr>
        <p:spPr>
          <a:xfrm>
            <a:off x="8565802" y="5151239"/>
            <a:ext cx="2912314" cy="37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13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Smart cutting boards</a:t>
            </a:r>
          </a:p>
        </p:txBody>
      </p:sp>
      <p:sp>
        <p:nvSpPr>
          <p:cNvPr id="383" name="Shape 13"/>
          <p:cNvSpPr/>
          <p:nvPr/>
        </p:nvSpPr>
        <p:spPr>
          <a:xfrm>
            <a:off x="11852895" y="4960739"/>
            <a:ext cx="2693195" cy="7096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4" name="Text 14"/>
          <p:cNvSpPr txBox="1"/>
          <p:nvPr/>
        </p:nvSpPr>
        <p:spPr>
          <a:xfrm>
            <a:off x="12138645" y="5151239"/>
            <a:ext cx="2202491" cy="37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134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Smart egg trays</a:t>
            </a:r>
          </a:p>
        </p:txBody>
      </p:sp>
      <p:sp>
        <p:nvSpPr>
          <p:cNvPr id="385" name="Shape 15"/>
          <p:cNvSpPr/>
          <p:nvPr/>
        </p:nvSpPr>
        <p:spPr>
          <a:xfrm>
            <a:off x="8280052" y="5860851"/>
            <a:ext cx="5393086" cy="733426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6" name="Text 16"/>
          <p:cNvSpPr txBox="1"/>
          <p:nvPr/>
        </p:nvSpPr>
        <p:spPr>
          <a:xfrm>
            <a:off x="8565802" y="6051351"/>
            <a:ext cx="4983378" cy="39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352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fork that vibrates if you eat too fast</a:t>
            </a:r>
          </a:p>
        </p:txBody>
      </p:sp>
      <p:sp>
        <p:nvSpPr>
          <p:cNvPr id="387" name="Shape 17"/>
          <p:cNvSpPr/>
          <p:nvPr/>
        </p:nvSpPr>
        <p:spPr>
          <a:xfrm>
            <a:off x="13863637" y="5860851"/>
            <a:ext cx="1536949" cy="733426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8" name="Text 18"/>
          <p:cNvSpPr txBox="1"/>
          <p:nvPr/>
        </p:nvSpPr>
        <p:spPr>
          <a:xfrm>
            <a:off x="14149387" y="6051351"/>
            <a:ext cx="1041649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 b="1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Juicers</a:t>
            </a:r>
          </a:p>
        </p:txBody>
      </p:sp>
      <p:sp>
        <p:nvSpPr>
          <p:cNvPr id="389" name="Shape 19"/>
          <p:cNvSpPr/>
          <p:nvPr/>
        </p:nvSpPr>
        <p:spPr>
          <a:xfrm>
            <a:off x="8280052" y="7825829"/>
            <a:ext cx="8960198" cy="19051"/>
          </a:xfrm>
          <a:prstGeom prst="rect">
            <a:avLst/>
          </a:prstGeom>
          <a:solidFill>
            <a:srgbClr val="D4CCC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0" name="Text 20"/>
          <p:cNvSpPr txBox="1"/>
          <p:nvPr/>
        </p:nvSpPr>
        <p:spPr>
          <a:xfrm>
            <a:off x="8280052" y="8187779"/>
            <a:ext cx="9229005" cy="137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handful genuinely worked — the smart speaker, the video doorbell — which is precisely what made the pattern dangerous instead of obviously foolish.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DOUG EVANS · FOUNDED 2013</a:t>
            </a:r>
          </a:p>
        </p:txBody>
      </p:sp>
      <p:sp>
        <p:nvSpPr>
          <p:cNvPr id="395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"The Nespresso of juice"</a:t>
            </a:r>
          </a:p>
        </p:txBody>
      </p:sp>
      <p:sp>
        <p:nvSpPr>
          <p:cNvPr id="396" name="Shape 5"/>
          <p:cNvSpPr/>
          <p:nvPr/>
        </p:nvSpPr>
        <p:spPr>
          <a:xfrm>
            <a:off x="9037811" y="2700485"/>
            <a:ext cx="57151" cy="120967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7" name="Text 6"/>
          <p:cNvSpPr txBox="1"/>
          <p:nvPr/>
        </p:nvSpPr>
        <p:spPr>
          <a:xfrm>
            <a:off x="9399761" y="2700485"/>
            <a:ext cx="8624539" cy="436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90000"/>
              </a:lnSpc>
              <a:defRPr sz="2592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Four tons of pressure</a:t>
            </a:r>
          </a:p>
        </p:txBody>
      </p:sp>
      <p:sp>
        <p:nvSpPr>
          <p:cNvPr id="398" name="Text 7"/>
          <p:cNvSpPr txBox="1"/>
          <p:nvPr/>
        </p:nvSpPr>
        <p:spPr>
          <a:xfrm>
            <a:off x="9399761" y="3167210"/>
            <a:ext cx="8075705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Applied to a pre-washed, pre-chopped proprietary produce pack</a:t>
            </a:r>
          </a:p>
        </p:txBody>
      </p:sp>
      <p:sp>
        <p:nvSpPr>
          <p:cNvPr id="399" name="Shape 8"/>
          <p:cNvSpPr/>
          <p:nvPr/>
        </p:nvSpPr>
        <p:spPr>
          <a:xfrm>
            <a:off x="9037811" y="4081610"/>
            <a:ext cx="57151" cy="83820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0" name="Text 9"/>
          <p:cNvSpPr txBox="1"/>
          <p:nvPr/>
        </p:nvSpPr>
        <p:spPr>
          <a:xfrm>
            <a:off x="9399761" y="4081610"/>
            <a:ext cx="8624539" cy="436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90000"/>
              </a:lnSpc>
              <a:defRPr sz="2592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Engineered like an Apple product</a:t>
            </a:r>
          </a:p>
        </p:txBody>
      </p:sp>
      <p:sp>
        <p:nvSpPr>
          <p:cNvPr id="401" name="Text 10"/>
          <p:cNvSpPr txBox="1"/>
          <p:nvPr/>
        </p:nvSpPr>
        <p:spPr>
          <a:xfrm>
            <a:off x="9399761" y="4548335"/>
            <a:ext cx="8624539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Milled aluminium body, minimalist form, a soft launch chime</a:t>
            </a:r>
          </a:p>
        </p:txBody>
      </p:sp>
      <p:sp>
        <p:nvSpPr>
          <p:cNvPr id="402" name="Shape 11"/>
          <p:cNvSpPr/>
          <p:nvPr/>
        </p:nvSpPr>
        <p:spPr>
          <a:xfrm>
            <a:off x="9037811" y="5091260"/>
            <a:ext cx="57151" cy="120967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3" name="Text 12"/>
          <p:cNvSpPr txBox="1"/>
          <p:nvPr/>
        </p:nvSpPr>
        <p:spPr>
          <a:xfrm>
            <a:off x="9399761" y="5091260"/>
            <a:ext cx="8624539" cy="436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90000"/>
              </a:lnSpc>
              <a:defRPr sz="2592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$699, cut to $399</a:t>
            </a:r>
          </a:p>
        </p:txBody>
      </p:sp>
      <p:sp>
        <p:nvSpPr>
          <p:cNvPr id="404" name="Text 13"/>
          <p:cNvSpPr txBox="1"/>
          <p:nvPr/>
        </p:nvSpPr>
        <p:spPr>
          <a:xfrm>
            <a:off x="9399761" y="5557985"/>
            <a:ext cx="8075705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Launched April 2016. Price cut in January 2017 to widen the base.</a:t>
            </a:r>
          </a:p>
        </p:txBody>
      </p:sp>
      <p:sp>
        <p:nvSpPr>
          <p:cNvPr id="405" name="Shape 14"/>
          <p:cNvSpPr/>
          <p:nvPr/>
        </p:nvSpPr>
        <p:spPr>
          <a:xfrm>
            <a:off x="9037811" y="6472385"/>
            <a:ext cx="57151" cy="120967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6" name="Text 15"/>
          <p:cNvSpPr txBox="1"/>
          <p:nvPr/>
        </p:nvSpPr>
        <p:spPr>
          <a:xfrm>
            <a:off x="9399761" y="6472385"/>
            <a:ext cx="8624539" cy="436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90000"/>
              </a:lnSpc>
              <a:defRPr sz="2592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$5–8 per pack, on subscription</a:t>
            </a:r>
          </a:p>
        </p:txBody>
      </p:sp>
      <p:sp>
        <p:nvSpPr>
          <p:cNvPr id="407" name="Text 16"/>
          <p:cNvSpPr txBox="1"/>
          <p:nvPr/>
        </p:nvSpPr>
        <p:spPr>
          <a:xfrm>
            <a:off x="9399761" y="6939111"/>
            <a:ext cx="8075705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machine was never the expensive part. The packs were — indefinitely.</a:t>
            </a:r>
          </a:p>
        </p:txBody>
      </p:sp>
      <p:sp>
        <p:nvSpPr>
          <p:cNvPr id="408" name="Shape 17"/>
          <p:cNvSpPr/>
          <p:nvPr/>
        </p:nvSpPr>
        <p:spPr>
          <a:xfrm>
            <a:off x="9037811" y="7853511"/>
            <a:ext cx="8202439" cy="2255342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9" name="Text 18"/>
          <p:cNvSpPr txBox="1"/>
          <p:nvPr/>
        </p:nvSpPr>
        <p:spPr>
          <a:xfrm>
            <a:off x="9323561" y="8139261"/>
            <a:ext cx="7859867" cy="1721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 b="1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Wi-Fi scanned a QR code and refused packs it judged too old. The "smart" feature existed to protect the subscription revenue — not to solve any problem the customer had.</a:t>
            </a:r>
          </a:p>
        </p:txBody>
      </p:sp>
      <p:pic>
        <p:nvPicPr>
          <p:cNvPr id="3" name="Picture 2" descr="A row of small bags of liquid&#10;&#10;AI-generated content may be incorrect.">
            <a:extLst>
              <a:ext uri="{FF2B5EF4-FFF2-40B4-BE49-F238E27FC236}">
                <a16:creationId xmlns:a16="http://schemas.microsoft.com/office/drawing/2014/main" id="{87FC2E8D-FE55-A9E0-3D3F-8C07B1A46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60612" y="2774237"/>
            <a:ext cx="7772400" cy="43673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 A SINGLE PACK WAS SOLD</a:t>
            </a:r>
          </a:p>
        </p:txBody>
      </p:sp>
      <p:sp>
        <p:nvSpPr>
          <p:cNvPr id="415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Every signal was green</a:t>
            </a:r>
          </a:p>
        </p:txBody>
      </p:sp>
      <p:sp>
        <p:nvSpPr>
          <p:cNvPr id="416" name="Shape 2"/>
          <p:cNvSpPr/>
          <p:nvPr/>
        </p:nvSpPr>
        <p:spPr>
          <a:xfrm>
            <a:off x="1047750" y="2700485"/>
            <a:ext cx="3848100" cy="3900116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7" name="Text 3"/>
          <p:cNvSpPr txBox="1"/>
          <p:nvPr/>
        </p:nvSpPr>
        <p:spPr>
          <a:xfrm>
            <a:off x="1352550" y="3005285"/>
            <a:ext cx="3562350" cy="798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58951">
              <a:lnSpc>
                <a:spcPct val="74424"/>
              </a:lnSpc>
              <a:defRPr sz="5228" b="1" spc="-249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$120M</a:t>
            </a:r>
          </a:p>
        </p:txBody>
      </p:sp>
      <p:sp>
        <p:nvSpPr>
          <p:cNvPr id="418" name="Text 4"/>
          <p:cNvSpPr txBox="1"/>
          <p:nvPr/>
        </p:nvSpPr>
        <p:spPr>
          <a:xfrm>
            <a:off x="1352550" y="3898701"/>
            <a:ext cx="3335655" cy="75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Raised across Series A to C, 2013–2017</a:t>
            </a:r>
          </a:p>
        </p:txBody>
      </p:sp>
      <p:sp>
        <p:nvSpPr>
          <p:cNvPr id="419" name="Shape 5"/>
          <p:cNvSpPr/>
          <p:nvPr/>
        </p:nvSpPr>
        <p:spPr>
          <a:xfrm>
            <a:off x="5162550" y="2700485"/>
            <a:ext cx="3848100" cy="3900116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Text 6"/>
          <p:cNvSpPr txBox="1"/>
          <p:nvPr/>
        </p:nvSpPr>
        <p:spPr>
          <a:xfrm>
            <a:off x="5467350" y="3005285"/>
            <a:ext cx="3562350" cy="798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58951">
              <a:lnSpc>
                <a:spcPct val="74424"/>
              </a:lnSpc>
              <a:defRPr sz="5228" b="1" spc="-249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400+</a:t>
            </a:r>
          </a:p>
        </p:txBody>
      </p:sp>
      <p:sp>
        <p:nvSpPr>
          <p:cNvPr id="421" name="Text 7"/>
          <p:cNvSpPr txBox="1"/>
          <p:nvPr/>
        </p:nvSpPr>
        <p:spPr>
          <a:xfrm>
            <a:off x="5467350" y="3898701"/>
            <a:ext cx="3335655" cy="75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Employees, plus its own cold-chain logistics</a:t>
            </a:r>
          </a:p>
        </p:txBody>
      </p:sp>
      <p:sp>
        <p:nvSpPr>
          <p:cNvPr id="422" name="Shape 8"/>
          <p:cNvSpPr/>
          <p:nvPr/>
        </p:nvSpPr>
        <p:spPr>
          <a:xfrm>
            <a:off x="9277350" y="2700485"/>
            <a:ext cx="3848100" cy="3900116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3" name="Text 9"/>
          <p:cNvSpPr txBox="1"/>
          <p:nvPr/>
        </p:nvSpPr>
        <p:spPr>
          <a:xfrm>
            <a:off x="9582150" y="3005285"/>
            <a:ext cx="3335655" cy="2118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2588"/>
              </a:lnSpc>
              <a:defRPr sz="3900" b="1" spc="-1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Kleiner Perkins · GV · Campbell Soup</a:t>
            </a:r>
          </a:p>
        </p:txBody>
      </p:sp>
      <p:sp>
        <p:nvSpPr>
          <p:cNvPr id="424" name="Text 10"/>
          <p:cNvSpPr txBox="1"/>
          <p:nvPr/>
        </p:nvSpPr>
        <p:spPr>
          <a:xfrm>
            <a:off x="9582150" y="5218657"/>
            <a:ext cx="3335655" cy="11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Early backers of Amazon and Google. A 150-year-old food giant.</a:t>
            </a:r>
          </a:p>
        </p:txBody>
      </p:sp>
      <p:sp>
        <p:nvSpPr>
          <p:cNvPr id="425" name="Shape 11"/>
          <p:cNvSpPr/>
          <p:nvPr/>
        </p:nvSpPr>
        <p:spPr>
          <a:xfrm>
            <a:off x="13392150" y="2700485"/>
            <a:ext cx="3848100" cy="3900116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6" name="Text 12"/>
          <p:cNvSpPr txBox="1"/>
          <p:nvPr/>
        </p:nvSpPr>
        <p:spPr>
          <a:xfrm>
            <a:off x="13696950" y="3005285"/>
            <a:ext cx="3335655" cy="159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2588"/>
              </a:lnSpc>
              <a:defRPr sz="3900" b="1" spc="-1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Design awards, glowing press</a:t>
            </a:r>
          </a:p>
        </p:txBody>
      </p:sp>
      <p:sp>
        <p:nvSpPr>
          <p:cNvPr id="427" name="Text 13"/>
          <p:cNvSpPr txBox="1"/>
          <p:nvPr/>
        </p:nvSpPr>
        <p:spPr>
          <a:xfrm>
            <a:off x="13696950" y="4698653"/>
            <a:ext cx="3335655" cy="11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Celebrated as one of the Valley's best hardware startups</a:t>
            </a:r>
          </a:p>
        </p:txBody>
      </p:sp>
      <p:sp>
        <p:nvSpPr>
          <p:cNvPr id="428" name="Shape 14"/>
          <p:cNvSpPr/>
          <p:nvPr/>
        </p:nvSpPr>
        <p:spPr>
          <a:xfrm>
            <a:off x="1047750" y="7081838"/>
            <a:ext cx="16192500" cy="244316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9" name="Text 15"/>
          <p:cNvSpPr txBox="1"/>
          <p:nvPr/>
        </p:nvSpPr>
        <p:spPr>
          <a:xfrm>
            <a:off x="1504950" y="7462838"/>
            <a:ext cx="15736443" cy="1133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571"/>
              </a:lnSpc>
              <a:defRPr sz="34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Now ask the only question that matters: which of these four is evidence that a customer had a problem?</a:t>
            </a:r>
          </a:p>
        </p:txBody>
      </p:sp>
      <p:sp>
        <p:nvSpPr>
          <p:cNvPr id="430" name="Text 16"/>
          <p:cNvSpPr txBox="1"/>
          <p:nvPr/>
        </p:nvSpPr>
        <p:spPr>
          <a:xfrm>
            <a:off x="1504949" y="8729663"/>
            <a:ext cx="16805912" cy="46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i="1">
                <a:solidFill>
                  <a:srgbClr val="FFB5A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None of them. Fundraising success and problem validation are not the same signal.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5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0"/>
          <p:cNvSpPr txBox="1"/>
          <p:nvPr/>
        </p:nvSpPr>
        <p:spPr>
          <a:xfrm>
            <a:off x="1047750" y="1990575"/>
            <a:ext cx="1781175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FFFBF4">
                    <a:alpha val="8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APRIL 2017 · BLOOMBERG</a:t>
            </a:r>
          </a:p>
        </p:txBody>
      </p:sp>
      <p:sp>
        <p:nvSpPr>
          <p:cNvPr id="435" name="Text 1"/>
          <p:cNvSpPr txBox="1"/>
          <p:nvPr/>
        </p:nvSpPr>
        <p:spPr>
          <a:xfrm>
            <a:off x="1047750" y="2581125"/>
            <a:ext cx="15697200" cy="2352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76481"/>
              </a:lnSpc>
              <a:defRPr sz="8928" b="1" spc="-288">
                <a:solidFill>
                  <a:srgbClr val="FFFBF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 could squeeze the packs by hand. Sometimes faster.</a:t>
            </a:r>
          </a:p>
        </p:txBody>
      </p:sp>
      <p:sp>
        <p:nvSpPr>
          <p:cNvPr id="436" name="Text 2"/>
          <p:cNvSpPr txBox="1"/>
          <p:nvPr/>
        </p:nvSpPr>
        <p:spPr>
          <a:xfrm>
            <a:off x="1047750" y="5657998"/>
            <a:ext cx="8025194" cy="286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157"/>
              </a:lnSpc>
              <a:defRPr sz="3300">
                <a:solidFill>
                  <a:srgbClr val="FFFBF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Two reporters filmed a bare hand doing the same job as the $699 machine, side by side. Within forty-eight hours Juicero went from one of the Valley's most celebrated startups to its most ridiculed.</a:t>
            </a:r>
          </a:p>
        </p:txBody>
      </p:sp>
      <p:sp>
        <p:nvSpPr>
          <p:cNvPr id="437" name="Shape 3"/>
          <p:cNvSpPr/>
          <p:nvPr/>
        </p:nvSpPr>
        <p:spPr>
          <a:xfrm>
            <a:off x="9448800" y="5657998"/>
            <a:ext cx="38100" cy="2828852"/>
          </a:xfrm>
          <a:prstGeom prst="rect">
            <a:avLst/>
          </a:prstGeom>
          <a:solidFill>
            <a:srgbClr val="FFFB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8" name="Text 4"/>
          <p:cNvSpPr txBox="1"/>
          <p:nvPr/>
        </p:nvSpPr>
        <p:spPr>
          <a:xfrm>
            <a:off x="9944100" y="5657998"/>
            <a:ext cx="7529894" cy="2866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96111">
              <a:lnSpc>
                <a:spcPct val="106920"/>
              </a:lnSpc>
              <a:defRPr sz="3234">
                <a:solidFill>
                  <a:srgbClr val="FFFBF4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The video did not reveal a manufacturing defect. It revealed that four years and $120 million of engineering added zero value a customer could feel.</a:t>
            </a:r>
          </a:p>
          <a:p>
            <a:pPr defTabSz="896111">
              <a:lnSpc>
                <a:spcPct val="106920"/>
              </a:lnSpc>
              <a:defRPr sz="3234" u="sng">
                <a:solidFill>
                  <a:srgbClr val="FFFBF4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/>
              </a:rPr>
              <a:t>Video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DEFENCE THAT MADE IT WORSE</a:t>
            </a:r>
          </a:p>
        </p:txBody>
      </p:sp>
      <p:sp>
        <p:nvSpPr>
          <p:cNvPr id="443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Technically true. Commercially irrelevant.</a:t>
            </a:r>
          </a:p>
        </p:txBody>
      </p:sp>
      <p:sp>
        <p:nvSpPr>
          <p:cNvPr id="444" name="Shape 2"/>
          <p:cNvSpPr/>
          <p:nvPr/>
        </p:nvSpPr>
        <p:spPr>
          <a:xfrm>
            <a:off x="1047750" y="2738585"/>
            <a:ext cx="16192500" cy="2327823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5" name="Text 3"/>
          <p:cNvSpPr txBox="1"/>
          <p:nvPr/>
        </p:nvSpPr>
        <p:spPr>
          <a:xfrm>
            <a:off x="1543050" y="3233885"/>
            <a:ext cx="15687675" cy="137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4000" i="1">
                <a:solidFill>
                  <a:srgbClr val="20191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"The machine still matters — it delivers consistent, predictable pressure, pack after pack."</a:t>
            </a:r>
          </a:p>
        </p:txBody>
      </p:sp>
      <p:sp>
        <p:nvSpPr>
          <p:cNvPr id="446" name="Shape 4"/>
          <p:cNvSpPr/>
          <p:nvPr/>
        </p:nvSpPr>
        <p:spPr>
          <a:xfrm>
            <a:off x="1047750" y="5561707"/>
            <a:ext cx="5168875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7" name="Text 5"/>
          <p:cNvSpPr txBox="1"/>
          <p:nvPr/>
        </p:nvSpPr>
        <p:spPr>
          <a:xfrm>
            <a:off x="1047750" y="5904607"/>
            <a:ext cx="568576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3913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Nobody had ever complained</a:t>
            </a:r>
          </a:p>
        </p:txBody>
      </p:sp>
      <p:sp>
        <p:nvSpPr>
          <p:cNvPr id="448" name="Text 6"/>
          <p:cNvSpPr txBox="1"/>
          <p:nvPr/>
        </p:nvSpPr>
        <p:spPr>
          <a:xfrm>
            <a:off x="1047750" y="6533257"/>
            <a:ext cx="532394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 customer in history has asked for more consistent juice pressure.</a:t>
            </a:r>
          </a:p>
        </p:txBody>
      </p:sp>
      <p:sp>
        <p:nvSpPr>
          <p:cNvPr id="449" name="Shape 7"/>
          <p:cNvSpPr/>
          <p:nvPr/>
        </p:nvSpPr>
        <p:spPr>
          <a:xfrm>
            <a:off x="6559525" y="5561707"/>
            <a:ext cx="5168875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0" name="Text 8"/>
          <p:cNvSpPr txBox="1"/>
          <p:nvPr/>
        </p:nvSpPr>
        <p:spPr>
          <a:xfrm>
            <a:off x="6559525" y="5904607"/>
            <a:ext cx="568576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3913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They tried everything else</a:t>
            </a:r>
          </a:p>
        </p:txBody>
      </p:sp>
      <p:sp>
        <p:nvSpPr>
          <p:cNvPr id="451" name="Text 9"/>
          <p:cNvSpPr txBox="1"/>
          <p:nvPr/>
        </p:nvSpPr>
        <p:spPr>
          <a:xfrm>
            <a:off x="6559525" y="6533257"/>
            <a:ext cx="5323942" cy="1152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Another price cut. Repositioned around convenience. Refunds for unhappy buyers.</a:t>
            </a:r>
          </a:p>
        </p:txBody>
      </p:sp>
      <p:sp>
        <p:nvSpPr>
          <p:cNvPr id="452" name="Shape 10"/>
          <p:cNvSpPr/>
          <p:nvPr/>
        </p:nvSpPr>
        <p:spPr>
          <a:xfrm>
            <a:off x="12071299" y="5561707"/>
            <a:ext cx="5168951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3" name="Text 11"/>
          <p:cNvSpPr txBox="1"/>
          <p:nvPr/>
        </p:nvSpPr>
        <p:spPr>
          <a:xfrm>
            <a:off x="12071299" y="5904607"/>
            <a:ext cx="568584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3913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None of it could work</a:t>
            </a:r>
          </a:p>
        </p:txBody>
      </p:sp>
      <p:sp>
        <p:nvSpPr>
          <p:cNvPr id="454" name="Text 12"/>
          <p:cNvSpPr txBox="1"/>
          <p:nvPr/>
        </p:nvSpPr>
        <p:spPr>
          <a:xfrm>
            <a:off x="12071299" y="6533257"/>
            <a:ext cx="5324019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 cannot reposition your way out of a problem that never existed.</a:t>
            </a:r>
          </a:p>
        </p:txBody>
      </p:sp>
      <p:sp>
        <p:nvSpPr>
          <p:cNvPr id="455" name="Shape 13"/>
          <p:cNvSpPr/>
          <p:nvPr/>
        </p:nvSpPr>
        <p:spPr>
          <a:xfrm>
            <a:off x="1047750" y="7762875"/>
            <a:ext cx="16192500" cy="1762125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6" name="Text 14"/>
          <p:cNvSpPr txBox="1"/>
          <p:nvPr/>
        </p:nvSpPr>
        <p:spPr>
          <a:xfrm>
            <a:off x="1504950" y="8143875"/>
            <a:ext cx="15763875" cy="1038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422"/>
              </a:lnSpc>
              <a:defRPr sz="31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When the machine is the whole idea, there is nowhere to retreat to once the machine turns out not to matter.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 SEPTEMBER 2017</a:t>
            </a:r>
          </a:p>
        </p:txBody>
      </p:sp>
      <p:sp>
        <p:nvSpPr>
          <p:cNvPr id="461" name="Text 1"/>
          <p:cNvSpPr txBox="1"/>
          <p:nvPr/>
        </p:nvSpPr>
        <p:spPr>
          <a:xfrm>
            <a:off x="1047750" y="1504950"/>
            <a:ext cx="1781175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8190"/>
              </a:lnSpc>
              <a:defRPr sz="6336" b="1" spc="-176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Seventeen months after launch</a:t>
            </a:r>
          </a:p>
        </p:txBody>
      </p:sp>
      <p:sp>
        <p:nvSpPr>
          <p:cNvPr id="462" name="Text 2"/>
          <p:cNvSpPr txBox="1"/>
          <p:nvPr/>
        </p:nvSpPr>
        <p:spPr>
          <a:xfrm>
            <a:off x="1047750" y="4165848"/>
            <a:ext cx="4170046" cy="103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74348"/>
              </a:lnSpc>
              <a:defRPr sz="6887" b="1" spc="-25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$4M</a:t>
            </a:r>
          </a:p>
        </p:txBody>
      </p:sp>
      <p:sp>
        <p:nvSpPr>
          <p:cNvPr id="463" name="Text 3"/>
          <p:cNvSpPr txBox="1"/>
          <p:nvPr/>
        </p:nvSpPr>
        <p:spPr>
          <a:xfrm>
            <a:off x="1047750" y="5313610"/>
            <a:ext cx="390467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C1B5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Burned every month at the end</a:t>
            </a:r>
          </a:p>
        </p:txBody>
      </p:sp>
      <p:sp>
        <p:nvSpPr>
          <p:cNvPr id="464" name="Text 4"/>
          <p:cNvSpPr txBox="1"/>
          <p:nvPr/>
        </p:nvSpPr>
        <p:spPr>
          <a:xfrm>
            <a:off x="5181600" y="4165848"/>
            <a:ext cx="4170046" cy="103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74348"/>
              </a:lnSpc>
              <a:defRPr sz="6887" b="1" spc="-25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$0</a:t>
            </a:r>
          </a:p>
        </p:txBody>
      </p:sp>
      <p:sp>
        <p:nvSpPr>
          <p:cNvPr id="465" name="Text 5"/>
          <p:cNvSpPr txBox="1"/>
          <p:nvPr/>
        </p:nvSpPr>
        <p:spPr>
          <a:xfrm>
            <a:off x="5181600" y="5313610"/>
            <a:ext cx="390467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C1B5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Recovered by investors on $120M</a:t>
            </a:r>
          </a:p>
        </p:txBody>
      </p:sp>
      <p:sp>
        <p:nvSpPr>
          <p:cNvPr id="466" name="Text 6"/>
          <p:cNvSpPr txBox="1"/>
          <p:nvPr/>
        </p:nvSpPr>
        <p:spPr>
          <a:xfrm>
            <a:off x="9315450" y="4165848"/>
            <a:ext cx="4170046" cy="103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74348"/>
              </a:lnSpc>
              <a:defRPr sz="6887" b="1" spc="-25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400</a:t>
            </a:r>
          </a:p>
        </p:txBody>
      </p:sp>
      <p:sp>
        <p:nvSpPr>
          <p:cNvPr id="467" name="Text 7"/>
          <p:cNvSpPr txBox="1"/>
          <p:nvPr/>
        </p:nvSpPr>
        <p:spPr>
          <a:xfrm>
            <a:off x="9315450" y="5313610"/>
            <a:ext cx="4170046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C1B5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Jobs lost building it</a:t>
            </a:r>
          </a:p>
        </p:txBody>
      </p:sp>
      <p:sp>
        <p:nvSpPr>
          <p:cNvPr id="468" name="Text 8"/>
          <p:cNvSpPr txBox="1"/>
          <p:nvPr/>
        </p:nvSpPr>
        <p:spPr>
          <a:xfrm>
            <a:off x="13449300" y="4165848"/>
            <a:ext cx="4170046" cy="103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74348"/>
              </a:lnSpc>
              <a:defRPr sz="6887" b="1" spc="-25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5</a:t>
            </a:r>
          </a:p>
        </p:txBody>
      </p:sp>
      <p:sp>
        <p:nvSpPr>
          <p:cNvPr id="469" name="Text 9"/>
          <p:cNvSpPr txBox="1"/>
          <p:nvPr/>
        </p:nvSpPr>
        <p:spPr>
          <a:xfrm>
            <a:off x="13449300" y="5313610"/>
            <a:ext cx="3904678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C1B5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Months from the video to the shutdown</a:t>
            </a:r>
          </a:p>
        </p:txBody>
      </p:sp>
      <p:sp>
        <p:nvSpPr>
          <p:cNvPr id="470" name="Shape 10"/>
          <p:cNvSpPr/>
          <p:nvPr/>
        </p:nvSpPr>
        <p:spPr>
          <a:xfrm>
            <a:off x="1047750" y="7852470"/>
            <a:ext cx="16192500" cy="19051"/>
          </a:xfrm>
          <a:prstGeom prst="rect">
            <a:avLst/>
          </a:prstGeom>
          <a:solidFill>
            <a:srgbClr val="4036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1" name="Text 11"/>
          <p:cNvSpPr txBox="1"/>
          <p:nvPr/>
        </p:nvSpPr>
        <p:spPr>
          <a:xfrm>
            <a:off x="1047750" y="8290620"/>
            <a:ext cx="16678275" cy="1272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7009"/>
              </a:lnSpc>
              <a:defRPr sz="3600">
                <a:solidFill>
                  <a:srgbClr val="D8CBC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 postscript: secondhand Juicero machines later appeared for resale — sold by owners who had kept the packs and gone back to squeezing them by hand.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OATLY · LUND UNIVERSITY, SWEDEN · 1980S</a:t>
            </a:r>
          </a:p>
        </p:txBody>
      </p:sp>
      <p:sp>
        <p:nvSpPr>
          <p:cNvPr id="476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He started with a documented medical fact</a:t>
            </a:r>
          </a:p>
        </p:txBody>
      </p:sp>
      <p:sp>
        <p:nvSpPr>
          <p:cNvPr id="477" name="Text 2"/>
          <p:cNvSpPr txBox="1"/>
          <p:nvPr/>
        </p:nvSpPr>
        <p:spPr>
          <a:xfrm>
            <a:off x="1047750" y="3911574"/>
            <a:ext cx="7713486" cy="166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22376">
              <a:lnSpc>
                <a:spcPct val="70434"/>
              </a:lnSpc>
              <a:defRPr sz="11218" b="1" spc="-553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65%+</a:t>
            </a:r>
          </a:p>
        </p:txBody>
      </p:sp>
      <p:sp>
        <p:nvSpPr>
          <p:cNvPr id="478" name="Text 3"/>
          <p:cNvSpPr txBox="1"/>
          <p:nvPr/>
        </p:nvSpPr>
        <p:spPr>
          <a:xfrm>
            <a:off x="1047749" y="5845149"/>
            <a:ext cx="7222630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30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of the world's adults have reduced lactase production — the ability to digest the sugar in milk.</a:t>
            </a:r>
          </a:p>
        </p:txBody>
      </p:sp>
      <p:sp>
        <p:nvSpPr>
          <p:cNvPr id="479" name="Text 4"/>
          <p:cNvSpPr txBox="1"/>
          <p:nvPr/>
        </p:nvSpPr>
        <p:spPr>
          <a:xfrm>
            <a:off x="1047749" y="7597750"/>
            <a:ext cx="7222630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Under 10% in parts of Northern Europe. Well over 90% across large parts of East and Southeast Asia.</a:t>
            </a:r>
          </a:p>
        </p:txBody>
      </p:sp>
      <p:sp>
        <p:nvSpPr>
          <p:cNvPr id="480" name="Shape 5"/>
          <p:cNvSpPr/>
          <p:nvPr/>
        </p:nvSpPr>
        <p:spPr>
          <a:xfrm>
            <a:off x="8669610" y="3332038"/>
            <a:ext cx="8570640" cy="563753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1" name="Text 6"/>
          <p:cNvSpPr txBox="1"/>
          <p:nvPr/>
        </p:nvSpPr>
        <p:spPr>
          <a:xfrm>
            <a:off x="9164910" y="3827338"/>
            <a:ext cx="8338045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NOTE THE ORDER OF EVENTS</a:t>
            </a:r>
          </a:p>
        </p:txBody>
      </p:sp>
      <p:sp>
        <p:nvSpPr>
          <p:cNvPr id="482" name="Text 7"/>
          <p:cNvSpPr txBox="1"/>
          <p:nvPr/>
        </p:nvSpPr>
        <p:spPr>
          <a:xfrm>
            <a:off x="9164910" y="4403600"/>
            <a:ext cx="7807442" cy="276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157"/>
              </a:lnSpc>
              <a:defRPr sz="33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 a product idea in search of a market. Years of unglamorous enzymatic research into a problem that already affected a majority of the world's adults</a:t>
            </a:r>
          </a:p>
        </p:txBody>
      </p:sp>
      <p:sp>
        <p:nvSpPr>
          <p:cNvPr id="483" name="Text 8"/>
          <p:cNvSpPr txBox="1"/>
          <p:nvPr/>
        </p:nvSpPr>
        <p:spPr>
          <a:xfrm>
            <a:off x="9164910" y="7394227"/>
            <a:ext cx="7807442" cy="1118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7431"/>
              </a:lnSpc>
              <a:defRPr sz="3100" i="1">
                <a:solidFill>
                  <a:srgbClr val="D8CBC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— whether or not anybody had yet built a business around it.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WORKAROUND PEOPLE WERE ALREADY USING</a:t>
            </a:r>
          </a:p>
        </p:txBody>
      </p:sp>
      <p:sp>
        <p:nvSpPr>
          <p:cNvPr id="488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Soy and rice milk did not behave like milk</a:t>
            </a:r>
          </a:p>
        </p:txBody>
      </p:sp>
      <p:sp>
        <p:nvSpPr>
          <p:cNvPr id="489" name="Shape 2"/>
          <p:cNvSpPr/>
          <p:nvPr/>
        </p:nvSpPr>
        <p:spPr>
          <a:xfrm>
            <a:off x="1047750" y="2929085"/>
            <a:ext cx="5168875" cy="3362178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0" name="Text 3"/>
          <p:cNvSpPr txBox="1"/>
          <p:nvPr/>
        </p:nvSpPr>
        <p:spPr>
          <a:xfrm>
            <a:off x="1466850" y="3348185"/>
            <a:ext cx="4763743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Soy milk</a:t>
            </a:r>
          </a:p>
        </p:txBody>
      </p:sp>
      <p:sp>
        <p:nvSpPr>
          <p:cNvPr id="491" name="Text 4"/>
          <p:cNvSpPr txBox="1"/>
          <p:nvPr/>
        </p:nvSpPr>
        <p:spPr>
          <a:xfrm>
            <a:off x="1466849" y="4062560"/>
            <a:ext cx="4460597" cy="88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Separated and curdled the moment it hit hot coffee.</a:t>
            </a:r>
          </a:p>
        </p:txBody>
      </p:sp>
      <p:sp>
        <p:nvSpPr>
          <p:cNvPr id="492" name="Shape 5"/>
          <p:cNvSpPr/>
          <p:nvPr/>
        </p:nvSpPr>
        <p:spPr>
          <a:xfrm>
            <a:off x="6559525" y="2929085"/>
            <a:ext cx="5168875" cy="3362178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Text 6"/>
          <p:cNvSpPr txBox="1"/>
          <p:nvPr/>
        </p:nvSpPr>
        <p:spPr>
          <a:xfrm>
            <a:off x="6978625" y="3348185"/>
            <a:ext cx="4763744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Rice milk</a:t>
            </a:r>
          </a:p>
        </p:txBody>
      </p:sp>
      <p:sp>
        <p:nvSpPr>
          <p:cNvPr id="494" name="Text 7"/>
          <p:cNvSpPr txBox="1"/>
          <p:nvPr/>
        </p:nvSpPr>
        <p:spPr>
          <a:xfrm>
            <a:off x="6978625" y="4062560"/>
            <a:ext cx="4460596" cy="88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Thin, watery, almost no protein.</a:t>
            </a:r>
          </a:p>
        </p:txBody>
      </p:sp>
      <p:sp>
        <p:nvSpPr>
          <p:cNvPr id="495" name="Shape 8"/>
          <p:cNvSpPr/>
          <p:nvPr/>
        </p:nvSpPr>
        <p:spPr>
          <a:xfrm>
            <a:off x="12071299" y="2929085"/>
            <a:ext cx="5168951" cy="3362178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6" name="Text 9"/>
          <p:cNvSpPr txBox="1"/>
          <p:nvPr/>
        </p:nvSpPr>
        <p:spPr>
          <a:xfrm>
            <a:off x="12490399" y="3348185"/>
            <a:ext cx="4763826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Neither</a:t>
            </a:r>
          </a:p>
        </p:txBody>
      </p:sp>
      <p:sp>
        <p:nvSpPr>
          <p:cNvPr id="497" name="Text 10"/>
          <p:cNvSpPr txBox="1"/>
          <p:nvPr/>
        </p:nvSpPr>
        <p:spPr>
          <a:xfrm>
            <a:off x="12490399" y="4062560"/>
            <a:ext cx="4460673" cy="130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Frothed into the stable microfoam a barista needs for a cappuccino.</a:t>
            </a:r>
          </a:p>
        </p:txBody>
      </p:sp>
      <p:sp>
        <p:nvSpPr>
          <p:cNvPr id="498" name="Shape 11"/>
          <p:cNvSpPr/>
          <p:nvPr/>
        </p:nvSpPr>
        <p:spPr>
          <a:xfrm>
            <a:off x="1047750" y="6824663"/>
            <a:ext cx="16192500" cy="2700339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9" name="Text 12"/>
          <p:cNvSpPr txBox="1"/>
          <p:nvPr/>
        </p:nvSpPr>
        <p:spPr>
          <a:xfrm>
            <a:off x="1581150" y="7281863"/>
            <a:ext cx="15579471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181"/>
              </a:lnSpc>
              <a:defRPr sz="36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People were buying these anyway — at a premium — despite disliking them.</a:t>
            </a:r>
          </a:p>
        </p:txBody>
      </p:sp>
      <p:sp>
        <p:nvSpPr>
          <p:cNvPr id="500" name="Text 13"/>
          <p:cNvSpPr txBox="1"/>
          <p:nvPr/>
        </p:nvSpPr>
        <p:spPr>
          <a:xfrm>
            <a:off x="1581150" y="8615363"/>
            <a:ext cx="16638270" cy="498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100" i="1">
                <a:solidFill>
                  <a:srgbClr val="FFB5A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That is not a market gap you have to imagine. It is one you can observe.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THIRTY-ONE YEARS</a:t>
            </a:r>
          </a:p>
        </p:txBody>
      </p:sp>
      <p:sp>
        <p:nvSpPr>
          <p:cNvPr id="505" name="Text 1"/>
          <p:cNvSpPr txBox="1"/>
          <p:nvPr/>
        </p:nvSpPr>
        <p:spPr>
          <a:xfrm>
            <a:off x="1047750" y="1447800"/>
            <a:ext cx="17811750" cy="640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lnSpc>
                <a:spcPct val="80162"/>
              </a:lnSpc>
              <a:defRPr sz="4140" b="1" spc="-18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Problem-first buys patience, not speed</a:t>
            </a:r>
          </a:p>
        </p:txBody>
      </p:sp>
      <p:sp>
        <p:nvSpPr>
          <p:cNvPr id="506" name="Shape 2"/>
          <p:cNvSpPr/>
          <p:nvPr/>
        </p:nvSpPr>
        <p:spPr>
          <a:xfrm>
            <a:off x="1047750" y="3101032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7" name="Text 3"/>
          <p:cNvSpPr txBox="1"/>
          <p:nvPr/>
        </p:nvSpPr>
        <p:spPr>
          <a:xfrm>
            <a:off x="1047750" y="2535882"/>
            <a:ext cx="188595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1985</a:t>
            </a:r>
          </a:p>
        </p:txBody>
      </p:sp>
      <p:sp>
        <p:nvSpPr>
          <p:cNvPr id="508" name="Text 4"/>
          <p:cNvSpPr txBox="1"/>
          <p:nvPr/>
        </p:nvSpPr>
        <p:spPr>
          <a:xfrm>
            <a:off x="3143250" y="2588269"/>
            <a:ext cx="15506700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Öste encounters soy milk at a conference in Japan and asks whether a plant source could behave like real milk.</a:t>
            </a:r>
          </a:p>
        </p:txBody>
      </p:sp>
      <p:sp>
        <p:nvSpPr>
          <p:cNvPr id="509" name="Shape 5"/>
          <p:cNvSpPr/>
          <p:nvPr/>
        </p:nvSpPr>
        <p:spPr>
          <a:xfrm>
            <a:off x="1047750" y="4191644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0" name="Text 6"/>
          <p:cNvSpPr txBox="1"/>
          <p:nvPr/>
        </p:nvSpPr>
        <p:spPr>
          <a:xfrm>
            <a:off x="1047750" y="3255019"/>
            <a:ext cx="188595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1990</a:t>
            </a:r>
          </a:p>
        </p:txBody>
      </p:sp>
      <p:sp>
        <p:nvSpPr>
          <p:cNvPr id="511" name="Text 7"/>
          <p:cNvSpPr txBox="1"/>
          <p:nvPr/>
        </p:nvSpPr>
        <p:spPr>
          <a:xfrm>
            <a:off x="3143250" y="3307407"/>
            <a:ext cx="1451991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Patents an alpha-amylase enzymatic process. It retains beta-glucan — and it froths. Oatly still uses essentially this process today.</a:t>
            </a:r>
          </a:p>
        </p:txBody>
      </p:sp>
      <p:sp>
        <p:nvSpPr>
          <p:cNvPr id="512" name="Shape 8"/>
          <p:cNvSpPr/>
          <p:nvPr/>
        </p:nvSpPr>
        <p:spPr>
          <a:xfrm>
            <a:off x="1047750" y="4910782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3" name="Text 9"/>
          <p:cNvSpPr txBox="1"/>
          <p:nvPr/>
        </p:nvSpPr>
        <p:spPr>
          <a:xfrm>
            <a:off x="1047750" y="4345632"/>
            <a:ext cx="188595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1994</a:t>
            </a:r>
          </a:p>
        </p:txBody>
      </p:sp>
      <p:sp>
        <p:nvSpPr>
          <p:cNvPr id="514" name="Text 10"/>
          <p:cNvSpPr txBox="1"/>
          <p:nvPr/>
        </p:nvSpPr>
        <p:spPr>
          <a:xfrm>
            <a:off x="3143250" y="4398019"/>
            <a:ext cx="15506700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Founds the company with his brother Björn.</a:t>
            </a:r>
          </a:p>
        </p:txBody>
      </p:sp>
      <p:sp>
        <p:nvSpPr>
          <p:cNvPr id="515" name="Shape 11"/>
          <p:cNvSpPr/>
          <p:nvPr/>
        </p:nvSpPr>
        <p:spPr>
          <a:xfrm>
            <a:off x="1047750" y="4921894"/>
            <a:ext cx="16192500" cy="1123951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6" name="Shape 12"/>
          <p:cNvSpPr/>
          <p:nvPr/>
        </p:nvSpPr>
        <p:spPr>
          <a:xfrm>
            <a:off x="1047750" y="6034732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7" name="Text 13"/>
          <p:cNvSpPr txBox="1"/>
          <p:nvPr/>
        </p:nvSpPr>
        <p:spPr>
          <a:xfrm>
            <a:off x="1047750" y="5064769"/>
            <a:ext cx="1790700" cy="866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1994–2012</a:t>
            </a:r>
          </a:p>
        </p:txBody>
      </p:sp>
      <p:sp>
        <p:nvSpPr>
          <p:cNvPr id="518" name="Text 14"/>
          <p:cNvSpPr txBox="1"/>
          <p:nvPr/>
        </p:nvSpPr>
        <p:spPr>
          <a:xfrm>
            <a:off x="3143250" y="5117157"/>
            <a:ext cx="1451991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Almost nothing. A small Scandinavian product sold in health food stores and hospitals. Something you were prescribed, not something you chose.</a:t>
            </a:r>
          </a:p>
        </p:txBody>
      </p:sp>
      <p:sp>
        <p:nvSpPr>
          <p:cNvPr id="519" name="Shape 15"/>
          <p:cNvSpPr/>
          <p:nvPr/>
        </p:nvSpPr>
        <p:spPr>
          <a:xfrm>
            <a:off x="1047750" y="7125344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0" name="Text 16"/>
          <p:cNvSpPr txBox="1"/>
          <p:nvPr/>
        </p:nvSpPr>
        <p:spPr>
          <a:xfrm>
            <a:off x="1047750" y="6188719"/>
            <a:ext cx="188595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2012</a:t>
            </a:r>
          </a:p>
        </p:txBody>
      </p:sp>
      <p:sp>
        <p:nvSpPr>
          <p:cNvPr id="521" name="Text 17"/>
          <p:cNvSpPr txBox="1"/>
          <p:nvPr/>
        </p:nvSpPr>
        <p:spPr>
          <a:xfrm>
            <a:off x="3143250" y="6241107"/>
            <a:ext cx="1451991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Toni Petersson takes over. Barista Edition, engineered to froth. Given free to baristas rather than fought onto supermarket shelves.</a:t>
            </a:r>
          </a:p>
        </p:txBody>
      </p:sp>
      <p:sp>
        <p:nvSpPr>
          <p:cNvPr id="522" name="Shape 18"/>
          <p:cNvSpPr/>
          <p:nvPr/>
        </p:nvSpPr>
        <p:spPr>
          <a:xfrm>
            <a:off x="1047750" y="8215957"/>
            <a:ext cx="161925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3" name="Text 19"/>
          <p:cNvSpPr txBox="1"/>
          <p:nvPr/>
        </p:nvSpPr>
        <p:spPr>
          <a:xfrm>
            <a:off x="1047750" y="7279331"/>
            <a:ext cx="188595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2020</a:t>
            </a:r>
          </a:p>
        </p:txBody>
      </p:sp>
      <p:sp>
        <p:nvSpPr>
          <p:cNvPr id="524" name="Text 20"/>
          <p:cNvSpPr txBox="1"/>
          <p:nvPr/>
        </p:nvSpPr>
        <p:spPr>
          <a:xfrm>
            <a:off x="3143250" y="7331719"/>
            <a:ext cx="1451991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Blackstone consortium — with Oprah, Jay-Z, Natalie Portman, Howard Schultz — invests $200M at ~$2B. Revenue $421.4M, more than double the prior year.</a:t>
            </a:r>
          </a:p>
        </p:txBody>
      </p:sp>
      <p:sp>
        <p:nvSpPr>
          <p:cNvPr id="525" name="Shape 21"/>
          <p:cNvSpPr/>
          <p:nvPr/>
        </p:nvSpPr>
        <p:spPr>
          <a:xfrm>
            <a:off x="1047750" y="8227069"/>
            <a:ext cx="16192500" cy="70961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6" name="Text 22"/>
          <p:cNvSpPr txBox="1"/>
          <p:nvPr/>
        </p:nvSpPr>
        <p:spPr>
          <a:xfrm>
            <a:off x="1276350" y="8369944"/>
            <a:ext cx="1885950" cy="45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800" b="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2021</a:t>
            </a:r>
          </a:p>
        </p:txBody>
      </p:sp>
      <p:sp>
        <p:nvSpPr>
          <p:cNvPr id="527" name="Text 23"/>
          <p:cNvSpPr txBox="1"/>
          <p:nvPr/>
        </p:nvSpPr>
        <p:spPr>
          <a:xfrm>
            <a:off x="3371850" y="8422331"/>
            <a:ext cx="15255240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738"/>
              </a:lnSpc>
              <a:defRPr sz="22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Lists on Nasdaq at $17. Opens at $22.12 — a $13.1 billion market cap.</a:t>
            </a:r>
          </a:p>
        </p:txBody>
      </p:sp>
      <p:sp>
        <p:nvSpPr>
          <p:cNvPr id="528" name="Shape 24"/>
          <p:cNvSpPr/>
          <p:nvPr/>
        </p:nvSpPr>
        <p:spPr>
          <a:xfrm>
            <a:off x="1047750" y="8298209"/>
            <a:ext cx="16192500" cy="19051"/>
          </a:xfrm>
          <a:prstGeom prst="rect">
            <a:avLst/>
          </a:prstGeom>
          <a:solidFill>
            <a:srgbClr val="D4CCC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9" name="Text 25"/>
          <p:cNvSpPr txBox="1"/>
          <p:nvPr/>
        </p:nvSpPr>
        <p:spPr>
          <a:xfrm>
            <a:off x="1047750" y="9056712"/>
            <a:ext cx="16678275" cy="97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>
                <a:solidFill>
                  <a:srgbClr val="43383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When the Swedish dairy lobby sued them over the "like milk" claim, Oatly printed the lawsuit documents onto its cartons.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ext 0"/>
          <p:cNvSpPr txBox="1"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FRAMEWORK 3</a:t>
            </a:r>
          </a:p>
        </p:txBody>
      </p:sp>
      <p:sp>
        <p:nvSpPr>
          <p:cNvPr id="534" name="Text 1"/>
          <p:cNvSpPr txBox="1"/>
          <p:nvPr/>
        </p:nvSpPr>
        <p:spPr>
          <a:xfrm>
            <a:off x="1047750" y="1352550"/>
            <a:ext cx="17811750" cy="73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633"/>
              </a:lnSpc>
              <a:defRPr sz="4752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Two starting points</a:t>
            </a:r>
          </a:p>
        </p:txBody>
      </p:sp>
      <p:sp>
        <p:nvSpPr>
          <p:cNvPr id="535" name="Shape 2"/>
          <p:cNvSpPr/>
          <p:nvPr/>
        </p:nvSpPr>
        <p:spPr>
          <a:xfrm>
            <a:off x="1047750" y="2509241"/>
            <a:ext cx="7867650" cy="7607498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6" name="Shape 3"/>
          <p:cNvSpPr/>
          <p:nvPr/>
        </p:nvSpPr>
        <p:spPr>
          <a:xfrm>
            <a:off x="1047750" y="2509241"/>
            <a:ext cx="7867650" cy="9525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7" name="Text 4"/>
          <p:cNvSpPr txBox="1"/>
          <p:nvPr/>
        </p:nvSpPr>
        <p:spPr>
          <a:xfrm>
            <a:off x="1504950" y="3061691"/>
            <a:ext cx="7648575" cy="57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3564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Solution-first</a:t>
            </a:r>
          </a:p>
        </p:txBody>
      </p:sp>
      <p:sp>
        <p:nvSpPr>
          <p:cNvPr id="538" name="Text 5"/>
          <p:cNvSpPr txBox="1"/>
          <p:nvPr/>
        </p:nvSpPr>
        <p:spPr>
          <a:xfrm>
            <a:off x="1504950" y="3680817"/>
            <a:ext cx="7648575" cy="37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134" b="1">
                <a:solidFill>
                  <a:srgbClr val="A83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common, dangerous default</a:t>
            </a:r>
          </a:p>
        </p:txBody>
      </p:sp>
      <p:sp>
        <p:nvSpPr>
          <p:cNvPr id="539" name="Text 6"/>
          <p:cNvSpPr txBox="1"/>
          <p:nvPr/>
        </p:nvSpPr>
        <p:spPr>
          <a:xfrm>
            <a:off x="1504950" y="4352330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have an idea for a product</a:t>
            </a:r>
          </a:p>
        </p:txBody>
      </p:sp>
      <p:sp>
        <p:nvSpPr>
          <p:cNvPr id="540" name="Text 7"/>
          <p:cNvSpPr txBox="1"/>
          <p:nvPr/>
        </p:nvSpPr>
        <p:spPr>
          <a:xfrm>
            <a:off x="1504950" y="4909542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8A7E7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↓</a:t>
            </a:r>
          </a:p>
        </p:txBody>
      </p:sp>
      <p:sp>
        <p:nvSpPr>
          <p:cNvPr id="541" name="Text 8"/>
          <p:cNvSpPr txBox="1"/>
          <p:nvPr/>
        </p:nvSpPr>
        <p:spPr>
          <a:xfrm>
            <a:off x="1504950" y="5466755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look for a market to justify building it</a:t>
            </a:r>
          </a:p>
        </p:txBody>
      </p:sp>
      <p:sp>
        <p:nvSpPr>
          <p:cNvPr id="542" name="Text 9"/>
          <p:cNvSpPr txBox="1"/>
          <p:nvPr/>
        </p:nvSpPr>
        <p:spPr>
          <a:xfrm>
            <a:off x="1504950" y="6023967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8A7E7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↓</a:t>
            </a:r>
          </a:p>
        </p:txBody>
      </p:sp>
      <p:sp>
        <p:nvSpPr>
          <p:cNvPr id="543" name="Text 10"/>
          <p:cNvSpPr txBox="1"/>
          <p:nvPr/>
        </p:nvSpPr>
        <p:spPr>
          <a:xfrm>
            <a:off x="1504950" y="6581179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build the product</a:t>
            </a:r>
          </a:p>
        </p:txBody>
      </p:sp>
      <p:sp>
        <p:nvSpPr>
          <p:cNvPr id="544" name="Text 11"/>
          <p:cNvSpPr txBox="1"/>
          <p:nvPr/>
        </p:nvSpPr>
        <p:spPr>
          <a:xfrm>
            <a:off x="1504950" y="7138392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8A7E7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↓</a:t>
            </a:r>
          </a:p>
        </p:txBody>
      </p:sp>
      <p:sp>
        <p:nvSpPr>
          <p:cNvPr id="545" name="Text 12"/>
          <p:cNvSpPr txBox="1"/>
          <p:nvPr/>
        </p:nvSpPr>
        <p:spPr>
          <a:xfrm>
            <a:off x="1504949" y="7695604"/>
            <a:ext cx="7161850" cy="847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discover, expensively, whether anyone needed it</a:t>
            </a:r>
          </a:p>
        </p:txBody>
      </p:sp>
      <p:sp>
        <p:nvSpPr>
          <p:cNvPr id="546" name="Shape 13"/>
          <p:cNvSpPr/>
          <p:nvPr/>
        </p:nvSpPr>
        <p:spPr>
          <a:xfrm>
            <a:off x="1504950" y="8505229"/>
            <a:ext cx="6953250" cy="19051"/>
          </a:xfrm>
          <a:prstGeom prst="rect">
            <a:avLst/>
          </a:prstGeom>
          <a:solidFill>
            <a:srgbClr val="C8BBB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7" name="Text 14"/>
          <p:cNvSpPr txBox="1"/>
          <p:nvPr/>
        </p:nvSpPr>
        <p:spPr>
          <a:xfrm>
            <a:off x="1504949" y="8867179"/>
            <a:ext cx="7161850" cy="83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Juicero: $120M raised, 400 staff, dead in 17 months.</a:t>
            </a:r>
          </a:p>
        </p:txBody>
      </p:sp>
      <p:sp>
        <p:nvSpPr>
          <p:cNvPr id="548" name="Shape 15"/>
          <p:cNvSpPr/>
          <p:nvPr/>
        </p:nvSpPr>
        <p:spPr>
          <a:xfrm>
            <a:off x="9372600" y="2509241"/>
            <a:ext cx="7867650" cy="7607498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9" name="Shape 16"/>
          <p:cNvSpPr/>
          <p:nvPr/>
        </p:nvSpPr>
        <p:spPr>
          <a:xfrm>
            <a:off x="9372600" y="2509241"/>
            <a:ext cx="7867650" cy="95251"/>
          </a:xfrm>
          <a:prstGeom prst="rect">
            <a:avLst/>
          </a:prstGeom>
          <a:solidFill>
            <a:srgbClr val="00885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0" name="Text 17"/>
          <p:cNvSpPr txBox="1"/>
          <p:nvPr/>
        </p:nvSpPr>
        <p:spPr>
          <a:xfrm>
            <a:off x="9829800" y="3061691"/>
            <a:ext cx="7648575" cy="57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3564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Problem-first</a:t>
            </a:r>
          </a:p>
        </p:txBody>
      </p:sp>
      <p:sp>
        <p:nvSpPr>
          <p:cNvPr id="551" name="Text 18"/>
          <p:cNvSpPr txBox="1"/>
          <p:nvPr/>
        </p:nvSpPr>
        <p:spPr>
          <a:xfrm>
            <a:off x="9829800" y="3680817"/>
            <a:ext cx="7648575" cy="37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134" b="1">
                <a:solidFill>
                  <a:srgbClr val="58BA9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deliberate, harder default</a:t>
            </a:r>
          </a:p>
        </p:txBody>
      </p:sp>
      <p:sp>
        <p:nvSpPr>
          <p:cNvPr id="552" name="Text 19"/>
          <p:cNvSpPr txBox="1"/>
          <p:nvPr/>
        </p:nvSpPr>
        <p:spPr>
          <a:xfrm>
            <a:off x="9829800" y="4352330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observe a problem many people already have</a:t>
            </a:r>
          </a:p>
        </p:txBody>
      </p:sp>
      <p:sp>
        <p:nvSpPr>
          <p:cNvPr id="553" name="Text 20"/>
          <p:cNvSpPr txBox="1"/>
          <p:nvPr/>
        </p:nvSpPr>
        <p:spPr>
          <a:xfrm>
            <a:off x="9829800" y="4909542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8A7E7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↓</a:t>
            </a:r>
          </a:p>
        </p:txBody>
      </p:sp>
      <p:sp>
        <p:nvSpPr>
          <p:cNvPr id="554" name="Text 21"/>
          <p:cNvSpPr txBox="1"/>
          <p:nvPr/>
        </p:nvSpPr>
        <p:spPr>
          <a:xfrm>
            <a:off x="9829800" y="5466755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find real evidence it is costly to them</a:t>
            </a:r>
          </a:p>
        </p:txBody>
      </p:sp>
      <p:sp>
        <p:nvSpPr>
          <p:cNvPr id="555" name="Text 22"/>
          <p:cNvSpPr txBox="1"/>
          <p:nvPr/>
        </p:nvSpPr>
        <p:spPr>
          <a:xfrm>
            <a:off x="9829800" y="6023967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8A7E7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↓</a:t>
            </a:r>
          </a:p>
        </p:txBody>
      </p:sp>
      <p:sp>
        <p:nvSpPr>
          <p:cNvPr id="556" name="Text 23"/>
          <p:cNvSpPr txBox="1"/>
          <p:nvPr/>
        </p:nvSpPr>
        <p:spPr>
          <a:xfrm>
            <a:off x="9829800" y="6581179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build in service of that evidence</a:t>
            </a:r>
          </a:p>
        </p:txBody>
      </p:sp>
      <p:sp>
        <p:nvSpPr>
          <p:cNvPr id="557" name="Text 24"/>
          <p:cNvSpPr txBox="1"/>
          <p:nvPr/>
        </p:nvSpPr>
        <p:spPr>
          <a:xfrm>
            <a:off x="9829800" y="7138392"/>
            <a:ext cx="7648575" cy="44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>
                <a:solidFill>
                  <a:srgbClr val="8A7E7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↓</a:t>
            </a:r>
          </a:p>
        </p:txBody>
      </p:sp>
      <p:sp>
        <p:nvSpPr>
          <p:cNvPr id="558" name="Text 25"/>
          <p:cNvSpPr txBox="1"/>
          <p:nvPr/>
        </p:nvSpPr>
        <p:spPr>
          <a:xfrm>
            <a:off x="9829800" y="7695604"/>
            <a:ext cx="7161849" cy="847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076"/>
              </a:lnSpc>
              <a:defRPr sz="25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 find customers who were already looking for this</a:t>
            </a:r>
          </a:p>
        </p:txBody>
      </p:sp>
      <p:sp>
        <p:nvSpPr>
          <p:cNvPr id="559" name="Shape 26"/>
          <p:cNvSpPr/>
          <p:nvPr/>
        </p:nvSpPr>
        <p:spPr>
          <a:xfrm>
            <a:off x="9829800" y="8901410"/>
            <a:ext cx="6953250" cy="19051"/>
          </a:xfrm>
          <a:prstGeom prst="rect">
            <a:avLst/>
          </a:prstGeom>
          <a:solidFill>
            <a:srgbClr val="50453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0" name="Text 27"/>
          <p:cNvSpPr txBox="1"/>
          <p:nvPr/>
        </p:nvSpPr>
        <p:spPr>
          <a:xfrm>
            <a:off x="9829800" y="9263360"/>
            <a:ext cx="7161849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2432"/>
              </a:lnSpc>
              <a:defRPr sz="22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Oatly: 31 years, a $10B IPO, a category it defined.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 0"/>
          <p:cNvSpPr txBox="1"/>
          <p:nvPr/>
        </p:nvSpPr>
        <p:spPr>
          <a:xfrm>
            <a:off x="1047750" y="1044029"/>
            <a:ext cx="1781175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STARTUP POST-MORTEM RESEARCH · CB INSIGHTS</a:t>
            </a:r>
          </a:p>
        </p:txBody>
      </p:sp>
      <p:sp>
        <p:nvSpPr>
          <p:cNvPr id="565" name="Text 1"/>
          <p:cNvSpPr txBox="1"/>
          <p:nvPr/>
        </p:nvSpPr>
        <p:spPr>
          <a:xfrm>
            <a:off x="1047750" y="1710778"/>
            <a:ext cx="8280273" cy="483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lnSpc>
                <a:spcPct val="70434"/>
              </a:lnSpc>
              <a:defRPr sz="19320" b="1" spc="-920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35–42%</a:t>
            </a:r>
          </a:p>
        </p:txBody>
      </p:sp>
      <p:sp>
        <p:nvSpPr>
          <p:cNvPr id="566" name="Text 2"/>
          <p:cNvSpPr txBox="1"/>
          <p:nvPr/>
        </p:nvSpPr>
        <p:spPr>
          <a:xfrm>
            <a:off x="9620250" y="3349078"/>
            <a:ext cx="7848600" cy="1878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9860"/>
              </a:lnSpc>
              <a:defRPr sz="42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of startup failures cite "no market need" as a primary cause.</a:t>
            </a:r>
          </a:p>
        </p:txBody>
      </p:sp>
      <p:sp>
        <p:nvSpPr>
          <p:cNvPr id="567" name="Text 3"/>
          <p:cNvSpPr txBox="1"/>
          <p:nvPr/>
        </p:nvSpPr>
        <p:spPr>
          <a:xfrm>
            <a:off x="1047750" y="7273379"/>
            <a:ext cx="8025194" cy="219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3043"/>
              </a:lnSpc>
              <a:defRPr sz="30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More than running out of cash. More than being out-competed. More than having the wrong team.</a:t>
            </a:r>
          </a:p>
        </p:txBody>
      </p:sp>
      <p:sp>
        <p:nvSpPr>
          <p:cNvPr id="568" name="Shape 4"/>
          <p:cNvSpPr/>
          <p:nvPr/>
        </p:nvSpPr>
        <p:spPr>
          <a:xfrm>
            <a:off x="9448800" y="7273379"/>
            <a:ext cx="38100" cy="2160092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9" name="Text 5"/>
          <p:cNvSpPr txBox="1"/>
          <p:nvPr/>
        </p:nvSpPr>
        <p:spPr>
          <a:xfrm>
            <a:off x="9944100" y="7273379"/>
            <a:ext cx="7529894" cy="219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7431"/>
              </a:lnSpc>
              <a:defRPr sz="3100">
                <a:solidFill>
                  <a:srgbClr val="CEC1B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Read it carefully. It does not say they executed badly. They built something extremely well that nobody needed extremely much.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FRAMEWORK 4</a:t>
            </a:r>
          </a:p>
        </p:txBody>
      </p:sp>
      <p:sp>
        <p:nvSpPr>
          <p:cNvPr id="574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Vitamin or painkiller?</a:t>
            </a:r>
          </a:p>
        </p:txBody>
      </p:sp>
      <p:sp>
        <p:nvSpPr>
          <p:cNvPr id="575" name="Shape 2"/>
          <p:cNvSpPr/>
          <p:nvPr/>
        </p:nvSpPr>
        <p:spPr>
          <a:xfrm>
            <a:off x="1047750" y="2776685"/>
            <a:ext cx="16192500" cy="2774083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6" name="Text 3"/>
          <p:cNvSpPr txBox="1"/>
          <p:nvPr/>
        </p:nvSpPr>
        <p:spPr>
          <a:xfrm>
            <a:off x="1504950" y="3883669"/>
            <a:ext cx="3725734" cy="59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lnSpc>
                <a:spcPct val="82046"/>
              </a:lnSpc>
              <a:defRPr sz="3906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Vitamin</a:t>
            </a:r>
          </a:p>
        </p:txBody>
      </p:sp>
      <p:sp>
        <p:nvSpPr>
          <p:cNvPr id="577" name="Text 4"/>
          <p:cNvSpPr txBox="1"/>
          <p:nvPr/>
        </p:nvSpPr>
        <p:spPr>
          <a:xfrm>
            <a:off x="5272980" y="3321768"/>
            <a:ext cx="4983861" cy="1721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Genuinely useful, but not urgent. Customers agree with the benefit in principle and never feel its absence.</a:t>
            </a:r>
          </a:p>
        </p:txBody>
      </p:sp>
      <p:sp>
        <p:nvSpPr>
          <p:cNvPr id="578" name="Text 5"/>
          <p:cNvSpPr txBox="1"/>
          <p:nvPr/>
        </p:nvSpPr>
        <p:spPr>
          <a:xfrm>
            <a:off x="10492679" y="3338438"/>
            <a:ext cx="6479082" cy="1688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081"/>
              </a:lnSpc>
              <a:defRPr sz="2400" b="1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test: </a:t>
            </a:r>
            <a:r>
              <a:rPr b="0"/>
              <a:t>a workaround exists and is tolerable. Skipping it costs convenience, not hardship. Growth needs constant marketing to remind people to care.</a:t>
            </a:r>
          </a:p>
        </p:txBody>
      </p:sp>
      <p:sp>
        <p:nvSpPr>
          <p:cNvPr id="579" name="Shape 6"/>
          <p:cNvSpPr/>
          <p:nvPr/>
        </p:nvSpPr>
        <p:spPr>
          <a:xfrm>
            <a:off x="1047750" y="5817468"/>
            <a:ext cx="16192500" cy="2774083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0" name="Text 7"/>
          <p:cNvSpPr txBox="1"/>
          <p:nvPr/>
        </p:nvSpPr>
        <p:spPr>
          <a:xfrm>
            <a:off x="1504950" y="6924451"/>
            <a:ext cx="3725734" cy="59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lnSpc>
                <a:spcPct val="82046"/>
              </a:lnSpc>
              <a:defRPr sz="3906" b="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Painkiller</a:t>
            </a:r>
          </a:p>
        </p:txBody>
      </p:sp>
      <p:sp>
        <p:nvSpPr>
          <p:cNvPr id="581" name="Text 8"/>
          <p:cNvSpPr txBox="1"/>
          <p:nvPr/>
        </p:nvSpPr>
        <p:spPr>
          <a:xfrm>
            <a:off x="5272980" y="6362551"/>
            <a:ext cx="4983861" cy="1721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Solves an acute, recurring, actively-felt problem. Customers are already trying to fix it — badly — without being asked.</a:t>
            </a:r>
          </a:p>
        </p:txBody>
      </p:sp>
      <p:sp>
        <p:nvSpPr>
          <p:cNvPr id="582" name="Text 9"/>
          <p:cNvSpPr txBox="1"/>
          <p:nvPr/>
        </p:nvSpPr>
        <p:spPr>
          <a:xfrm>
            <a:off x="10492679" y="6379219"/>
            <a:ext cx="6479082" cy="1688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081"/>
              </a:lnSpc>
              <a:defRPr sz="2400" b="1">
                <a:solidFill>
                  <a:srgbClr val="CEC1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test: </a:t>
            </a:r>
            <a:r>
              <a:rPr b="0"/>
              <a:t>you can name the pre-existing workaround. The pain returns often enough that its absence gets complained about. Growth is largely word-of-mouth.</a:t>
            </a:r>
          </a:p>
        </p:txBody>
      </p:sp>
      <p:sp>
        <p:nvSpPr>
          <p:cNvPr id="583" name="Text 10"/>
          <p:cNvSpPr txBox="1"/>
          <p:nvPr/>
        </p:nvSpPr>
        <p:spPr>
          <a:xfrm>
            <a:off x="1047750" y="9048750"/>
            <a:ext cx="17811750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826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question for any idea is which one it really is — not which one the founder wishes it were.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DECIDE FOR YOURSELF · BOTH WAYS</a:t>
            </a:r>
          </a:p>
        </p:txBody>
      </p:sp>
      <p:sp>
        <p:nvSpPr>
          <p:cNvPr id="588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Using this test alone — which were they?</a:t>
            </a:r>
          </a:p>
        </p:txBody>
      </p:sp>
      <p:sp>
        <p:nvSpPr>
          <p:cNvPr id="589" name="Shape 2"/>
          <p:cNvSpPr/>
          <p:nvPr/>
        </p:nvSpPr>
        <p:spPr>
          <a:xfrm>
            <a:off x="1047750" y="3600598"/>
            <a:ext cx="7829550" cy="3115569"/>
          </a:xfrm>
          <a:prstGeom prst="rect">
            <a:avLst/>
          </a:prstGeom>
          <a:ln w="38100">
            <a:solidFill>
              <a:srgbClr val="20191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0" name="Text 3"/>
          <p:cNvSpPr txBox="1"/>
          <p:nvPr/>
        </p:nvSpPr>
        <p:spPr>
          <a:xfrm>
            <a:off x="1581150" y="4248298"/>
            <a:ext cx="7439025" cy="738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4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Juicero</a:t>
            </a:r>
          </a:p>
        </p:txBody>
      </p:sp>
      <p:sp>
        <p:nvSpPr>
          <p:cNvPr id="591" name="Text 4"/>
          <p:cNvSpPr txBox="1"/>
          <p:nvPr/>
        </p:nvSpPr>
        <p:spPr>
          <a:xfrm>
            <a:off x="1581150" y="5176985"/>
            <a:ext cx="6965633" cy="92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$699 machine, $5–8 packs, cold-pressed juice at home.</a:t>
            </a:r>
          </a:p>
        </p:txBody>
      </p:sp>
      <p:sp>
        <p:nvSpPr>
          <p:cNvPr id="592" name="Shape 5"/>
          <p:cNvSpPr/>
          <p:nvPr/>
        </p:nvSpPr>
        <p:spPr>
          <a:xfrm>
            <a:off x="9410700" y="3600598"/>
            <a:ext cx="7829550" cy="3115569"/>
          </a:xfrm>
          <a:prstGeom prst="rect">
            <a:avLst/>
          </a:prstGeom>
          <a:ln w="38100">
            <a:solidFill>
              <a:srgbClr val="20191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3" name="Text 6"/>
          <p:cNvSpPr txBox="1"/>
          <p:nvPr/>
        </p:nvSpPr>
        <p:spPr>
          <a:xfrm>
            <a:off x="9944100" y="4248298"/>
            <a:ext cx="7439025" cy="738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4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Oatly</a:t>
            </a:r>
          </a:p>
        </p:txBody>
      </p:sp>
      <p:sp>
        <p:nvSpPr>
          <p:cNvPr id="594" name="Text 7"/>
          <p:cNvSpPr txBox="1"/>
          <p:nvPr/>
        </p:nvSpPr>
        <p:spPr>
          <a:xfrm>
            <a:off x="9944100" y="5176985"/>
            <a:ext cx="7439025" cy="48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 milk that behaves like dairy in hot coffee.</a:t>
            </a:r>
          </a:p>
        </p:txBody>
      </p:sp>
      <p:sp>
        <p:nvSpPr>
          <p:cNvPr id="595" name="Shape 8"/>
          <p:cNvSpPr/>
          <p:nvPr/>
        </p:nvSpPr>
        <p:spPr>
          <a:xfrm>
            <a:off x="1047750" y="8073479"/>
            <a:ext cx="16192500" cy="19051"/>
          </a:xfrm>
          <a:prstGeom prst="rect">
            <a:avLst/>
          </a:prstGeom>
          <a:solidFill>
            <a:srgbClr val="D4CCC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6" name="Text 9"/>
          <p:cNvSpPr txBox="1"/>
          <p:nvPr/>
        </p:nvSpPr>
        <p:spPr>
          <a:xfrm>
            <a:off x="1047750" y="8435429"/>
            <a:ext cx="16678275" cy="1127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960"/>
              </a:lnSpc>
              <a:defRPr sz="3300">
                <a:solidFill>
                  <a:srgbClr val="43383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Before you decide, answer the prior question for each one: what was the workaround before it existed?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 0"/>
          <p:cNvSpPr txBox="1"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SHARPER ANSWERS</a:t>
            </a:r>
          </a:p>
        </p:txBody>
      </p:sp>
      <p:sp>
        <p:nvSpPr>
          <p:cNvPr id="601" name="Text 1"/>
          <p:cNvSpPr txBox="1"/>
          <p:nvPr/>
        </p:nvSpPr>
        <p:spPr>
          <a:xfrm>
            <a:off x="1047750" y="1352550"/>
            <a:ext cx="17811750" cy="73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633"/>
              </a:lnSpc>
              <a:defRPr sz="4752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Neither one is a clean binary</a:t>
            </a:r>
          </a:p>
        </p:txBody>
      </p:sp>
      <p:sp>
        <p:nvSpPr>
          <p:cNvPr id="602" name="Shape 2"/>
          <p:cNvSpPr/>
          <p:nvPr/>
        </p:nvSpPr>
        <p:spPr>
          <a:xfrm>
            <a:off x="1047750" y="2509242"/>
            <a:ext cx="7867650" cy="5691783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3" name="Text 3"/>
          <p:cNvSpPr txBox="1"/>
          <p:nvPr/>
        </p:nvSpPr>
        <p:spPr>
          <a:xfrm>
            <a:off x="1504950" y="2966441"/>
            <a:ext cx="7648575" cy="57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3564" b="1">
                <a:solidFill>
                  <a:srgbClr val="FFFBF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Juicero — neither</a:t>
            </a:r>
          </a:p>
        </p:txBody>
      </p:sp>
      <p:sp>
        <p:nvSpPr>
          <p:cNvPr id="604" name="Text 4"/>
          <p:cNvSpPr txBox="1"/>
          <p:nvPr/>
        </p:nvSpPr>
        <p:spPr>
          <a:xfrm>
            <a:off x="1504949" y="3757017"/>
            <a:ext cx="7161850" cy="130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>
                <a:solidFill>
                  <a:srgbClr val="FFFBF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Cold-pressed juice from a shop was already an easy, adequate workaround. There was no pain being tolerated.</a:t>
            </a:r>
          </a:p>
        </p:txBody>
      </p:sp>
      <p:sp>
        <p:nvSpPr>
          <p:cNvPr id="605" name="Shape 5"/>
          <p:cNvSpPr/>
          <p:nvPr/>
        </p:nvSpPr>
        <p:spPr>
          <a:xfrm>
            <a:off x="1504950" y="6157093"/>
            <a:ext cx="6953250" cy="19051"/>
          </a:xfrm>
          <a:prstGeom prst="rect">
            <a:avLst/>
          </a:prstGeom>
          <a:solidFill>
            <a:srgbClr val="FFFB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6" name="Text 6"/>
          <p:cNvSpPr txBox="1"/>
          <p:nvPr/>
        </p:nvSpPr>
        <p:spPr>
          <a:xfrm>
            <a:off x="1504949" y="6480943"/>
            <a:ext cx="7161850" cy="130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99"/>
              </a:lnSpc>
              <a:defRPr sz="2500">
                <a:solidFill>
                  <a:srgbClr val="FFFBF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And $699 plus $5–8 a pack is not even a mild convenience win once you count the price. It barely clears the vitamin bar.</a:t>
            </a:r>
          </a:p>
        </p:txBody>
      </p:sp>
      <p:sp>
        <p:nvSpPr>
          <p:cNvPr id="607" name="Shape 7"/>
          <p:cNvSpPr/>
          <p:nvPr/>
        </p:nvSpPr>
        <p:spPr>
          <a:xfrm>
            <a:off x="9372600" y="2509241"/>
            <a:ext cx="7867650" cy="2731593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8" name="Text 8"/>
          <p:cNvSpPr txBox="1"/>
          <p:nvPr/>
        </p:nvSpPr>
        <p:spPr>
          <a:xfrm>
            <a:off x="9753600" y="2890241"/>
            <a:ext cx="781621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Oatly · painkiller segment</a:t>
            </a:r>
          </a:p>
        </p:txBody>
      </p:sp>
      <p:sp>
        <p:nvSpPr>
          <p:cNvPr id="609" name="Text 9"/>
          <p:cNvSpPr txBox="1"/>
          <p:nvPr/>
        </p:nvSpPr>
        <p:spPr>
          <a:xfrm>
            <a:off x="9753600" y="3499842"/>
            <a:ext cx="7318820" cy="122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genuinely lactose-intolerant customer. Discomfort is acute, daily, no comfortable workaround. Needs no convincing, rarely churns.</a:t>
            </a:r>
          </a:p>
        </p:txBody>
      </p:sp>
      <p:sp>
        <p:nvSpPr>
          <p:cNvPr id="610" name="Shape 10"/>
          <p:cNvSpPr/>
          <p:nvPr/>
        </p:nvSpPr>
        <p:spPr>
          <a:xfrm>
            <a:off x="9372600" y="5469433"/>
            <a:ext cx="7867650" cy="2731592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1" name="Text 11"/>
          <p:cNvSpPr txBox="1"/>
          <p:nvPr/>
        </p:nvSpPr>
        <p:spPr>
          <a:xfrm>
            <a:off x="9753600" y="5850433"/>
            <a:ext cx="781621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6C615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Oatly · vitamin segment</a:t>
            </a:r>
          </a:p>
        </p:txBody>
      </p:sp>
      <p:sp>
        <p:nvSpPr>
          <p:cNvPr id="612" name="Text 12"/>
          <p:cNvSpPr txBox="1"/>
          <p:nvPr/>
        </p:nvSpPr>
        <p:spPr>
          <a:xfrm>
            <a:off x="9753600" y="6460033"/>
            <a:ext cx="7318820" cy="122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environmentally-motivated customer who can tolerate dairy but chooses not to. Values-aligned, not urgent. More price-sensitive.</a:t>
            </a:r>
          </a:p>
        </p:txBody>
      </p:sp>
      <p:sp>
        <p:nvSpPr>
          <p:cNvPr id="613" name="Text 13"/>
          <p:cNvSpPr txBox="1"/>
          <p:nvPr/>
        </p:nvSpPr>
        <p:spPr>
          <a:xfrm>
            <a:off x="1047750" y="8620125"/>
            <a:ext cx="16678275" cy="1038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422"/>
              </a:lnSpc>
              <a:defRPr sz="31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Oatly built its durable base on the painkiller segment first, then scaled into the much larger vitamin segment. That sequencing — not just the product — is why it worked.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ONE AT A TIME · ALWAYS ASK: WHAT WAS THE WORKAROUND?</a:t>
            </a:r>
          </a:p>
        </p:txBody>
      </p:sp>
      <p:sp>
        <p:nvSpPr>
          <p:cNvPr id="618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Classify these four</a:t>
            </a:r>
          </a:p>
        </p:txBody>
      </p:sp>
      <p:sp>
        <p:nvSpPr>
          <p:cNvPr id="619" name="Shape 2"/>
          <p:cNvSpPr/>
          <p:nvPr/>
        </p:nvSpPr>
        <p:spPr>
          <a:xfrm>
            <a:off x="10477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0" name="Text 3"/>
          <p:cNvSpPr txBox="1"/>
          <p:nvPr/>
        </p:nvSpPr>
        <p:spPr>
          <a:xfrm>
            <a:off x="1466849" y="3271985"/>
            <a:ext cx="3310892" cy="538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4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boAt</a:t>
            </a:r>
          </a:p>
        </p:txBody>
      </p:sp>
      <p:sp>
        <p:nvSpPr>
          <p:cNvPr id="621" name="Text 4"/>
          <p:cNvSpPr txBox="1"/>
          <p:nvPr/>
        </p:nvSpPr>
        <p:spPr>
          <a:xfrm>
            <a:off x="1466850" y="4000648"/>
            <a:ext cx="3100198" cy="1683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Launched 2016 with ₹30 lakh into a market already full of international brands.</a:t>
            </a:r>
          </a:p>
        </p:txBody>
      </p:sp>
      <p:sp>
        <p:nvSpPr>
          <p:cNvPr id="622" name="Shape 5"/>
          <p:cNvSpPr/>
          <p:nvPr/>
        </p:nvSpPr>
        <p:spPr>
          <a:xfrm>
            <a:off x="51625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3" name="Text 6"/>
          <p:cNvSpPr txBox="1"/>
          <p:nvPr/>
        </p:nvSpPr>
        <p:spPr>
          <a:xfrm>
            <a:off x="5581650" y="3271985"/>
            <a:ext cx="3310891" cy="538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4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Google Glass</a:t>
            </a:r>
          </a:p>
        </p:txBody>
      </p:sp>
      <p:sp>
        <p:nvSpPr>
          <p:cNvPr id="624" name="Text 7"/>
          <p:cNvSpPr txBox="1"/>
          <p:nvPr/>
        </p:nvSpPr>
        <p:spPr>
          <a:xfrm>
            <a:off x="5581650" y="4000648"/>
            <a:ext cx="3100198" cy="1683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$1,500 in 2014. Discontinued for consumers by January 2015.</a:t>
            </a:r>
          </a:p>
        </p:txBody>
      </p:sp>
      <p:sp>
        <p:nvSpPr>
          <p:cNvPr id="625" name="Shape 8"/>
          <p:cNvSpPr/>
          <p:nvPr/>
        </p:nvSpPr>
        <p:spPr>
          <a:xfrm>
            <a:off x="92773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6" name="Text 9"/>
          <p:cNvSpPr txBox="1"/>
          <p:nvPr/>
        </p:nvSpPr>
        <p:spPr>
          <a:xfrm>
            <a:off x="9696450" y="3271985"/>
            <a:ext cx="3310891" cy="538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4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CRED</a:t>
            </a:r>
          </a:p>
        </p:txBody>
      </p:sp>
      <p:sp>
        <p:nvSpPr>
          <p:cNvPr id="627" name="Text 10"/>
          <p:cNvSpPr txBox="1"/>
          <p:nvPr/>
        </p:nvSpPr>
        <p:spPr>
          <a:xfrm>
            <a:off x="9696450" y="4000648"/>
            <a:ext cx="3100198" cy="1683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Kunal Shah, 2018. "Rewards for paying your credit card bill on time."</a:t>
            </a:r>
          </a:p>
        </p:txBody>
      </p:sp>
      <p:sp>
        <p:nvSpPr>
          <p:cNvPr id="628" name="Shape 11"/>
          <p:cNvSpPr/>
          <p:nvPr/>
        </p:nvSpPr>
        <p:spPr>
          <a:xfrm>
            <a:off x="13392150" y="2852885"/>
            <a:ext cx="3848100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9" name="Text 12"/>
          <p:cNvSpPr txBox="1"/>
          <p:nvPr/>
        </p:nvSpPr>
        <p:spPr>
          <a:xfrm>
            <a:off x="13811250" y="3271985"/>
            <a:ext cx="3310891" cy="538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4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Meesho</a:t>
            </a:r>
          </a:p>
        </p:txBody>
      </p:sp>
      <p:sp>
        <p:nvSpPr>
          <p:cNvPr id="630" name="Text 13"/>
          <p:cNvSpPr txBox="1"/>
          <p:nvPr/>
        </p:nvSpPr>
        <p:spPr>
          <a:xfrm>
            <a:off x="13811250" y="4000648"/>
            <a:ext cx="3100198" cy="1683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Start a reselling business with zero capital, using apps you already have.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ext 0"/>
          <p:cNvSpPr txBox="1"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ANSWERS</a:t>
            </a:r>
          </a:p>
        </p:txBody>
      </p:sp>
      <p:sp>
        <p:nvSpPr>
          <p:cNvPr id="635" name="Text 1"/>
          <p:cNvSpPr txBox="1"/>
          <p:nvPr/>
        </p:nvSpPr>
        <p:spPr>
          <a:xfrm>
            <a:off x="1047750" y="1352550"/>
            <a:ext cx="17811750" cy="73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633"/>
              </a:lnSpc>
              <a:defRPr sz="4752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Classify these four</a:t>
            </a:r>
          </a:p>
        </p:txBody>
      </p:sp>
      <p:sp>
        <p:nvSpPr>
          <p:cNvPr id="636" name="Shape 2"/>
          <p:cNvSpPr/>
          <p:nvPr/>
        </p:nvSpPr>
        <p:spPr>
          <a:xfrm>
            <a:off x="1047749" y="2509241"/>
            <a:ext cx="3862389" cy="7111009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7" name="Text 3"/>
          <p:cNvSpPr txBox="1"/>
          <p:nvPr/>
        </p:nvSpPr>
        <p:spPr>
          <a:xfrm>
            <a:off x="1371600" y="2833091"/>
            <a:ext cx="353615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boAt</a:t>
            </a:r>
          </a:p>
        </p:txBody>
      </p:sp>
      <p:sp>
        <p:nvSpPr>
          <p:cNvPr id="638" name="Text 4"/>
          <p:cNvSpPr txBox="1"/>
          <p:nvPr/>
        </p:nvSpPr>
        <p:spPr>
          <a:xfrm>
            <a:off x="1371599" y="3442692"/>
            <a:ext cx="3311130" cy="75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₹30 lakh into a crowded market, 2016.</a:t>
            </a:r>
          </a:p>
        </p:txBody>
      </p:sp>
      <p:sp>
        <p:nvSpPr>
          <p:cNvPr id="639" name="Shape 5"/>
          <p:cNvSpPr/>
          <p:nvPr/>
        </p:nvSpPr>
        <p:spPr>
          <a:xfrm>
            <a:off x="1047749" y="6538317"/>
            <a:ext cx="3862389" cy="308193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0" name="Text 6"/>
          <p:cNvSpPr txBox="1"/>
          <p:nvPr/>
        </p:nvSpPr>
        <p:spPr>
          <a:xfrm>
            <a:off x="1371600" y="6824067"/>
            <a:ext cx="3536156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Painkiller</a:t>
            </a:r>
          </a:p>
        </p:txBody>
      </p:sp>
      <p:sp>
        <p:nvSpPr>
          <p:cNvPr id="641" name="Text 7"/>
          <p:cNvSpPr txBox="1"/>
          <p:nvPr/>
        </p:nvSpPr>
        <p:spPr>
          <a:xfrm>
            <a:off x="1371599" y="7328892"/>
            <a:ext cx="3311130" cy="2043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03"/>
              </a:lnSpc>
              <a:defRPr sz="2000">
                <a:solidFill>
                  <a:srgbClr val="CEC1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Overpay for imports with no local service, or replace ₹200 earphones every few weeks. Both genuinely bad. ₹30 lakh to ₹4,000+ crore in six years.</a:t>
            </a:r>
          </a:p>
        </p:txBody>
      </p:sp>
      <p:sp>
        <p:nvSpPr>
          <p:cNvPr id="642" name="Shape 8"/>
          <p:cNvSpPr/>
          <p:nvPr/>
        </p:nvSpPr>
        <p:spPr>
          <a:xfrm>
            <a:off x="5157787" y="2509241"/>
            <a:ext cx="3862388" cy="7111009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3" name="Text 9"/>
          <p:cNvSpPr txBox="1"/>
          <p:nvPr/>
        </p:nvSpPr>
        <p:spPr>
          <a:xfrm>
            <a:off x="5481637" y="2833091"/>
            <a:ext cx="353615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Google Glass</a:t>
            </a:r>
          </a:p>
        </p:txBody>
      </p:sp>
      <p:sp>
        <p:nvSpPr>
          <p:cNvPr id="644" name="Text 10"/>
          <p:cNvSpPr txBox="1"/>
          <p:nvPr/>
        </p:nvSpPr>
        <p:spPr>
          <a:xfrm>
            <a:off x="5481637" y="3442692"/>
            <a:ext cx="3311130" cy="75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$1,500, discontinued in months.</a:t>
            </a:r>
          </a:p>
        </p:txBody>
      </p:sp>
      <p:sp>
        <p:nvSpPr>
          <p:cNvPr id="645" name="Shape 11"/>
          <p:cNvSpPr/>
          <p:nvPr/>
        </p:nvSpPr>
        <p:spPr>
          <a:xfrm>
            <a:off x="5157787" y="6204048"/>
            <a:ext cx="3862388" cy="3416202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6" name="Text 12"/>
          <p:cNvSpPr txBox="1"/>
          <p:nvPr/>
        </p:nvSpPr>
        <p:spPr>
          <a:xfrm>
            <a:off x="5481637" y="6489798"/>
            <a:ext cx="3536156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Solution-first</a:t>
            </a:r>
          </a:p>
        </p:txBody>
      </p:sp>
      <p:sp>
        <p:nvSpPr>
          <p:cNvPr id="647" name="Text 13"/>
          <p:cNvSpPr txBox="1"/>
          <p:nvPr/>
        </p:nvSpPr>
        <p:spPr>
          <a:xfrm>
            <a:off x="5481637" y="6994624"/>
            <a:ext cx="3311130" cy="2377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03"/>
              </a:lnSpc>
              <a:defRPr sz="2000">
                <a:solidFill>
                  <a:srgbClr val="CEC1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 prior workaround — it created a new social problem instead. But the 2017 Enterprise Edition found a real one: warehouse workers stopping to check a manual.</a:t>
            </a:r>
          </a:p>
        </p:txBody>
      </p:sp>
      <p:sp>
        <p:nvSpPr>
          <p:cNvPr id="648" name="Shape 14"/>
          <p:cNvSpPr/>
          <p:nvPr/>
        </p:nvSpPr>
        <p:spPr>
          <a:xfrm>
            <a:off x="9267825" y="2509241"/>
            <a:ext cx="3862388" cy="7111009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9" name="Text 15"/>
          <p:cNvSpPr txBox="1"/>
          <p:nvPr/>
        </p:nvSpPr>
        <p:spPr>
          <a:xfrm>
            <a:off x="9591675" y="2833091"/>
            <a:ext cx="353615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CRED</a:t>
            </a:r>
          </a:p>
        </p:txBody>
      </p:sp>
      <p:sp>
        <p:nvSpPr>
          <p:cNvPr id="650" name="Text 16"/>
          <p:cNvSpPr txBox="1"/>
          <p:nvPr/>
        </p:nvSpPr>
        <p:spPr>
          <a:xfrm>
            <a:off x="9591675" y="3442692"/>
            <a:ext cx="3311129" cy="75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Rewards for paying your bill on time.</a:t>
            </a:r>
          </a:p>
        </p:txBody>
      </p:sp>
      <p:sp>
        <p:nvSpPr>
          <p:cNvPr id="651" name="Shape 17"/>
          <p:cNvSpPr/>
          <p:nvPr/>
        </p:nvSpPr>
        <p:spPr>
          <a:xfrm>
            <a:off x="9267825" y="6204048"/>
            <a:ext cx="3862388" cy="3416202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2" name="Text 18"/>
          <p:cNvSpPr txBox="1"/>
          <p:nvPr/>
        </p:nvSpPr>
        <p:spPr>
          <a:xfrm>
            <a:off x="9591675" y="6489798"/>
            <a:ext cx="3536156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CF8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Vitamin</a:t>
            </a:r>
          </a:p>
        </p:txBody>
      </p:sp>
      <p:sp>
        <p:nvSpPr>
          <p:cNvPr id="653" name="Text 19"/>
          <p:cNvSpPr txBox="1"/>
          <p:nvPr/>
        </p:nvSpPr>
        <p:spPr>
          <a:xfrm>
            <a:off x="9591675" y="6994624"/>
            <a:ext cx="3311129" cy="2377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03"/>
              </a:lnSpc>
              <a:defRPr sz="2000">
                <a:solidFill>
                  <a:srgbClr val="FCF8F1">
                    <a:alpha val="93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rewards layer is solution-first flourish. But underneath, multi-card users were already tracking three to five due dates across apps and missing payments.</a:t>
            </a:r>
          </a:p>
        </p:txBody>
      </p:sp>
      <p:sp>
        <p:nvSpPr>
          <p:cNvPr id="654" name="Shape 20"/>
          <p:cNvSpPr/>
          <p:nvPr/>
        </p:nvSpPr>
        <p:spPr>
          <a:xfrm>
            <a:off x="13377862" y="2509241"/>
            <a:ext cx="3862388" cy="7111009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5" name="Text 21"/>
          <p:cNvSpPr txBox="1"/>
          <p:nvPr/>
        </p:nvSpPr>
        <p:spPr>
          <a:xfrm>
            <a:off x="13701712" y="2833091"/>
            <a:ext cx="353615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Meesho</a:t>
            </a:r>
          </a:p>
        </p:txBody>
      </p:sp>
      <p:sp>
        <p:nvSpPr>
          <p:cNvPr id="656" name="Text 22"/>
          <p:cNvSpPr txBox="1"/>
          <p:nvPr/>
        </p:nvSpPr>
        <p:spPr>
          <a:xfrm>
            <a:off x="13701712" y="3442692"/>
            <a:ext cx="3536156" cy="397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283"/>
              </a:lnSpc>
              <a:defRPr sz="21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Resell with zero capital.</a:t>
            </a:r>
          </a:p>
        </p:txBody>
      </p:sp>
      <p:sp>
        <p:nvSpPr>
          <p:cNvPr id="657" name="Shape 23"/>
          <p:cNvSpPr/>
          <p:nvPr/>
        </p:nvSpPr>
        <p:spPr>
          <a:xfrm>
            <a:off x="13377862" y="6204048"/>
            <a:ext cx="3862388" cy="3416202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8" name="Text 24"/>
          <p:cNvSpPr txBox="1"/>
          <p:nvPr/>
        </p:nvSpPr>
        <p:spPr>
          <a:xfrm>
            <a:off x="13701712" y="6489798"/>
            <a:ext cx="3536156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Painkiller</a:t>
            </a:r>
          </a:p>
        </p:txBody>
      </p:sp>
      <p:sp>
        <p:nvSpPr>
          <p:cNvPr id="659" name="Text 25"/>
          <p:cNvSpPr txBox="1"/>
          <p:nvPr/>
        </p:nvSpPr>
        <p:spPr>
          <a:xfrm>
            <a:off x="13701712" y="6994624"/>
            <a:ext cx="3311129" cy="2377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903"/>
              </a:lnSpc>
              <a:defRPr sz="2000">
                <a:solidFill>
                  <a:srgbClr val="CEC1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Women without independent income were already reselling manually through WhatsApp groups. That improvised duct tape is exactly the evidence you want.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Text 0"/>
          <p:cNvSpPr txBox="1"/>
          <p:nvPr/>
        </p:nvSpPr>
        <p:spPr>
          <a:xfrm>
            <a:off x="762000" y="609600"/>
            <a:ext cx="184404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FRAMEWORK 5 · THE LOAD-BEARING ONE</a:t>
            </a:r>
          </a:p>
        </p:txBody>
      </p:sp>
      <p:sp>
        <p:nvSpPr>
          <p:cNvPr id="664" name="Text 1"/>
          <p:cNvSpPr txBox="1"/>
          <p:nvPr/>
        </p:nvSpPr>
        <p:spPr>
          <a:xfrm>
            <a:off x="762000" y="1047750"/>
            <a:ext cx="18440400" cy="62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lnSpc>
                <a:spcPct val="79826"/>
              </a:lnSpc>
              <a:defRPr sz="4005" b="1" spc="-178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Four tests for whether a problem is real</a:t>
            </a:r>
          </a:p>
        </p:txBody>
      </p:sp>
      <p:sp>
        <p:nvSpPr>
          <p:cNvPr id="665" name="Shape 2"/>
          <p:cNvSpPr/>
          <p:nvPr/>
        </p:nvSpPr>
        <p:spPr>
          <a:xfrm>
            <a:off x="762000" y="2268809"/>
            <a:ext cx="16764000" cy="28576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6" name="Text 3"/>
          <p:cNvSpPr txBox="1"/>
          <p:nvPr/>
        </p:nvSpPr>
        <p:spPr>
          <a:xfrm>
            <a:off x="990599" y="1897334"/>
            <a:ext cx="3493675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TEST</a:t>
            </a:r>
          </a:p>
        </p:txBody>
      </p:sp>
      <p:sp>
        <p:nvSpPr>
          <p:cNvPr id="667" name="Text 4"/>
          <p:cNvSpPr txBox="1"/>
          <p:nvPr/>
        </p:nvSpPr>
        <p:spPr>
          <a:xfrm>
            <a:off x="4433366" y="1897334"/>
            <a:ext cx="4110210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IT ASKS</a:t>
            </a:r>
          </a:p>
        </p:txBody>
      </p:sp>
      <p:sp>
        <p:nvSpPr>
          <p:cNvPr id="668" name="Text 5"/>
          <p:cNvSpPr txBox="1"/>
          <p:nvPr/>
        </p:nvSpPr>
        <p:spPr>
          <a:xfrm>
            <a:off x="8436619" y="1897334"/>
            <a:ext cx="4726745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JUICERO</a:t>
            </a:r>
          </a:p>
        </p:txBody>
      </p:sp>
      <p:sp>
        <p:nvSpPr>
          <p:cNvPr id="669" name="Text 6"/>
          <p:cNvSpPr txBox="1"/>
          <p:nvPr/>
        </p:nvSpPr>
        <p:spPr>
          <a:xfrm>
            <a:off x="13000359" y="1897334"/>
            <a:ext cx="4726663" cy="276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400" b="1" spc="100">
                <a:solidFill>
                  <a:srgbClr val="5E534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OATLY</a:t>
            </a:r>
          </a:p>
        </p:txBody>
      </p:sp>
      <p:sp>
        <p:nvSpPr>
          <p:cNvPr id="670" name="Shape 7"/>
          <p:cNvSpPr/>
          <p:nvPr/>
        </p:nvSpPr>
        <p:spPr>
          <a:xfrm>
            <a:off x="762000" y="3929335"/>
            <a:ext cx="167640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1" name="Text 8"/>
          <p:cNvSpPr txBox="1"/>
          <p:nvPr/>
        </p:nvSpPr>
        <p:spPr>
          <a:xfrm>
            <a:off x="990599" y="2468834"/>
            <a:ext cx="3271351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8974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 · The Workaround Test</a:t>
            </a:r>
          </a:p>
        </p:txBody>
      </p:sp>
      <p:sp>
        <p:nvSpPr>
          <p:cNvPr id="672" name="Text 9"/>
          <p:cNvSpPr txBox="1"/>
          <p:nvPr/>
        </p:nvSpPr>
        <p:spPr>
          <a:xfrm>
            <a:off x="4433366" y="2468834"/>
            <a:ext cx="3848651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8871"/>
              </a:lnSpc>
              <a:defRPr sz="20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Are people already solving this badly, with hacks or inferior alternatives?</a:t>
            </a:r>
          </a:p>
        </p:txBody>
      </p:sp>
      <p:sp>
        <p:nvSpPr>
          <p:cNvPr id="673" name="Text 10"/>
          <p:cNvSpPr txBox="1"/>
          <p:nvPr/>
        </p:nvSpPr>
        <p:spPr>
          <a:xfrm>
            <a:off x="8436619" y="2468834"/>
            <a:ext cx="4425953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97983"/>
              </a:lnSpc>
              <a:defRPr sz="2000" b="1">
                <a:solidFill>
                  <a:srgbClr val="B632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FAILED </a:t>
            </a:r>
            <a:r>
              <a:rPr b="0">
                <a:solidFill>
                  <a:srgbClr val="201914"/>
                </a:solidFill>
              </a:rPr>
              <a:t>— people happily bought bottled cold-pressed juice. Nothing was broken, so no workaround existed.</a:t>
            </a:r>
          </a:p>
        </p:txBody>
      </p:sp>
      <p:sp>
        <p:nvSpPr>
          <p:cNvPr id="674" name="Text 11"/>
          <p:cNvSpPr txBox="1"/>
          <p:nvPr/>
        </p:nvSpPr>
        <p:spPr>
          <a:xfrm>
            <a:off x="13000359" y="2468834"/>
            <a:ext cx="4425876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8871"/>
              </a:lnSpc>
              <a:defRPr sz="2000" b="1">
                <a:solidFill>
                  <a:srgbClr val="006A4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PASSED </a:t>
            </a:r>
            <a:r>
              <a:rPr b="0">
                <a:solidFill>
                  <a:srgbClr val="201914"/>
                </a:solidFill>
              </a:rPr>
              <a:t>— people were already drinking soy and rice milk despite disliking the taste and texture.</a:t>
            </a:r>
          </a:p>
        </p:txBody>
      </p:sp>
      <p:sp>
        <p:nvSpPr>
          <p:cNvPr id="675" name="Shape 12"/>
          <p:cNvSpPr/>
          <p:nvPr/>
        </p:nvSpPr>
        <p:spPr>
          <a:xfrm>
            <a:off x="762000" y="3940447"/>
            <a:ext cx="16764000" cy="1321595"/>
          </a:xfrm>
          <a:prstGeom prst="rect">
            <a:avLst/>
          </a:prstGeom>
          <a:solidFill>
            <a:srgbClr val="F3EEE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6" name="Shape 13"/>
          <p:cNvSpPr/>
          <p:nvPr/>
        </p:nvSpPr>
        <p:spPr>
          <a:xfrm>
            <a:off x="762000" y="5250929"/>
            <a:ext cx="167640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7" name="Text 14"/>
          <p:cNvSpPr txBox="1"/>
          <p:nvPr/>
        </p:nvSpPr>
        <p:spPr>
          <a:xfrm>
            <a:off x="990599" y="4111897"/>
            <a:ext cx="3271351" cy="1007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8974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 · Frequency + Severity</a:t>
            </a:r>
          </a:p>
        </p:txBody>
      </p:sp>
      <p:sp>
        <p:nvSpPr>
          <p:cNvPr id="678" name="Text 15"/>
          <p:cNvSpPr txBox="1"/>
          <p:nvPr/>
        </p:nvSpPr>
        <p:spPr>
          <a:xfrm>
            <a:off x="4433366" y="4111897"/>
            <a:ext cx="3848651" cy="1007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983"/>
              </a:lnSpc>
              <a:defRPr sz="20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often does it happen, and how much does it hurt when it does?</a:t>
            </a:r>
          </a:p>
        </p:txBody>
      </p:sp>
      <p:sp>
        <p:nvSpPr>
          <p:cNvPr id="679" name="Text 16"/>
          <p:cNvSpPr txBox="1"/>
          <p:nvPr/>
        </p:nvSpPr>
        <p:spPr>
          <a:xfrm>
            <a:off x="8436619" y="4111897"/>
            <a:ext cx="4425953" cy="1007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97983"/>
              </a:lnSpc>
              <a:defRPr sz="2000" b="1">
                <a:solidFill>
                  <a:srgbClr val="B632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FAILED </a:t>
            </a:r>
            <a:r>
              <a:rPr b="0">
                <a:solidFill>
                  <a:srgbClr val="201914"/>
                </a:solidFill>
              </a:rPr>
              <a:t>— low frequency, low severity. An occasional mild inconvenience at most.</a:t>
            </a:r>
          </a:p>
        </p:txBody>
      </p:sp>
      <p:sp>
        <p:nvSpPr>
          <p:cNvPr id="680" name="Text 17"/>
          <p:cNvSpPr txBox="1"/>
          <p:nvPr/>
        </p:nvSpPr>
        <p:spPr>
          <a:xfrm>
            <a:off x="13000359" y="4111897"/>
            <a:ext cx="4425876" cy="1007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97983"/>
              </a:lnSpc>
              <a:defRPr sz="2000" b="1">
                <a:solidFill>
                  <a:srgbClr val="006A4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PASSED </a:t>
            </a:r>
            <a:r>
              <a:rPr b="0">
                <a:solidFill>
                  <a:srgbClr val="201914"/>
                </a:solidFill>
              </a:rPr>
              <a:t>— daily, and genuinely unpleasant for a lactose-intolerant person.</a:t>
            </a:r>
          </a:p>
        </p:txBody>
      </p:sp>
      <p:sp>
        <p:nvSpPr>
          <p:cNvPr id="681" name="Shape 18"/>
          <p:cNvSpPr/>
          <p:nvPr/>
        </p:nvSpPr>
        <p:spPr>
          <a:xfrm>
            <a:off x="762000" y="6893991"/>
            <a:ext cx="16764000" cy="12701"/>
          </a:xfrm>
          <a:prstGeom prst="rect">
            <a:avLst/>
          </a:prstGeom>
          <a:solidFill>
            <a:srgbClr val="D8CFC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2" name="Text 19"/>
          <p:cNvSpPr txBox="1"/>
          <p:nvPr/>
        </p:nvSpPr>
        <p:spPr>
          <a:xfrm>
            <a:off x="990599" y="5433491"/>
            <a:ext cx="3271351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8974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 · Payment Evidence</a:t>
            </a:r>
          </a:p>
        </p:txBody>
      </p:sp>
      <p:sp>
        <p:nvSpPr>
          <p:cNvPr id="683" name="Text 20"/>
          <p:cNvSpPr txBox="1"/>
          <p:nvPr/>
        </p:nvSpPr>
        <p:spPr>
          <a:xfrm>
            <a:off x="4433366" y="5433491"/>
            <a:ext cx="3848651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8871"/>
              </a:lnSpc>
              <a:defRPr sz="20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Are people already paying to solve this, even with an inferior fix?</a:t>
            </a:r>
          </a:p>
        </p:txBody>
      </p:sp>
      <p:sp>
        <p:nvSpPr>
          <p:cNvPr id="684" name="Text 21"/>
          <p:cNvSpPr txBox="1"/>
          <p:nvPr/>
        </p:nvSpPr>
        <p:spPr>
          <a:xfrm>
            <a:off x="8436619" y="5433491"/>
            <a:ext cx="4425953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97983"/>
              </a:lnSpc>
              <a:defRPr sz="2000" b="1">
                <a:solidFill>
                  <a:srgbClr val="B1651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PARTIAL </a:t>
            </a:r>
            <a:r>
              <a:rPr b="0">
                <a:solidFill>
                  <a:srgbClr val="201914"/>
                </a:solidFill>
              </a:rPr>
              <a:t>— people paid for bottled juice. That proves demand for juice, not for a $700 machine. Evans confused the two.</a:t>
            </a:r>
          </a:p>
        </p:txBody>
      </p:sp>
      <p:sp>
        <p:nvSpPr>
          <p:cNvPr id="685" name="Text 22"/>
          <p:cNvSpPr txBox="1"/>
          <p:nvPr/>
        </p:nvSpPr>
        <p:spPr>
          <a:xfrm>
            <a:off x="13000359" y="5433491"/>
            <a:ext cx="4425876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8871"/>
              </a:lnSpc>
              <a:defRPr sz="2000" b="1">
                <a:solidFill>
                  <a:srgbClr val="006A4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PASSED </a:t>
            </a:r>
            <a:r>
              <a:rPr b="0">
                <a:solidFill>
                  <a:srgbClr val="201914"/>
                </a:solidFill>
              </a:rPr>
              <a:t>— already paying a premium for soy and rice milk they actively disliked.</a:t>
            </a:r>
          </a:p>
        </p:txBody>
      </p:sp>
      <p:sp>
        <p:nvSpPr>
          <p:cNvPr id="686" name="Shape 23"/>
          <p:cNvSpPr/>
          <p:nvPr/>
        </p:nvSpPr>
        <p:spPr>
          <a:xfrm>
            <a:off x="762000" y="6905104"/>
            <a:ext cx="16764000" cy="1633539"/>
          </a:xfrm>
          <a:prstGeom prst="rect">
            <a:avLst/>
          </a:prstGeom>
          <a:solidFill>
            <a:srgbClr val="F3EEE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7" name="Text 24"/>
          <p:cNvSpPr txBox="1"/>
          <p:nvPr/>
        </p:nvSpPr>
        <p:spPr>
          <a:xfrm>
            <a:off x="990599" y="7076554"/>
            <a:ext cx="3271351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8974"/>
              </a:lnSpc>
              <a:defRPr sz="25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 · The "Why Now?" Test</a:t>
            </a:r>
          </a:p>
        </p:txBody>
      </p:sp>
      <p:sp>
        <p:nvSpPr>
          <p:cNvPr id="688" name="Text 25"/>
          <p:cNvSpPr txBox="1"/>
          <p:nvPr/>
        </p:nvSpPr>
        <p:spPr>
          <a:xfrm>
            <a:off x="4433366" y="7076554"/>
            <a:ext cx="3848651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983"/>
              </a:lnSpc>
              <a:defRPr sz="20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has changed — technology, culture, regulation — that makes this newly solvable or newly urgent?</a:t>
            </a:r>
          </a:p>
        </p:txBody>
      </p:sp>
      <p:sp>
        <p:nvSpPr>
          <p:cNvPr id="689" name="Text 26"/>
          <p:cNvSpPr txBox="1"/>
          <p:nvPr/>
        </p:nvSpPr>
        <p:spPr>
          <a:xfrm>
            <a:off x="8436619" y="7076554"/>
            <a:ext cx="4425953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97983"/>
              </a:lnSpc>
              <a:defRPr sz="2000" b="1">
                <a:solidFill>
                  <a:srgbClr val="B632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WEAK </a:t>
            </a:r>
            <a:r>
              <a:rPr b="0">
                <a:solidFill>
                  <a:srgbClr val="201914"/>
                </a:solidFill>
              </a:rPr>
              <a:t>— "IoT is trending" and "Nespresso worked" are not reasons a customer suddenly has a new problem.</a:t>
            </a:r>
          </a:p>
        </p:txBody>
      </p:sp>
      <p:sp>
        <p:nvSpPr>
          <p:cNvPr id="690" name="Text 27"/>
          <p:cNvSpPr txBox="1"/>
          <p:nvPr/>
        </p:nvSpPr>
        <p:spPr>
          <a:xfrm>
            <a:off x="13000359" y="7076554"/>
            <a:ext cx="4425876" cy="132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97983"/>
              </a:lnSpc>
              <a:defRPr sz="2000" b="1">
                <a:solidFill>
                  <a:srgbClr val="006A4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STRONG </a:t>
            </a:r>
            <a:r>
              <a:rPr b="0">
                <a:solidFill>
                  <a:srgbClr val="201914"/>
                </a:solidFill>
              </a:rPr>
              <a:t>— enzymatic processing became commercially viable, and plant-based choices became a mainstream identity marker.</a:t>
            </a:r>
          </a:p>
        </p:txBody>
      </p:sp>
      <p:sp>
        <p:nvSpPr>
          <p:cNvPr id="691" name="Shape 28"/>
          <p:cNvSpPr/>
          <p:nvPr/>
        </p:nvSpPr>
        <p:spPr>
          <a:xfrm>
            <a:off x="762000" y="8520113"/>
            <a:ext cx="16764000" cy="1271589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2" name="Text 29"/>
          <p:cNvSpPr txBox="1"/>
          <p:nvPr/>
        </p:nvSpPr>
        <p:spPr>
          <a:xfrm>
            <a:off x="1143000" y="8786813"/>
            <a:ext cx="16504920" cy="7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239"/>
              </a:lnSpc>
              <a:defRPr sz="23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If you cannot pass all four, you are not ready to build. You are ready to go and do customer discovery — which is what the rest of this course teaches.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OPEN QUESTION</a:t>
            </a:r>
          </a:p>
        </p:txBody>
      </p:sp>
      <p:sp>
        <p:nvSpPr>
          <p:cNvPr id="697" name="Text 1"/>
          <p:cNvSpPr txBox="1"/>
          <p:nvPr/>
        </p:nvSpPr>
        <p:spPr>
          <a:xfrm>
            <a:off x="1047750" y="1466850"/>
            <a:ext cx="14716125" cy="186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78190"/>
              </a:lnSpc>
              <a:defRPr sz="7056" b="1" spc="-195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Which of the four tests is hardest to fake?</a:t>
            </a:r>
          </a:p>
        </p:txBody>
      </p:sp>
      <p:sp>
        <p:nvSpPr>
          <p:cNvPr id="698" name="Shape 2"/>
          <p:cNvSpPr/>
          <p:nvPr/>
        </p:nvSpPr>
        <p:spPr>
          <a:xfrm>
            <a:off x="1047750" y="3759696"/>
            <a:ext cx="7829550" cy="4024165"/>
          </a:xfrm>
          <a:prstGeom prst="rect">
            <a:avLst/>
          </a:prstGeom>
          <a:solidFill>
            <a:srgbClr val="362C2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9" name="Text 3"/>
          <p:cNvSpPr txBox="1"/>
          <p:nvPr/>
        </p:nvSpPr>
        <p:spPr>
          <a:xfrm>
            <a:off x="1504949" y="4216896"/>
            <a:ext cx="7606667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AEA2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EASY TO FAKE</a:t>
            </a:r>
          </a:p>
        </p:txBody>
      </p:sp>
      <p:sp>
        <p:nvSpPr>
          <p:cNvPr id="700" name="Text 4"/>
          <p:cNvSpPr txBox="1"/>
          <p:nvPr/>
        </p:nvSpPr>
        <p:spPr>
          <a:xfrm>
            <a:off x="1504950" y="4755058"/>
            <a:ext cx="7122605" cy="104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3529"/>
              </a:lnSpc>
              <a:defRPr sz="30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Frequency and severity. You can talk yourself into believing both are high.</a:t>
            </a:r>
          </a:p>
        </p:txBody>
      </p:sp>
      <p:sp>
        <p:nvSpPr>
          <p:cNvPr id="701" name="Text 5"/>
          <p:cNvSpPr txBox="1"/>
          <p:nvPr/>
        </p:nvSpPr>
        <p:spPr>
          <a:xfrm>
            <a:off x="1504950" y="5989439"/>
            <a:ext cx="7122605" cy="92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C8BBB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And you can invent a plausible-sounding "why now" story for almost anything.</a:t>
            </a:r>
          </a:p>
        </p:txBody>
      </p:sp>
      <p:sp>
        <p:nvSpPr>
          <p:cNvPr id="702" name="Shape 6"/>
          <p:cNvSpPr/>
          <p:nvPr/>
        </p:nvSpPr>
        <p:spPr>
          <a:xfrm>
            <a:off x="9410700" y="3759696"/>
            <a:ext cx="7829550" cy="4024165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3" name="Text 7"/>
          <p:cNvSpPr txBox="1"/>
          <p:nvPr/>
        </p:nvSpPr>
        <p:spPr>
          <a:xfrm>
            <a:off x="9867900" y="4216896"/>
            <a:ext cx="7606666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FFFBF4">
                    <a:alpha val="8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IMPOSSIBLE TO FAKE</a:t>
            </a:r>
          </a:p>
        </p:txBody>
      </p:sp>
      <p:sp>
        <p:nvSpPr>
          <p:cNvPr id="704" name="Text 8"/>
          <p:cNvSpPr txBox="1"/>
          <p:nvPr/>
        </p:nvSpPr>
        <p:spPr>
          <a:xfrm>
            <a:off x="9867900" y="4755058"/>
            <a:ext cx="7122605" cy="104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3176"/>
              </a:lnSpc>
              <a:defRPr sz="3300" b="1">
                <a:solidFill>
                  <a:srgbClr val="FFFBF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workaround test and the payment evidence test.</a:t>
            </a:r>
          </a:p>
        </p:txBody>
      </p:sp>
      <p:sp>
        <p:nvSpPr>
          <p:cNvPr id="705" name="Text 9"/>
          <p:cNvSpPr txBox="1"/>
          <p:nvPr/>
        </p:nvSpPr>
        <p:spPr>
          <a:xfrm>
            <a:off x="9867900" y="5989439"/>
            <a:ext cx="7122605" cy="137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731"/>
              </a:lnSpc>
              <a:defRPr sz="2700">
                <a:solidFill>
                  <a:srgbClr val="FFFBF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 cannot invent evidence that a stranger was already spending real time or real money on this before you showed up.</a:t>
            </a:r>
          </a:p>
        </p:txBody>
      </p:sp>
      <p:sp>
        <p:nvSpPr>
          <p:cNvPr id="706" name="Text 10"/>
          <p:cNvSpPr txBox="1"/>
          <p:nvPr/>
        </p:nvSpPr>
        <p:spPr>
          <a:xfrm>
            <a:off x="1047750" y="8393459"/>
            <a:ext cx="16678275" cy="116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6920"/>
              </a:lnSpc>
              <a:defRPr sz="3300">
                <a:solidFill>
                  <a:srgbClr val="CEC1B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This is the test Juicero could have run for free, at any point in four years. It cost investors $120 million not to have asked.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BOUNDARY CONDITIONS</a:t>
            </a:r>
          </a:p>
        </p:txBody>
      </p:sp>
      <p:sp>
        <p:nvSpPr>
          <p:cNvPr id="711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Three ways the problem-first rule breaks down</a:t>
            </a:r>
          </a:p>
        </p:txBody>
      </p:sp>
      <p:sp>
        <p:nvSpPr>
          <p:cNvPr id="712" name="Shape 2"/>
          <p:cNvSpPr/>
          <p:nvPr/>
        </p:nvSpPr>
        <p:spPr>
          <a:xfrm>
            <a:off x="1047750" y="2852885"/>
            <a:ext cx="5143500" cy="7620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3" name="Text 3"/>
          <p:cNvSpPr txBox="1"/>
          <p:nvPr/>
        </p:nvSpPr>
        <p:spPr>
          <a:xfrm>
            <a:off x="1047750" y="3233885"/>
            <a:ext cx="5297805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real problem, aimed at the wrong-sized market</a:t>
            </a:r>
          </a:p>
        </p:txBody>
      </p:sp>
      <p:sp>
        <p:nvSpPr>
          <p:cNvPr id="714" name="Shape 4"/>
          <p:cNvSpPr/>
          <p:nvPr/>
        </p:nvSpPr>
        <p:spPr>
          <a:xfrm>
            <a:off x="1047750" y="5882878"/>
            <a:ext cx="5143500" cy="2270523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5" name="Text 5"/>
          <p:cNvSpPr txBox="1"/>
          <p:nvPr/>
        </p:nvSpPr>
        <p:spPr>
          <a:xfrm>
            <a:off x="1390650" y="6225778"/>
            <a:ext cx="4612005" cy="1622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1188"/>
              </a:lnSpc>
              <a:defRPr sz="24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Fast, high-volume cold-press extraction </a:t>
            </a:r>
            <a:r>
              <a:rPr i="1"/>
              <a:t>is </a:t>
            </a:r>
            <a:r>
              <a:t>a real problem — for commercial juice bars, not for one person making one glass.</a:t>
            </a:r>
          </a:p>
        </p:txBody>
      </p:sp>
      <p:sp>
        <p:nvSpPr>
          <p:cNvPr id="716" name="Shape 6"/>
          <p:cNvSpPr/>
          <p:nvPr/>
        </p:nvSpPr>
        <p:spPr>
          <a:xfrm>
            <a:off x="6572250" y="2852885"/>
            <a:ext cx="5143500" cy="76201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7" name="Text 7"/>
          <p:cNvSpPr txBox="1"/>
          <p:nvPr/>
        </p:nvSpPr>
        <p:spPr>
          <a:xfrm>
            <a:off x="6572250" y="3233885"/>
            <a:ext cx="5297805" cy="9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painkiller can decay into a vitamin</a:t>
            </a:r>
          </a:p>
        </p:txBody>
      </p:sp>
      <p:sp>
        <p:nvSpPr>
          <p:cNvPr id="718" name="Shape 8"/>
          <p:cNvSpPr/>
          <p:nvPr/>
        </p:nvSpPr>
        <p:spPr>
          <a:xfrm>
            <a:off x="6572250" y="5486698"/>
            <a:ext cx="5143500" cy="2666702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9" name="Text 9"/>
          <p:cNvSpPr txBox="1"/>
          <p:nvPr/>
        </p:nvSpPr>
        <p:spPr>
          <a:xfrm>
            <a:off x="6915150" y="5829598"/>
            <a:ext cx="4612005" cy="201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5045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Post-demonetisation cash-workaround apps saw urgent demand in November 2016. It faded into routine convenience as UPI matured.</a:t>
            </a:r>
          </a:p>
        </p:txBody>
      </p:sp>
      <p:sp>
        <p:nvSpPr>
          <p:cNvPr id="720" name="Shape 10"/>
          <p:cNvSpPr/>
          <p:nvPr/>
        </p:nvSpPr>
        <p:spPr>
          <a:xfrm>
            <a:off x="12096750" y="2852885"/>
            <a:ext cx="5143500" cy="762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1" name="Text 11"/>
          <p:cNvSpPr txBox="1"/>
          <p:nvPr/>
        </p:nvSpPr>
        <p:spPr>
          <a:xfrm>
            <a:off x="12096750" y="3233885"/>
            <a:ext cx="5297805" cy="1421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5411"/>
              </a:lnSpc>
              <a:defRPr sz="33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solution-first idea can survive — by becoming problem-first</a:t>
            </a:r>
          </a:p>
        </p:txBody>
      </p:sp>
      <p:sp>
        <p:nvSpPr>
          <p:cNvPr id="722" name="Shape 12"/>
          <p:cNvSpPr/>
          <p:nvPr/>
        </p:nvSpPr>
        <p:spPr>
          <a:xfrm>
            <a:off x="12096750" y="4694337"/>
            <a:ext cx="5143500" cy="3459063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3" name="Text 13"/>
          <p:cNvSpPr txBox="1"/>
          <p:nvPr/>
        </p:nvSpPr>
        <p:spPr>
          <a:xfrm>
            <a:off x="12439650" y="5037237"/>
            <a:ext cx="4612005" cy="2811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1188"/>
              </a:lnSpc>
              <a:defRPr sz="24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3M's Spencer Silver invented a weak reusable adhesive in 1968 with no problem attached. Art Fry found one in 1974 — his hymnal bookmarks kept falling out. 3M then tested it for years before the 1980 launch.</a:t>
            </a:r>
          </a:p>
        </p:txBody>
      </p:sp>
      <p:sp>
        <p:nvSpPr>
          <p:cNvPr id="724" name="Text 14"/>
          <p:cNvSpPr txBox="1"/>
          <p:nvPr/>
        </p:nvSpPr>
        <p:spPr>
          <a:xfrm>
            <a:off x="1047750" y="8572500"/>
            <a:ext cx="16678275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7826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Being problem-first proves the problem is real. It does not prove the market is big enough, and it does not guarantee the problem stays urgent.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WORKSHOP</a:t>
            </a:r>
          </a:p>
        </p:txBody>
      </p:sp>
      <p:sp>
        <p:nvSpPr>
          <p:cNvPr id="729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Now run your own idea through all four</a:t>
            </a:r>
          </a:p>
        </p:txBody>
      </p:sp>
      <p:sp>
        <p:nvSpPr>
          <p:cNvPr id="730" name="Shape 2"/>
          <p:cNvSpPr/>
          <p:nvPr/>
        </p:nvSpPr>
        <p:spPr>
          <a:xfrm>
            <a:off x="1047750" y="2776685"/>
            <a:ext cx="8807723" cy="1524001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1" name="Text 3"/>
          <p:cNvSpPr txBox="1"/>
          <p:nvPr/>
        </p:nvSpPr>
        <p:spPr>
          <a:xfrm>
            <a:off x="1390650" y="3081485"/>
            <a:ext cx="309340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</a:t>
            </a:r>
          </a:p>
        </p:txBody>
      </p:sp>
      <p:sp>
        <p:nvSpPr>
          <p:cNvPr id="732" name="Text 4"/>
          <p:cNvSpPr txBox="1"/>
          <p:nvPr/>
        </p:nvSpPr>
        <p:spPr>
          <a:xfrm>
            <a:off x="1890488" y="3138635"/>
            <a:ext cx="7850748" cy="89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780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Who already has this problem, and what are they doing about it badly?</a:t>
            </a:r>
          </a:p>
        </p:txBody>
      </p:sp>
      <p:sp>
        <p:nvSpPr>
          <p:cNvPr id="733" name="Shape 5"/>
          <p:cNvSpPr/>
          <p:nvPr/>
        </p:nvSpPr>
        <p:spPr>
          <a:xfrm>
            <a:off x="1047750" y="4510235"/>
            <a:ext cx="8807723" cy="1524001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4" name="Text 6"/>
          <p:cNvSpPr txBox="1"/>
          <p:nvPr/>
        </p:nvSpPr>
        <p:spPr>
          <a:xfrm>
            <a:off x="1390650" y="4815035"/>
            <a:ext cx="309340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735" name="Text 7"/>
          <p:cNvSpPr txBox="1"/>
          <p:nvPr/>
        </p:nvSpPr>
        <p:spPr>
          <a:xfrm>
            <a:off x="1890488" y="4872185"/>
            <a:ext cx="7850748" cy="89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780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often does it happen, and how badly does it hurt?</a:t>
            </a:r>
          </a:p>
        </p:txBody>
      </p:sp>
      <p:sp>
        <p:nvSpPr>
          <p:cNvPr id="736" name="Shape 8"/>
          <p:cNvSpPr/>
          <p:nvPr/>
        </p:nvSpPr>
        <p:spPr>
          <a:xfrm>
            <a:off x="1047750" y="6243785"/>
            <a:ext cx="8807723" cy="1524001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7" name="Text 9"/>
          <p:cNvSpPr txBox="1"/>
          <p:nvPr/>
        </p:nvSpPr>
        <p:spPr>
          <a:xfrm>
            <a:off x="1390650" y="6548586"/>
            <a:ext cx="309340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</a:t>
            </a:r>
          </a:p>
        </p:txBody>
      </p:sp>
      <p:sp>
        <p:nvSpPr>
          <p:cNvPr id="738" name="Text 10"/>
          <p:cNvSpPr txBox="1"/>
          <p:nvPr/>
        </p:nvSpPr>
        <p:spPr>
          <a:xfrm>
            <a:off x="1890488" y="6605736"/>
            <a:ext cx="7850748" cy="89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780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Is anyone already paying — money, time or effort — for a worse fix?</a:t>
            </a:r>
          </a:p>
        </p:txBody>
      </p:sp>
      <p:sp>
        <p:nvSpPr>
          <p:cNvPr id="739" name="Shape 11"/>
          <p:cNvSpPr/>
          <p:nvPr/>
        </p:nvSpPr>
        <p:spPr>
          <a:xfrm>
            <a:off x="1047750" y="7977336"/>
            <a:ext cx="8807723" cy="1524001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0" name="Text 12"/>
          <p:cNvSpPr txBox="1"/>
          <p:nvPr/>
        </p:nvSpPr>
        <p:spPr>
          <a:xfrm>
            <a:off x="1390650" y="8282136"/>
            <a:ext cx="309340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</a:t>
            </a:r>
          </a:p>
        </p:txBody>
      </p:sp>
      <p:sp>
        <p:nvSpPr>
          <p:cNvPr id="741" name="Text 13"/>
          <p:cNvSpPr txBox="1"/>
          <p:nvPr/>
        </p:nvSpPr>
        <p:spPr>
          <a:xfrm>
            <a:off x="1890488" y="8339286"/>
            <a:ext cx="7850748" cy="89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8780"/>
              </a:lnSpc>
              <a:defRPr sz="27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changed recently that makes this newly solvable or newly urgent?</a:t>
            </a:r>
          </a:p>
        </p:txBody>
      </p:sp>
      <p:sp>
        <p:nvSpPr>
          <p:cNvPr id="742" name="Shape 14"/>
          <p:cNvSpPr/>
          <p:nvPr/>
        </p:nvSpPr>
        <p:spPr>
          <a:xfrm>
            <a:off x="10465072" y="2776685"/>
            <a:ext cx="6775178" cy="674831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3" name="Text 15"/>
          <p:cNvSpPr txBox="1"/>
          <p:nvPr/>
        </p:nvSpPr>
        <p:spPr>
          <a:xfrm>
            <a:off x="10960372" y="4232969"/>
            <a:ext cx="6363037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90000"/>
              </a:lnSpc>
              <a:defRPr sz="2037" b="1" spc="194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IT RUNS</a:t>
            </a:r>
          </a:p>
        </p:txBody>
      </p:sp>
      <p:sp>
        <p:nvSpPr>
          <p:cNvPr id="744" name="Text 16"/>
          <p:cNvSpPr txBox="1"/>
          <p:nvPr/>
        </p:nvSpPr>
        <p:spPr>
          <a:xfrm>
            <a:off x="10960372" y="4771132"/>
            <a:ext cx="5958116" cy="144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Answer all four honestly. The test you find hardest to answer is the one that matters most.</a:t>
            </a:r>
          </a:p>
        </p:txBody>
      </p:sp>
      <p:sp>
        <p:nvSpPr>
          <p:cNvPr id="745" name="Text 17"/>
          <p:cNvSpPr txBox="1"/>
          <p:nvPr/>
        </p:nvSpPr>
        <p:spPr>
          <a:xfrm>
            <a:off x="10960372" y="6525592"/>
            <a:ext cx="5958116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6812"/>
              </a:lnSpc>
              <a:defRPr sz="3000" i="1">
                <a:solidFill>
                  <a:srgbClr val="D8CBC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"I think people would want it" is not an answer to any of these four questions.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ACTIVITY · AUDIT THREE PRODUCTS</a:t>
            </a:r>
          </a:p>
        </p:txBody>
      </p:sp>
      <p:sp>
        <p:nvSpPr>
          <p:cNvPr id="750" name="Text 1"/>
          <p:cNvSpPr txBox="1"/>
          <p:nvPr/>
        </p:nvSpPr>
        <p:spPr>
          <a:xfrm>
            <a:off x="1047750" y="14668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Vitamin or painkiller: audit three products</a:t>
            </a:r>
          </a:p>
        </p:txBody>
      </p:sp>
      <p:sp>
        <p:nvSpPr>
          <p:cNvPr id="751" name="Text 2"/>
          <p:cNvSpPr txBox="1"/>
          <p:nvPr/>
        </p:nvSpPr>
        <p:spPr>
          <a:xfrm>
            <a:off x="1206774" y="2738585"/>
            <a:ext cx="7465291" cy="144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2206"/>
              </a:lnSpc>
              <a:defRPr sz="28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Pick three products, apps or gadgets you have used, wanted, or seen advertised in the last year.</a:t>
            </a:r>
          </a:p>
        </p:txBody>
      </p:sp>
      <p:sp>
        <p:nvSpPr>
          <p:cNvPr id="752" name="Text 3"/>
          <p:cNvSpPr txBox="1"/>
          <p:nvPr/>
        </p:nvSpPr>
        <p:spPr>
          <a:xfrm>
            <a:off x="1206774" y="4493047"/>
            <a:ext cx="245715" cy="39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352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</a:t>
            </a:r>
          </a:p>
        </p:txBody>
      </p:sp>
      <p:sp>
        <p:nvSpPr>
          <p:cNvPr id="753" name="Text 4"/>
          <p:cNvSpPr txBox="1"/>
          <p:nvPr/>
        </p:nvSpPr>
        <p:spPr>
          <a:xfrm>
            <a:off x="1566788" y="4493047"/>
            <a:ext cx="5062680" cy="39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352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Name it and what it claims to solve</a:t>
            </a:r>
          </a:p>
        </p:txBody>
      </p:sp>
      <p:sp>
        <p:nvSpPr>
          <p:cNvPr id="754" name="Text 5"/>
          <p:cNvSpPr txBox="1"/>
          <p:nvPr/>
        </p:nvSpPr>
        <p:spPr>
          <a:xfrm>
            <a:off x="1206774" y="5016922"/>
            <a:ext cx="245715" cy="102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4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755" name="Text 6"/>
          <p:cNvSpPr txBox="1"/>
          <p:nvPr/>
        </p:nvSpPr>
        <p:spPr>
          <a:xfrm>
            <a:off x="1566788" y="5016922"/>
            <a:ext cx="7094475" cy="102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Who had this problem before it existed, and what did they do? If you cannot name a workaround, that is already a signal</a:t>
            </a:r>
          </a:p>
        </p:txBody>
      </p:sp>
      <p:sp>
        <p:nvSpPr>
          <p:cNvPr id="756" name="Text 7"/>
          <p:cNvSpPr txBox="1"/>
          <p:nvPr/>
        </p:nvSpPr>
        <p:spPr>
          <a:xfrm>
            <a:off x="1206774" y="6174209"/>
            <a:ext cx="245715" cy="695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4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</a:t>
            </a:r>
          </a:p>
        </p:txBody>
      </p:sp>
      <p:sp>
        <p:nvSpPr>
          <p:cNvPr id="757" name="Text 8"/>
          <p:cNvSpPr txBox="1"/>
          <p:nvPr/>
        </p:nvSpPr>
        <p:spPr>
          <a:xfrm>
            <a:off x="1566788" y="6174209"/>
            <a:ext cx="7094475" cy="695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often does the pain recur, and how severe is it?</a:t>
            </a:r>
          </a:p>
        </p:txBody>
      </p:sp>
      <p:sp>
        <p:nvSpPr>
          <p:cNvPr id="758" name="Text 9"/>
          <p:cNvSpPr txBox="1"/>
          <p:nvPr/>
        </p:nvSpPr>
        <p:spPr>
          <a:xfrm>
            <a:off x="1206774" y="7002884"/>
            <a:ext cx="245715" cy="39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352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</a:t>
            </a:r>
          </a:p>
        </p:txBody>
      </p:sp>
      <p:sp>
        <p:nvSpPr>
          <p:cNvPr id="759" name="Text 10"/>
          <p:cNvSpPr txBox="1"/>
          <p:nvPr/>
        </p:nvSpPr>
        <p:spPr>
          <a:xfrm>
            <a:off x="1566789" y="7002884"/>
            <a:ext cx="4442951" cy="39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90000"/>
              </a:lnSpc>
              <a:defRPr sz="2352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Classify it: vitamin or painkiller</a:t>
            </a:r>
          </a:p>
        </p:txBody>
      </p:sp>
      <p:sp>
        <p:nvSpPr>
          <p:cNvPr id="760" name="Text 11"/>
          <p:cNvSpPr txBox="1"/>
          <p:nvPr/>
        </p:nvSpPr>
        <p:spPr>
          <a:xfrm>
            <a:off x="1206774" y="7526759"/>
            <a:ext cx="245715" cy="695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400" b="1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5</a:t>
            </a:r>
          </a:p>
        </p:txBody>
      </p:sp>
      <p:sp>
        <p:nvSpPr>
          <p:cNvPr id="761" name="Text 12"/>
          <p:cNvSpPr txBox="1"/>
          <p:nvPr/>
        </p:nvSpPr>
        <p:spPr>
          <a:xfrm>
            <a:off x="1566788" y="7526759"/>
            <a:ext cx="7094475" cy="695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2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Honestly — would you pay to keep it if it started charging tomorrow?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THREE WORKED EXAMPLES</a:t>
            </a:r>
          </a:p>
        </p:txBody>
      </p:sp>
      <p:sp>
        <p:nvSpPr>
          <p:cNvPr id="766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a good answer looks like</a:t>
            </a:r>
          </a:p>
        </p:txBody>
      </p:sp>
      <p:sp>
        <p:nvSpPr>
          <p:cNvPr id="767" name="Shape 2"/>
          <p:cNvSpPr/>
          <p:nvPr/>
        </p:nvSpPr>
        <p:spPr>
          <a:xfrm>
            <a:off x="1047750" y="2852885"/>
            <a:ext cx="5168875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8" name="Text 3"/>
          <p:cNvSpPr txBox="1"/>
          <p:nvPr/>
        </p:nvSpPr>
        <p:spPr>
          <a:xfrm>
            <a:off x="1466850" y="3271985"/>
            <a:ext cx="4763743" cy="57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3564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Google Maps</a:t>
            </a:r>
          </a:p>
        </p:txBody>
      </p:sp>
      <p:sp>
        <p:nvSpPr>
          <p:cNvPr id="769" name="Text 4"/>
          <p:cNvSpPr txBox="1"/>
          <p:nvPr/>
        </p:nvSpPr>
        <p:spPr>
          <a:xfrm>
            <a:off x="1466849" y="4024460"/>
            <a:ext cx="4460597" cy="158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651"/>
              </a:lnSpc>
              <a:defRPr sz="22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Workaround: </a:t>
            </a:r>
            <a:r>
              <a:rPr b="0"/>
              <a:t>asking strangers, printed maps that needed refolding, or a ₹5,000 standalone GPS unit.</a:t>
            </a:r>
          </a:p>
        </p:txBody>
      </p:sp>
      <p:sp>
        <p:nvSpPr>
          <p:cNvPr id="770" name="Text 5"/>
          <p:cNvSpPr txBox="1"/>
          <p:nvPr/>
        </p:nvSpPr>
        <p:spPr>
          <a:xfrm>
            <a:off x="1466849" y="5743723"/>
            <a:ext cx="4460597" cy="120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651"/>
              </a:lnSpc>
              <a:defRPr sz="22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Frequency: </a:t>
            </a:r>
            <a:r>
              <a:rPr b="0"/>
              <a:t>frequent, occasionally acute — getting lost costs real time and stress.</a:t>
            </a:r>
          </a:p>
        </p:txBody>
      </p:sp>
      <p:sp>
        <p:nvSpPr>
          <p:cNvPr id="771" name="Shape 6"/>
          <p:cNvSpPr/>
          <p:nvPr/>
        </p:nvSpPr>
        <p:spPr>
          <a:xfrm>
            <a:off x="1466850" y="7294289"/>
            <a:ext cx="4330675" cy="19051"/>
          </a:xfrm>
          <a:prstGeom prst="rect">
            <a:avLst/>
          </a:prstGeom>
          <a:solidFill>
            <a:srgbClr val="C8BBB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2" name="Text 7"/>
          <p:cNvSpPr txBox="1"/>
          <p:nvPr/>
        </p:nvSpPr>
        <p:spPr>
          <a:xfrm>
            <a:off x="1466850" y="7580039"/>
            <a:ext cx="4763743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2475" b="1">
                <a:solidFill>
                  <a:srgbClr val="A83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Painkiller</a:t>
            </a:r>
          </a:p>
        </p:txBody>
      </p:sp>
      <p:sp>
        <p:nvSpPr>
          <p:cNvPr id="773" name="Text 8"/>
          <p:cNvSpPr txBox="1"/>
          <p:nvPr/>
        </p:nvSpPr>
        <p:spPr>
          <a:xfrm>
            <a:off x="1466849" y="8065814"/>
            <a:ext cx="4460597" cy="1078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0799"/>
              </a:lnSpc>
              <a:defRPr sz="21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People paid thousands for GPS devices years before the free app existed.</a:t>
            </a:r>
          </a:p>
        </p:txBody>
      </p:sp>
      <p:sp>
        <p:nvSpPr>
          <p:cNvPr id="774" name="Shape 9"/>
          <p:cNvSpPr/>
          <p:nvPr/>
        </p:nvSpPr>
        <p:spPr>
          <a:xfrm>
            <a:off x="6559525" y="2852885"/>
            <a:ext cx="5168875" cy="6672114"/>
          </a:xfrm>
          <a:prstGeom prst="rect">
            <a:avLst/>
          </a:prstGeom>
          <a:solidFill>
            <a:srgbClr val="F0EAE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5" name="Text 10"/>
          <p:cNvSpPr txBox="1"/>
          <p:nvPr/>
        </p:nvSpPr>
        <p:spPr>
          <a:xfrm>
            <a:off x="6978625" y="3271985"/>
            <a:ext cx="4763744" cy="57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3564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Notion</a:t>
            </a:r>
          </a:p>
        </p:txBody>
      </p:sp>
      <p:sp>
        <p:nvSpPr>
          <p:cNvPr id="776" name="Text 11"/>
          <p:cNvSpPr txBox="1"/>
          <p:nvPr/>
        </p:nvSpPr>
        <p:spPr>
          <a:xfrm>
            <a:off x="6978625" y="4024460"/>
            <a:ext cx="4460596" cy="158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651"/>
              </a:lnSpc>
              <a:defRPr sz="22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Workaround: </a:t>
            </a:r>
            <a:r>
              <a:rPr b="0"/>
              <a:t>Google Docs, Excel and email — inefficient, but functional enough that most people never complained.</a:t>
            </a:r>
          </a:p>
        </p:txBody>
      </p:sp>
      <p:sp>
        <p:nvSpPr>
          <p:cNvPr id="777" name="Text 12"/>
          <p:cNvSpPr txBox="1"/>
          <p:nvPr/>
        </p:nvSpPr>
        <p:spPr>
          <a:xfrm>
            <a:off x="6978625" y="5743723"/>
            <a:ext cx="4460596" cy="120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651"/>
              </a:lnSpc>
              <a:defRPr sz="22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Frequency: </a:t>
            </a:r>
            <a:r>
              <a:rPr b="0"/>
              <a:t>mild for casual users. Genuinely painful for anyone managing complex projects.</a:t>
            </a:r>
          </a:p>
        </p:txBody>
      </p:sp>
      <p:sp>
        <p:nvSpPr>
          <p:cNvPr id="778" name="Shape 13"/>
          <p:cNvSpPr/>
          <p:nvPr/>
        </p:nvSpPr>
        <p:spPr>
          <a:xfrm>
            <a:off x="6978625" y="7269509"/>
            <a:ext cx="4330676" cy="19051"/>
          </a:xfrm>
          <a:prstGeom prst="rect">
            <a:avLst/>
          </a:prstGeom>
          <a:solidFill>
            <a:srgbClr val="C8BBB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9" name="Text 14"/>
          <p:cNvSpPr txBox="1"/>
          <p:nvPr/>
        </p:nvSpPr>
        <p:spPr>
          <a:xfrm>
            <a:off x="6978625" y="7555259"/>
            <a:ext cx="4460596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500" b="1">
                <a:solidFill>
                  <a:srgbClr val="A83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Vitamin — painkiller for power users</a:t>
            </a:r>
          </a:p>
        </p:txBody>
      </p:sp>
      <p:sp>
        <p:nvSpPr>
          <p:cNvPr id="780" name="Text 15"/>
          <p:cNvSpPr txBox="1"/>
          <p:nvPr/>
        </p:nvSpPr>
        <p:spPr>
          <a:xfrm>
            <a:off x="6978625" y="8412509"/>
            <a:ext cx="4460596" cy="731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0799"/>
              </a:lnSpc>
              <a:defRPr sz="2100">
                <a:solidFill>
                  <a:srgbClr val="564B4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huge free tier that never converts is itself a vitamin signal.</a:t>
            </a:r>
          </a:p>
        </p:txBody>
      </p:sp>
      <p:sp>
        <p:nvSpPr>
          <p:cNvPr id="781" name="Shape 16"/>
          <p:cNvSpPr/>
          <p:nvPr/>
        </p:nvSpPr>
        <p:spPr>
          <a:xfrm>
            <a:off x="12071299" y="2852885"/>
            <a:ext cx="5168951" cy="6672114"/>
          </a:xfrm>
          <a:prstGeom prst="rect">
            <a:avLst/>
          </a:prstGeom>
          <a:solidFill>
            <a:srgbClr val="20191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2" name="Text 17"/>
          <p:cNvSpPr txBox="1"/>
          <p:nvPr/>
        </p:nvSpPr>
        <p:spPr>
          <a:xfrm>
            <a:off x="12490399" y="3271985"/>
            <a:ext cx="4763826" cy="57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90000"/>
              </a:lnSpc>
              <a:defRPr sz="3564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Juicero</a:t>
            </a:r>
          </a:p>
        </p:txBody>
      </p:sp>
      <p:sp>
        <p:nvSpPr>
          <p:cNvPr id="783" name="Text 18"/>
          <p:cNvSpPr txBox="1"/>
          <p:nvPr/>
        </p:nvSpPr>
        <p:spPr>
          <a:xfrm>
            <a:off x="12490399" y="4024460"/>
            <a:ext cx="4460673" cy="120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651"/>
              </a:lnSpc>
              <a:defRPr sz="22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Workaround: </a:t>
            </a:r>
            <a:r>
              <a:rPr b="0"/>
              <a:t>none needed. A bare hand, a blender, or the juice bar down the road all worked.</a:t>
            </a:r>
          </a:p>
        </p:txBody>
      </p:sp>
      <p:sp>
        <p:nvSpPr>
          <p:cNvPr id="784" name="Text 19"/>
          <p:cNvSpPr txBox="1"/>
          <p:nvPr/>
        </p:nvSpPr>
        <p:spPr>
          <a:xfrm>
            <a:off x="12490399" y="5357960"/>
            <a:ext cx="4460673" cy="120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05651"/>
              </a:lnSpc>
              <a:defRPr sz="2200" b="1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Frequency: </a:t>
            </a:r>
            <a:r>
              <a:rPr b="0"/>
              <a:t>no recurring pain existed for the customer it was sold to.</a:t>
            </a:r>
          </a:p>
        </p:txBody>
      </p:sp>
      <p:sp>
        <p:nvSpPr>
          <p:cNvPr id="785" name="Shape 20"/>
          <p:cNvSpPr/>
          <p:nvPr/>
        </p:nvSpPr>
        <p:spPr>
          <a:xfrm>
            <a:off x="12490399" y="6922814"/>
            <a:ext cx="4330751" cy="19051"/>
          </a:xfrm>
          <a:prstGeom prst="rect">
            <a:avLst/>
          </a:prstGeom>
          <a:solidFill>
            <a:srgbClr val="50453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6" name="Text 21"/>
          <p:cNvSpPr txBox="1"/>
          <p:nvPr/>
        </p:nvSpPr>
        <p:spPr>
          <a:xfrm>
            <a:off x="12490399" y="7208564"/>
            <a:ext cx="4460673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2500" b="1">
                <a:solidFill>
                  <a:srgbClr val="FFAF9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Vitamin — arguably not even that</a:t>
            </a:r>
          </a:p>
        </p:txBody>
      </p:sp>
      <p:sp>
        <p:nvSpPr>
          <p:cNvPr id="787" name="Text 22"/>
          <p:cNvSpPr txBox="1"/>
          <p:nvPr/>
        </p:nvSpPr>
        <p:spPr>
          <a:xfrm>
            <a:off x="12490399" y="8065814"/>
            <a:ext cx="4460673" cy="1078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0799"/>
              </a:lnSpc>
              <a:defRPr sz="2100">
                <a:solidFill>
                  <a:srgbClr val="C8BBB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Evans mistook evidence for the category for evidence for his $700 machine.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Text 0"/>
          <p:cNvSpPr txBox="1"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C351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READ AFTER CLASS · DO NOT MEMORISE</a:t>
            </a:r>
          </a:p>
        </p:txBody>
      </p:sp>
      <p:sp>
        <p:nvSpPr>
          <p:cNvPr id="792" name="Text 1"/>
          <p:cNvSpPr txBox="1"/>
          <p:nvPr/>
        </p:nvSpPr>
        <p:spPr>
          <a:xfrm>
            <a:off x="1047750" y="1504950"/>
            <a:ext cx="17811750" cy="776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lnSpc>
                <a:spcPct val="79734"/>
              </a:lnSpc>
              <a:defRPr sz="5016" b="1" spc="-176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Six terms, in plain English</a:t>
            </a:r>
          </a:p>
        </p:txBody>
      </p:sp>
      <p:sp>
        <p:nvSpPr>
          <p:cNvPr id="793" name="Shape 2"/>
          <p:cNvSpPr/>
          <p:nvPr/>
        </p:nvSpPr>
        <p:spPr>
          <a:xfrm>
            <a:off x="1047750" y="3443435"/>
            <a:ext cx="5041851" cy="381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4" name="Text 3"/>
          <p:cNvSpPr txBox="1"/>
          <p:nvPr/>
        </p:nvSpPr>
        <p:spPr>
          <a:xfrm>
            <a:off x="1047750" y="2852885"/>
            <a:ext cx="519310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Perceived value</a:t>
            </a:r>
          </a:p>
        </p:txBody>
      </p:sp>
      <p:sp>
        <p:nvSpPr>
          <p:cNvPr id="795" name="Text 4"/>
          <p:cNvSpPr txBox="1"/>
          <p:nvPr/>
        </p:nvSpPr>
        <p:spPr>
          <a:xfrm>
            <a:off x="1047750" y="3672035"/>
            <a:ext cx="5193106" cy="127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the customer believes they are getting. Crocin and generic paracetamol are chemically identical.</a:t>
            </a:r>
          </a:p>
        </p:txBody>
      </p:sp>
      <p:sp>
        <p:nvSpPr>
          <p:cNvPr id="796" name="Shape 5"/>
          <p:cNvSpPr/>
          <p:nvPr/>
        </p:nvSpPr>
        <p:spPr>
          <a:xfrm>
            <a:off x="6622999" y="3443435"/>
            <a:ext cx="5041926" cy="381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7" name="Text 6"/>
          <p:cNvSpPr txBox="1"/>
          <p:nvPr/>
        </p:nvSpPr>
        <p:spPr>
          <a:xfrm>
            <a:off x="6622999" y="2852885"/>
            <a:ext cx="5193184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Price elasticity</a:t>
            </a:r>
          </a:p>
        </p:txBody>
      </p:sp>
      <p:sp>
        <p:nvSpPr>
          <p:cNvPr id="798" name="Text 7"/>
          <p:cNvSpPr txBox="1"/>
          <p:nvPr/>
        </p:nvSpPr>
        <p:spPr>
          <a:xfrm>
            <a:off x="6622999" y="3672035"/>
            <a:ext cx="5193184" cy="127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fast demand drops when price rises. Tapri chai: very elastic. Blue Tokai: barely.</a:t>
            </a:r>
          </a:p>
        </p:txBody>
      </p:sp>
      <p:sp>
        <p:nvSpPr>
          <p:cNvPr id="799" name="Shape 8"/>
          <p:cNvSpPr/>
          <p:nvPr/>
        </p:nvSpPr>
        <p:spPr>
          <a:xfrm>
            <a:off x="12198325" y="3443435"/>
            <a:ext cx="5041851" cy="381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0" name="Text 9"/>
          <p:cNvSpPr txBox="1"/>
          <p:nvPr/>
        </p:nvSpPr>
        <p:spPr>
          <a:xfrm>
            <a:off x="12198325" y="2852885"/>
            <a:ext cx="5193107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Solution-first</a:t>
            </a:r>
          </a:p>
        </p:txBody>
      </p:sp>
      <p:sp>
        <p:nvSpPr>
          <p:cNvPr id="801" name="Text 10"/>
          <p:cNvSpPr txBox="1"/>
          <p:nvPr/>
        </p:nvSpPr>
        <p:spPr>
          <a:xfrm>
            <a:off x="12198325" y="3672035"/>
            <a:ext cx="5193107" cy="127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Starting with a product idea and hunting for a market that justifies it. The most common way startups die.</a:t>
            </a:r>
          </a:p>
        </p:txBody>
      </p:sp>
      <p:sp>
        <p:nvSpPr>
          <p:cNvPr id="802" name="Shape 11"/>
          <p:cNvSpPr/>
          <p:nvPr/>
        </p:nvSpPr>
        <p:spPr>
          <a:xfrm>
            <a:off x="1047750" y="6989043"/>
            <a:ext cx="5041851" cy="381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3" name="Text 12"/>
          <p:cNvSpPr txBox="1"/>
          <p:nvPr/>
        </p:nvSpPr>
        <p:spPr>
          <a:xfrm>
            <a:off x="1047750" y="6398493"/>
            <a:ext cx="5193106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workaround</a:t>
            </a:r>
          </a:p>
        </p:txBody>
      </p:sp>
      <p:sp>
        <p:nvSpPr>
          <p:cNvPr id="804" name="Text 13"/>
          <p:cNvSpPr txBox="1"/>
          <p:nvPr/>
        </p:nvSpPr>
        <p:spPr>
          <a:xfrm>
            <a:off x="1047750" y="7217643"/>
            <a:ext cx="5193106" cy="127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bad, improvised thing people already do instead. Duct tape is the strongest evidence a problem is real.</a:t>
            </a:r>
          </a:p>
        </p:txBody>
      </p:sp>
      <p:sp>
        <p:nvSpPr>
          <p:cNvPr id="805" name="Shape 14"/>
          <p:cNvSpPr/>
          <p:nvPr/>
        </p:nvSpPr>
        <p:spPr>
          <a:xfrm>
            <a:off x="6622999" y="6989043"/>
            <a:ext cx="5041926" cy="381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6" name="Text 15"/>
          <p:cNvSpPr txBox="1"/>
          <p:nvPr/>
        </p:nvSpPr>
        <p:spPr>
          <a:xfrm>
            <a:off x="6622999" y="6398493"/>
            <a:ext cx="5193184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Product-market fit</a:t>
            </a:r>
          </a:p>
        </p:txBody>
      </p:sp>
      <p:sp>
        <p:nvSpPr>
          <p:cNvPr id="807" name="Text 16"/>
          <p:cNvSpPr txBox="1"/>
          <p:nvPr/>
        </p:nvSpPr>
        <p:spPr>
          <a:xfrm>
            <a:off x="6622999" y="7217643"/>
            <a:ext cx="5193184" cy="127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real group actively wants what you built, pays for it, and tells others — without you talking them into it.</a:t>
            </a:r>
          </a:p>
        </p:txBody>
      </p:sp>
      <p:sp>
        <p:nvSpPr>
          <p:cNvPr id="808" name="Shape 17"/>
          <p:cNvSpPr/>
          <p:nvPr/>
        </p:nvSpPr>
        <p:spPr>
          <a:xfrm>
            <a:off x="12198325" y="6989043"/>
            <a:ext cx="5041851" cy="38101"/>
          </a:xfrm>
          <a:prstGeom prst="rect">
            <a:avLst/>
          </a:prstGeom>
          <a:solidFill>
            <a:srgbClr val="C3514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9" name="Text 18"/>
          <p:cNvSpPr txBox="1"/>
          <p:nvPr/>
        </p:nvSpPr>
        <p:spPr>
          <a:xfrm>
            <a:off x="12198325" y="6398493"/>
            <a:ext cx="5193107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3000" b="1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"No market need"</a:t>
            </a:r>
          </a:p>
        </p:txBody>
      </p:sp>
      <p:sp>
        <p:nvSpPr>
          <p:cNvPr id="810" name="Text 19"/>
          <p:cNvSpPr txBox="1"/>
          <p:nvPr/>
        </p:nvSpPr>
        <p:spPr>
          <a:xfrm>
            <a:off x="12198325" y="7217643"/>
            <a:ext cx="5193107" cy="127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5081"/>
              </a:lnSpc>
              <a:defRPr sz="2400">
                <a:solidFill>
                  <a:srgbClr val="2019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single most-cited cause of startup failure. Not bad execution — the wrong starting question.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Text 0"/>
          <p:cNvSpPr txBox="1"/>
          <p:nvPr/>
        </p:nvSpPr>
        <p:spPr>
          <a:xfrm>
            <a:off x="1047750" y="2684190"/>
            <a:ext cx="1781175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90000"/>
              </a:lnSpc>
              <a:defRPr sz="1900" b="1" spc="200">
                <a:solidFill>
                  <a:srgbClr val="EF806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 YOU BUILD ANYTHING, EVER</a:t>
            </a:r>
          </a:p>
        </p:txBody>
      </p:sp>
      <p:sp>
        <p:nvSpPr>
          <p:cNvPr id="815" name="Text 1"/>
          <p:cNvSpPr txBox="1"/>
          <p:nvPr/>
        </p:nvSpPr>
        <p:spPr>
          <a:xfrm>
            <a:off x="1047750" y="3274740"/>
            <a:ext cx="16187738" cy="217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87160"/>
              </a:lnSpc>
              <a:defRPr sz="7700" b="1" spc="-300">
                <a:solidFill>
                  <a:srgbClr val="F5F1E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"What are you doing about this today, and what does it cost you?"</a:t>
            </a:r>
          </a:p>
        </p:txBody>
      </p:sp>
      <p:sp>
        <p:nvSpPr>
          <p:cNvPr id="816" name="Text 2"/>
          <p:cNvSpPr txBox="1"/>
          <p:nvPr/>
        </p:nvSpPr>
        <p:spPr>
          <a:xfrm>
            <a:off x="1047750" y="5941740"/>
            <a:ext cx="14716125" cy="188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7009"/>
              </a:lnSpc>
              <a:defRPr sz="3600">
                <a:solidFill>
                  <a:srgbClr val="C1B5A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It is free. It takes ninety seconds. It is the cheapest piece of due diligence available to any founder — and it would have saved $120 million and 400 jobs.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5755</Words>
  <Application>Microsoft Macintosh PowerPoint</Application>
  <PresentationFormat>Custom</PresentationFormat>
  <Paragraphs>549</Paragraphs>
  <Slides>43</Slides>
  <Notes>43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Avinash Pandit</cp:lastModifiedBy>
  <cp:revision>3</cp:revision>
  <dcterms:modified xsi:type="dcterms:W3CDTF">2026-08-19T14:20:41Z</dcterms:modified>
</cp:coreProperties>
</file>