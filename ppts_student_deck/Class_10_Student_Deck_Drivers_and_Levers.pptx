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ZENITH SCHOOL OF AI · CUSTOMER DISCOVERY · CLASS 10</a:t>
            </a:r>
          </a:p>
        </p:txBody>
      </p:sp>
      <p:sp>
        <p:nvSpPr>
          <p:cNvPr id="3" name="TextBox 2"/>
          <p:cNvSpPr txBox="1"/>
          <p:nvPr/>
        </p:nvSpPr>
        <p:spPr>
          <a:xfrm>
            <a:off x="1047750" y="3533775"/>
            <a:ext cx="16192500" cy="1228725"/>
          </a:xfrm>
          <a:prstGeom prst="rect">
            <a:avLst/>
          </a:prstGeom>
          <a:noFill/>
        </p:spPr>
        <p:txBody>
          <a:bodyPr wrap="square" lIns="0" rIns="0" tIns="0" bIns="0" anchor="t">
            <a:spAutoFit/>
          </a:bodyPr>
          <a:lstStyle/>
          <a:p>
            <a:pPr algn="l">
              <a:lnSpc>
                <a:spcPct val="92000"/>
              </a:lnSpc>
            </a:pPr>
            <a:r>
              <a:rPr sz="9900" b="1" i="0" spc="-346">
                <a:solidFill>
                  <a:srgbClr val="F5F1E9"/>
                </a:solidFill>
                <a:latin typeface="Arial"/>
              </a:rPr>
              <a:t>Drivers and Levers</a:t>
            </a:r>
          </a:p>
        </p:txBody>
      </p:sp>
      <p:sp>
        <p:nvSpPr>
          <p:cNvPr id="4" name="TextBox 3"/>
          <p:cNvSpPr txBox="1"/>
          <p:nvPr/>
        </p:nvSpPr>
        <p:spPr>
          <a:xfrm>
            <a:off x="1047750" y="5181600"/>
            <a:ext cx="12382500" cy="1247775"/>
          </a:xfrm>
          <a:prstGeom prst="rect">
            <a:avLst/>
          </a:prstGeom>
          <a:noFill/>
        </p:spPr>
        <p:txBody>
          <a:bodyPr wrap="square" lIns="0" rIns="0" tIns="0" bIns="0" anchor="t">
            <a:spAutoFit/>
          </a:bodyPr>
          <a:lstStyle/>
          <a:p>
            <a:pPr algn="l">
              <a:lnSpc>
                <a:spcPct val="118000"/>
              </a:lnSpc>
            </a:pPr>
            <a:r>
              <a:rPr sz="3900" b="0" i="1">
                <a:solidFill>
                  <a:srgbClr val="C1B5AB"/>
                </a:solidFill>
                <a:latin typeface="Georgia"/>
              </a:rPr>
              <a:t>Three companies, three feelings — and the screen that decides what the customer compares the price against.</a:t>
            </a:r>
          </a:p>
        </p:txBody>
      </p:sp>
      <p:sp>
        <p:nvSpPr>
          <p:cNvPr id="5" name="Rectangle 4"/>
          <p:cNvSpPr/>
          <p:nvPr/>
        </p:nvSpPr>
        <p:spPr>
          <a:xfrm>
            <a:off x="1047750" y="8877300"/>
            <a:ext cx="16192500" cy="19050"/>
          </a:xfrm>
          <a:prstGeom prst="rect">
            <a:avLst/>
          </a:prstGeom>
          <a:solidFill>
            <a:srgbClr val="50453D"/>
          </a:solidFill>
          <a:ln>
            <a:noFill/>
          </a:ln>
          <a:effectLst/>
        </p:spPr>
        <p:txBody>
          <a:bodyPr rtlCol="0" anchor="ctr"/>
          <a:lstStyle/>
          <a:p>
            <a:pPr algn="ctr"/>
          </a:p>
        </p:txBody>
      </p:sp>
      <p:sp>
        <p:nvSpPr>
          <p:cNvPr id="6" name="TextBox 5"/>
          <p:cNvSpPr txBox="1"/>
          <p:nvPr/>
        </p:nvSpPr>
        <p:spPr>
          <a:xfrm>
            <a:off x="1047750" y="9239250"/>
            <a:ext cx="2245221" cy="342900"/>
          </a:xfrm>
          <a:prstGeom prst="rect">
            <a:avLst/>
          </a:prstGeom>
          <a:noFill/>
        </p:spPr>
        <p:txBody>
          <a:bodyPr wrap="square" lIns="0" rIns="0" tIns="0" bIns="0" anchor="t">
            <a:spAutoFit/>
          </a:bodyPr>
          <a:lstStyle/>
          <a:p>
            <a:pPr algn="l"/>
            <a:r>
              <a:rPr sz="2100" b="0" i="0">
                <a:solidFill>
                  <a:srgbClr val="AEA298"/>
                </a:solidFill>
                <a:latin typeface="Arial"/>
              </a:rPr>
              <a:t>The Driver Ladder</a:t>
            </a:r>
          </a:p>
        </p:txBody>
      </p:sp>
      <p:sp>
        <p:nvSpPr>
          <p:cNvPr id="7" name="TextBox 6"/>
          <p:cNvSpPr txBox="1"/>
          <p:nvPr/>
        </p:nvSpPr>
        <p:spPr>
          <a:xfrm>
            <a:off x="3845421" y="9239250"/>
            <a:ext cx="2007989" cy="342900"/>
          </a:xfrm>
          <a:prstGeom prst="rect">
            <a:avLst/>
          </a:prstGeom>
          <a:noFill/>
        </p:spPr>
        <p:txBody>
          <a:bodyPr wrap="square" lIns="0" rIns="0" tIns="0" bIns="0" anchor="t">
            <a:spAutoFit/>
          </a:bodyPr>
          <a:lstStyle/>
          <a:p>
            <a:pPr algn="l"/>
            <a:r>
              <a:rPr sz="2100" b="0" i="0">
                <a:solidFill>
                  <a:srgbClr val="AEA298"/>
                </a:solidFill>
                <a:latin typeface="Arial"/>
              </a:rPr>
              <a:t>The Driver Loop</a:t>
            </a:r>
          </a:p>
        </p:txBody>
      </p:sp>
      <p:sp>
        <p:nvSpPr>
          <p:cNvPr id="8" name="TextBox 7"/>
          <p:cNvSpPr txBox="1"/>
          <p:nvPr/>
        </p:nvSpPr>
        <p:spPr>
          <a:xfrm>
            <a:off x="6405860" y="9239250"/>
            <a:ext cx="2196108" cy="342900"/>
          </a:xfrm>
          <a:prstGeom prst="rect">
            <a:avLst/>
          </a:prstGeom>
          <a:noFill/>
        </p:spPr>
        <p:txBody>
          <a:bodyPr wrap="square" lIns="0" rIns="0" tIns="0" bIns="0" anchor="t">
            <a:spAutoFit/>
          </a:bodyPr>
          <a:lstStyle/>
          <a:p>
            <a:pPr algn="l"/>
            <a:r>
              <a:rPr sz="2100" b="0" i="0">
                <a:solidFill>
                  <a:srgbClr val="AEA298"/>
                </a:solidFill>
                <a:latin typeface="Arial"/>
              </a:rPr>
              <a:t>The Three Levers</a:t>
            </a:r>
          </a:p>
        </p:txBody>
      </p:sp>
      <p:sp>
        <p:nvSpPr>
          <p:cNvPr id="9" name="TextBox 8"/>
          <p:cNvSpPr txBox="1"/>
          <p:nvPr/>
        </p:nvSpPr>
        <p:spPr>
          <a:xfrm>
            <a:off x="9154418" y="9239250"/>
            <a:ext cx="3036391" cy="342900"/>
          </a:xfrm>
          <a:prstGeom prst="rect">
            <a:avLst/>
          </a:prstGeom>
          <a:noFill/>
        </p:spPr>
        <p:txBody>
          <a:bodyPr wrap="square" lIns="0" rIns="0" tIns="0" bIns="0" anchor="t">
            <a:spAutoFit/>
          </a:bodyPr>
          <a:lstStyle/>
          <a:p>
            <a:pPr algn="l"/>
            <a:r>
              <a:rPr sz="2100" b="0" i="0">
                <a:solidFill>
                  <a:srgbClr val="AEA298"/>
                </a:solidFill>
                <a:latin typeface="Arial"/>
              </a:rPr>
              <a:t>The Three-Question 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WHERE WE LEFT OFF</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You built a map of what is wrong. Today, what makes somebody move.</a:t>
            </a:r>
          </a:p>
        </p:txBody>
      </p:sp>
      <p:sp>
        <p:nvSpPr>
          <p:cNvPr id="4" name="Rectangle 3"/>
          <p:cNvSpPr/>
          <p:nvPr/>
        </p:nvSpPr>
        <p:spPr>
          <a:xfrm>
            <a:off x="1047750" y="3629025"/>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933825"/>
            <a:ext cx="5143500" cy="438150"/>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Pains, sorted and ranked</a:t>
            </a:r>
          </a:p>
        </p:txBody>
      </p:sp>
      <p:sp>
        <p:nvSpPr>
          <p:cNvPr id="6" name="TextBox 5"/>
          <p:cNvSpPr txBox="1"/>
          <p:nvPr/>
        </p:nvSpPr>
        <p:spPr>
          <a:xfrm>
            <a:off x="1047750" y="4543425"/>
            <a:ext cx="5143500" cy="1476375"/>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Functional, emotional, social — and the two questions that decide which two or three you can afford to attack.</a:t>
            </a:r>
          </a:p>
        </p:txBody>
      </p:sp>
      <p:sp>
        <p:nvSpPr>
          <p:cNvPr id="7" name="Rectangle 6"/>
          <p:cNvSpPr/>
          <p:nvPr/>
        </p:nvSpPr>
        <p:spPr>
          <a:xfrm>
            <a:off x="6572250" y="3629025"/>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933825"/>
            <a:ext cx="5143500" cy="438150"/>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Gains, and the canvas</a:t>
            </a:r>
          </a:p>
        </p:txBody>
      </p:sp>
      <p:sp>
        <p:nvSpPr>
          <p:cNvPr id="9" name="TextBox 8"/>
          <p:cNvSpPr txBox="1"/>
          <p:nvPr/>
        </p:nvSpPr>
        <p:spPr>
          <a:xfrm>
            <a:off x="6572250" y="4543425"/>
            <a:ext cx="5143500" cy="112395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Not pains spelled backwards. Then six boxes, and a line from every reliever to a named pain.</a:t>
            </a:r>
          </a:p>
        </p:txBody>
      </p:sp>
      <p:sp>
        <p:nvSpPr>
          <p:cNvPr id="10" name="Rectangle 9"/>
          <p:cNvSpPr/>
          <p:nvPr/>
        </p:nvSpPr>
        <p:spPr>
          <a:xfrm>
            <a:off x="12096750" y="3629025"/>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933825"/>
            <a:ext cx="5143500" cy="438150"/>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The hole in it</a:t>
            </a:r>
          </a:p>
        </p:txBody>
      </p:sp>
      <p:sp>
        <p:nvSpPr>
          <p:cNvPr id="12" name="TextBox 11"/>
          <p:cNvSpPr txBox="1"/>
          <p:nvPr/>
        </p:nvSpPr>
        <p:spPr>
          <a:xfrm>
            <a:off x="12096750" y="4543425"/>
            <a:ext cx="5143500" cy="1476375"/>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A pain is a condition somebody can carry for four years. It does not tell you what happened on the Tuesday they finally acted.</a:t>
            </a:r>
          </a:p>
        </p:txBody>
      </p:sp>
      <p:sp>
        <p:nvSpPr>
          <p:cNvPr id="13" name="TextBox 12"/>
          <p:cNvSpPr txBox="1"/>
          <p:nvPr/>
        </p:nvSpPr>
        <p:spPr>
          <a:xfrm>
            <a:off x="1047750" y="8439150"/>
            <a:ext cx="16192500" cy="504825"/>
          </a:xfrm>
          <a:prstGeom prst="rect">
            <a:avLst/>
          </a:prstGeom>
          <a:noFill/>
        </p:spPr>
        <p:txBody>
          <a:bodyPr wrap="square" lIns="0" rIns="0" tIns="0" bIns="0" anchor="t">
            <a:spAutoFit/>
          </a:bodyPr>
          <a:lstStyle/>
          <a:p>
            <a:pPr algn="l">
              <a:lnSpc>
                <a:spcPct val="112000"/>
              </a:lnSpc>
            </a:pPr>
            <a:r>
              <a:rPr sz="3000" b="0" i="1">
                <a:solidFill>
                  <a:srgbClr val="362C24"/>
                </a:solidFill>
                <a:latin typeface="Georgia"/>
              </a:rPr>
              <a:t>You do not get paid when a customer has a problem. You get paid when a customer moves.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EF806F"/>
                </a:solidFill>
                <a:latin typeface="Arial"/>
              </a:rPr>
              <a:t>6:40 IN THE MORNING · A FLAT IN GURUGRAM</a:t>
            </a:r>
          </a:p>
        </p:txBody>
      </p:sp>
      <p:sp>
        <p:nvSpPr>
          <p:cNvPr id="3" name="TextBox 2"/>
          <p:cNvSpPr txBox="1"/>
          <p:nvPr/>
        </p:nvSpPr>
        <p:spPr>
          <a:xfrm>
            <a:off x="1714500" y="4076700"/>
            <a:ext cx="14859000" cy="2143125"/>
          </a:xfrm>
          <a:prstGeom prst="rect">
            <a:avLst/>
          </a:prstGeom>
          <a:noFill/>
        </p:spPr>
        <p:txBody>
          <a:bodyPr wrap="square" lIns="0" rIns="0" tIns="0" bIns="0" anchor="t">
            <a:spAutoFit/>
          </a:bodyPr>
          <a:lstStyle/>
          <a:p>
            <a:pPr algn="l">
              <a:lnSpc>
                <a:spcPct val="95000"/>
              </a:lnSpc>
            </a:pPr>
            <a:r>
              <a:rPr sz="5700" b="1" i="0" spc="-250">
                <a:solidFill>
                  <a:srgbClr val="F5F1E9"/>
                </a:solidFill>
                <a:latin typeface="Arial"/>
              </a:rPr>
              <a:t>The money is already gone. Nobody will know if she skips. So what actually gets her out of bed?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WHAT ALMOST EVERYBODY SAYS FIRST</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One of these is true and useless. Three are the same shape.</a:t>
            </a:r>
          </a:p>
        </p:txBody>
      </p:sp>
      <p:sp>
        <p:nvSpPr>
          <p:cNvPr id="4" name="Rectangle 3"/>
          <p:cNvSpPr/>
          <p:nvPr/>
        </p:nvSpPr>
        <p:spPr>
          <a:xfrm>
            <a:off x="1047750" y="3629025"/>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933825"/>
            <a:ext cx="3762375" cy="619125"/>
          </a:xfrm>
          <a:prstGeom prst="rect">
            <a:avLst/>
          </a:prstGeom>
          <a:noFill/>
        </p:spPr>
        <p:txBody>
          <a:bodyPr wrap="square" lIns="0" rIns="0" tIns="0" bIns="0" anchor="t">
            <a:spAutoFit/>
          </a:bodyPr>
          <a:lstStyle/>
          <a:p>
            <a:pPr algn="l">
              <a:lnSpc>
                <a:spcPct val="92000"/>
              </a:lnSpc>
            </a:pPr>
            <a:r>
              <a:rPr sz="2400" b="1" i="0">
                <a:solidFill>
                  <a:srgbClr val="201914"/>
                </a:solidFill>
                <a:latin typeface="Arial"/>
              </a:rPr>
              <a:t>'She wants to be fit'</a:t>
            </a:r>
          </a:p>
        </p:txBody>
      </p:sp>
      <p:sp>
        <p:nvSpPr>
          <p:cNvPr id="6" name="TextBox 5"/>
          <p:cNvSpPr txBox="1"/>
          <p:nvPr/>
        </p:nvSpPr>
        <p:spPr>
          <a:xfrm>
            <a:off x="1047750" y="4724400"/>
            <a:ext cx="3762375" cy="1228725"/>
          </a:xfrm>
          <a:prstGeom prst="rect">
            <a:avLst/>
          </a:prstGeom>
          <a:noFill/>
        </p:spPr>
        <p:txBody>
          <a:bodyPr wrap="square" lIns="0" rIns="0" tIns="0" bIns="0" anchor="t">
            <a:spAutoFit/>
          </a:bodyPr>
          <a:lstStyle/>
          <a:p>
            <a:pPr algn="l">
              <a:lnSpc>
                <a:spcPct val="108000"/>
              </a:lnSpc>
            </a:pPr>
            <a:r>
              <a:rPr sz="2100" b="0" i="0">
                <a:solidFill>
                  <a:srgbClr val="665B53"/>
                </a:solidFill>
                <a:latin typeface="Arial"/>
              </a:rPr>
              <a:t>Equally true on the eleven mornings she did not get up. Circle it, then put a line through it.</a:t>
            </a:r>
          </a:p>
        </p:txBody>
      </p:sp>
      <p:sp>
        <p:nvSpPr>
          <p:cNvPr id="7" name="Rectangle 6"/>
          <p:cNvSpPr/>
          <p:nvPr/>
        </p:nvSpPr>
        <p:spPr>
          <a:xfrm>
            <a:off x="5191125" y="3629025"/>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5191125" y="3933825"/>
            <a:ext cx="3762375" cy="619125"/>
          </a:xfrm>
          <a:prstGeom prst="rect">
            <a:avLst/>
          </a:prstGeom>
          <a:noFill/>
        </p:spPr>
        <p:txBody>
          <a:bodyPr wrap="square" lIns="0" rIns="0" tIns="0" bIns="0" anchor="t">
            <a:spAutoFit/>
          </a:bodyPr>
          <a:lstStyle/>
          <a:p>
            <a:pPr algn="l">
              <a:lnSpc>
                <a:spcPct val="92000"/>
              </a:lnSpc>
            </a:pPr>
            <a:r>
              <a:rPr sz="2400" b="1" i="0">
                <a:solidFill>
                  <a:srgbClr val="201914"/>
                </a:solidFill>
                <a:latin typeface="Arial"/>
              </a:rPr>
              <a:t>'The streak will break'</a:t>
            </a:r>
          </a:p>
        </p:txBody>
      </p:sp>
      <p:sp>
        <p:nvSpPr>
          <p:cNvPr id="9" name="TextBox 8"/>
          <p:cNvSpPr txBox="1"/>
          <p:nvPr/>
        </p:nvSpPr>
        <p:spPr>
          <a:xfrm>
            <a:off x="5191125" y="4724400"/>
            <a:ext cx="3762375" cy="647700"/>
          </a:xfrm>
          <a:prstGeom prst="rect">
            <a:avLst/>
          </a:prstGeom>
          <a:noFill/>
        </p:spPr>
        <p:txBody>
          <a:bodyPr wrap="square" lIns="0" rIns="0" tIns="0" bIns="0" anchor="t">
            <a:spAutoFit/>
          </a:bodyPr>
          <a:lstStyle/>
          <a:p>
            <a:pPr algn="l">
              <a:lnSpc>
                <a:spcPct val="108000"/>
              </a:lnSpc>
            </a:pPr>
            <a:r>
              <a:rPr sz="2100" b="0" i="0">
                <a:solidFill>
                  <a:srgbClr val="665B53"/>
                </a:solidFill>
                <a:latin typeface="Arial"/>
              </a:rPr>
              <a:t>A number she has built goes to zero.</a:t>
            </a:r>
          </a:p>
        </p:txBody>
      </p:sp>
      <p:sp>
        <p:nvSpPr>
          <p:cNvPr id="10" name="Rectangle 9"/>
          <p:cNvSpPr/>
          <p:nvPr/>
        </p:nvSpPr>
        <p:spPr>
          <a:xfrm>
            <a:off x="9334500" y="3629025"/>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9334500" y="3933825"/>
            <a:ext cx="3762375" cy="619125"/>
          </a:xfrm>
          <a:prstGeom prst="rect">
            <a:avLst/>
          </a:prstGeom>
          <a:noFill/>
        </p:spPr>
        <p:txBody>
          <a:bodyPr wrap="square" lIns="0" rIns="0" tIns="0" bIns="0" anchor="t">
            <a:spAutoFit/>
          </a:bodyPr>
          <a:lstStyle/>
          <a:p>
            <a:pPr algn="l">
              <a:lnSpc>
                <a:spcPct val="92000"/>
              </a:lnSpc>
            </a:pPr>
            <a:r>
              <a:rPr sz="2400" b="1" i="0">
                <a:solidFill>
                  <a:srgbClr val="201914"/>
                </a:solidFill>
                <a:latin typeface="Arial"/>
              </a:rPr>
              <a:t>'The app charges a penalty'</a:t>
            </a:r>
          </a:p>
        </p:txBody>
      </p:sp>
      <p:sp>
        <p:nvSpPr>
          <p:cNvPr id="12" name="TextBox 11"/>
          <p:cNvSpPr txBox="1"/>
          <p:nvPr/>
        </p:nvSpPr>
        <p:spPr>
          <a:xfrm>
            <a:off x="9334500" y="4724400"/>
            <a:ext cx="3762375" cy="361950"/>
          </a:xfrm>
          <a:prstGeom prst="rect">
            <a:avLst/>
          </a:prstGeom>
          <a:noFill/>
        </p:spPr>
        <p:txBody>
          <a:bodyPr wrap="square" lIns="0" rIns="0" tIns="0" bIns="0" anchor="t">
            <a:spAutoFit/>
          </a:bodyPr>
          <a:lstStyle/>
          <a:p>
            <a:pPr algn="l">
              <a:lnSpc>
                <a:spcPct val="108000"/>
              </a:lnSpc>
            </a:pPr>
            <a:r>
              <a:rPr sz="2100" b="0" i="0">
                <a:solidFill>
                  <a:srgbClr val="665B53"/>
                </a:solidFill>
                <a:latin typeface="Arial"/>
              </a:rPr>
              <a:t>Money is deducted.</a:t>
            </a:r>
          </a:p>
        </p:txBody>
      </p:sp>
      <p:sp>
        <p:nvSpPr>
          <p:cNvPr id="13" name="Rectangle 12"/>
          <p:cNvSpPr/>
          <p:nvPr/>
        </p:nvSpPr>
        <p:spPr>
          <a:xfrm>
            <a:off x="13477875" y="3629025"/>
            <a:ext cx="3028950" cy="57150"/>
          </a:xfrm>
          <a:prstGeom prst="rect">
            <a:avLst/>
          </a:prstGeom>
          <a:solidFill>
            <a:srgbClr val="201914"/>
          </a:solidFill>
          <a:ln>
            <a:noFill/>
          </a:ln>
          <a:effectLst/>
        </p:spPr>
        <p:txBody>
          <a:bodyPr rtlCol="0" anchor="ctr"/>
          <a:lstStyle/>
          <a:p>
            <a:pPr algn="ctr"/>
          </a:p>
        </p:txBody>
      </p:sp>
      <p:sp>
        <p:nvSpPr>
          <p:cNvPr id="14" name="TextBox 13"/>
          <p:cNvSpPr txBox="1"/>
          <p:nvPr/>
        </p:nvSpPr>
        <p:spPr>
          <a:xfrm>
            <a:off x="13477875" y="3933825"/>
            <a:ext cx="3762375" cy="619125"/>
          </a:xfrm>
          <a:prstGeom prst="rect">
            <a:avLst/>
          </a:prstGeom>
          <a:noFill/>
        </p:spPr>
        <p:txBody>
          <a:bodyPr wrap="square" lIns="0" rIns="0" tIns="0" bIns="0" anchor="t">
            <a:spAutoFit/>
          </a:bodyPr>
          <a:lstStyle/>
          <a:p>
            <a:pPr algn="l">
              <a:lnSpc>
                <a:spcPct val="92000"/>
              </a:lnSpc>
            </a:pPr>
            <a:r>
              <a:rPr sz="2400" b="1" i="0">
                <a:solidFill>
                  <a:srgbClr val="201914"/>
                </a:solidFill>
                <a:latin typeface="Arial"/>
              </a:rPr>
              <a:t>'The trainer will notice'</a:t>
            </a:r>
          </a:p>
        </p:txBody>
      </p:sp>
      <p:sp>
        <p:nvSpPr>
          <p:cNvPr id="15" name="TextBox 14"/>
          <p:cNvSpPr txBox="1"/>
          <p:nvPr/>
        </p:nvSpPr>
        <p:spPr>
          <a:xfrm>
            <a:off x="13477875" y="4724400"/>
            <a:ext cx="3762375" cy="361950"/>
          </a:xfrm>
          <a:prstGeom prst="rect">
            <a:avLst/>
          </a:prstGeom>
          <a:noFill/>
        </p:spPr>
        <p:txBody>
          <a:bodyPr wrap="square" lIns="0" rIns="0" tIns="0" bIns="0" anchor="t">
            <a:spAutoFit/>
          </a:bodyPr>
          <a:lstStyle/>
          <a:p>
            <a:pPr algn="l">
              <a:lnSpc>
                <a:spcPct val="108000"/>
              </a:lnSpc>
            </a:pPr>
            <a:r>
              <a:rPr sz="2100" b="0" i="0">
                <a:solidFill>
                  <a:srgbClr val="665B53"/>
                </a:solidFill>
                <a:latin typeface="Arial"/>
              </a:rPr>
              <a:t>A person registers an absence.</a:t>
            </a:r>
          </a:p>
        </p:txBody>
      </p:sp>
      <p:sp>
        <p:nvSpPr>
          <p:cNvPr id="16" name="TextBox 15"/>
          <p:cNvSpPr txBox="1"/>
          <p:nvPr/>
        </p:nvSpPr>
        <p:spPr>
          <a:xfrm>
            <a:off x="1047750" y="8439150"/>
            <a:ext cx="16192500" cy="504825"/>
          </a:xfrm>
          <a:prstGeom prst="rect">
            <a:avLst/>
          </a:prstGeom>
          <a:noFill/>
        </p:spPr>
        <p:txBody>
          <a:bodyPr wrap="square" lIns="0" rIns="0" tIns="0" bIns="0" anchor="t">
            <a:spAutoFit/>
          </a:bodyPr>
          <a:lstStyle/>
          <a:p>
            <a:pPr algn="l">
              <a:lnSpc>
                <a:spcPct val="112000"/>
              </a:lnSpc>
            </a:pPr>
            <a:r>
              <a:rPr sz="3000" b="0" i="1">
                <a:solidFill>
                  <a:srgbClr val="362C24"/>
                </a:solidFill>
                <a:latin typeface="Georgia"/>
              </a:rPr>
              <a:t>A pain map tells you what is wrong. It does not tell you what makes somebody finally move.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EF806F"/>
                </a:solidFill>
                <a:latin typeface="Arial"/>
              </a:rPr>
              <a:t>WRITE THIS DOWN</a:t>
            </a:r>
          </a:p>
        </p:txBody>
      </p:sp>
      <p:sp>
        <p:nvSpPr>
          <p:cNvPr id="3" name="TextBox 2"/>
          <p:cNvSpPr txBox="1"/>
          <p:nvPr/>
        </p:nvSpPr>
        <p:spPr>
          <a:xfrm>
            <a:off x="1714500" y="4343400"/>
            <a:ext cx="14859000" cy="1704975"/>
          </a:xfrm>
          <a:prstGeom prst="rect">
            <a:avLst/>
          </a:prstGeom>
          <a:noFill/>
        </p:spPr>
        <p:txBody>
          <a:bodyPr wrap="square" lIns="0" rIns="0" tIns="0" bIns="0" anchor="t">
            <a:spAutoFit/>
          </a:bodyPr>
          <a:lstStyle/>
          <a:p>
            <a:pPr algn="l">
              <a:lnSpc>
                <a:spcPct val="102000"/>
              </a:lnSpc>
            </a:pPr>
            <a:r>
              <a:rPr sz="4200" b="1" i="0" spc="-200">
                <a:solidFill>
                  <a:srgbClr val="F5F1E9"/>
                </a:solidFill>
                <a:latin typeface="Arial"/>
              </a:rPr>
              <a:t>A PAIN IS A CONDITION.  A DRIVER IS A FORCE.
A condition can last four years. A force lasts sixty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6029325"/>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CASE STUDY · THREE INDIAN COMPANIES</a:t>
            </a:r>
          </a:p>
        </p:txBody>
      </p:sp>
      <p:sp>
        <p:nvSpPr>
          <p:cNvPr id="3" name="TextBox 2"/>
          <p:cNvSpPr txBox="1"/>
          <p:nvPr/>
        </p:nvSpPr>
        <p:spPr>
          <a:xfrm>
            <a:off x="1047750" y="6581775"/>
            <a:ext cx="16192500" cy="1181100"/>
          </a:xfrm>
          <a:prstGeom prst="rect">
            <a:avLst/>
          </a:prstGeom>
          <a:noFill/>
        </p:spPr>
        <p:txBody>
          <a:bodyPr wrap="square" lIns="0" rIns="0" tIns="0" bIns="0" anchor="t">
            <a:spAutoFit/>
          </a:bodyPr>
          <a:lstStyle/>
          <a:p>
            <a:pPr algn="l">
              <a:lnSpc>
                <a:spcPct val="88000"/>
              </a:lnSpc>
            </a:pPr>
            <a:r>
              <a:rPr sz="9900" b="1" i="0" spc="-450">
                <a:solidFill>
                  <a:srgbClr val="F5F1E9"/>
                </a:solidFill>
                <a:latin typeface="Arial"/>
              </a:rPr>
              <a:t>Three feelings</a:t>
            </a:r>
          </a:p>
        </p:txBody>
      </p:sp>
      <p:sp>
        <p:nvSpPr>
          <p:cNvPr id="4" name="TextBox 3"/>
          <p:cNvSpPr txBox="1"/>
          <p:nvPr/>
        </p:nvSpPr>
        <p:spPr>
          <a:xfrm>
            <a:off x="1047750" y="8086725"/>
            <a:ext cx="14287500" cy="1247775"/>
          </a:xfrm>
          <a:prstGeom prst="rect">
            <a:avLst/>
          </a:prstGeom>
          <a:noFill/>
        </p:spPr>
        <p:txBody>
          <a:bodyPr wrap="square" lIns="0" rIns="0" tIns="0" bIns="0" anchor="t">
            <a:spAutoFit/>
          </a:bodyPr>
          <a:lstStyle/>
          <a:p>
            <a:pPr algn="l">
              <a:lnSpc>
                <a:spcPct val="118000"/>
              </a:lnSpc>
            </a:pPr>
            <a:r>
              <a:rPr sz="3900" b="0" i="1">
                <a:solidFill>
                  <a:srgbClr val="C1B5AB"/>
                </a:solidFill>
                <a:latin typeface="Georgia"/>
              </a:rPr>
              <a:t>One sells you the way out of guilt. One sells the feeling of being included. One sells the person you want to be seen 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CULT.FIT · FOUNDED 2016 AS CURE.FIT</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Two people who had spent careers moving goods through the internet</a:t>
            </a:r>
          </a:p>
        </p:txBody>
      </p:sp>
      <p:sp>
        <p:nvSpPr>
          <p:cNvPr id="4" name="Rectangle 3"/>
          <p:cNvSpPr/>
          <p:nvPr/>
        </p:nvSpPr>
        <p:spPr>
          <a:xfrm>
            <a:off x="1047750" y="3629025"/>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933825"/>
            <a:ext cx="5143500" cy="438150"/>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Mukesh Bansal</a:t>
            </a:r>
          </a:p>
        </p:txBody>
      </p:sp>
      <p:sp>
        <p:nvSpPr>
          <p:cNvPr id="6" name="TextBox 5"/>
          <p:cNvSpPr txBox="1"/>
          <p:nvPr/>
        </p:nvSpPr>
        <p:spPr>
          <a:xfrm>
            <a:off x="1047750" y="4543425"/>
            <a:ext cx="5143500" cy="771525"/>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Built and sold Myntra, the fashion marketplace, to Flipkart.</a:t>
            </a:r>
          </a:p>
        </p:txBody>
      </p:sp>
      <p:sp>
        <p:nvSpPr>
          <p:cNvPr id="7" name="Rectangle 6"/>
          <p:cNvSpPr/>
          <p:nvPr/>
        </p:nvSpPr>
        <p:spPr>
          <a:xfrm>
            <a:off x="6572250" y="3629025"/>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933825"/>
            <a:ext cx="5143500" cy="438150"/>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Ankit Nagori</a:t>
            </a:r>
          </a:p>
        </p:txBody>
      </p:sp>
      <p:sp>
        <p:nvSpPr>
          <p:cNvPr id="9" name="TextBox 8"/>
          <p:cNvSpPr txBox="1"/>
          <p:nvPr/>
        </p:nvSpPr>
        <p:spPr>
          <a:xfrm>
            <a:off x="6572250" y="4543425"/>
            <a:ext cx="5143500" cy="771525"/>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Had been Flipkart's Chief Business Officer.</a:t>
            </a:r>
          </a:p>
        </p:txBody>
      </p:sp>
      <p:sp>
        <p:nvSpPr>
          <p:cNvPr id="10" name="Rectangle 9"/>
          <p:cNvSpPr/>
          <p:nvPr/>
        </p:nvSpPr>
        <p:spPr>
          <a:xfrm>
            <a:off x="12096750" y="3629025"/>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933825"/>
            <a:ext cx="5143500" cy="438150"/>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Their founding insight</a:t>
            </a:r>
          </a:p>
        </p:txBody>
      </p:sp>
      <p:sp>
        <p:nvSpPr>
          <p:cNvPr id="12" name="TextBox 11"/>
          <p:cNvSpPr txBox="1"/>
          <p:nvPr/>
        </p:nvSpPr>
        <p:spPr>
          <a:xfrm>
            <a:off x="12096750" y="4543425"/>
            <a:ext cx="5143500" cy="112395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The next hard problem in India was not selling things to people. It was getting people to show up.</a:t>
            </a:r>
          </a:p>
        </p:txBody>
      </p:sp>
      <p:sp>
        <p:nvSpPr>
          <p:cNvPr id="13" name="TextBox 12"/>
          <p:cNvSpPr txBox="1"/>
          <p:nvPr/>
        </p:nvSpPr>
        <p:spPr>
          <a:xfrm>
            <a:off x="1047750" y="8439150"/>
            <a:ext cx="16192500" cy="504825"/>
          </a:xfrm>
          <a:prstGeom prst="rect">
            <a:avLst/>
          </a:prstGeom>
          <a:noFill/>
        </p:spPr>
        <p:txBody>
          <a:bodyPr wrap="square" lIns="0" rIns="0" tIns="0" bIns="0" anchor="t">
            <a:spAutoFit/>
          </a:bodyPr>
          <a:lstStyle/>
          <a:p>
            <a:pPr algn="l">
              <a:lnSpc>
                <a:spcPct val="112000"/>
              </a:lnSpc>
            </a:pPr>
            <a:r>
              <a:rPr sz="3000" b="0" i="1">
                <a:solidFill>
                  <a:srgbClr val="362C24"/>
                </a:solidFill>
                <a:latin typeface="Georgia"/>
              </a:rPr>
              <a:t>Showing up, not signing up. Hold that phrase — the whole product falls out of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THE BUSINESS THEY WERE WALKING INTO</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The traditional gym is financially a business that sells hope</a:t>
            </a:r>
          </a:p>
        </p:txBody>
      </p:sp>
      <p:sp>
        <p:nvSpPr>
          <p:cNvPr id="4" name="Rectangle 3"/>
          <p:cNvSpPr/>
          <p:nvPr/>
        </p:nvSpPr>
        <p:spPr>
          <a:xfrm>
            <a:off x="1047750" y="3629025"/>
            <a:ext cx="7905750" cy="4581525"/>
          </a:xfrm>
          <a:prstGeom prst="rect">
            <a:avLst/>
          </a:prstGeom>
          <a:solidFill>
            <a:srgbClr val="F0EAE1"/>
          </a:solidFill>
          <a:ln>
            <a:noFill/>
          </a:ln>
          <a:effectLst/>
        </p:spPr>
        <p:txBody>
          <a:bodyPr rtlCol="0" anchor="ctr"/>
          <a:lstStyle/>
          <a:p>
            <a:pPr algn="ctr"/>
          </a:p>
        </p:txBody>
      </p:sp>
      <p:sp>
        <p:nvSpPr>
          <p:cNvPr id="5" name="TextBox 4"/>
          <p:cNvSpPr txBox="1"/>
          <p:nvPr/>
        </p:nvSpPr>
        <p:spPr>
          <a:xfrm>
            <a:off x="1466850" y="4010025"/>
            <a:ext cx="7067550" cy="314325"/>
          </a:xfrm>
          <a:prstGeom prst="rect">
            <a:avLst/>
          </a:prstGeom>
          <a:noFill/>
        </p:spPr>
        <p:txBody>
          <a:bodyPr wrap="square" lIns="0" rIns="0" tIns="0" bIns="0" anchor="t">
            <a:spAutoFit/>
          </a:bodyPr>
          <a:lstStyle/>
          <a:p>
            <a:pPr algn="l">
              <a:lnSpc>
                <a:spcPct val="112000"/>
              </a:lnSpc>
            </a:pPr>
            <a:r>
              <a:rPr sz="2100" b="1" i="0" spc="200">
                <a:solidFill>
                  <a:srgbClr val="C35141"/>
                </a:solidFill>
                <a:latin typeface="Arial"/>
              </a:rPr>
              <a:t>THE GYM BELOW YOUR BUILDING</a:t>
            </a:r>
          </a:p>
        </p:txBody>
      </p:sp>
      <p:sp>
        <p:nvSpPr>
          <p:cNvPr id="6" name="TextBox 5"/>
          <p:cNvSpPr txBox="1"/>
          <p:nvPr/>
        </p:nvSpPr>
        <p:spPr>
          <a:xfrm>
            <a:off x="1466850" y="4438650"/>
            <a:ext cx="7067550" cy="609600"/>
          </a:xfrm>
          <a:prstGeom prst="rect">
            <a:avLst/>
          </a:prstGeom>
          <a:noFill/>
        </p:spPr>
        <p:txBody>
          <a:bodyPr wrap="square" lIns="0" rIns="0" tIns="0" bIns="0" anchor="t">
            <a:spAutoFit/>
          </a:bodyPr>
          <a:lstStyle/>
          <a:p>
            <a:pPr algn="l">
              <a:lnSpc>
                <a:spcPct val="108000"/>
              </a:lnSpc>
            </a:pPr>
            <a:r>
              <a:rPr sz="1950" b="0" i="0">
                <a:solidFill>
                  <a:srgbClr val="665B53"/>
                </a:solidFill>
                <a:latin typeface="Arial"/>
              </a:rPr>
              <a:t>An annual membership, typically ₹6,000 to ₹18,000 depending on the city and how many mirrors it has.</a:t>
            </a:r>
          </a:p>
        </p:txBody>
      </p:sp>
      <p:sp>
        <p:nvSpPr>
          <p:cNvPr id="7" name="TextBox 6"/>
          <p:cNvSpPr txBox="1"/>
          <p:nvPr/>
        </p:nvSpPr>
        <p:spPr>
          <a:xfrm>
            <a:off x="1466850" y="5219700"/>
            <a:ext cx="7067550" cy="342900"/>
          </a:xfrm>
          <a:prstGeom prst="rect">
            <a:avLst/>
          </a:prstGeom>
          <a:noFill/>
        </p:spPr>
        <p:txBody>
          <a:bodyPr wrap="square" lIns="0" rIns="0" tIns="0" bIns="0" anchor="t">
            <a:spAutoFit/>
          </a:bodyPr>
          <a:lstStyle/>
          <a:p>
            <a:pPr algn="l">
              <a:lnSpc>
                <a:spcPct val="108000"/>
              </a:lnSpc>
            </a:pPr>
            <a:r>
              <a:rPr sz="1950" b="0" i="0">
                <a:solidFill>
                  <a:srgbClr val="665B53"/>
                </a:solidFill>
                <a:latin typeface="Arial"/>
              </a:rPr>
              <a:t>Priced on the assumption that most members will stop coming.</a:t>
            </a:r>
          </a:p>
        </p:txBody>
      </p:sp>
      <p:sp>
        <p:nvSpPr>
          <p:cNvPr id="8" name="TextBox 7"/>
          <p:cNvSpPr txBox="1"/>
          <p:nvPr/>
        </p:nvSpPr>
        <p:spPr>
          <a:xfrm>
            <a:off x="1466850" y="5734050"/>
            <a:ext cx="7067550" cy="876300"/>
          </a:xfrm>
          <a:prstGeom prst="rect">
            <a:avLst/>
          </a:prstGeom>
          <a:noFill/>
        </p:spPr>
        <p:txBody>
          <a:bodyPr wrap="square" lIns="0" rIns="0" tIns="0" bIns="0" anchor="t">
            <a:spAutoFit/>
          </a:bodyPr>
          <a:lstStyle/>
          <a:p>
            <a:pPr algn="l">
              <a:lnSpc>
                <a:spcPct val="108000"/>
              </a:lnSpc>
            </a:pPr>
            <a:r>
              <a:rPr sz="1950" b="0" i="0">
                <a:solidFill>
                  <a:srgbClr val="665B53"/>
                </a:solidFill>
                <a:latin typeface="Arial"/>
              </a:rPr>
              <a:t>If every member who paid actually turned up every day, the floor would be unusable and the equipment would need replacing constantly.</a:t>
            </a:r>
          </a:p>
        </p:txBody>
      </p:sp>
      <p:sp>
        <p:nvSpPr>
          <p:cNvPr id="9" name="TextBox 8"/>
          <p:cNvSpPr txBox="1"/>
          <p:nvPr/>
        </p:nvSpPr>
        <p:spPr>
          <a:xfrm>
            <a:off x="1466850" y="6781800"/>
            <a:ext cx="7067550" cy="609600"/>
          </a:xfrm>
          <a:prstGeom prst="rect">
            <a:avLst/>
          </a:prstGeom>
          <a:noFill/>
        </p:spPr>
        <p:txBody>
          <a:bodyPr wrap="square" lIns="0" rIns="0" tIns="0" bIns="0" anchor="t">
            <a:spAutoFit/>
          </a:bodyPr>
          <a:lstStyle/>
          <a:p>
            <a:pPr algn="l">
              <a:lnSpc>
                <a:spcPct val="108000"/>
              </a:lnSpc>
            </a:pPr>
            <a:r>
              <a:rPr sz="1950" b="0" i="0">
                <a:solidFill>
                  <a:srgbClr val="665B53"/>
                </a:solidFill>
                <a:latin typeface="Arial"/>
              </a:rPr>
              <a:t>It sells hope in January and quietly profits from abandonment by March.</a:t>
            </a:r>
          </a:p>
        </p:txBody>
      </p:sp>
      <p:sp>
        <p:nvSpPr>
          <p:cNvPr id="10" name="Rectangle 9"/>
          <p:cNvSpPr/>
          <p:nvPr/>
        </p:nvSpPr>
        <p:spPr>
          <a:xfrm>
            <a:off x="9334500" y="3629025"/>
            <a:ext cx="7905750" cy="4581525"/>
          </a:xfrm>
          <a:prstGeom prst="rect">
            <a:avLst/>
          </a:prstGeom>
          <a:solidFill>
            <a:srgbClr val="201914"/>
          </a:solidFill>
          <a:ln>
            <a:noFill/>
          </a:ln>
          <a:effectLst/>
        </p:spPr>
        <p:txBody>
          <a:bodyPr rtlCol="0" anchor="ctr"/>
          <a:lstStyle/>
          <a:p>
            <a:pPr algn="ctr"/>
          </a:p>
        </p:txBody>
      </p:sp>
      <p:sp>
        <p:nvSpPr>
          <p:cNvPr id="11" name="TextBox 10"/>
          <p:cNvSpPr txBox="1"/>
          <p:nvPr/>
        </p:nvSpPr>
        <p:spPr>
          <a:xfrm>
            <a:off x="9753600" y="4010025"/>
            <a:ext cx="7067550" cy="314325"/>
          </a:xfrm>
          <a:prstGeom prst="rect">
            <a:avLst/>
          </a:prstGeom>
          <a:noFill/>
        </p:spPr>
        <p:txBody>
          <a:bodyPr wrap="square" lIns="0" rIns="0" tIns="0" bIns="0" anchor="t">
            <a:spAutoFit/>
          </a:bodyPr>
          <a:lstStyle/>
          <a:p>
            <a:pPr algn="l">
              <a:lnSpc>
                <a:spcPct val="112000"/>
              </a:lnSpc>
            </a:pPr>
            <a:r>
              <a:rPr sz="2100" b="1" i="0" spc="200">
                <a:solidFill>
                  <a:srgbClr val="EF806F"/>
                </a:solidFill>
                <a:latin typeface="Arial"/>
              </a:rPr>
              <a:t>WHAT CULT.FIT INVERTED</a:t>
            </a:r>
          </a:p>
        </p:txBody>
      </p:sp>
      <p:sp>
        <p:nvSpPr>
          <p:cNvPr id="12" name="TextBox 11"/>
          <p:cNvSpPr txBox="1"/>
          <p:nvPr/>
        </p:nvSpPr>
        <p:spPr>
          <a:xfrm>
            <a:off x="9753600" y="4438650"/>
            <a:ext cx="7067550" cy="876300"/>
          </a:xfrm>
          <a:prstGeom prst="rect">
            <a:avLst/>
          </a:prstGeom>
          <a:noFill/>
        </p:spPr>
        <p:txBody>
          <a:bodyPr wrap="square" lIns="0" rIns="0" tIns="0" bIns="0" anchor="t">
            <a:spAutoFit/>
          </a:bodyPr>
          <a:lstStyle/>
          <a:p>
            <a:pPr algn="l">
              <a:lnSpc>
                <a:spcPct val="108000"/>
              </a:lnSpc>
            </a:pPr>
            <a:r>
              <a:rPr sz="1950" b="0" i="0">
                <a:solidFill>
                  <a:srgbClr val="C1B5AB"/>
                </a:solidFill>
                <a:latin typeface="Arial"/>
              </a:rPr>
              <a:t>The core product is a booked class — a specific 50-minute slot, a specific centre, a named trainer, a limited number of spots.</a:t>
            </a:r>
          </a:p>
        </p:txBody>
      </p:sp>
      <p:sp>
        <p:nvSpPr>
          <p:cNvPr id="13" name="TextBox 12"/>
          <p:cNvSpPr txBox="1"/>
          <p:nvPr/>
        </p:nvSpPr>
        <p:spPr>
          <a:xfrm>
            <a:off x="9753600" y="5486400"/>
            <a:ext cx="7067550" cy="609600"/>
          </a:xfrm>
          <a:prstGeom prst="rect">
            <a:avLst/>
          </a:prstGeom>
          <a:noFill/>
        </p:spPr>
        <p:txBody>
          <a:bodyPr wrap="square" lIns="0" rIns="0" tIns="0" bIns="0" anchor="t">
            <a:spAutoFit/>
          </a:bodyPr>
          <a:lstStyle/>
          <a:p>
            <a:pPr algn="l">
              <a:lnSpc>
                <a:spcPct val="108000"/>
              </a:lnSpc>
            </a:pPr>
            <a:r>
              <a:rPr sz="1950" b="0" i="0">
                <a:solidFill>
                  <a:srgbClr val="C1B5AB"/>
                </a:solidFill>
                <a:latin typeface="Arial"/>
              </a:rPr>
              <a:t>A booked slot is something you can lose. An unlimited membership is not.</a:t>
            </a:r>
          </a:p>
        </p:txBody>
      </p:sp>
      <p:sp>
        <p:nvSpPr>
          <p:cNvPr id="14" name="TextBox 13"/>
          <p:cNvSpPr txBox="1"/>
          <p:nvPr/>
        </p:nvSpPr>
        <p:spPr>
          <a:xfrm>
            <a:off x="9753600" y="6267450"/>
            <a:ext cx="7067550" cy="342900"/>
          </a:xfrm>
          <a:prstGeom prst="rect">
            <a:avLst/>
          </a:prstGeom>
          <a:noFill/>
        </p:spPr>
        <p:txBody>
          <a:bodyPr wrap="square" lIns="0" rIns="0" tIns="0" bIns="0" anchor="t">
            <a:spAutoFit/>
          </a:bodyPr>
          <a:lstStyle/>
          <a:p>
            <a:pPr algn="l">
              <a:lnSpc>
                <a:spcPct val="108000"/>
              </a:lnSpc>
            </a:pPr>
            <a:r>
              <a:rPr sz="1950" b="0" i="0">
                <a:solidFill>
                  <a:srgbClr val="C1B5AB"/>
                </a:solidFill>
                <a:latin typeface="Arial"/>
              </a:rPr>
              <a:t>If you do not turn up to an unlimited gym, nothing happens.</a:t>
            </a:r>
          </a:p>
        </p:txBody>
      </p:sp>
      <p:sp>
        <p:nvSpPr>
          <p:cNvPr id="15" name="TextBox 14"/>
          <p:cNvSpPr txBox="1"/>
          <p:nvPr/>
        </p:nvSpPr>
        <p:spPr>
          <a:xfrm>
            <a:off x="9753600" y="6781800"/>
            <a:ext cx="7067550" cy="609600"/>
          </a:xfrm>
          <a:prstGeom prst="rect">
            <a:avLst/>
          </a:prstGeom>
          <a:noFill/>
        </p:spPr>
        <p:txBody>
          <a:bodyPr wrap="square" lIns="0" rIns="0" tIns="0" bIns="0" anchor="t">
            <a:spAutoFit/>
          </a:bodyPr>
          <a:lstStyle/>
          <a:p>
            <a:pPr algn="l">
              <a:lnSpc>
                <a:spcPct val="108000"/>
              </a:lnSpc>
            </a:pPr>
            <a:r>
              <a:rPr sz="1950" b="0" i="0">
                <a:solidFill>
                  <a:srgbClr val="C1B5AB"/>
                </a:solidFill>
                <a:latin typeface="Arial"/>
              </a:rPr>
              <a:t>If you do not turn up to a booked class, the app has to do something about it.</a:t>
            </a:r>
          </a:p>
        </p:txBody>
      </p:sp>
      <p:sp>
        <p:nvSpPr>
          <p:cNvPr id="16" name="TextBox 15"/>
          <p:cNvSpPr txBox="1"/>
          <p:nvPr/>
        </p:nvSpPr>
        <p:spPr>
          <a:xfrm>
            <a:off x="1047750" y="8382000"/>
            <a:ext cx="16192500" cy="504825"/>
          </a:xfrm>
          <a:prstGeom prst="rect">
            <a:avLst/>
          </a:prstGeom>
          <a:noFill/>
        </p:spPr>
        <p:txBody>
          <a:bodyPr wrap="square" lIns="0" rIns="0" tIns="0" bIns="0" anchor="t">
            <a:spAutoFit/>
          </a:bodyPr>
          <a:lstStyle/>
          <a:p>
            <a:pPr algn="l">
              <a:lnSpc>
                <a:spcPct val="112000"/>
              </a:lnSpc>
            </a:pPr>
            <a:r>
              <a:rPr sz="3000" b="0" i="1">
                <a:solidFill>
                  <a:srgbClr val="362C24"/>
                </a:solidFill>
                <a:latin typeface="Georgia"/>
              </a:rPr>
              <a:t>Nobody at a traditional gym designs for 6:40 in the morning. They have already been paid.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ONE MECHANIC, THREE COSTUMES</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Each of these takes something you already have and puts it at risk</a:t>
            </a:r>
          </a:p>
        </p:txBody>
      </p:sp>
      <p:sp>
        <p:nvSpPr>
          <p:cNvPr id="4" name="Rectangle 3"/>
          <p:cNvSpPr/>
          <p:nvPr/>
        </p:nvSpPr>
        <p:spPr>
          <a:xfrm>
            <a:off x="1047750" y="3629025"/>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933825"/>
            <a:ext cx="5143500" cy="438150"/>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The penalty</a:t>
            </a:r>
          </a:p>
        </p:txBody>
      </p:sp>
      <p:sp>
        <p:nvSpPr>
          <p:cNvPr id="6" name="TextBox 5"/>
          <p:cNvSpPr txBox="1"/>
          <p:nvPr/>
        </p:nvSpPr>
        <p:spPr>
          <a:xfrm>
            <a:off x="1047750" y="4543425"/>
            <a:ext cx="5143500" cy="112395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A small late-cancellation or no-show charge, and the miss marked visibly in your history.</a:t>
            </a:r>
          </a:p>
        </p:txBody>
      </p:sp>
      <p:sp>
        <p:nvSpPr>
          <p:cNvPr id="7" name="Rectangle 6"/>
          <p:cNvSpPr/>
          <p:nvPr/>
        </p:nvSpPr>
        <p:spPr>
          <a:xfrm>
            <a:off x="6572250" y="3629025"/>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933825"/>
            <a:ext cx="5143500" cy="438150"/>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The streak</a:t>
            </a:r>
          </a:p>
        </p:txBody>
      </p:sp>
      <p:sp>
        <p:nvSpPr>
          <p:cNvPr id="9" name="TextBox 8"/>
          <p:cNvSpPr txBox="1"/>
          <p:nvPr/>
        </p:nvSpPr>
        <p:spPr>
          <a:xfrm>
            <a:off x="6572250" y="4543425"/>
            <a:ext cx="5143500" cy="1476375"/>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The count of consecutive days or weeks you have shown up, plus a weekly target: you have completed 3 of your 5 sessions.</a:t>
            </a:r>
          </a:p>
        </p:txBody>
      </p:sp>
      <p:sp>
        <p:nvSpPr>
          <p:cNvPr id="10" name="Rectangle 9"/>
          <p:cNvSpPr/>
          <p:nvPr/>
        </p:nvSpPr>
        <p:spPr>
          <a:xfrm>
            <a:off x="12096750" y="3629025"/>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933825"/>
            <a:ext cx="5143500" cy="438150"/>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Eleven other people</a:t>
            </a:r>
          </a:p>
        </p:txBody>
      </p:sp>
      <p:sp>
        <p:nvSpPr>
          <p:cNvPr id="12" name="TextBox 11"/>
          <p:cNvSpPr txBox="1"/>
          <p:nvPr/>
        </p:nvSpPr>
        <p:spPr>
          <a:xfrm>
            <a:off x="12096750" y="4543425"/>
            <a:ext cx="5143500" cy="182880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Classes are group classes. The trainer knows your name and notices your absence, and eleven other people watched you not be there.</a:t>
            </a:r>
          </a:p>
        </p:txBody>
      </p:sp>
      <p:sp>
        <p:nvSpPr>
          <p:cNvPr id="13" name="TextBox 12"/>
          <p:cNvSpPr txBox="1"/>
          <p:nvPr/>
        </p:nvSpPr>
        <p:spPr>
          <a:xfrm>
            <a:off x="1047750" y="8439150"/>
            <a:ext cx="16192500" cy="933450"/>
          </a:xfrm>
          <a:prstGeom prst="rect">
            <a:avLst/>
          </a:prstGeom>
          <a:noFill/>
        </p:spPr>
        <p:txBody>
          <a:bodyPr wrap="square" lIns="0" rIns="0" tIns="0" bIns="0" anchor="t">
            <a:spAutoFit/>
          </a:bodyPr>
          <a:lstStyle/>
          <a:p>
            <a:pPr algn="l">
              <a:lnSpc>
                <a:spcPct val="112000"/>
              </a:lnSpc>
            </a:pPr>
            <a:r>
              <a:rPr sz="3000" b="0" i="1">
                <a:solidFill>
                  <a:srgbClr val="362C24"/>
                </a:solidFill>
                <a:latin typeface="Georgia"/>
              </a:rPr>
              <a:t>None of it is about fitness. A person who genuinely wanted to get fit could do it for ₹800 a month, or free in a park.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BOAT · FOUNDED 2016 BY IMAGINE MARKETING</a:t>
            </a:r>
          </a:p>
        </p:txBody>
      </p:sp>
      <p:sp>
        <p:nvSpPr>
          <p:cNvPr id="3" name="TextBox 2"/>
          <p:cNvSpPr txBox="1"/>
          <p:nvPr/>
        </p:nvSpPr>
        <p:spPr>
          <a:xfrm>
            <a:off x="1047750" y="1504950"/>
            <a:ext cx="16192500" cy="895350"/>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In 2016 a nineteen-year-old had two bad choices</a:t>
            </a:r>
          </a:p>
        </p:txBody>
      </p:sp>
      <p:sp>
        <p:nvSpPr>
          <p:cNvPr id="4" name="Rectangle 3"/>
          <p:cNvSpPr/>
          <p:nvPr/>
        </p:nvSpPr>
        <p:spPr>
          <a:xfrm>
            <a:off x="1047750" y="2838450"/>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143250"/>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Aman Gupta and Sameer Mehta</a:t>
            </a:r>
          </a:p>
        </p:txBody>
      </p:sp>
      <p:sp>
        <p:nvSpPr>
          <p:cNvPr id="6" name="TextBox 5"/>
          <p:cNvSpPr txBox="1"/>
          <p:nvPr/>
        </p:nvSpPr>
        <p:spPr>
          <a:xfrm>
            <a:off x="1047750" y="4143375"/>
            <a:ext cx="5143500" cy="182880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Gupta had worked at Harman, the audio company that owns JBL, so he knew the category from the inside. Mehta ran manufacturing and trading.</a:t>
            </a:r>
          </a:p>
        </p:txBody>
      </p:sp>
      <p:sp>
        <p:nvSpPr>
          <p:cNvPr id="7" name="Rectangle 6"/>
          <p:cNvSpPr/>
          <p:nvPr/>
        </p:nvSpPr>
        <p:spPr>
          <a:xfrm>
            <a:off x="6572250" y="2838450"/>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143250"/>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₹300, or ₹6,000</a:t>
            </a:r>
          </a:p>
        </p:txBody>
      </p:sp>
      <p:sp>
        <p:nvSpPr>
          <p:cNvPr id="9" name="TextBox 8"/>
          <p:cNvSpPr txBox="1"/>
          <p:nvPr/>
        </p:nvSpPr>
        <p:spPr>
          <a:xfrm>
            <a:off x="6572250" y="4143375"/>
            <a:ext cx="5143500" cy="1476375"/>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An unbranded pair that broke in four months, or a Sony or Bose pair costing more than the phone some of them were plugging it into.</a:t>
            </a:r>
          </a:p>
        </p:txBody>
      </p:sp>
      <p:sp>
        <p:nvSpPr>
          <p:cNvPr id="10" name="Rectangle 9"/>
          <p:cNvSpPr/>
          <p:nvPr/>
        </p:nvSpPr>
        <p:spPr>
          <a:xfrm>
            <a:off x="12096750" y="2838450"/>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143250"/>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Nothing in between</a:t>
            </a:r>
          </a:p>
        </p:txBody>
      </p:sp>
      <p:sp>
        <p:nvSpPr>
          <p:cNvPr id="12" name="TextBox 11"/>
          <p:cNvSpPr txBox="1"/>
          <p:nvPr/>
        </p:nvSpPr>
        <p:spPr>
          <a:xfrm>
            <a:off x="12096750" y="4143375"/>
            <a:ext cx="5143500" cy="112395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Nothing a college student could hold up in a hostel corridor without either embarrassment or guilt.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THE PART THAT IS NOT THE PRODUCT</a:t>
            </a:r>
          </a:p>
        </p:txBody>
      </p:sp>
      <p:sp>
        <p:nvSpPr>
          <p:cNvPr id="3" name="TextBox 2"/>
          <p:cNvSpPr txBox="1"/>
          <p:nvPr/>
        </p:nvSpPr>
        <p:spPr>
          <a:xfrm>
            <a:off x="1047750" y="1504950"/>
            <a:ext cx="16192500" cy="895350"/>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The ₹1,499 does not buy the sound</a:t>
            </a:r>
          </a:p>
        </p:txBody>
      </p:sp>
      <p:sp>
        <p:nvSpPr>
          <p:cNvPr id="4" name="Rectangle 3"/>
          <p:cNvSpPr/>
          <p:nvPr/>
        </p:nvSpPr>
        <p:spPr>
          <a:xfrm>
            <a:off x="1047750" y="2838450"/>
            <a:ext cx="16192500" cy="1876425"/>
          </a:xfrm>
          <a:prstGeom prst="rect">
            <a:avLst/>
          </a:prstGeom>
          <a:solidFill>
            <a:srgbClr val="F0EAE1"/>
          </a:solidFill>
          <a:ln>
            <a:noFill/>
          </a:ln>
          <a:effectLst/>
        </p:spPr>
        <p:txBody>
          <a:bodyPr rtlCol="0" anchor="ctr"/>
          <a:lstStyle/>
          <a:p>
            <a:pPr algn="ctr"/>
          </a:p>
        </p:txBody>
      </p:sp>
      <p:sp>
        <p:nvSpPr>
          <p:cNvPr id="5" name="TextBox 4"/>
          <p:cNvSpPr txBox="1"/>
          <p:nvPr/>
        </p:nvSpPr>
        <p:spPr>
          <a:xfrm>
            <a:off x="1352550" y="2933700"/>
            <a:ext cx="3676650" cy="1685925"/>
          </a:xfrm>
          <a:prstGeom prst="rect">
            <a:avLst/>
          </a:prstGeom>
          <a:noFill/>
        </p:spPr>
        <p:txBody>
          <a:bodyPr wrap="square" lIns="0" rIns="0" tIns="0" bIns="0" anchor="ctr">
            <a:spAutoFit/>
          </a:bodyPr>
          <a:lstStyle/>
          <a:p>
            <a:pPr algn="l">
              <a:lnSpc>
                <a:spcPct val="94000"/>
              </a:lnSpc>
            </a:pPr>
            <a:r>
              <a:rPr sz="2700" b="1" i="0">
                <a:solidFill>
                  <a:srgbClr val="201914"/>
                </a:solidFill>
                <a:latin typeface="Arial"/>
              </a:rPr>
              <a:t>Identifiable from across a room</a:t>
            </a:r>
          </a:p>
        </p:txBody>
      </p:sp>
      <p:sp>
        <p:nvSpPr>
          <p:cNvPr id="6" name="TextBox 5"/>
          <p:cNvSpPr txBox="1"/>
          <p:nvPr/>
        </p:nvSpPr>
        <p:spPr>
          <a:xfrm>
            <a:off x="5562600" y="2933700"/>
            <a:ext cx="11372850" cy="1685925"/>
          </a:xfrm>
          <a:prstGeom prst="rect">
            <a:avLst/>
          </a:prstGeom>
          <a:noFill/>
        </p:spPr>
        <p:txBody>
          <a:bodyPr wrap="square" lIns="0" rIns="0" tIns="0" bIns="0" anchor="ctr">
            <a:spAutoFit/>
          </a:bodyPr>
          <a:lstStyle/>
          <a:p>
            <a:pPr algn="l">
              <a:lnSpc>
                <a:spcPct val="108000"/>
              </a:lnSpc>
            </a:pPr>
            <a:r>
              <a:rPr sz="2250" b="0" i="0">
                <a:solidFill>
                  <a:srgbClr val="665B53"/>
                </a:solidFill>
                <a:latin typeface="Arial"/>
              </a:rPr>
              <a:t>Loud colours, aggressive industrial design, and a name and a look you can read at four metres. Put the same earphones in a plain white box and you have a much smaller company.</a:t>
            </a:r>
          </a:p>
        </p:txBody>
      </p:sp>
      <p:sp>
        <p:nvSpPr>
          <p:cNvPr id="7" name="Rectangle 6"/>
          <p:cNvSpPr/>
          <p:nvPr/>
        </p:nvSpPr>
        <p:spPr>
          <a:xfrm>
            <a:off x="1047750" y="4867275"/>
            <a:ext cx="16192500" cy="1571625"/>
          </a:xfrm>
          <a:prstGeom prst="rect">
            <a:avLst/>
          </a:prstGeom>
          <a:solidFill>
            <a:srgbClr val="F0EAE1"/>
          </a:solidFill>
          <a:ln>
            <a:noFill/>
          </a:ln>
          <a:effectLst/>
        </p:spPr>
        <p:txBody>
          <a:bodyPr rtlCol="0" anchor="ctr"/>
          <a:lstStyle/>
          <a:p>
            <a:pPr algn="ctr"/>
          </a:p>
        </p:txBody>
      </p:sp>
      <p:sp>
        <p:nvSpPr>
          <p:cNvPr id="8" name="TextBox 7"/>
          <p:cNvSpPr txBox="1"/>
          <p:nvPr/>
        </p:nvSpPr>
        <p:spPr>
          <a:xfrm>
            <a:off x="1352550" y="4962525"/>
            <a:ext cx="3676650" cy="1381125"/>
          </a:xfrm>
          <a:prstGeom prst="rect">
            <a:avLst/>
          </a:prstGeom>
          <a:noFill/>
        </p:spPr>
        <p:txBody>
          <a:bodyPr wrap="square" lIns="0" rIns="0" tIns="0" bIns="0" anchor="ctr">
            <a:spAutoFit/>
          </a:bodyPr>
          <a:lstStyle/>
          <a:p>
            <a:pPr algn="l">
              <a:lnSpc>
                <a:spcPct val="94000"/>
              </a:lnSpc>
            </a:pPr>
            <a:r>
              <a:rPr sz="2700" b="1" i="0">
                <a:solidFill>
                  <a:srgbClr val="201914"/>
                </a:solidFill>
                <a:latin typeface="Arial"/>
              </a:rPr>
              <a:t>boAtheads</a:t>
            </a:r>
          </a:p>
        </p:txBody>
      </p:sp>
      <p:sp>
        <p:nvSpPr>
          <p:cNvPr id="9" name="TextBox 8"/>
          <p:cNvSpPr txBox="1"/>
          <p:nvPr/>
        </p:nvSpPr>
        <p:spPr>
          <a:xfrm>
            <a:off x="5562600" y="4962525"/>
            <a:ext cx="11372850" cy="1381125"/>
          </a:xfrm>
          <a:prstGeom prst="rect">
            <a:avLst/>
          </a:prstGeom>
          <a:noFill/>
        </p:spPr>
        <p:txBody>
          <a:bodyPr wrap="square" lIns="0" rIns="0" tIns="0" bIns="0" anchor="ctr">
            <a:spAutoFit/>
          </a:bodyPr>
          <a:lstStyle/>
          <a:p>
            <a:pPr algn="l">
              <a:lnSpc>
                <a:spcPct val="108000"/>
              </a:lnSpc>
            </a:pPr>
            <a:r>
              <a:rPr sz="2250" b="0" i="0">
                <a:solidFill>
                  <a:srgbClr val="665B53"/>
                </a:solidFill>
                <a:latin typeface="Arial"/>
              </a:rPr>
              <a:t>A brand that gives its customers a name is not describing a product. It is describing a group — and the moment there is a group, the decision changes.</a:t>
            </a:r>
          </a:p>
        </p:txBody>
      </p:sp>
      <p:sp>
        <p:nvSpPr>
          <p:cNvPr id="10" name="Rectangle 9"/>
          <p:cNvSpPr/>
          <p:nvPr/>
        </p:nvSpPr>
        <p:spPr>
          <a:xfrm>
            <a:off x="1047750" y="6591300"/>
            <a:ext cx="16192500" cy="1600200"/>
          </a:xfrm>
          <a:prstGeom prst="rect">
            <a:avLst/>
          </a:prstGeom>
          <a:solidFill>
            <a:srgbClr val="F0EAE1"/>
          </a:solidFill>
          <a:ln>
            <a:noFill/>
          </a:ln>
          <a:effectLst/>
        </p:spPr>
        <p:txBody>
          <a:bodyPr rtlCol="0" anchor="ctr"/>
          <a:lstStyle/>
          <a:p>
            <a:pPr algn="ctr"/>
          </a:p>
        </p:txBody>
      </p:sp>
      <p:sp>
        <p:nvSpPr>
          <p:cNvPr id="11" name="TextBox 10"/>
          <p:cNvSpPr txBox="1"/>
          <p:nvPr/>
        </p:nvSpPr>
        <p:spPr>
          <a:xfrm>
            <a:off x="1352550" y="6686550"/>
            <a:ext cx="3676650" cy="1409700"/>
          </a:xfrm>
          <a:prstGeom prst="rect">
            <a:avLst/>
          </a:prstGeom>
          <a:noFill/>
        </p:spPr>
        <p:txBody>
          <a:bodyPr wrap="square" lIns="0" rIns="0" tIns="0" bIns="0" anchor="ctr">
            <a:spAutoFit/>
          </a:bodyPr>
          <a:lstStyle/>
          <a:p>
            <a:pPr algn="l">
              <a:lnSpc>
                <a:spcPct val="94000"/>
              </a:lnSpc>
            </a:pPr>
            <a:r>
              <a:rPr sz="2700" b="1" i="0">
                <a:solidFill>
                  <a:srgbClr val="201914"/>
                </a:solidFill>
                <a:latin typeface="Arial"/>
              </a:rPr>
              <a:t>Creators, not 'better bass'</a:t>
            </a:r>
          </a:p>
        </p:txBody>
      </p:sp>
      <p:sp>
        <p:nvSpPr>
          <p:cNvPr id="12" name="TextBox 11"/>
          <p:cNvSpPr txBox="1"/>
          <p:nvPr/>
        </p:nvSpPr>
        <p:spPr>
          <a:xfrm>
            <a:off x="5562600" y="6686550"/>
            <a:ext cx="11372850" cy="1409700"/>
          </a:xfrm>
          <a:prstGeom prst="rect">
            <a:avLst/>
          </a:prstGeom>
          <a:noFill/>
        </p:spPr>
        <p:txBody>
          <a:bodyPr wrap="square" lIns="0" rIns="0" tIns="0" bIns="0" anchor="ctr">
            <a:spAutoFit/>
          </a:bodyPr>
          <a:lstStyle/>
          <a:p>
            <a:pPr algn="l">
              <a:lnSpc>
                <a:spcPct val="108000"/>
              </a:lnSpc>
            </a:pPr>
            <a:r>
              <a:rPr sz="2250" b="0" i="0">
                <a:solidFill>
                  <a:srgbClr val="665B53"/>
                </a:solidFill>
                <a:latin typeface="Arial"/>
              </a:rPr>
              <a:t>boAt did not run traditional product advertising. It put its products on cricketers, on musicians, on hundreds of small and mid-sized creators.</a:t>
            </a:r>
          </a:p>
        </p:txBody>
      </p:sp>
      <p:sp>
        <p:nvSpPr>
          <p:cNvPr id="13" name="TextBox 12"/>
          <p:cNvSpPr txBox="1"/>
          <p:nvPr/>
        </p:nvSpPr>
        <p:spPr>
          <a:xfrm>
            <a:off x="1047750" y="8534400"/>
            <a:ext cx="16192500" cy="485775"/>
          </a:xfrm>
          <a:prstGeom prst="rect">
            <a:avLst/>
          </a:prstGeom>
          <a:noFill/>
        </p:spPr>
        <p:txBody>
          <a:bodyPr wrap="square" lIns="0" rIns="0" tIns="0" bIns="0" anchor="t">
            <a:spAutoFit/>
          </a:bodyPr>
          <a:lstStyle/>
          <a:p>
            <a:pPr algn="l">
              <a:lnSpc>
                <a:spcPct val="112000"/>
              </a:lnSpc>
            </a:pPr>
            <a:r>
              <a:rPr sz="2850" b="0" i="1">
                <a:solidFill>
                  <a:srgbClr val="362C24"/>
                </a:solidFill>
                <a:latin typeface="Georgia"/>
              </a:rPr>
              <a:t>The ₹1,499 buys the fact that everyone on your floor recognises them.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ROYAL ENFIELD · THE REBUILD FROM ABOUT 2000</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He fixed the reliability and refused to fix the character</a:t>
            </a:r>
          </a:p>
        </p:txBody>
      </p:sp>
      <p:sp>
        <p:nvSpPr>
          <p:cNvPr id="4" name="Rectangle 3"/>
          <p:cNvSpPr/>
          <p:nvPr/>
        </p:nvSpPr>
        <p:spPr>
          <a:xfrm>
            <a:off x="1047750" y="3629025"/>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933825"/>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Siddhartha Lal, mid-twenties</a:t>
            </a:r>
          </a:p>
        </p:txBody>
      </p:sp>
      <p:sp>
        <p:nvSpPr>
          <p:cNvPr id="6" name="TextBox 5"/>
          <p:cNvSpPr txBox="1"/>
          <p:nvPr/>
        </p:nvSpPr>
        <p:spPr>
          <a:xfrm>
            <a:off x="1047750" y="4933950"/>
            <a:ext cx="5143500" cy="1476375"/>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Son of the family that controlled Eicher, he took over a division that was losing money and was widely expected to be shut down or sold.</a:t>
            </a:r>
          </a:p>
        </p:txBody>
      </p:sp>
      <p:sp>
        <p:nvSpPr>
          <p:cNvPr id="7" name="Rectangle 6"/>
          <p:cNvSpPr/>
          <p:nvPr/>
        </p:nvSpPr>
        <p:spPr>
          <a:xfrm>
            <a:off x="6572250" y="3629025"/>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933825"/>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The rational move</a:t>
            </a:r>
          </a:p>
        </p:txBody>
      </p:sp>
      <p:sp>
        <p:nvSpPr>
          <p:cNvPr id="9" name="TextBox 8"/>
          <p:cNvSpPr txBox="1"/>
          <p:nvPr/>
        </p:nvSpPr>
        <p:spPr>
          <a:xfrm>
            <a:off x="6572250" y="4933950"/>
            <a:ext cx="5143500" cy="182880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Make the motorcycle more like a Japanese motorcycle: lighter, quieter, more efficient, cheaper to run. The bikes were unreliable, hard to start, and leaked oil.</a:t>
            </a:r>
          </a:p>
        </p:txBody>
      </p:sp>
      <p:sp>
        <p:nvSpPr>
          <p:cNvPr id="10" name="Rectangle 9"/>
          <p:cNvSpPr/>
          <p:nvPr/>
        </p:nvSpPr>
        <p:spPr>
          <a:xfrm>
            <a:off x="12096750" y="3629025"/>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933825"/>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What he kept</a:t>
            </a:r>
          </a:p>
        </p:txBody>
      </p:sp>
      <p:sp>
        <p:nvSpPr>
          <p:cNvPr id="12" name="TextBox 11"/>
          <p:cNvSpPr txBox="1"/>
          <p:nvPr/>
        </p:nvSpPr>
        <p:spPr>
          <a:xfrm>
            <a:off x="12096750" y="4933950"/>
            <a:ext cx="5143500" cy="1476375"/>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The weight. The single-cylinder thump. The upright riding position. The visual language of a 1950s British motorcycle.</a:t>
            </a:r>
          </a:p>
        </p:txBody>
      </p:sp>
      <p:sp>
        <p:nvSpPr>
          <p:cNvPr id="13" name="TextBox 12"/>
          <p:cNvSpPr txBox="1"/>
          <p:nvPr/>
        </p:nvSpPr>
        <p:spPr>
          <a:xfrm>
            <a:off x="1047750" y="8439150"/>
            <a:ext cx="16192500" cy="933450"/>
          </a:xfrm>
          <a:prstGeom prst="rect">
            <a:avLst/>
          </a:prstGeom>
          <a:noFill/>
        </p:spPr>
        <p:txBody>
          <a:bodyPr wrap="square" lIns="0" rIns="0" tIns="0" bIns="0" anchor="t">
            <a:spAutoFit/>
          </a:bodyPr>
          <a:lstStyle/>
          <a:p>
            <a:pPr algn="l">
              <a:lnSpc>
                <a:spcPct val="112000"/>
              </a:lnSpc>
            </a:pPr>
            <a:r>
              <a:rPr sz="3000" b="0" i="1">
                <a:solidFill>
                  <a:srgbClr val="362C24"/>
                </a:solidFill>
                <a:latin typeface="Georgia"/>
              </a:rPr>
              <a:t>When a new platform is built, a great deal of deliberate engineering effort goes into preserving characteristics a purely functional engineer would have removed on day 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EF806F"/>
                </a:solidFill>
                <a:latin typeface="Arial"/>
              </a:rPr>
              <a:t>₹80,000 SPLENDOR · ₹1.8–2.2 LAKH ROYAL ENFIELD</a:t>
            </a:r>
          </a:p>
        </p:txBody>
      </p:sp>
      <p:sp>
        <p:nvSpPr>
          <p:cNvPr id="3" name="TextBox 2"/>
          <p:cNvSpPr txBox="1"/>
          <p:nvPr/>
        </p:nvSpPr>
        <p:spPr>
          <a:xfrm>
            <a:off x="1714500" y="4343400"/>
            <a:ext cx="14859000" cy="1704975"/>
          </a:xfrm>
          <a:prstGeom prst="rect">
            <a:avLst/>
          </a:prstGeom>
          <a:noFill/>
        </p:spPr>
        <p:txBody>
          <a:bodyPr wrap="square" lIns="0" rIns="0" tIns="0" bIns="0" anchor="t">
            <a:spAutoFit/>
          </a:bodyPr>
          <a:lstStyle/>
          <a:p>
            <a:pPr algn="l">
              <a:lnSpc>
                <a:spcPct val="102000"/>
              </a:lnSpc>
            </a:pPr>
            <a:r>
              <a:rPr sz="4200" b="1" i="0" spc="-200">
                <a:solidFill>
                  <a:srgbClr val="F5F1E9"/>
                </a:solidFill>
                <a:latin typeface="Arial"/>
              </a:rPr>
              <a:t>Judged as transport it is still worse today. And it outsells almost everything in its price band, because it was never being bought as transport.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THREE FEELINGS, THREE DIFFERENT BUSINESSES</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They differ on three axes, and all three show up in the accounts</a:t>
            </a:r>
          </a:p>
        </p:txBody>
      </p:sp>
      <p:sp>
        <p:nvSpPr>
          <p:cNvPr id="4" name="TextBox 3"/>
          <p:cNvSpPr txBox="1"/>
          <p:nvPr/>
        </p:nvSpPr>
        <p:spPr>
          <a:xfrm>
            <a:off x="1314450" y="3629025"/>
            <a:ext cx="2286000" cy="276225"/>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AXIS</a:t>
            </a:r>
          </a:p>
        </p:txBody>
      </p:sp>
      <p:sp>
        <p:nvSpPr>
          <p:cNvPr id="5" name="TextBox 4"/>
          <p:cNvSpPr txBox="1"/>
          <p:nvPr/>
        </p:nvSpPr>
        <p:spPr>
          <a:xfrm>
            <a:off x="3848100" y="3629025"/>
            <a:ext cx="4191000" cy="276225"/>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CULT.FIT</a:t>
            </a:r>
          </a:p>
        </p:txBody>
      </p:sp>
      <p:sp>
        <p:nvSpPr>
          <p:cNvPr id="6" name="TextBox 5"/>
          <p:cNvSpPr txBox="1"/>
          <p:nvPr/>
        </p:nvSpPr>
        <p:spPr>
          <a:xfrm>
            <a:off x="8286750" y="3629025"/>
            <a:ext cx="3810000" cy="276225"/>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BOAT</a:t>
            </a:r>
          </a:p>
        </p:txBody>
      </p:sp>
      <p:sp>
        <p:nvSpPr>
          <p:cNvPr id="7" name="TextBox 6"/>
          <p:cNvSpPr txBox="1"/>
          <p:nvPr/>
        </p:nvSpPr>
        <p:spPr>
          <a:xfrm>
            <a:off x="12344400" y="3629025"/>
            <a:ext cx="4191000" cy="276225"/>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ROYAL ENFIELD</a:t>
            </a:r>
          </a:p>
        </p:txBody>
      </p:sp>
      <p:sp>
        <p:nvSpPr>
          <p:cNvPr id="8" name="Rectangle 7"/>
          <p:cNvSpPr/>
          <p:nvPr/>
        </p:nvSpPr>
        <p:spPr>
          <a:xfrm>
            <a:off x="1047750" y="4076700"/>
            <a:ext cx="16192500" cy="28575"/>
          </a:xfrm>
          <a:prstGeom prst="rect">
            <a:avLst/>
          </a:prstGeom>
          <a:solidFill>
            <a:srgbClr val="201914"/>
          </a:solidFill>
          <a:ln>
            <a:noFill/>
          </a:ln>
          <a:effectLst/>
        </p:spPr>
        <p:txBody>
          <a:bodyPr rtlCol="0" anchor="ctr"/>
          <a:lstStyle/>
          <a:p>
            <a:pPr algn="ctr"/>
          </a:p>
        </p:txBody>
      </p:sp>
      <p:sp>
        <p:nvSpPr>
          <p:cNvPr id="9" name="TextBox 8"/>
          <p:cNvSpPr txBox="1"/>
          <p:nvPr/>
        </p:nvSpPr>
        <p:spPr>
          <a:xfrm>
            <a:off x="1314450" y="4181475"/>
            <a:ext cx="2286000" cy="1571625"/>
          </a:xfrm>
          <a:prstGeom prst="rect">
            <a:avLst/>
          </a:prstGeom>
          <a:noFill/>
        </p:spPr>
        <p:txBody>
          <a:bodyPr wrap="square" lIns="0" rIns="0" tIns="0" bIns="0" anchor="ctr">
            <a:spAutoFit/>
          </a:bodyPr>
          <a:lstStyle/>
          <a:p>
            <a:pPr algn="l">
              <a:lnSpc>
                <a:spcPct val="106000"/>
              </a:lnSpc>
            </a:pPr>
            <a:r>
              <a:rPr sz="1950" b="1" i="0">
                <a:solidFill>
                  <a:srgbClr val="201914"/>
                </a:solidFill>
                <a:latin typeface="Arial"/>
              </a:rPr>
              <a:t>Direction</a:t>
            </a:r>
          </a:p>
        </p:txBody>
      </p:sp>
      <p:sp>
        <p:nvSpPr>
          <p:cNvPr id="10" name="TextBox 9"/>
          <p:cNvSpPr txBox="1"/>
          <p:nvPr/>
        </p:nvSpPr>
        <p:spPr>
          <a:xfrm>
            <a:off x="3848100" y="4181475"/>
            <a:ext cx="4191000" cy="1571625"/>
          </a:xfrm>
          <a:prstGeom prst="rect">
            <a:avLst/>
          </a:prstGeom>
          <a:noFill/>
        </p:spPr>
        <p:txBody>
          <a:bodyPr wrap="square" lIns="0" rIns="0" tIns="0" bIns="0" anchor="ctr">
            <a:spAutoFit/>
          </a:bodyPr>
          <a:lstStyle/>
          <a:p>
            <a:pPr algn="l">
              <a:lnSpc>
                <a:spcPct val="106000"/>
              </a:lnSpc>
            </a:pPr>
            <a:r>
              <a:rPr sz="1950" b="0" i="0">
                <a:solidFill>
                  <a:srgbClr val="665B53"/>
                </a:solidFill>
                <a:latin typeface="Arial"/>
              </a:rPr>
              <a:t>Push. Away from a loss — a penalty, a broken streak, a version of yourself you do not want to be.</a:t>
            </a:r>
          </a:p>
        </p:txBody>
      </p:sp>
      <p:sp>
        <p:nvSpPr>
          <p:cNvPr id="11" name="TextBox 10"/>
          <p:cNvSpPr txBox="1"/>
          <p:nvPr/>
        </p:nvSpPr>
        <p:spPr>
          <a:xfrm>
            <a:off x="8286750" y="4181475"/>
            <a:ext cx="3810000" cy="1571625"/>
          </a:xfrm>
          <a:prstGeom prst="rect">
            <a:avLst/>
          </a:prstGeom>
          <a:noFill/>
        </p:spPr>
        <p:txBody>
          <a:bodyPr wrap="square" lIns="0" rIns="0" tIns="0" bIns="0" anchor="ctr">
            <a:spAutoFit/>
          </a:bodyPr>
          <a:lstStyle/>
          <a:p>
            <a:pPr algn="l">
              <a:lnSpc>
                <a:spcPct val="106000"/>
              </a:lnSpc>
            </a:pPr>
            <a:r>
              <a:rPr sz="1950" b="0" i="0">
                <a:solidFill>
                  <a:srgbClr val="665B53"/>
                </a:solidFill>
                <a:latin typeface="Arial"/>
              </a:rPr>
              <a:t>Pull, sideways. Towards a group you want to be inside.</a:t>
            </a:r>
          </a:p>
        </p:txBody>
      </p:sp>
      <p:sp>
        <p:nvSpPr>
          <p:cNvPr id="12" name="TextBox 11"/>
          <p:cNvSpPr txBox="1"/>
          <p:nvPr/>
        </p:nvSpPr>
        <p:spPr>
          <a:xfrm>
            <a:off x="12344400" y="4181475"/>
            <a:ext cx="4191000" cy="1571625"/>
          </a:xfrm>
          <a:prstGeom prst="rect">
            <a:avLst/>
          </a:prstGeom>
          <a:noFill/>
        </p:spPr>
        <p:txBody>
          <a:bodyPr wrap="square" lIns="0" rIns="0" tIns="0" bIns="0" anchor="ctr">
            <a:spAutoFit/>
          </a:bodyPr>
          <a:lstStyle/>
          <a:p>
            <a:pPr algn="l">
              <a:lnSpc>
                <a:spcPct val="106000"/>
              </a:lnSpc>
            </a:pPr>
            <a:r>
              <a:rPr sz="1950" b="0" i="0">
                <a:solidFill>
                  <a:srgbClr val="665B53"/>
                </a:solidFill>
                <a:latin typeface="Arial"/>
              </a:rPr>
              <a:t>Pull, upwards. Towards a person you want to be seen as.</a:t>
            </a:r>
          </a:p>
        </p:txBody>
      </p:sp>
      <p:sp>
        <p:nvSpPr>
          <p:cNvPr id="13" name="Rectangle 12"/>
          <p:cNvSpPr/>
          <p:nvPr/>
        </p:nvSpPr>
        <p:spPr>
          <a:xfrm>
            <a:off x="1047750" y="5848350"/>
            <a:ext cx="16192500" cy="9525"/>
          </a:xfrm>
          <a:prstGeom prst="rect">
            <a:avLst/>
          </a:prstGeom>
          <a:solidFill>
            <a:srgbClr val="D8CFC7"/>
          </a:solidFill>
          <a:ln>
            <a:noFill/>
          </a:ln>
          <a:effectLst/>
        </p:spPr>
        <p:txBody>
          <a:bodyPr rtlCol="0" anchor="ctr"/>
          <a:lstStyle/>
          <a:p>
            <a:pPr algn="ctr"/>
          </a:p>
        </p:txBody>
      </p:sp>
      <p:sp>
        <p:nvSpPr>
          <p:cNvPr id="14" name="Rectangle 13"/>
          <p:cNvSpPr/>
          <p:nvPr/>
        </p:nvSpPr>
        <p:spPr>
          <a:xfrm>
            <a:off x="1047750" y="5848350"/>
            <a:ext cx="16192500" cy="1762125"/>
          </a:xfrm>
          <a:prstGeom prst="rect">
            <a:avLst/>
          </a:prstGeom>
          <a:solidFill>
            <a:srgbClr val="F3EEE6"/>
          </a:solidFill>
          <a:ln>
            <a:noFill/>
          </a:ln>
          <a:effectLst/>
        </p:spPr>
        <p:txBody>
          <a:bodyPr rtlCol="0" anchor="ctr"/>
          <a:lstStyle/>
          <a:p>
            <a:pPr algn="ctr"/>
          </a:p>
        </p:txBody>
      </p:sp>
      <p:sp>
        <p:nvSpPr>
          <p:cNvPr id="15" name="TextBox 14"/>
          <p:cNvSpPr txBox="1"/>
          <p:nvPr/>
        </p:nvSpPr>
        <p:spPr>
          <a:xfrm>
            <a:off x="1314450" y="5943600"/>
            <a:ext cx="2286000" cy="1571625"/>
          </a:xfrm>
          <a:prstGeom prst="rect">
            <a:avLst/>
          </a:prstGeom>
          <a:noFill/>
        </p:spPr>
        <p:txBody>
          <a:bodyPr wrap="square" lIns="0" rIns="0" tIns="0" bIns="0" anchor="ctr">
            <a:spAutoFit/>
          </a:bodyPr>
          <a:lstStyle/>
          <a:p>
            <a:pPr algn="l">
              <a:lnSpc>
                <a:spcPct val="106000"/>
              </a:lnSpc>
            </a:pPr>
            <a:r>
              <a:rPr sz="1950" b="1" i="0">
                <a:solidFill>
                  <a:srgbClr val="201914"/>
                </a:solidFill>
                <a:latin typeface="Arial"/>
              </a:rPr>
              <a:t>Audience</a:t>
            </a:r>
          </a:p>
        </p:txBody>
      </p:sp>
      <p:sp>
        <p:nvSpPr>
          <p:cNvPr id="16" name="TextBox 15"/>
          <p:cNvSpPr txBox="1"/>
          <p:nvPr/>
        </p:nvSpPr>
        <p:spPr>
          <a:xfrm>
            <a:off x="3848100" y="5943600"/>
            <a:ext cx="4191000" cy="1571625"/>
          </a:xfrm>
          <a:prstGeom prst="rect">
            <a:avLst/>
          </a:prstGeom>
          <a:noFill/>
        </p:spPr>
        <p:txBody>
          <a:bodyPr wrap="square" lIns="0" rIns="0" tIns="0" bIns="0" anchor="ctr">
            <a:spAutoFit/>
          </a:bodyPr>
          <a:lstStyle/>
          <a:p>
            <a:pPr algn="l">
              <a:lnSpc>
                <a:spcPct val="106000"/>
              </a:lnSpc>
            </a:pPr>
            <a:r>
              <a:rPr sz="1950" b="0" i="0">
                <a:solidFill>
                  <a:srgbClr val="665B53"/>
                </a:solidFill>
                <a:latin typeface="Arial"/>
              </a:rPr>
              <a:t>Yourself. Nobody else needs to know.</a:t>
            </a:r>
          </a:p>
        </p:txBody>
      </p:sp>
      <p:sp>
        <p:nvSpPr>
          <p:cNvPr id="17" name="TextBox 16"/>
          <p:cNvSpPr txBox="1"/>
          <p:nvPr/>
        </p:nvSpPr>
        <p:spPr>
          <a:xfrm>
            <a:off x="8286750" y="5943600"/>
            <a:ext cx="3810000" cy="1571625"/>
          </a:xfrm>
          <a:prstGeom prst="rect">
            <a:avLst/>
          </a:prstGeom>
          <a:noFill/>
        </p:spPr>
        <p:txBody>
          <a:bodyPr wrap="square" lIns="0" rIns="0" tIns="0" bIns="0" anchor="ctr">
            <a:spAutoFit/>
          </a:bodyPr>
          <a:lstStyle/>
          <a:p>
            <a:pPr algn="l">
              <a:lnSpc>
                <a:spcPct val="106000"/>
              </a:lnSpc>
            </a:pPr>
            <a:r>
              <a:rPr sz="1950" b="0" i="0">
                <a:solidFill>
                  <a:srgbClr val="665B53"/>
                </a:solidFill>
                <a:latin typeface="Arial"/>
              </a:rPr>
              <a:t>Your visible peer group — the twenty people who see you every day.</a:t>
            </a:r>
          </a:p>
        </p:txBody>
      </p:sp>
      <p:sp>
        <p:nvSpPr>
          <p:cNvPr id="18" name="TextBox 17"/>
          <p:cNvSpPr txBox="1"/>
          <p:nvPr/>
        </p:nvSpPr>
        <p:spPr>
          <a:xfrm>
            <a:off x="12344400" y="5943600"/>
            <a:ext cx="4191000" cy="1571625"/>
          </a:xfrm>
          <a:prstGeom prst="rect">
            <a:avLst/>
          </a:prstGeom>
          <a:noFill/>
        </p:spPr>
        <p:txBody>
          <a:bodyPr wrap="square" lIns="0" rIns="0" tIns="0" bIns="0" anchor="ctr">
            <a:spAutoFit/>
          </a:bodyPr>
          <a:lstStyle/>
          <a:p>
            <a:pPr algn="l">
              <a:lnSpc>
                <a:spcPct val="106000"/>
              </a:lnSpc>
            </a:pPr>
            <a:r>
              <a:rPr sz="1950" b="0" i="0">
                <a:solidFill>
                  <a:srgbClr val="665B53"/>
                </a:solidFill>
                <a:latin typeface="Arial"/>
              </a:rPr>
              <a:t>Strangers at a traffic light, and relatives at a wedding.</a:t>
            </a:r>
          </a:p>
        </p:txBody>
      </p:sp>
      <p:sp>
        <p:nvSpPr>
          <p:cNvPr id="19" name="Rectangle 18"/>
          <p:cNvSpPr/>
          <p:nvPr/>
        </p:nvSpPr>
        <p:spPr>
          <a:xfrm>
            <a:off x="1047750" y="7610475"/>
            <a:ext cx="16192500" cy="9525"/>
          </a:xfrm>
          <a:prstGeom prst="rect">
            <a:avLst/>
          </a:prstGeom>
          <a:solidFill>
            <a:srgbClr val="D8CFC7"/>
          </a:solidFill>
          <a:ln>
            <a:noFill/>
          </a:ln>
          <a:effectLst/>
        </p:spPr>
        <p:txBody>
          <a:bodyPr rtlCol="0" anchor="ctr"/>
          <a:lstStyle/>
          <a:p>
            <a:pPr algn="ctr"/>
          </a:p>
        </p:txBody>
      </p:sp>
      <p:sp>
        <p:nvSpPr>
          <p:cNvPr id="20" name="TextBox 19"/>
          <p:cNvSpPr txBox="1"/>
          <p:nvPr/>
        </p:nvSpPr>
        <p:spPr>
          <a:xfrm>
            <a:off x="1314450" y="7705725"/>
            <a:ext cx="2286000" cy="1571625"/>
          </a:xfrm>
          <a:prstGeom prst="rect">
            <a:avLst/>
          </a:prstGeom>
          <a:noFill/>
        </p:spPr>
        <p:txBody>
          <a:bodyPr wrap="square" lIns="0" rIns="0" tIns="0" bIns="0" anchor="ctr">
            <a:spAutoFit/>
          </a:bodyPr>
          <a:lstStyle/>
          <a:p>
            <a:pPr algn="l">
              <a:lnSpc>
                <a:spcPct val="106000"/>
              </a:lnSpc>
            </a:pPr>
            <a:r>
              <a:rPr sz="1950" b="1" i="0">
                <a:solidFill>
                  <a:srgbClr val="201914"/>
                </a:solidFill>
                <a:latin typeface="Arial"/>
              </a:rPr>
              <a:t>Decay</a:t>
            </a:r>
          </a:p>
        </p:txBody>
      </p:sp>
      <p:sp>
        <p:nvSpPr>
          <p:cNvPr id="21" name="TextBox 20"/>
          <p:cNvSpPr txBox="1"/>
          <p:nvPr/>
        </p:nvSpPr>
        <p:spPr>
          <a:xfrm>
            <a:off x="3848100" y="7705725"/>
            <a:ext cx="4191000" cy="1571625"/>
          </a:xfrm>
          <a:prstGeom prst="rect">
            <a:avLst/>
          </a:prstGeom>
          <a:noFill/>
        </p:spPr>
        <p:txBody>
          <a:bodyPr wrap="square" lIns="0" rIns="0" tIns="0" bIns="0" anchor="ctr">
            <a:spAutoFit/>
          </a:bodyPr>
          <a:lstStyle/>
          <a:p>
            <a:pPr algn="l">
              <a:lnSpc>
                <a:spcPct val="106000"/>
              </a:lnSpc>
            </a:pPr>
            <a:r>
              <a:rPr sz="1950" b="0" i="0">
                <a:solidFill>
                  <a:srgbClr val="665B53"/>
                </a:solidFill>
                <a:latin typeface="Arial"/>
              </a:rPr>
              <a:t>Fastest. The fortieth notification is background noise.</a:t>
            </a:r>
          </a:p>
        </p:txBody>
      </p:sp>
      <p:sp>
        <p:nvSpPr>
          <p:cNvPr id="22" name="TextBox 21"/>
          <p:cNvSpPr txBox="1"/>
          <p:nvPr/>
        </p:nvSpPr>
        <p:spPr>
          <a:xfrm>
            <a:off x="8286750" y="7705725"/>
            <a:ext cx="3810000" cy="1571625"/>
          </a:xfrm>
          <a:prstGeom prst="rect">
            <a:avLst/>
          </a:prstGeom>
          <a:noFill/>
        </p:spPr>
        <p:txBody>
          <a:bodyPr wrap="square" lIns="0" rIns="0" tIns="0" bIns="0" anchor="ctr">
            <a:spAutoFit/>
          </a:bodyPr>
          <a:lstStyle/>
          <a:p>
            <a:pPr algn="l">
              <a:lnSpc>
                <a:spcPct val="106000"/>
              </a:lnSpc>
            </a:pPr>
            <a:r>
              <a:rPr sz="1950" b="0" i="0">
                <a:solidFill>
                  <a:srgbClr val="665B53"/>
                </a:solidFill>
                <a:latin typeface="Arial"/>
              </a:rPr>
              <a:t>At the speed the group changes its mind — two to three years in Indian consumer electronics.</a:t>
            </a:r>
          </a:p>
        </p:txBody>
      </p:sp>
      <p:sp>
        <p:nvSpPr>
          <p:cNvPr id="23" name="TextBox 22"/>
          <p:cNvSpPr txBox="1"/>
          <p:nvPr/>
        </p:nvSpPr>
        <p:spPr>
          <a:xfrm>
            <a:off x="12344400" y="7705725"/>
            <a:ext cx="4191000" cy="1571625"/>
          </a:xfrm>
          <a:prstGeom prst="rect">
            <a:avLst/>
          </a:prstGeom>
          <a:noFill/>
        </p:spPr>
        <p:txBody>
          <a:bodyPr wrap="square" lIns="0" rIns="0" tIns="0" bIns="0" anchor="ctr">
            <a:spAutoFit/>
          </a:bodyPr>
          <a:lstStyle/>
          <a:p>
            <a:pPr algn="l">
              <a:lnSpc>
                <a:spcPct val="106000"/>
              </a:lnSpc>
            </a:pPr>
            <a:r>
              <a:rPr sz="1950" b="0" i="0">
                <a:solidFill>
                  <a:srgbClr val="665B53"/>
                </a:solidFill>
                <a:latin typeface="Arial"/>
              </a:rPr>
              <a:t>Slowest. Anchored to a story about the self, not to a mechanic or a trend.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FY24 / FY25 · READ THESE AS A SENTENCE</a:t>
            </a:r>
          </a:p>
        </p:txBody>
      </p:sp>
      <p:sp>
        <p:nvSpPr>
          <p:cNvPr id="3" name="TextBox 2"/>
          <p:cNvSpPr txBox="1"/>
          <p:nvPr/>
        </p:nvSpPr>
        <p:spPr>
          <a:xfrm>
            <a:off x="1047750" y="1504950"/>
            <a:ext cx="16192500" cy="895350"/>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Different feelings cost different amounts to run</a:t>
            </a:r>
          </a:p>
        </p:txBody>
      </p:sp>
      <p:sp>
        <p:nvSpPr>
          <p:cNvPr id="4" name="Rectangle 3"/>
          <p:cNvSpPr/>
          <p:nvPr/>
        </p:nvSpPr>
        <p:spPr>
          <a:xfrm>
            <a:off x="1047750" y="2838450"/>
            <a:ext cx="5143500" cy="4133850"/>
          </a:xfrm>
          <a:prstGeom prst="rect">
            <a:avLst/>
          </a:prstGeom>
          <a:solidFill>
            <a:srgbClr val="F0EAE1"/>
          </a:solidFill>
          <a:ln>
            <a:noFill/>
          </a:ln>
          <a:effectLst/>
        </p:spPr>
        <p:txBody>
          <a:bodyPr rtlCol="0" anchor="ctr"/>
          <a:lstStyle/>
          <a:p>
            <a:pPr algn="ctr"/>
          </a:p>
        </p:txBody>
      </p:sp>
      <p:sp>
        <p:nvSpPr>
          <p:cNvPr id="5" name="TextBox 4"/>
          <p:cNvSpPr txBox="1"/>
          <p:nvPr/>
        </p:nvSpPr>
        <p:spPr>
          <a:xfrm>
            <a:off x="1466850" y="3219450"/>
            <a:ext cx="4305300" cy="933450"/>
          </a:xfrm>
          <a:prstGeom prst="rect">
            <a:avLst/>
          </a:prstGeom>
          <a:noFill/>
        </p:spPr>
        <p:txBody>
          <a:bodyPr wrap="square" lIns="0" rIns="0" tIns="0" bIns="0" anchor="t">
            <a:spAutoFit/>
          </a:bodyPr>
          <a:lstStyle/>
          <a:p>
            <a:pPr algn="l">
              <a:lnSpc>
                <a:spcPct val="92000"/>
              </a:lnSpc>
            </a:pPr>
            <a:r>
              <a:rPr sz="6600" b="1" i="0" spc="-200">
                <a:solidFill>
                  <a:srgbClr val="201914"/>
                </a:solidFill>
                <a:latin typeface="Arial"/>
              </a:rPr>
              <a:t>–23%</a:t>
            </a:r>
          </a:p>
        </p:txBody>
      </p:sp>
      <p:sp>
        <p:nvSpPr>
          <p:cNvPr id="6" name="TextBox 5"/>
          <p:cNvSpPr txBox="1"/>
          <p:nvPr/>
        </p:nvSpPr>
        <p:spPr>
          <a:xfrm>
            <a:off x="1466850" y="4114800"/>
            <a:ext cx="4305300" cy="733425"/>
          </a:xfrm>
          <a:prstGeom prst="rect">
            <a:avLst/>
          </a:prstGeom>
          <a:noFill/>
        </p:spPr>
        <p:txBody>
          <a:bodyPr wrap="square" lIns="0" rIns="0" tIns="0" bIns="0" anchor="t">
            <a:spAutoFit/>
          </a:bodyPr>
          <a:lstStyle/>
          <a:p>
            <a:pPr algn="l">
              <a:lnSpc>
                <a:spcPct val="108000"/>
              </a:lnSpc>
            </a:pPr>
            <a:r>
              <a:rPr sz="2400" b="1" i="0">
                <a:solidFill>
                  <a:srgbClr val="201914"/>
                </a:solidFill>
                <a:latin typeface="Arial"/>
              </a:rPr>
              <a:t>EBITDA margin · Cult.fit</a:t>
            </a:r>
          </a:p>
        </p:txBody>
      </p:sp>
      <p:sp>
        <p:nvSpPr>
          <p:cNvPr id="7" name="TextBox 6"/>
          <p:cNvSpPr txBox="1"/>
          <p:nvPr/>
        </p:nvSpPr>
        <p:spPr>
          <a:xfrm>
            <a:off x="1466850" y="4981575"/>
            <a:ext cx="4305300" cy="1228725"/>
          </a:xfrm>
          <a:prstGeom prst="rect">
            <a:avLst/>
          </a:prstGeom>
          <a:noFill/>
        </p:spPr>
        <p:txBody>
          <a:bodyPr wrap="square" lIns="0" rIns="0" tIns="0" bIns="0" anchor="t">
            <a:spAutoFit/>
          </a:bodyPr>
          <a:lstStyle/>
          <a:p>
            <a:pPr algn="l">
              <a:lnSpc>
                <a:spcPct val="108000"/>
              </a:lnSpc>
            </a:pPr>
            <a:r>
              <a:rPr sz="2100" b="0" i="0">
                <a:solidFill>
                  <a:srgbClr val="665B53"/>
                </a:solidFill>
                <a:latin typeface="Arial"/>
              </a:rPr>
              <a:t>FY24 operating revenue about ₹927 crore, net loss about ₹535 crore, advertising alone about ₹188 crore</a:t>
            </a:r>
          </a:p>
        </p:txBody>
      </p:sp>
      <p:sp>
        <p:nvSpPr>
          <p:cNvPr id="8" name="Rectangle 7"/>
          <p:cNvSpPr/>
          <p:nvPr/>
        </p:nvSpPr>
        <p:spPr>
          <a:xfrm>
            <a:off x="6572250" y="2838450"/>
            <a:ext cx="5143500" cy="4133850"/>
          </a:xfrm>
          <a:prstGeom prst="rect">
            <a:avLst/>
          </a:prstGeom>
          <a:solidFill>
            <a:srgbClr val="F0EAE1"/>
          </a:solidFill>
          <a:ln>
            <a:noFill/>
          </a:ln>
          <a:effectLst/>
        </p:spPr>
        <p:txBody>
          <a:bodyPr rtlCol="0" anchor="ctr"/>
          <a:lstStyle/>
          <a:p>
            <a:pPr algn="ctr"/>
          </a:p>
        </p:txBody>
      </p:sp>
      <p:sp>
        <p:nvSpPr>
          <p:cNvPr id="9" name="TextBox 8"/>
          <p:cNvSpPr txBox="1"/>
          <p:nvPr/>
        </p:nvSpPr>
        <p:spPr>
          <a:xfrm>
            <a:off x="6991350" y="3219450"/>
            <a:ext cx="4305300" cy="933450"/>
          </a:xfrm>
          <a:prstGeom prst="rect">
            <a:avLst/>
          </a:prstGeom>
          <a:noFill/>
        </p:spPr>
        <p:txBody>
          <a:bodyPr wrap="square" lIns="0" rIns="0" tIns="0" bIns="0" anchor="t">
            <a:spAutoFit/>
          </a:bodyPr>
          <a:lstStyle/>
          <a:p>
            <a:pPr algn="l">
              <a:lnSpc>
                <a:spcPct val="92000"/>
              </a:lnSpc>
            </a:pPr>
            <a:r>
              <a:rPr sz="6600" b="1" i="0" spc="-200">
                <a:solidFill>
                  <a:srgbClr val="201914"/>
                </a:solidFill>
                <a:latin typeface="Arial"/>
              </a:rPr>
              <a:t>4.6%</a:t>
            </a:r>
          </a:p>
        </p:txBody>
      </p:sp>
      <p:sp>
        <p:nvSpPr>
          <p:cNvPr id="10" name="TextBox 9"/>
          <p:cNvSpPr txBox="1"/>
          <p:nvPr/>
        </p:nvSpPr>
        <p:spPr>
          <a:xfrm>
            <a:off x="6991350" y="4114800"/>
            <a:ext cx="4305300" cy="733425"/>
          </a:xfrm>
          <a:prstGeom prst="rect">
            <a:avLst/>
          </a:prstGeom>
          <a:noFill/>
        </p:spPr>
        <p:txBody>
          <a:bodyPr wrap="square" lIns="0" rIns="0" tIns="0" bIns="0" anchor="t">
            <a:spAutoFit/>
          </a:bodyPr>
          <a:lstStyle/>
          <a:p>
            <a:pPr algn="l">
              <a:lnSpc>
                <a:spcPct val="108000"/>
              </a:lnSpc>
            </a:pPr>
            <a:r>
              <a:rPr sz="2400" b="1" i="0">
                <a:solidFill>
                  <a:srgbClr val="201914"/>
                </a:solidFill>
                <a:latin typeface="Arial"/>
              </a:rPr>
              <a:t>EBITDA margin · boAt</a:t>
            </a:r>
          </a:p>
        </p:txBody>
      </p:sp>
      <p:sp>
        <p:nvSpPr>
          <p:cNvPr id="11" name="TextBox 10"/>
          <p:cNvSpPr txBox="1"/>
          <p:nvPr/>
        </p:nvSpPr>
        <p:spPr>
          <a:xfrm>
            <a:off x="6991350" y="4981575"/>
            <a:ext cx="4305300" cy="1228725"/>
          </a:xfrm>
          <a:prstGeom prst="rect">
            <a:avLst/>
          </a:prstGeom>
          <a:noFill/>
        </p:spPr>
        <p:txBody>
          <a:bodyPr wrap="square" lIns="0" rIns="0" tIns="0" bIns="0" anchor="t">
            <a:spAutoFit/>
          </a:bodyPr>
          <a:lstStyle/>
          <a:p>
            <a:pPr algn="l">
              <a:lnSpc>
                <a:spcPct val="108000"/>
              </a:lnSpc>
            </a:pPr>
            <a:r>
              <a:rPr sz="2100" b="0" i="0">
                <a:solidFill>
                  <a:srgbClr val="665B53"/>
                </a:solidFill>
                <a:latin typeface="Arial"/>
              </a:rPr>
              <a:t>FY25 consolidated revenue about ₹3,098 crore, EBITDA about ₹142 crore, net profit about 2%</a:t>
            </a:r>
          </a:p>
        </p:txBody>
      </p:sp>
      <p:sp>
        <p:nvSpPr>
          <p:cNvPr id="12" name="Rectangle 11"/>
          <p:cNvSpPr/>
          <p:nvPr/>
        </p:nvSpPr>
        <p:spPr>
          <a:xfrm>
            <a:off x="12096750" y="2838450"/>
            <a:ext cx="5143500" cy="4133850"/>
          </a:xfrm>
          <a:prstGeom prst="rect">
            <a:avLst/>
          </a:prstGeom>
          <a:solidFill>
            <a:srgbClr val="C35141"/>
          </a:solidFill>
          <a:ln>
            <a:noFill/>
          </a:ln>
          <a:effectLst/>
        </p:spPr>
        <p:txBody>
          <a:bodyPr rtlCol="0" anchor="ctr"/>
          <a:lstStyle/>
          <a:p>
            <a:pPr algn="ctr"/>
          </a:p>
        </p:txBody>
      </p:sp>
      <p:sp>
        <p:nvSpPr>
          <p:cNvPr id="13" name="TextBox 12"/>
          <p:cNvSpPr txBox="1"/>
          <p:nvPr/>
        </p:nvSpPr>
        <p:spPr>
          <a:xfrm>
            <a:off x="12515850" y="3219450"/>
            <a:ext cx="4305300" cy="933450"/>
          </a:xfrm>
          <a:prstGeom prst="rect">
            <a:avLst/>
          </a:prstGeom>
          <a:noFill/>
        </p:spPr>
        <p:txBody>
          <a:bodyPr wrap="square" lIns="0" rIns="0" tIns="0" bIns="0" anchor="t">
            <a:spAutoFit/>
          </a:bodyPr>
          <a:lstStyle/>
          <a:p>
            <a:pPr algn="l">
              <a:lnSpc>
                <a:spcPct val="92000"/>
              </a:lnSpc>
            </a:pPr>
            <a:r>
              <a:rPr sz="6600" b="1" i="0" spc="-200">
                <a:solidFill>
                  <a:srgbClr val="F5F1E9"/>
                </a:solidFill>
                <a:latin typeface="Arial"/>
              </a:rPr>
              <a:t>~25%</a:t>
            </a:r>
          </a:p>
        </p:txBody>
      </p:sp>
      <p:sp>
        <p:nvSpPr>
          <p:cNvPr id="14" name="TextBox 13"/>
          <p:cNvSpPr txBox="1"/>
          <p:nvPr/>
        </p:nvSpPr>
        <p:spPr>
          <a:xfrm>
            <a:off x="12515850" y="4114800"/>
            <a:ext cx="4305300" cy="733425"/>
          </a:xfrm>
          <a:prstGeom prst="rect">
            <a:avLst/>
          </a:prstGeom>
          <a:noFill/>
        </p:spPr>
        <p:txBody>
          <a:bodyPr wrap="square" lIns="0" rIns="0" tIns="0" bIns="0" anchor="t">
            <a:spAutoFit/>
          </a:bodyPr>
          <a:lstStyle/>
          <a:p>
            <a:pPr algn="l">
              <a:lnSpc>
                <a:spcPct val="108000"/>
              </a:lnSpc>
            </a:pPr>
            <a:r>
              <a:rPr sz="2400" b="1" i="0">
                <a:solidFill>
                  <a:srgbClr val="F5F1E9"/>
                </a:solidFill>
                <a:latin typeface="Arial"/>
              </a:rPr>
              <a:t>EBITDA margin · Royal Enfield</a:t>
            </a:r>
          </a:p>
        </p:txBody>
      </p:sp>
      <p:sp>
        <p:nvSpPr>
          <p:cNvPr id="15" name="TextBox 14"/>
          <p:cNvSpPr txBox="1"/>
          <p:nvPr/>
        </p:nvSpPr>
        <p:spPr>
          <a:xfrm>
            <a:off x="12515850" y="4981575"/>
            <a:ext cx="4305300" cy="1228725"/>
          </a:xfrm>
          <a:prstGeom prst="rect">
            <a:avLst/>
          </a:prstGeom>
          <a:noFill/>
        </p:spPr>
        <p:txBody>
          <a:bodyPr wrap="square" lIns="0" rIns="0" tIns="0" bIns="0" anchor="t">
            <a:spAutoFit/>
          </a:bodyPr>
          <a:lstStyle/>
          <a:p>
            <a:pPr algn="l">
              <a:lnSpc>
                <a:spcPct val="108000"/>
              </a:lnSpc>
            </a:pPr>
            <a:r>
              <a:rPr sz="2100" b="0" i="0">
                <a:solidFill>
                  <a:srgbClr val="F5F1E9"/>
                </a:solidFill>
                <a:latin typeface="Arial"/>
              </a:rPr>
              <a:t>FY25 revenue about ₹18,800 crore on 1,002,893 motorcycles — roughly ₹1.87 lakh realised per bike</a:t>
            </a:r>
          </a:p>
        </p:txBody>
      </p:sp>
      <p:sp>
        <p:nvSpPr>
          <p:cNvPr id="16" name="TextBox 15"/>
          <p:cNvSpPr txBox="1"/>
          <p:nvPr/>
        </p:nvSpPr>
        <p:spPr>
          <a:xfrm>
            <a:off x="1047750" y="8286750"/>
            <a:ext cx="16192500" cy="933450"/>
          </a:xfrm>
          <a:prstGeom prst="rect">
            <a:avLst/>
          </a:prstGeom>
          <a:noFill/>
        </p:spPr>
        <p:txBody>
          <a:bodyPr wrap="square" lIns="0" rIns="0" tIns="0" bIns="0" anchor="t">
            <a:spAutoFit/>
          </a:bodyPr>
          <a:lstStyle/>
          <a:p>
            <a:pPr algn="l">
              <a:lnSpc>
                <a:spcPct val="112000"/>
              </a:lnSpc>
            </a:pPr>
            <a:r>
              <a:rPr sz="3000" b="0" i="1">
                <a:solidFill>
                  <a:srgbClr val="362C24"/>
                </a:solidFill>
                <a:latin typeface="Georgia"/>
              </a:rPr>
              <a:t>Identity took Lal seventy years of inherited meaning and the discipline not to destroy it. This is a trade, not a ranking.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THE SAME PERSON, SEVEN DAYS, THREE FORCES</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You do not choose a driver by choosing a customer</a:t>
            </a:r>
          </a:p>
        </p:txBody>
      </p:sp>
      <p:sp>
        <p:nvSpPr>
          <p:cNvPr id="4" name="Rectangle 3"/>
          <p:cNvSpPr/>
          <p:nvPr/>
        </p:nvSpPr>
        <p:spPr>
          <a:xfrm>
            <a:off x="1047750" y="3629025"/>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933825"/>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Monday, 6:40 am, alone</a:t>
            </a:r>
          </a:p>
        </p:txBody>
      </p:sp>
      <p:sp>
        <p:nvSpPr>
          <p:cNvPr id="6" name="TextBox 5"/>
          <p:cNvSpPr txBox="1"/>
          <p:nvPr/>
        </p:nvSpPr>
        <p:spPr>
          <a:xfrm>
            <a:off x="1047750" y="4933950"/>
            <a:ext cx="5143500" cy="182880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She gets up because the streak is at 19 days and going to zero feels worse than the cold floor. Nobody will ever know it happened. A few hundred rupees per session.</a:t>
            </a:r>
          </a:p>
        </p:txBody>
      </p:sp>
      <p:sp>
        <p:nvSpPr>
          <p:cNvPr id="7" name="Rectangle 6"/>
          <p:cNvSpPr/>
          <p:nvPr/>
        </p:nvSpPr>
        <p:spPr>
          <a:xfrm>
            <a:off x="6572250" y="3629025"/>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933825"/>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Thursday, 4 pm, hostel common room</a:t>
            </a:r>
          </a:p>
        </p:txBody>
      </p:sp>
      <p:sp>
        <p:nvSpPr>
          <p:cNvPr id="9" name="TextBox 8"/>
          <p:cNvSpPr txBox="1"/>
          <p:nvPr/>
        </p:nvSpPr>
        <p:spPr>
          <a:xfrm>
            <a:off x="6572250" y="4933950"/>
            <a:ext cx="5143500" cy="182880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Three people around her wear the same earphones and one just made a mild joke about hers. She is on a shopping app within the hour. Roughly ₹1,500.</a:t>
            </a:r>
          </a:p>
        </p:txBody>
      </p:sp>
      <p:sp>
        <p:nvSpPr>
          <p:cNvPr id="10" name="Rectangle 9"/>
          <p:cNvSpPr/>
          <p:nvPr/>
        </p:nvSpPr>
        <p:spPr>
          <a:xfrm>
            <a:off x="12096750" y="3629025"/>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933825"/>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Saturday, a cousin's wedding</a:t>
            </a:r>
          </a:p>
        </p:txBody>
      </p:sp>
      <p:sp>
        <p:nvSpPr>
          <p:cNvPr id="12" name="TextBox 11"/>
          <p:cNvSpPr txBox="1"/>
          <p:nvPr/>
        </p:nvSpPr>
        <p:spPr>
          <a:xfrm>
            <a:off x="12096750" y="4933950"/>
            <a:ext cx="5143500" cy="182880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Forty relatives, and somebody asks what she is doing now. Six months later this produces a purchase far beyond her comfortable budget.</a:t>
            </a:r>
          </a:p>
        </p:txBody>
      </p:sp>
      <p:sp>
        <p:nvSpPr>
          <p:cNvPr id="13" name="TextBox 12"/>
          <p:cNvSpPr txBox="1"/>
          <p:nvPr/>
        </p:nvSpPr>
        <p:spPr>
          <a:xfrm>
            <a:off x="1047750" y="8439150"/>
            <a:ext cx="16192500" cy="504825"/>
          </a:xfrm>
          <a:prstGeom prst="rect">
            <a:avLst/>
          </a:prstGeom>
          <a:noFill/>
        </p:spPr>
        <p:txBody>
          <a:bodyPr wrap="square" lIns="0" rIns="0" tIns="0" bIns="0" anchor="t">
            <a:spAutoFit/>
          </a:bodyPr>
          <a:lstStyle/>
          <a:p>
            <a:pPr algn="l">
              <a:lnSpc>
                <a:spcPct val="112000"/>
              </a:lnSpc>
            </a:pPr>
            <a:r>
              <a:rPr sz="3000" b="0" i="1">
                <a:solidFill>
                  <a:srgbClr val="362C24"/>
                </a:solidFill>
                <a:latin typeface="Georgia"/>
              </a:rPr>
              <a:t>Same person, seven days, three different forces and three different price points.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FRAMEWORK 1 · BLUE, GREEN, AMBER — KEEP THESE COLOURS THROUGHOUT</a:t>
            </a:r>
          </a:p>
        </p:txBody>
      </p:sp>
      <p:sp>
        <p:nvSpPr>
          <p:cNvPr id="3" name="TextBox 2"/>
          <p:cNvSpPr txBox="1"/>
          <p:nvPr/>
        </p:nvSpPr>
        <p:spPr>
          <a:xfrm>
            <a:off x="1047750" y="1504950"/>
            <a:ext cx="16192500" cy="895350"/>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The Driver Ladder</a:t>
            </a:r>
          </a:p>
        </p:txBody>
      </p:sp>
      <p:sp>
        <p:nvSpPr>
          <p:cNvPr id="4" name="TextBox 3"/>
          <p:cNvSpPr txBox="1"/>
          <p:nvPr/>
        </p:nvSpPr>
        <p:spPr>
          <a:xfrm>
            <a:off x="1314450" y="2838450"/>
            <a:ext cx="2190750" cy="514350"/>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FAMILY</a:t>
            </a:r>
          </a:p>
        </p:txBody>
      </p:sp>
      <p:sp>
        <p:nvSpPr>
          <p:cNvPr id="5" name="TextBox 4"/>
          <p:cNvSpPr txBox="1"/>
          <p:nvPr/>
        </p:nvSpPr>
        <p:spPr>
          <a:xfrm>
            <a:off x="3752850" y="2838450"/>
            <a:ext cx="3143250" cy="514350"/>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THE FEELING</a:t>
            </a:r>
          </a:p>
        </p:txBody>
      </p:sp>
      <p:sp>
        <p:nvSpPr>
          <p:cNvPr id="6" name="TextBox 5"/>
          <p:cNvSpPr txBox="1"/>
          <p:nvPr/>
        </p:nvSpPr>
        <p:spPr>
          <a:xfrm>
            <a:off x="7143750" y="2838450"/>
            <a:ext cx="3810000" cy="514350"/>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THE QUESTION IN THEIR HEAD</a:t>
            </a:r>
          </a:p>
        </p:txBody>
      </p:sp>
      <p:sp>
        <p:nvSpPr>
          <p:cNvPr id="7" name="TextBox 6"/>
          <p:cNvSpPr txBox="1"/>
          <p:nvPr/>
        </p:nvSpPr>
        <p:spPr>
          <a:xfrm>
            <a:off x="11201400" y="2838450"/>
            <a:ext cx="3333750" cy="514350"/>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OUR CASE</a:t>
            </a:r>
          </a:p>
        </p:txBody>
      </p:sp>
      <p:sp>
        <p:nvSpPr>
          <p:cNvPr id="8" name="TextBox 7"/>
          <p:cNvSpPr txBox="1"/>
          <p:nvPr/>
        </p:nvSpPr>
        <p:spPr>
          <a:xfrm>
            <a:off x="14782800" y="2838450"/>
            <a:ext cx="2476500" cy="514350"/>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PRICE AND FREQUENCY</a:t>
            </a:r>
          </a:p>
        </p:txBody>
      </p:sp>
      <p:sp>
        <p:nvSpPr>
          <p:cNvPr id="9" name="Rectangle 8"/>
          <p:cNvSpPr/>
          <p:nvPr/>
        </p:nvSpPr>
        <p:spPr>
          <a:xfrm>
            <a:off x="1047750" y="3524250"/>
            <a:ext cx="16192500" cy="28575"/>
          </a:xfrm>
          <a:prstGeom prst="rect">
            <a:avLst/>
          </a:prstGeom>
          <a:solidFill>
            <a:srgbClr val="201914"/>
          </a:solidFill>
          <a:ln>
            <a:noFill/>
          </a:ln>
          <a:effectLst/>
        </p:spPr>
        <p:txBody>
          <a:bodyPr rtlCol="0" anchor="ctr"/>
          <a:lstStyle/>
          <a:p>
            <a:pPr algn="ctr"/>
          </a:p>
        </p:txBody>
      </p:sp>
      <p:sp>
        <p:nvSpPr>
          <p:cNvPr id="10" name="TextBox 9"/>
          <p:cNvSpPr txBox="1"/>
          <p:nvPr/>
        </p:nvSpPr>
        <p:spPr>
          <a:xfrm>
            <a:off x="1314450" y="3629025"/>
            <a:ext cx="2190750" cy="1752600"/>
          </a:xfrm>
          <a:prstGeom prst="rect">
            <a:avLst/>
          </a:prstGeom>
          <a:noFill/>
        </p:spPr>
        <p:txBody>
          <a:bodyPr wrap="square" lIns="0" rIns="0" tIns="0" bIns="0" anchor="ctr">
            <a:spAutoFit/>
          </a:bodyPr>
          <a:lstStyle/>
          <a:p>
            <a:pPr algn="l">
              <a:lnSpc>
                <a:spcPct val="106000"/>
              </a:lnSpc>
            </a:pPr>
            <a:r>
              <a:rPr sz="1800" b="1" i="0">
                <a:solidFill>
                  <a:srgbClr val="201914"/>
                </a:solidFill>
                <a:latin typeface="Arial"/>
              </a:rPr>
              <a:t>Avoidance
(Blue)</a:t>
            </a:r>
          </a:p>
        </p:txBody>
      </p:sp>
      <p:sp>
        <p:nvSpPr>
          <p:cNvPr id="11" name="TextBox 10"/>
          <p:cNvSpPr txBox="1"/>
          <p:nvPr/>
        </p:nvSpPr>
        <p:spPr>
          <a:xfrm>
            <a:off x="3752850" y="3629025"/>
            <a:ext cx="3143250" cy="175260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Loss, guilt, fear of a thing you already have going away</a:t>
            </a:r>
          </a:p>
        </p:txBody>
      </p:sp>
      <p:sp>
        <p:nvSpPr>
          <p:cNvPr id="12" name="TextBox 11"/>
          <p:cNvSpPr txBox="1"/>
          <p:nvPr/>
        </p:nvSpPr>
        <p:spPr>
          <a:xfrm>
            <a:off x="7143750" y="3629025"/>
            <a:ext cx="3810000" cy="175260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'What do I lose if I do not act right now?'</a:t>
            </a:r>
          </a:p>
        </p:txBody>
      </p:sp>
      <p:sp>
        <p:nvSpPr>
          <p:cNvPr id="13" name="TextBox 12"/>
          <p:cNvSpPr txBox="1"/>
          <p:nvPr/>
        </p:nvSpPr>
        <p:spPr>
          <a:xfrm>
            <a:off x="11201400" y="3629025"/>
            <a:ext cx="3333750" cy="175260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Cult.fit — the streak, the penalty, the missed class</a:t>
            </a:r>
          </a:p>
        </p:txBody>
      </p:sp>
      <p:sp>
        <p:nvSpPr>
          <p:cNvPr id="14" name="TextBox 13"/>
          <p:cNvSpPr txBox="1"/>
          <p:nvPr/>
        </p:nvSpPr>
        <p:spPr>
          <a:xfrm>
            <a:off x="14782800" y="3629025"/>
            <a:ext cx="2476500" cy="175260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Small amounts, high frequency</a:t>
            </a:r>
          </a:p>
        </p:txBody>
      </p:sp>
      <p:sp>
        <p:nvSpPr>
          <p:cNvPr id="15" name="Rectangle 14"/>
          <p:cNvSpPr/>
          <p:nvPr/>
        </p:nvSpPr>
        <p:spPr>
          <a:xfrm>
            <a:off x="1047750" y="5476875"/>
            <a:ext cx="16192500" cy="9525"/>
          </a:xfrm>
          <a:prstGeom prst="rect">
            <a:avLst/>
          </a:prstGeom>
          <a:solidFill>
            <a:srgbClr val="D8CFC7"/>
          </a:solidFill>
          <a:ln>
            <a:noFill/>
          </a:ln>
          <a:effectLst/>
        </p:spPr>
        <p:txBody>
          <a:bodyPr rtlCol="0" anchor="ctr"/>
          <a:lstStyle/>
          <a:p>
            <a:pPr algn="ctr"/>
          </a:p>
        </p:txBody>
      </p:sp>
      <p:sp>
        <p:nvSpPr>
          <p:cNvPr id="16" name="Rectangle 15"/>
          <p:cNvSpPr/>
          <p:nvPr/>
        </p:nvSpPr>
        <p:spPr>
          <a:xfrm>
            <a:off x="1047750" y="5476875"/>
            <a:ext cx="16192500" cy="1943100"/>
          </a:xfrm>
          <a:prstGeom prst="rect">
            <a:avLst/>
          </a:prstGeom>
          <a:solidFill>
            <a:srgbClr val="F3EEE6"/>
          </a:solidFill>
          <a:ln>
            <a:noFill/>
          </a:ln>
          <a:effectLst/>
        </p:spPr>
        <p:txBody>
          <a:bodyPr rtlCol="0" anchor="ctr"/>
          <a:lstStyle/>
          <a:p>
            <a:pPr algn="ctr"/>
          </a:p>
        </p:txBody>
      </p:sp>
      <p:sp>
        <p:nvSpPr>
          <p:cNvPr id="17" name="TextBox 16"/>
          <p:cNvSpPr txBox="1"/>
          <p:nvPr/>
        </p:nvSpPr>
        <p:spPr>
          <a:xfrm>
            <a:off x="1314450" y="5572125"/>
            <a:ext cx="2190750" cy="1752600"/>
          </a:xfrm>
          <a:prstGeom prst="rect">
            <a:avLst/>
          </a:prstGeom>
          <a:noFill/>
        </p:spPr>
        <p:txBody>
          <a:bodyPr wrap="square" lIns="0" rIns="0" tIns="0" bIns="0" anchor="ctr">
            <a:spAutoFit/>
          </a:bodyPr>
          <a:lstStyle/>
          <a:p>
            <a:pPr algn="l">
              <a:lnSpc>
                <a:spcPct val="106000"/>
              </a:lnSpc>
            </a:pPr>
            <a:r>
              <a:rPr sz="1800" b="1" i="0">
                <a:solidFill>
                  <a:srgbClr val="201914"/>
                </a:solidFill>
                <a:latin typeface="Arial"/>
              </a:rPr>
              <a:t>Belonging
(Green)</a:t>
            </a:r>
          </a:p>
        </p:txBody>
      </p:sp>
      <p:sp>
        <p:nvSpPr>
          <p:cNvPr id="18" name="TextBox 17"/>
          <p:cNvSpPr txBox="1"/>
          <p:nvPr/>
        </p:nvSpPr>
        <p:spPr>
          <a:xfrm>
            <a:off x="3752850" y="5572125"/>
            <a:ext cx="3143250" cy="175260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Being included, or not being the only one left out</a:t>
            </a:r>
          </a:p>
        </p:txBody>
      </p:sp>
      <p:sp>
        <p:nvSpPr>
          <p:cNvPr id="19" name="TextBox 18"/>
          <p:cNvSpPr txBox="1"/>
          <p:nvPr/>
        </p:nvSpPr>
        <p:spPr>
          <a:xfrm>
            <a:off x="7143750" y="5572125"/>
            <a:ext cx="3810000" cy="175260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'Are people like me already doing this?'</a:t>
            </a:r>
          </a:p>
        </p:txBody>
      </p:sp>
      <p:sp>
        <p:nvSpPr>
          <p:cNvPr id="20" name="TextBox 19"/>
          <p:cNvSpPr txBox="1"/>
          <p:nvPr/>
        </p:nvSpPr>
        <p:spPr>
          <a:xfrm>
            <a:off x="11201400" y="5572125"/>
            <a:ext cx="3333750" cy="175260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boAt — everyone on the floor has a pair</a:t>
            </a:r>
          </a:p>
        </p:txBody>
      </p:sp>
      <p:sp>
        <p:nvSpPr>
          <p:cNvPr id="21" name="TextBox 20"/>
          <p:cNvSpPr txBox="1"/>
          <p:nvPr/>
        </p:nvSpPr>
        <p:spPr>
          <a:xfrm>
            <a:off x="14782800" y="5572125"/>
            <a:ext cx="2476500" cy="175260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Medium amounts, medium frequency</a:t>
            </a:r>
          </a:p>
        </p:txBody>
      </p:sp>
      <p:sp>
        <p:nvSpPr>
          <p:cNvPr id="22" name="Rectangle 21"/>
          <p:cNvSpPr/>
          <p:nvPr/>
        </p:nvSpPr>
        <p:spPr>
          <a:xfrm>
            <a:off x="1047750" y="7419975"/>
            <a:ext cx="16192500" cy="9525"/>
          </a:xfrm>
          <a:prstGeom prst="rect">
            <a:avLst/>
          </a:prstGeom>
          <a:solidFill>
            <a:srgbClr val="D8CFC7"/>
          </a:solidFill>
          <a:ln>
            <a:noFill/>
          </a:ln>
          <a:effectLst/>
        </p:spPr>
        <p:txBody>
          <a:bodyPr rtlCol="0" anchor="ctr"/>
          <a:lstStyle/>
          <a:p>
            <a:pPr algn="ctr"/>
          </a:p>
        </p:txBody>
      </p:sp>
      <p:sp>
        <p:nvSpPr>
          <p:cNvPr id="23" name="TextBox 22"/>
          <p:cNvSpPr txBox="1"/>
          <p:nvPr/>
        </p:nvSpPr>
        <p:spPr>
          <a:xfrm>
            <a:off x="1314450" y="7515225"/>
            <a:ext cx="2190750" cy="1752600"/>
          </a:xfrm>
          <a:prstGeom prst="rect">
            <a:avLst/>
          </a:prstGeom>
          <a:noFill/>
        </p:spPr>
        <p:txBody>
          <a:bodyPr wrap="square" lIns="0" rIns="0" tIns="0" bIns="0" anchor="ctr">
            <a:spAutoFit/>
          </a:bodyPr>
          <a:lstStyle/>
          <a:p>
            <a:pPr algn="l">
              <a:lnSpc>
                <a:spcPct val="106000"/>
              </a:lnSpc>
            </a:pPr>
            <a:r>
              <a:rPr sz="1800" b="1" i="0">
                <a:solidFill>
                  <a:srgbClr val="201914"/>
                </a:solidFill>
                <a:latin typeface="Arial"/>
              </a:rPr>
              <a:t>Identity
(Amber)</a:t>
            </a:r>
          </a:p>
        </p:txBody>
      </p:sp>
      <p:sp>
        <p:nvSpPr>
          <p:cNvPr id="24" name="TextBox 23"/>
          <p:cNvSpPr txBox="1"/>
          <p:nvPr/>
        </p:nvSpPr>
        <p:spPr>
          <a:xfrm>
            <a:off x="3752850" y="7515225"/>
            <a:ext cx="3143250" cy="175260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Pride, status, being seen as a particular kind of person</a:t>
            </a:r>
          </a:p>
        </p:txBody>
      </p:sp>
      <p:sp>
        <p:nvSpPr>
          <p:cNvPr id="25" name="TextBox 24"/>
          <p:cNvSpPr txBox="1"/>
          <p:nvPr/>
        </p:nvSpPr>
        <p:spPr>
          <a:xfrm>
            <a:off x="7143750" y="7515225"/>
            <a:ext cx="3810000" cy="175260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'What does this say about me to someone who does not know me?'</a:t>
            </a:r>
          </a:p>
        </p:txBody>
      </p:sp>
      <p:sp>
        <p:nvSpPr>
          <p:cNvPr id="26" name="TextBox 25"/>
          <p:cNvSpPr txBox="1"/>
          <p:nvPr/>
        </p:nvSpPr>
        <p:spPr>
          <a:xfrm>
            <a:off x="11201400" y="7515225"/>
            <a:ext cx="3333750" cy="175260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Royal Enfield — the sound arrives before you do</a:t>
            </a:r>
          </a:p>
        </p:txBody>
      </p:sp>
      <p:sp>
        <p:nvSpPr>
          <p:cNvPr id="27" name="TextBox 26"/>
          <p:cNvSpPr txBox="1"/>
          <p:nvPr/>
        </p:nvSpPr>
        <p:spPr>
          <a:xfrm>
            <a:off x="14782800" y="7515225"/>
            <a:ext cx="2476500" cy="175260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Large amounts, low frequency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BEFORE YOU TEST IT</a:t>
            </a:r>
          </a:p>
        </p:txBody>
      </p:sp>
      <p:sp>
        <p:nvSpPr>
          <p:cNvPr id="3" name="TextBox 2"/>
          <p:cNvSpPr txBox="1"/>
          <p:nvPr/>
        </p:nvSpPr>
        <p:spPr>
          <a:xfrm>
            <a:off x="1047750" y="1504950"/>
            <a:ext cx="16192500" cy="895350"/>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Three rules for using the ladder</a:t>
            </a:r>
          </a:p>
        </p:txBody>
      </p:sp>
      <p:sp>
        <p:nvSpPr>
          <p:cNvPr id="4" name="Rectangle 3"/>
          <p:cNvSpPr/>
          <p:nvPr/>
        </p:nvSpPr>
        <p:spPr>
          <a:xfrm>
            <a:off x="1047750" y="2838450"/>
            <a:ext cx="16192500" cy="1857375"/>
          </a:xfrm>
          <a:prstGeom prst="rect">
            <a:avLst/>
          </a:prstGeom>
          <a:solidFill>
            <a:srgbClr val="F0EAE1"/>
          </a:solidFill>
          <a:ln>
            <a:noFill/>
          </a:ln>
          <a:effectLst/>
        </p:spPr>
        <p:txBody>
          <a:bodyPr rtlCol="0" anchor="ctr"/>
          <a:lstStyle/>
          <a:p>
            <a:pPr algn="ctr"/>
          </a:p>
        </p:txBody>
      </p:sp>
      <p:sp>
        <p:nvSpPr>
          <p:cNvPr id="5" name="TextBox 4"/>
          <p:cNvSpPr txBox="1"/>
          <p:nvPr/>
        </p:nvSpPr>
        <p:spPr>
          <a:xfrm>
            <a:off x="1352550" y="2933700"/>
            <a:ext cx="3676650" cy="1666875"/>
          </a:xfrm>
          <a:prstGeom prst="rect">
            <a:avLst/>
          </a:prstGeom>
          <a:noFill/>
        </p:spPr>
        <p:txBody>
          <a:bodyPr wrap="square" lIns="0" rIns="0" tIns="0" bIns="0" anchor="ctr">
            <a:spAutoFit/>
          </a:bodyPr>
          <a:lstStyle/>
          <a:p>
            <a:pPr algn="l">
              <a:lnSpc>
                <a:spcPct val="94000"/>
              </a:lnSpc>
            </a:pPr>
            <a:r>
              <a:rPr sz="2700" b="1" i="0">
                <a:solidFill>
                  <a:srgbClr val="201914"/>
                </a:solidFill>
                <a:latin typeface="Arial"/>
              </a:rPr>
              <a:t>The order is not arbitrary</a:t>
            </a:r>
          </a:p>
        </p:txBody>
      </p:sp>
      <p:sp>
        <p:nvSpPr>
          <p:cNvPr id="6" name="TextBox 5"/>
          <p:cNvSpPr txBox="1"/>
          <p:nvPr/>
        </p:nvSpPr>
        <p:spPr>
          <a:xfrm>
            <a:off x="5562600" y="2933700"/>
            <a:ext cx="11372850" cy="1666875"/>
          </a:xfrm>
          <a:prstGeom prst="rect">
            <a:avLst/>
          </a:prstGeom>
          <a:noFill/>
        </p:spPr>
        <p:txBody>
          <a:bodyPr wrap="square" lIns="0" rIns="0" tIns="0" bIns="0" anchor="ctr">
            <a:spAutoFit/>
          </a:bodyPr>
          <a:lstStyle/>
          <a:p>
            <a:pPr algn="l">
              <a:lnSpc>
                <a:spcPct val="108000"/>
              </a:lnSpc>
            </a:pPr>
            <a:r>
              <a:rPr sz="2250" b="0" i="0">
                <a:solidFill>
                  <a:srgbClr val="665B53"/>
                </a:solidFill>
                <a:latin typeface="Arial"/>
              </a:rPr>
              <a:t>Avoidance is at the bottom in blue because it is the most foundational and immediate. Identity is at the top in amber because it is the most abstract.</a:t>
            </a:r>
          </a:p>
        </p:txBody>
      </p:sp>
      <p:sp>
        <p:nvSpPr>
          <p:cNvPr id="7" name="Rectangle 6"/>
          <p:cNvSpPr/>
          <p:nvPr/>
        </p:nvSpPr>
        <p:spPr>
          <a:xfrm>
            <a:off x="1047750" y="4848225"/>
            <a:ext cx="16192500" cy="2181225"/>
          </a:xfrm>
          <a:prstGeom prst="rect">
            <a:avLst/>
          </a:prstGeom>
          <a:solidFill>
            <a:srgbClr val="F0EAE1"/>
          </a:solidFill>
          <a:ln>
            <a:noFill/>
          </a:ln>
          <a:effectLst/>
        </p:spPr>
        <p:txBody>
          <a:bodyPr rtlCol="0" anchor="ctr"/>
          <a:lstStyle/>
          <a:p>
            <a:pPr algn="ctr"/>
          </a:p>
        </p:txBody>
      </p:sp>
      <p:sp>
        <p:nvSpPr>
          <p:cNvPr id="8" name="TextBox 7"/>
          <p:cNvSpPr txBox="1"/>
          <p:nvPr/>
        </p:nvSpPr>
        <p:spPr>
          <a:xfrm>
            <a:off x="1352550" y="4943475"/>
            <a:ext cx="3676650" cy="1990725"/>
          </a:xfrm>
          <a:prstGeom prst="rect">
            <a:avLst/>
          </a:prstGeom>
          <a:noFill/>
        </p:spPr>
        <p:txBody>
          <a:bodyPr wrap="square" lIns="0" rIns="0" tIns="0" bIns="0" anchor="ctr">
            <a:spAutoFit/>
          </a:bodyPr>
          <a:lstStyle/>
          <a:p>
            <a:pPr algn="l">
              <a:lnSpc>
                <a:spcPct val="94000"/>
              </a:lnSpc>
            </a:pPr>
            <a:r>
              <a:rPr sz="2700" b="1" i="0">
                <a:solidFill>
                  <a:srgbClr val="201914"/>
                </a:solidFill>
                <a:latin typeface="Arial"/>
              </a:rPr>
              <a:t>Classify by the most foundational family present</a:t>
            </a:r>
          </a:p>
        </p:txBody>
      </p:sp>
      <p:sp>
        <p:nvSpPr>
          <p:cNvPr id="9" name="TextBox 8"/>
          <p:cNvSpPr txBox="1"/>
          <p:nvPr/>
        </p:nvSpPr>
        <p:spPr>
          <a:xfrm>
            <a:off x="5562600" y="4943475"/>
            <a:ext cx="11372850" cy="1990725"/>
          </a:xfrm>
          <a:prstGeom prst="rect">
            <a:avLst/>
          </a:prstGeom>
          <a:noFill/>
        </p:spPr>
        <p:txBody>
          <a:bodyPr wrap="square" lIns="0" rIns="0" tIns="0" bIns="0" anchor="ctr">
            <a:spAutoFit/>
          </a:bodyPr>
          <a:lstStyle/>
          <a:p>
            <a:pPr algn="l">
              <a:lnSpc>
                <a:spcPct val="108000"/>
              </a:lnSpc>
            </a:pPr>
            <a:r>
              <a:rPr sz="2250" b="0" i="0">
                <a:solidFill>
                  <a:srgbClr val="665B53"/>
                </a:solidFill>
                <a:latin typeface="Arial"/>
              </a:rPr>
              <a:t>Most real decisions activate more than one family at once. Avoidance plus identity is blue. Belonging plus identity is green. Only a decision with nothing underneath it but self-image is amber.</a:t>
            </a:r>
          </a:p>
        </p:txBody>
      </p:sp>
      <p:sp>
        <p:nvSpPr>
          <p:cNvPr id="10" name="Rectangle 9"/>
          <p:cNvSpPr/>
          <p:nvPr/>
        </p:nvSpPr>
        <p:spPr>
          <a:xfrm>
            <a:off x="1047750" y="7181850"/>
            <a:ext cx="16192500" cy="2181225"/>
          </a:xfrm>
          <a:prstGeom prst="rect">
            <a:avLst/>
          </a:prstGeom>
          <a:solidFill>
            <a:srgbClr val="F0EAE1"/>
          </a:solidFill>
          <a:ln>
            <a:noFill/>
          </a:ln>
          <a:effectLst/>
        </p:spPr>
        <p:txBody>
          <a:bodyPr rtlCol="0" anchor="ctr"/>
          <a:lstStyle/>
          <a:p>
            <a:pPr algn="ctr"/>
          </a:p>
        </p:txBody>
      </p:sp>
      <p:sp>
        <p:nvSpPr>
          <p:cNvPr id="11" name="TextBox 10"/>
          <p:cNvSpPr txBox="1"/>
          <p:nvPr/>
        </p:nvSpPr>
        <p:spPr>
          <a:xfrm>
            <a:off x="1352550" y="7277100"/>
            <a:ext cx="3676650" cy="1990725"/>
          </a:xfrm>
          <a:prstGeom prst="rect">
            <a:avLst/>
          </a:prstGeom>
          <a:noFill/>
        </p:spPr>
        <p:txBody>
          <a:bodyPr wrap="square" lIns="0" rIns="0" tIns="0" bIns="0" anchor="ctr">
            <a:spAutoFit/>
          </a:bodyPr>
          <a:lstStyle/>
          <a:p>
            <a:pPr algn="l">
              <a:lnSpc>
                <a:spcPct val="94000"/>
              </a:lnSpc>
            </a:pPr>
            <a:r>
              <a:rPr sz="2700" b="1" i="0">
                <a:solidFill>
                  <a:srgbClr val="201914"/>
                </a:solidFill>
                <a:latin typeface="Arial"/>
              </a:rPr>
              <a:t>Find the family by asking what happens if they do nothing</a:t>
            </a:r>
          </a:p>
        </p:txBody>
      </p:sp>
      <p:sp>
        <p:nvSpPr>
          <p:cNvPr id="12" name="TextBox 11"/>
          <p:cNvSpPr txBox="1"/>
          <p:nvPr/>
        </p:nvSpPr>
        <p:spPr>
          <a:xfrm>
            <a:off x="5562600" y="7277100"/>
            <a:ext cx="11372850" cy="1990725"/>
          </a:xfrm>
          <a:prstGeom prst="rect">
            <a:avLst/>
          </a:prstGeom>
          <a:noFill/>
        </p:spPr>
        <p:txBody>
          <a:bodyPr wrap="square" lIns="0" rIns="0" tIns="0" bIns="0" anchor="ctr">
            <a:spAutoFit/>
          </a:bodyPr>
          <a:lstStyle/>
          <a:p>
            <a:pPr algn="l">
              <a:lnSpc>
                <a:spcPct val="108000"/>
              </a:lnSpc>
            </a:pPr>
            <a:r>
              <a:rPr sz="2250" b="0" i="0">
                <a:solidFill>
                  <a:srgbClr val="665B53"/>
                </a:solidFill>
                <a:latin typeface="Arial"/>
              </a:rPr>
              <a:t>If doing nothing costs them something, it is blue. If it leaves them outside a group, it is green. If it simply leaves them looking ordinary to strangers, it is amber.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TRY THESE YOURSELF · BLUE, GREEN OR AMBER</a:t>
            </a:r>
          </a:p>
        </p:txBody>
      </p:sp>
      <p:sp>
        <p:nvSpPr>
          <p:cNvPr id="3" name="TextBox 2"/>
          <p:cNvSpPr txBox="1"/>
          <p:nvPr/>
        </p:nvSpPr>
        <p:spPr>
          <a:xfrm>
            <a:off x="1047750" y="1504950"/>
            <a:ext cx="16192500" cy="895350"/>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Classify these four</a:t>
            </a:r>
          </a:p>
        </p:txBody>
      </p:sp>
      <p:sp>
        <p:nvSpPr>
          <p:cNvPr id="4" name="Rectangle 3"/>
          <p:cNvSpPr/>
          <p:nvPr/>
        </p:nvSpPr>
        <p:spPr>
          <a:xfrm>
            <a:off x="1047750" y="2838450"/>
            <a:ext cx="3762375" cy="5753100"/>
          </a:xfrm>
          <a:prstGeom prst="rect">
            <a:avLst/>
          </a:prstGeom>
          <a:solidFill>
            <a:srgbClr val="F0EAE1"/>
          </a:solidFill>
          <a:ln>
            <a:noFill/>
          </a:ln>
          <a:effectLst/>
        </p:spPr>
        <p:txBody>
          <a:bodyPr rtlCol="0" anchor="ctr"/>
          <a:lstStyle/>
          <a:p>
            <a:pPr algn="ctr"/>
          </a:p>
        </p:txBody>
      </p:sp>
      <p:sp>
        <p:nvSpPr>
          <p:cNvPr id="5" name="TextBox 4"/>
          <p:cNvSpPr txBox="1"/>
          <p:nvPr/>
        </p:nvSpPr>
        <p:spPr>
          <a:xfrm>
            <a:off x="1314450" y="3143250"/>
            <a:ext cx="3228975" cy="1419225"/>
          </a:xfrm>
          <a:prstGeom prst="rect">
            <a:avLst/>
          </a:prstGeom>
          <a:noFill/>
        </p:spPr>
        <p:txBody>
          <a:bodyPr wrap="square" lIns="0" rIns="0" tIns="0" bIns="0" anchor="t">
            <a:spAutoFit/>
          </a:bodyPr>
          <a:lstStyle/>
          <a:p>
            <a:pPr algn="l">
              <a:lnSpc>
                <a:spcPct val="94000"/>
              </a:lnSpc>
            </a:pPr>
            <a:r>
              <a:rPr sz="2850" b="1" i="0">
                <a:solidFill>
                  <a:srgbClr val="201914"/>
                </a:solidFill>
                <a:latin typeface="Arial"/>
              </a:rPr>
              <a:t>The term insurance advertisement</a:t>
            </a:r>
          </a:p>
        </p:txBody>
      </p:sp>
      <p:sp>
        <p:nvSpPr>
          <p:cNvPr id="6" name="TextBox 5"/>
          <p:cNvSpPr txBox="1"/>
          <p:nvPr/>
        </p:nvSpPr>
        <p:spPr>
          <a:xfrm>
            <a:off x="1314450" y="4772025"/>
            <a:ext cx="3228975" cy="2171700"/>
          </a:xfrm>
          <a:prstGeom prst="rect">
            <a:avLst/>
          </a:prstGeom>
          <a:noFill/>
        </p:spPr>
        <p:txBody>
          <a:bodyPr wrap="square" lIns="0" rIns="0" tIns="0" bIns="0" anchor="t">
            <a:spAutoFit/>
          </a:bodyPr>
          <a:lstStyle/>
          <a:p>
            <a:pPr algn="l">
              <a:lnSpc>
                <a:spcPct val="112000"/>
              </a:lnSpc>
            </a:pPr>
            <a:r>
              <a:rPr sz="2100" b="0" i="0">
                <a:solidFill>
                  <a:srgbClr val="665B53"/>
                </a:solidFill>
                <a:latin typeface="Arial"/>
              </a:rPr>
              <a:t>A father plays with his daughter, then the screen goes quiet and asks: if you are not here tomorrow, who pays for her college? Which family, and what colour?</a:t>
            </a:r>
          </a:p>
        </p:txBody>
      </p:sp>
      <p:sp>
        <p:nvSpPr>
          <p:cNvPr id="7" name="Rectangle 6"/>
          <p:cNvSpPr/>
          <p:nvPr/>
        </p:nvSpPr>
        <p:spPr>
          <a:xfrm>
            <a:off x="5191125" y="2838450"/>
            <a:ext cx="3762375" cy="5753100"/>
          </a:xfrm>
          <a:prstGeom prst="rect">
            <a:avLst/>
          </a:prstGeom>
          <a:solidFill>
            <a:srgbClr val="F0EAE1"/>
          </a:solidFill>
          <a:ln>
            <a:noFill/>
          </a:ln>
          <a:effectLst/>
        </p:spPr>
        <p:txBody>
          <a:bodyPr rtlCol="0" anchor="ctr"/>
          <a:lstStyle/>
          <a:p>
            <a:pPr algn="ctr"/>
          </a:p>
        </p:txBody>
      </p:sp>
      <p:sp>
        <p:nvSpPr>
          <p:cNvPr id="8" name="TextBox 7"/>
          <p:cNvSpPr txBox="1"/>
          <p:nvPr/>
        </p:nvSpPr>
        <p:spPr>
          <a:xfrm>
            <a:off x="5457825" y="3143250"/>
            <a:ext cx="3228975" cy="1419225"/>
          </a:xfrm>
          <a:prstGeom prst="rect">
            <a:avLst/>
          </a:prstGeom>
          <a:noFill/>
        </p:spPr>
        <p:txBody>
          <a:bodyPr wrap="square" lIns="0" rIns="0" tIns="0" bIns="0" anchor="t">
            <a:spAutoFit/>
          </a:bodyPr>
          <a:lstStyle/>
          <a:p>
            <a:pPr algn="l">
              <a:lnSpc>
                <a:spcPct val="94000"/>
              </a:lnSpc>
            </a:pPr>
            <a:r>
              <a:rPr sz="2850" b="1" i="0">
                <a:solidFill>
                  <a:srgbClr val="201914"/>
                </a:solidFill>
                <a:latin typeface="Arial"/>
              </a:rPr>
              <a:t>The ₹90,000 necklace for a cousin's wedding</a:t>
            </a:r>
          </a:p>
        </p:txBody>
      </p:sp>
      <p:sp>
        <p:nvSpPr>
          <p:cNvPr id="9" name="TextBox 8"/>
          <p:cNvSpPr txBox="1"/>
          <p:nvPr/>
        </p:nvSpPr>
        <p:spPr>
          <a:xfrm>
            <a:off x="5457825" y="4772025"/>
            <a:ext cx="3228975" cy="2762250"/>
          </a:xfrm>
          <a:prstGeom prst="rect">
            <a:avLst/>
          </a:prstGeom>
          <a:noFill/>
        </p:spPr>
        <p:txBody>
          <a:bodyPr wrap="square" lIns="0" rIns="0" tIns="0" bIns="0" anchor="t">
            <a:spAutoFit/>
          </a:bodyPr>
          <a:lstStyle/>
          <a:p>
            <a:pPr algn="l">
              <a:lnSpc>
                <a:spcPct val="112000"/>
              </a:lnSpc>
            </a:pPr>
            <a:r>
              <a:rPr sz="2100" b="0" i="0">
                <a:solidFill>
                  <a:srgbClr val="665B53"/>
                </a:solidFill>
                <a:latin typeface="Arial"/>
              </a:rPr>
              <a:t>A family spends ₹90,000 at an established branded jeweller when comparable work from the neighbourhood jeweller was quoted at ₹68,000. This one is deliberately mixed — apply the rule, not the instinct.</a:t>
            </a:r>
          </a:p>
        </p:txBody>
      </p:sp>
      <p:sp>
        <p:nvSpPr>
          <p:cNvPr id="10" name="Rectangle 9"/>
          <p:cNvSpPr/>
          <p:nvPr/>
        </p:nvSpPr>
        <p:spPr>
          <a:xfrm>
            <a:off x="9334500" y="2838450"/>
            <a:ext cx="3762375" cy="5753100"/>
          </a:xfrm>
          <a:prstGeom prst="rect">
            <a:avLst/>
          </a:prstGeom>
          <a:solidFill>
            <a:srgbClr val="F0EAE1"/>
          </a:solidFill>
          <a:ln>
            <a:noFill/>
          </a:ln>
          <a:effectLst/>
        </p:spPr>
        <p:txBody>
          <a:bodyPr rtlCol="0" anchor="ctr"/>
          <a:lstStyle/>
          <a:p>
            <a:pPr algn="ctr"/>
          </a:p>
        </p:txBody>
      </p:sp>
      <p:sp>
        <p:nvSpPr>
          <p:cNvPr id="11" name="TextBox 10"/>
          <p:cNvSpPr txBox="1"/>
          <p:nvPr/>
        </p:nvSpPr>
        <p:spPr>
          <a:xfrm>
            <a:off x="9601200" y="3143250"/>
            <a:ext cx="3228975" cy="1419225"/>
          </a:xfrm>
          <a:prstGeom prst="rect">
            <a:avLst/>
          </a:prstGeom>
          <a:noFill/>
        </p:spPr>
        <p:txBody>
          <a:bodyPr wrap="square" lIns="0" rIns="0" tIns="0" bIns="0" anchor="t">
            <a:spAutoFit/>
          </a:bodyPr>
          <a:lstStyle/>
          <a:p>
            <a:pPr algn="l">
              <a:lnSpc>
                <a:spcPct val="94000"/>
              </a:lnSpc>
            </a:pPr>
            <a:r>
              <a:rPr sz="2850" b="1" i="0">
                <a:solidFill>
                  <a:srgbClr val="201914"/>
                </a:solidFill>
                <a:latin typeface="Arial"/>
              </a:rPr>
              <a:t>The smartwatch that never gets used for running</a:t>
            </a:r>
          </a:p>
        </p:txBody>
      </p:sp>
      <p:sp>
        <p:nvSpPr>
          <p:cNvPr id="12" name="TextBox 11"/>
          <p:cNvSpPr txBox="1"/>
          <p:nvPr/>
        </p:nvSpPr>
        <p:spPr>
          <a:xfrm>
            <a:off x="9601200" y="4772025"/>
            <a:ext cx="3228975" cy="2466975"/>
          </a:xfrm>
          <a:prstGeom prst="rect">
            <a:avLst/>
          </a:prstGeom>
          <a:noFill/>
        </p:spPr>
        <p:txBody>
          <a:bodyPr wrap="square" lIns="0" rIns="0" tIns="0" bIns="0" anchor="t">
            <a:spAutoFit/>
          </a:bodyPr>
          <a:lstStyle/>
          <a:p>
            <a:pPr algn="l">
              <a:lnSpc>
                <a:spcPct val="112000"/>
              </a:lnSpc>
            </a:pPr>
            <a:r>
              <a:rPr sz="2100" b="0" i="0">
                <a:solidFill>
                  <a:srgbClr val="665B53"/>
                </a:solidFill>
                <a:latin typeface="Arial"/>
              </a:rPr>
              <a:t>A first-year engineering student buys a watch costing more than a month of their family's grocery budget, and eleven months later has never used a single fitness feature on it.</a:t>
            </a:r>
          </a:p>
        </p:txBody>
      </p:sp>
      <p:sp>
        <p:nvSpPr>
          <p:cNvPr id="13" name="Rectangle 12"/>
          <p:cNvSpPr/>
          <p:nvPr/>
        </p:nvSpPr>
        <p:spPr>
          <a:xfrm>
            <a:off x="13477875" y="2838450"/>
            <a:ext cx="3762375" cy="5753100"/>
          </a:xfrm>
          <a:prstGeom prst="rect">
            <a:avLst/>
          </a:prstGeom>
          <a:solidFill>
            <a:srgbClr val="F0EAE1"/>
          </a:solidFill>
          <a:ln>
            <a:noFill/>
          </a:ln>
          <a:effectLst/>
        </p:spPr>
        <p:txBody>
          <a:bodyPr rtlCol="0" anchor="ctr"/>
          <a:lstStyle/>
          <a:p>
            <a:pPr algn="ctr"/>
          </a:p>
        </p:txBody>
      </p:sp>
      <p:sp>
        <p:nvSpPr>
          <p:cNvPr id="14" name="TextBox 13"/>
          <p:cNvSpPr txBox="1"/>
          <p:nvPr/>
        </p:nvSpPr>
        <p:spPr>
          <a:xfrm>
            <a:off x="13744575" y="3143250"/>
            <a:ext cx="3228975" cy="1419225"/>
          </a:xfrm>
          <a:prstGeom prst="rect">
            <a:avLst/>
          </a:prstGeom>
          <a:noFill/>
        </p:spPr>
        <p:txBody>
          <a:bodyPr wrap="square" lIns="0" rIns="0" tIns="0" bIns="0" anchor="t">
            <a:spAutoFit/>
          </a:bodyPr>
          <a:lstStyle/>
          <a:p>
            <a:pPr algn="l">
              <a:lnSpc>
                <a:spcPct val="94000"/>
              </a:lnSpc>
            </a:pPr>
            <a:r>
              <a:rPr sz="2850" b="1" i="0">
                <a:solidFill>
                  <a:srgbClr val="201914"/>
                </a:solidFill>
                <a:latin typeface="Arial"/>
              </a:rPr>
              <a:t>The gym membership bought on 2 January</a:t>
            </a:r>
          </a:p>
        </p:txBody>
      </p:sp>
      <p:sp>
        <p:nvSpPr>
          <p:cNvPr id="15" name="TextBox 14"/>
          <p:cNvSpPr txBox="1"/>
          <p:nvPr/>
        </p:nvSpPr>
        <p:spPr>
          <a:xfrm>
            <a:off x="13744575" y="4772025"/>
            <a:ext cx="3228975" cy="2171700"/>
          </a:xfrm>
          <a:prstGeom prst="rect">
            <a:avLst/>
          </a:prstGeom>
          <a:noFill/>
        </p:spPr>
        <p:txBody>
          <a:bodyPr wrap="square" lIns="0" rIns="0" tIns="0" bIns="0" anchor="t">
            <a:spAutoFit/>
          </a:bodyPr>
          <a:lstStyle/>
          <a:p>
            <a:pPr algn="l">
              <a:lnSpc>
                <a:spcPct val="112000"/>
              </a:lnSpc>
            </a:pPr>
            <a:r>
              <a:rPr sz="2100" b="0" i="0">
                <a:solidFill>
                  <a:srgbClr val="665B53"/>
                </a:solidFill>
                <a:latin typeface="Arial"/>
              </a:rPr>
              <a:t>A twenty-two-year-old pays ₹9,000 for an annual membership after seeing three separate people post about starting. By March they have been eleven times.</a:t>
            </a:r>
          </a:p>
        </p:txBody>
      </p:sp>
      <p:sp>
        <p:nvSpPr>
          <p:cNvPr id="16" name="TextBox 15"/>
          <p:cNvSpPr txBox="1"/>
          <p:nvPr/>
        </p:nvSpPr>
        <p:spPr>
          <a:xfrm>
            <a:off x="1047750" y="8934450"/>
            <a:ext cx="16192500" cy="542925"/>
          </a:xfrm>
          <a:prstGeom prst="rect">
            <a:avLst/>
          </a:prstGeom>
          <a:noFill/>
        </p:spPr>
        <p:txBody>
          <a:bodyPr wrap="square" lIns="0" rIns="0" tIns="0" bIns="0" anchor="t">
            <a:spAutoFit/>
          </a:bodyPr>
          <a:lstStyle/>
          <a:p>
            <a:pPr algn="l">
              <a:lnSpc>
                <a:spcPct val="112000"/>
              </a:lnSpc>
            </a:pPr>
            <a:r>
              <a:rPr sz="3300" b="0" i="1">
                <a:solidFill>
                  <a:srgbClr val="362C24"/>
                </a:solidFill>
                <a:latin typeface="Georgia"/>
              </a:rPr>
              <a:t>Name the family and the colour before I show you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THE ANSWERS</a:t>
            </a:r>
          </a:p>
        </p:txBody>
      </p:sp>
      <p:sp>
        <p:nvSpPr>
          <p:cNvPr id="3" name="TextBox 2"/>
          <p:cNvSpPr txBox="1"/>
          <p:nvPr/>
        </p:nvSpPr>
        <p:spPr>
          <a:xfrm>
            <a:off x="1047750" y="1504950"/>
            <a:ext cx="16192500" cy="895350"/>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Classify these four</a:t>
            </a:r>
          </a:p>
        </p:txBody>
      </p:sp>
      <p:sp>
        <p:nvSpPr>
          <p:cNvPr id="4" name="Rectangle 3"/>
          <p:cNvSpPr/>
          <p:nvPr/>
        </p:nvSpPr>
        <p:spPr>
          <a:xfrm>
            <a:off x="1047750" y="2838450"/>
            <a:ext cx="3762375" cy="3619500"/>
          </a:xfrm>
          <a:prstGeom prst="rect">
            <a:avLst/>
          </a:prstGeom>
          <a:solidFill>
            <a:srgbClr val="F0EAE1"/>
          </a:solidFill>
          <a:ln>
            <a:noFill/>
          </a:ln>
          <a:effectLst/>
        </p:spPr>
        <p:txBody>
          <a:bodyPr rtlCol="0" anchor="ctr"/>
          <a:lstStyle/>
          <a:p>
            <a:pPr algn="ctr"/>
          </a:p>
        </p:txBody>
      </p:sp>
      <p:sp>
        <p:nvSpPr>
          <p:cNvPr id="5" name="TextBox 4"/>
          <p:cNvSpPr txBox="1"/>
          <p:nvPr/>
        </p:nvSpPr>
        <p:spPr>
          <a:xfrm>
            <a:off x="1314450" y="3143250"/>
            <a:ext cx="3228975" cy="1419225"/>
          </a:xfrm>
          <a:prstGeom prst="rect">
            <a:avLst/>
          </a:prstGeom>
          <a:noFill/>
        </p:spPr>
        <p:txBody>
          <a:bodyPr wrap="square" lIns="0" rIns="0" tIns="0" bIns="0" anchor="t">
            <a:spAutoFit/>
          </a:bodyPr>
          <a:lstStyle/>
          <a:p>
            <a:pPr algn="l">
              <a:lnSpc>
                <a:spcPct val="94000"/>
              </a:lnSpc>
            </a:pPr>
            <a:r>
              <a:rPr sz="2850" b="1" i="0">
                <a:solidFill>
                  <a:srgbClr val="201914"/>
                </a:solidFill>
                <a:latin typeface="Arial"/>
              </a:rPr>
              <a:t>The term insurance advertisement</a:t>
            </a:r>
          </a:p>
        </p:txBody>
      </p:sp>
      <p:sp>
        <p:nvSpPr>
          <p:cNvPr id="6" name="TextBox 5"/>
          <p:cNvSpPr txBox="1"/>
          <p:nvPr/>
        </p:nvSpPr>
        <p:spPr>
          <a:xfrm>
            <a:off x="1314450" y="4772025"/>
            <a:ext cx="3228975" cy="971550"/>
          </a:xfrm>
          <a:prstGeom prst="rect">
            <a:avLst/>
          </a:prstGeom>
          <a:noFill/>
        </p:spPr>
        <p:txBody>
          <a:bodyPr wrap="square" lIns="0" rIns="0" tIns="0" bIns="0" anchor="t">
            <a:spAutoFit/>
          </a:bodyPr>
          <a:lstStyle/>
          <a:p>
            <a:pPr algn="l">
              <a:lnSpc>
                <a:spcPct val="112000"/>
              </a:lnSpc>
            </a:pPr>
            <a:r>
              <a:rPr sz="2100" b="0" i="0">
                <a:solidFill>
                  <a:srgbClr val="665B53"/>
                </a:solidFill>
                <a:latin typeface="Arial"/>
              </a:rPr>
              <a:t>If you are not here tomorrow, who pays for her college?</a:t>
            </a:r>
          </a:p>
        </p:txBody>
      </p:sp>
      <p:sp>
        <p:nvSpPr>
          <p:cNvPr id="7" name="Rectangle 6"/>
          <p:cNvSpPr/>
          <p:nvPr/>
        </p:nvSpPr>
        <p:spPr>
          <a:xfrm>
            <a:off x="1047750" y="6686550"/>
            <a:ext cx="3762375" cy="2952750"/>
          </a:xfrm>
          <a:prstGeom prst="rect">
            <a:avLst/>
          </a:prstGeom>
          <a:solidFill>
            <a:srgbClr val="201914"/>
          </a:solidFill>
          <a:ln>
            <a:noFill/>
          </a:ln>
          <a:effectLst/>
        </p:spPr>
        <p:txBody>
          <a:bodyPr rtlCol="0" anchor="ctr"/>
          <a:lstStyle/>
          <a:p>
            <a:pPr algn="ctr"/>
          </a:p>
        </p:txBody>
      </p:sp>
      <p:sp>
        <p:nvSpPr>
          <p:cNvPr id="8" name="TextBox 7"/>
          <p:cNvSpPr txBox="1"/>
          <p:nvPr/>
        </p:nvSpPr>
        <p:spPr>
          <a:xfrm>
            <a:off x="1314450" y="6972300"/>
            <a:ext cx="3228975" cy="828675"/>
          </a:xfrm>
          <a:prstGeom prst="rect">
            <a:avLst/>
          </a:prstGeom>
          <a:noFill/>
        </p:spPr>
        <p:txBody>
          <a:bodyPr wrap="square" lIns="0" rIns="0" tIns="0" bIns="0" anchor="t">
            <a:spAutoFit/>
          </a:bodyPr>
          <a:lstStyle/>
          <a:p>
            <a:pPr algn="l">
              <a:lnSpc>
                <a:spcPct val="96000"/>
              </a:lnSpc>
            </a:pPr>
            <a:r>
              <a:rPr sz="2100" b="1" i="0">
                <a:solidFill>
                  <a:srgbClr val="F5F1E9"/>
                </a:solidFill>
                <a:latin typeface="Arial"/>
              </a:rPr>
              <a:t>AVOIDANCE — blue</a:t>
            </a:r>
          </a:p>
        </p:txBody>
      </p:sp>
      <p:sp>
        <p:nvSpPr>
          <p:cNvPr id="9" name="TextBox 8"/>
          <p:cNvSpPr txBox="1"/>
          <p:nvPr/>
        </p:nvSpPr>
        <p:spPr>
          <a:xfrm>
            <a:off x="1314450" y="7896225"/>
            <a:ext cx="3228975" cy="1333500"/>
          </a:xfrm>
          <a:prstGeom prst="rect">
            <a:avLst/>
          </a:prstGeom>
          <a:noFill/>
        </p:spPr>
        <p:txBody>
          <a:bodyPr wrap="square" lIns="0" rIns="0" tIns="0" bIns="0" anchor="t">
            <a:spAutoFit/>
          </a:bodyPr>
          <a:lstStyle/>
          <a:p>
            <a:pPr algn="l">
              <a:lnSpc>
                <a:spcPct val="110000"/>
              </a:lnSpc>
            </a:pPr>
            <a:r>
              <a:rPr sz="1800" b="0" i="0">
                <a:solidFill>
                  <a:srgbClr val="C1B5AB"/>
                </a:solidFill>
                <a:latin typeface="Arial"/>
              </a:rPr>
              <a:t>Nothing is being added to the customer's life. The ad makes a loss imaginable. No group, no stranger's opinion. Pure downside.</a:t>
            </a:r>
          </a:p>
        </p:txBody>
      </p:sp>
      <p:sp>
        <p:nvSpPr>
          <p:cNvPr id="10" name="Rectangle 9"/>
          <p:cNvSpPr/>
          <p:nvPr/>
        </p:nvSpPr>
        <p:spPr>
          <a:xfrm>
            <a:off x="5191125" y="2838450"/>
            <a:ext cx="3762375" cy="3619500"/>
          </a:xfrm>
          <a:prstGeom prst="rect">
            <a:avLst/>
          </a:prstGeom>
          <a:solidFill>
            <a:srgbClr val="F0EAE1"/>
          </a:solidFill>
          <a:ln>
            <a:noFill/>
          </a:ln>
          <a:effectLst/>
        </p:spPr>
        <p:txBody>
          <a:bodyPr rtlCol="0" anchor="ctr"/>
          <a:lstStyle/>
          <a:p>
            <a:pPr algn="ctr"/>
          </a:p>
        </p:txBody>
      </p:sp>
      <p:sp>
        <p:nvSpPr>
          <p:cNvPr id="11" name="TextBox 10"/>
          <p:cNvSpPr txBox="1"/>
          <p:nvPr/>
        </p:nvSpPr>
        <p:spPr>
          <a:xfrm>
            <a:off x="5457825" y="3143250"/>
            <a:ext cx="3228975" cy="1419225"/>
          </a:xfrm>
          <a:prstGeom prst="rect">
            <a:avLst/>
          </a:prstGeom>
          <a:noFill/>
        </p:spPr>
        <p:txBody>
          <a:bodyPr wrap="square" lIns="0" rIns="0" tIns="0" bIns="0" anchor="t">
            <a:spAutoFit/>
          </a:bodyPr>
          <a:lstStyle/>
          <a:p>
            <a:pPr algn="l">
              <a:lnSpc>
                <a:spcPct val="94000"/>
              </a:lnSpc>
            </a:pPr>
            <a:r>
              <a:rPr sz="2850" b="1" i="0">
                <a:solidFill>
                  <a:srgbClr val="201914"/>
                </a:solidFill>
                <a:latin typeface="Arial"/>
              </a:rPr>
              <a:t>The ₹90,000 necklace for a cousin's wedding</a:t>
            </a:r>
          </a:p>
        </p:txBody>
      </p:sp>
      <p:sp>
        <p:nvSpPr>
          <p:cNvPr id="12" name="TextBox 11"/>
          <p:cNvSpPr txBox="1"/>
          <p:nvPr/>
        </p:nvSpPr>
        <p:spPr>
          <a:xfrm>
            <a:off x="5457825" y="4772025"/>
            <a:ext cx="3228975" cy="971550"/>
          </a:xfrm>
          <a:prstGeom prst="rect">
            <a:avLst/>
          </a:prstGeom>
          <a:noFill/>
        </p:spPr>
        <p:txBody>
          <a:bodyPr wrap="square" lIns="0" rIns="0" tIns="0" bIns="0" anchor="t">
            <a:spAutoFit/>
          </a:bodyPr>
          <a:lstStyle/>
          <a:p>
            <a:pPr algn="l">
              <a:lnSpc>
                <a:spcPct val="112000"/>
              </a:lnSpc>
            </a:pPr>
            <a:r>
              <a:rPr sz="2100" b="0" i="0">
                <a:solidFill>
                  <a:srgbClr val="665B53"/>
                </a:solidFill>
                <a:latin typeface="Arial"/>
              </a:rPr>
              <a:t>₹90,000 at a branded jeweller against ₹68,000 down the road.</a:t>
            </a:r>
          </a:p>
        </p:txBody>
      </p:sp>
      <p:sp>
        <p:nvSpPr>
          <p:cNvPr id="13" name="Rectangle 12"/>
          <p:cNvSpPr/>
          <p:nvPr/>
        </p:nvSpPr>
        <p:spPr>
          <a:xfrm>
            <a:off x="5191125" y="6686550"/>
            <a:ext cx="3762375" cy="2952750"/>
          </a:xfrm>
          <a:prstGeom prst="rect">
            <a:avLst/>
          </a:prstGeom>
          <a:solidFill>
            <a:srgbClr val="201914"/>
          </a:solidFill>
          <a:ln>
            <a:noFill/>
          </a:ln>
          <a:effectLst/>
        </p:spPr>
        <p:txBody>
          <a:bodyPr rtlCol="0" anchor="ctr"/>
          <a:lstStyle/>
          <a:p>
            <a:pPr algn="ctr"/>
          </a:p>
        </p:txBody>
      </p:sp>
      <p:sp>
        <p:nvSpPr>
          <p:cNvPr id="14" name="TextBox 13"/>
          <p:cNvSpPr txBox="1"/>
          <p:nvPr/>
        </p:nvSpPr>
        <p:spPr>
          <a:xfrm>
            <a:off x="5457825" y="6972300"/>
            <a:ext cx="3228975" cy="828675"/>
          </a:xfrm>
          <a:prstGeom prst="rect">
            <a:avLst/>
          </a:prstGeom>
          <a:noFill/>
        </p:spPr>
        <p:txBody>
          <a:bodyPr wrap="square" lIns="0" rIns="0" tIns="0" bIns="0" anchor="t">
            <a:spAutoFit/>
          </a:bodyPr>
          <a:lstStyle/>
          <a:p>
            <a:pPr algn="l">
              <a:lnSpc>
                <a:spcPct val="96000"/>
              </a:lnSpc>
            </a:pPr>
            <a:r>
              <a:rPr sz="2100" b="1" i="0">
                <a:solidFill>
                  <a:srgbClr val="F5F1E9"/>
                </a:solidFill>
                <a:latin typeface="Arial"/>
              </a:rPr>
              <a:t>BELONGING and IDENTITY — coloured GREEN</a:t>
            </a:r>
          </a:p>
        </p:txBody>
      </p:sp>
      <p:sp>
        <p:nvSpPr>
          <p:cNvPr id="15" name="TextBox 14"/>
          <p:cNvSpPr txBox="1"/>
          <p:nvPr/>
        </p:nvSpPr>
        <p:spPr>
          <a:xfrm>
            <a:off x="5457825" y="7896225"/>
            <a:ext cx="3228975" cy="1333500"/>
          </a:xfrm>
          <a:prstGeom prst="rect">
            <a:avLst/>
          </a:prstGeom>
          <a:noFill/>
        </p:spPr>
        <p:txBody>
          <a:bodyPr wrap="square" lIns="0" rIns="0" tIns="0" bIns="0" anchor="t">
            <a:spAutoFit/>
          </a:bodyPr>
          <a:lstStyle/>
          <a:p>
            <a:pPr algn="l">
              <a:lnSpc>
                <a:spcPct val="110000"/>
              </a:lnSpc>
            </a:pPr>
            <a:r>
              <a:rPr sz="1800" b="0" i="0">
                <a:solidFill>
                  <a:srgbClr val="C1B5AB"/>
                </a:solidFill>
                <a:latin typeface="Arial"/>
              </a:rPr>
              <a:t>Both are present, and belonging is the more foundational. The person actually being satisfied is the aunt in the third row.</a:t>
            </a:r>
          </a:p>
        </p:txBody>
      </p:sp>
      <p:sp>
        <p:nvSpPr>
          <p:cNvPr id="16" name="Rectangle 15"/>
          <p:cNvSpPr/>
          <p:nvPr/>
        </p:nvSpPr>
        <p:spPr>
          <a:xfrm>
            <a:off x="9334500" y="2838450"/>
            <a:ext cx="3762375" cy="3619500"/>
          </a:xfrm>
          <a:prstGeom prst="rect">
            <a:avLst/>
          </a:prstGeom>
          <a:solidFill>
            <a:srgbClr val="F0EAE1"/>
          </a:solidFill>
          <a:ln>
            <a:noFill/>
          </a:ln>
          <a:effectLst/>
        </p:spPr>
        <p:txBody>
          <a:bodyPr rtlCol="0" anchor="ctr"/>
          <a:lstStyle/>
          <a:p>
            <a:pPr algn="ctr"/>
          </a:p>
        </p:txBody>
      </p:sp>
      <p:sp>
        <p:nvSpPr>
          <p:cNvPr id="17" name="TextBox 16"/>
          <p:cNvSpPr txBox="1"/>
          <p:nvPr/>
        </p:nvSpPr>
        <p:spPr>
          <a:xfrm>
            <a:off x="9601200" y="3143250"/>
            <a:ext cx="3228975" cy="1419225"/>
          </a:xfrm>
          <a:prstGeom prst="rect">
            <a:avLst/>
          </a:prstGeom>
          <a:noFill/>
        </p:spPr>
        <p:txBody>
          <a:bodyPr wrap="square" lIns="0" rIns="0" tIns="0" bIns="0" anchor="t">
            <a:spAutoFit/>
          </a:bodyPr>
          <a:lstStyle/>
          <a:p>
            <a:pPr algn="l">
              <a:lnSpc>
                <a:spcPct val="94000"/>
              </a:lnSpc>
            </a:pPr>
            <a:r>
              <a:rPr sz="2850" b="1" i="0">
                <a:solidFill>
                  <a:srgbClr val="201914"/>
                </a:solidFill>
                <a:latin typeface="Arial"/>
              </a:rPr>
              <a:t>The smartwatch that never gets used for running</a:t>
            </a:r>
          </a:p>
        </p:txBody>
      </p:sp>
      <p:sp>
        <p:nvSpPr>
          <p:cNvPr id="18" name="TextBox 17"/>
          <p:cNvSpPr txBox="1"/>
          <p:nvPr/>
        </p:nvSpPr>
        <p:spPr>
          <a:xfrm>
            <a:off x="9601200" y="4772025"/>
            <a:ext cx="3228975" cy="676275"/>
          </a:xfrm>
          <a:prstGeom prst="rect">
            <a:avLst/>
          </a:prstGeom>
          <a:noFill/>
        </p:spPr>
        <p:txBody>
          <a:bodyPr wrap="square" lIns="0" rIns="0" tIns="0" bIns="0" anchor="t">
            <a:spAutoFit/>
          </a:bodyPr>
          <a:lstStyle/>
          <a:p>
            <a:pPr algn="l">
              <a:lnSpc>
                <a:spcPct val="112000"/>
              </a:lnSpc>
            </a:pPr>
            <a:r>
              <a:rPr sz="2100" b="0" i="0">
                <a:solidFill>
                  <a:srgbClr val="665B53"/>
                </a:solidFill>
                <a:latin typeface="Arial"/>
              </a:rPr>
              <a:t>Eleven months, and not one fitness feature used.</a:t>
            </a:r>
          </a:p>
        </p:txBody>
      </p:sp>
      <p:sp>
        <p:nvSpPr>
          <p:cNvPr id="19" name="Rectangle 18"/>
          <p:cNvSpPr/>
          <p:nvPr/>
        </p:nvSpPr>
        <p:spPr>
          <a:xfrm>
            <a:off x="9334500" y="6686550"/>
            <a:ext cx="3762375" cy="2952750"/>
          </a:xfrm>
          <a:prstGeom prst="rect">
            <a:avLst/>
          </a:prstGeom>
          <a:solidFill>
            <a:srgbClr val="201914"/>
          </a:solidFill>
          <a:ln>
            <a:noFill/>
          </a:ln>
          <a:effectLst/>
        </p:spPr>
        <p:txBody>
          <a:bodyPr rtlCol="0" anchor="ctr"/>
          <a:lstStyle/>
          <a:p>
            <a:pPr algn="ctr"/>
          </a:p>
        </p:txBody>
      </p:sp>
      <p:sp>
        <p:nvSpPr>
          <p:cNvPr id="20" name="TextBox 19"/>
          <p:cNvSpPr txBox="1"/>
          <p:nvPr/>
        </p:nvSpPr>
        <p:spPr>
          <a:xfrm>
            <a:off x="9601200" y="6972300"/>
            <a:ext cx="3228975" cy="828675"/>
          </a:xfrm>
          <a:prstGeom prst="rect">
            <a:avLst/>
          </a:prstGeom>
          <a:noFill/>
        </p:spPr>
        <p:txBody>
          <a:bodyPr wrap="square" lIns="0" rIns="0" tIns="0" bIns="0" anchor="t">
            <a:spAutoFit/>
          </a:bodyPr>
          <a:lstStyle/>
          <a:p>
            <a:pPr algn="l">
              <a:lnSpc>
                <a:spcPct val="96000"/>
              </a:lnSpc>
            </a:pPr>
            <a:r>
              <a:rPr sz="2100" b="1" i="0">
                <a:solidFill>
                  <a:srgbClr val="F5F1E9"/>
                </a:solidFill>
                <a:latin typeface="Arial"/>
              </a:rPr>
              <a:t>IDENTITY — amber</a:t>
            </a:r>
          </a:p>
        </p:txBody>
      </p:sp>
      <p:sp>
        <p:nvSpPr>
          <p:cNvPr id="21" name="TextBox 20"/>
          <p:cNvSpPr txBox="1"/>
          <p:nvPr/>
        </p:nvSpPr>
        <p:spPr>
          <a:xfrm>
            <a:off x="9601200" y="7896225"/>
            <a:ext cx="3228975" cy="1333500"/>
          </a:xfrm>
          <a:prstGeom prst="rect">
            <a:avLst/>
          </a:prstGeom>
          <a:noFill/>
        </p:spPr>
        <p:txBody>
          <a:bodyPr wrap="square" lIns="0" rIns="0" tIns="0" bIns="0" anchor="t">
            <a:spAutoFit/>
          </a:bodyPr>
          <a:lstStyle/>
          <a:p>
            <a:pPr algn="l">
              <a:lnSpc>
                <a:spcPct val="110000"/>
              </a:lnSpc>
            </a:pPr>
            <a:r>
              <a:rPr sz="1800" b="0" i="0">
                <a:solidFill>
                  <a:srgbClr val="C1B5AB"/>
                </a:solidFill>
                <a:latin typeface="Arial"/>
              </a:rPr>
              <a:t>No loss, no group. The tell is the unused features: when a customer pays for capability they never use, the capability was never the product.</a:t>
            </a:r>
          </a:p>
        </p:txBody>
      </p:sp>
      <p:sp>
        <p:nvSpPr>
          <p:cNvPr id="22" name="Rectangle 21"/>
          <p:cNvSpPr/>
          <p:nvPr/>
        </p:nvSpPr>
        <p:spPr>
          <a:xfrm>
            <a:off x="13477875" y="2838450"/>
            <a:ext cx="3762375" cy="3619500"/>
          </a:xfrm>
          <a:prstGeom prst="rect">
            <a:avLst/>
          </a:prstGeom>
          <a:solidFill>
            <a:srgbClr val="F0EAE1"/>
          </a:solidFill>
          <a:ln>
            <a:noFill/>
          </a:ln>
          <a:effectLst/>
        </p:spPr>
        <p:txBody>
          <a:bodyPr rtlCol="0" anchor="ctr"/>
          <a:lstStyle/>
          <a:p>
            <a:pPr algn="ctr"/>
          </a:p>
        </p:txBody>
      </p:sp>
      <p:sp>
        <p:nvSpPr>
          <p:cNvPr id="23" name="TextBox 22"/>
          <p:cNvSpPr txBox="1"/>
          <p:nvPr/>
        </p:nvSpPr>
        <p:spPr>
          <a:xfrm>
            <a:off x="13744575" y="3143250"/>
            <a:ext cx="3228975" cy="1419225"/>
          </a:xfrm>
          <a:prstGeom prst="rect">
            <a:avLst/>
          </a:prstGeom>
          <a:noFill/>
        </p:spPr>
        <p:txBody>
          <a:bodyPr wrap="square" lIns="0" rIns="0" tIns="0" bIns="0" anchor="t">
            <a:spAutoFit/>
          </a:bodyPr>
          <a:lstStyle/>
          <a:p>
            <a:pPr algn="l">
              <a:lnSpc>
                <a:spcPct val="94000"/>
              </a:lnSpc>
            </a:pPr>
            <a:r>
              <a:rPr sz="2850" b="1" i="0">
                <a:solidFill>
                  <a:srgbClr val="201914"/>
                </a:solidFill>
                <a:latin typeface="Arial"/>
              </a:rPr>
              <a:t>The gym membership bought on 2 January</a:t>
            </a:r>
          </a:p>
        </p:txBody>
      </p:sp>
      <p:sp>
        <p:nvSpPr>
          <p:cNvPr id="24" name="TextBox 23"/>
          <p:cNvSpPr txBox="1"/>
          <p:nvPr/>
        </p:nvSpPr>
        <p:spPr>
          <a:xfrm>
            <a:off x="13744575" y="4772025"/>
            <a:ext cx="3228975" cy="676275"/>
          </a:xfrm>
          <a:prstGeom prst="rect">
            <a:avLst/>
          </a:prstGeom>
          <a:noFill/>
        </p:spPr>
        <p:txBody>
          <a:bodyPr wrap="square" lIns="0" rIns="0" tIns="0" bIns="0" anchor="t">
            <a:spAutoFit/>
          </a:bodyPr>
          <a:lstStyle/>
          <a:p>
            <a:pPr algn="l">
              <a:lnSpc>
                <a:spcPct val="112000"/>
              </a:lnSpc>
            </a:pPr>
            <a:r>
              <a:rPr sz="2100" b="0" i="0">
                <a:solidFill>
                  <a:srgbClr val="665B53"/>
                </a:solidFill>
                <a:latin typeface="Arial"/>
              </a:rPr>
              <a:t>₹9,000 on 2 January. Eleven visits by March.</a:t>
            </a:r>
          </a:p>
        </p:txBody>
      </p:sp>
      <p:sp>
        <p:nvSpPr>
          <p:cNvPr id="25" name="Rectangle 24"/>
          <p:cNvSpPr/>
          <p:nvPr/>
        </p:nvSpPr>
        <p:spPr>
          <a:xfrm>
            <a:off x="13477875" y="6686550"/>
            <a:ext cx="3762375" cy="2952750"/>
          </a:xfrm>
          <a:prstGeom prst="rect">
            <a:avLst/>
          </a:prstGeom>
          <a:solidFill>
            <a:srgbClr val="C35141"/>
          </a:solidFill>
          <a:ln>
            <a:noFill/>
          </a:ln>
          <a:effectLst/>
        </p:spPr>
        <p:txBody>
          <a:bodyPr rtlCol="0" anchor="ctr"/>
          <a:lstStyle/>
          <a:p>
            <a:pPr algn="ctr"/>
          </a:p>
        </p:txBody>
      </p:sp>
      <p:sp>
        <p:nvSpPr>
          <p:cNvPr id="26" name="TextBox 25"/>
          <p:cNvSpPr txBox="1"/>
          <p:nvPr/>
        </p:nvSpPr>
        <p:spPr>
          <a:xfrm>
            <a:off x="13744575" y="6972300"/>
            <a:ext cx="3228975" cy="828675"/>
          </a:xfrm>
          <a:prstGeom prst="rect">
            <a:avLst/>
          </a:prstGeom>
          <a:noFill/>
        </p:spPr>
        <p:txBody>
          <a:bodyPr wrap="square" lIns="0" rIns="0" tIns="0" bIns="0" anchor="t">
            <a:spAutoFit/>
          </a:bodyPr>
          <a:lstStyle/>
          <a:p>
            <a:pPr algn="l">
              <a:lnSpc>
                <a:spcPct val="96000"/>
              </a:lnSpc>
            </a:pPr>
            <a:r>
              <a:rPr sz="2100" b="1" i="0">
                <a:solidFill>
                  <a:srgbClr val="F5F1E9"/>
                </a:solidFill>
                <a:latin typeface="Arial"/>
              </a:rPr>
              <a:t>All three — and it is BLUE</a:t>
            </a:r>
          </a:p>
        </p:txBody>
      </p:sp>
      <p:sp>
        <p:nvSpPr>
          <p:cNvPr id="27" name="TextBox 26"/>
          <p:cNvSpPr txBox="1"/>
          <p:nvPr/>
        </p:nvSpPr>
        <p:spPr>
          <a:xfrm>
            <a:off x="13744575" y="7896225"/>
            <a:ext cx="3228975" cy="1333500"/>
          </a:xfrm>
          <a:prstGeom prst="rect">
            <a:avLst/>
          </a:prstGeom>
          <a:noFill/>
        </p:spPr>
        <p:txBody>
          <a:bodyPr wrap="square" lIns="0" rIns="0" tIns="0" bIns="0" anchor="t">
            <a:spAutoFit/>
          </a:bodyPr>
          <a:lstStyle/>
          <a:p>
            <a:pPr algn="l">
              <a:lnSpc>
                <a:spcPct val="110000"/>
              </a:lnSpc>
            </a:pPr>
            <a:r>
              <a:rPr sz="1800" b="0" i="0">
                <a:solidFill>
                  <a:srgbClr val="F5F1E9"/>
                </a:solidFill>
                <a:latin typeface="Arial"/>
              </a:rPr>
              <a:t>Avoidance is the most foundational family present. The sale was driven by avoidance; the product was built for nothing at all.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FRAMEWORK 2 · DRAW THIS AS A CIRCLE YOURSELF</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The Driver Loop — how a feeling becomes a business</a:t>
            </a:r>
          </a:p>
        </p:txBody>
      </p:sp>
      <p:sp>
        <p:nvSpPr>
          <p:cNvPr id="4" name="Rectangle 3"/>
          <p:cNvSpPr/>
          <p:nvPr/>
        </p:nvSpPr>
        <p:spPr>
          <a:xfrm>
            <a:off x="1047750" y="3629025"/>
            <a:ext cx="16192500" cy="1057275"/>
          </a:xfrm>
          <a:prstGeom prst="rect">
            <a:avLst/>
          </a:prstGeom>
          <a:solidFill>
            <a:srgbClr val="F0EAE1"/>
          </a:solidFill>
          <a:ln>
            <a:noFill/>
          </a:ln>
          <a:effectLst/>
        </p:spPr>
        <p:txBody>
          <a:bodyPr rtlCol="0" anchor="ctr"/>
          <a:lstStyle/>
          <a:p>
            <a:pPr algn="ctr"/>
          </a:p>
        </p:txBody>
      </p:sp>
      <p:sp>
        <p:nvSpPr>
          <p:cNvPr id="5" name="TextBox 4"/>
          <p:cNvSpPr txBox="1"/>
          <p:nvPr/>
        </p:nvSpPr>
        <p:spPr>
          <a:xfrm>
            <a:off x="1352550" y="3724275"/>
            <a:ext cx="3676650" cy="866775"/>
          </a:xfrm>
          <a:prstGeom prst="rect">
            <a:avLst/>
          </a:prstGeom>
          <a:noFill/>
        </p:spPr>
        <p:txBody>
          <a:bodyPr wrap="square" lIns="0" rIns="0" tIns="0" bIns="0" anchor="ctr">
            <a:spAutoFit/>
          </a:bodyPr>
          <a:lstStyle/>
          <a:p>
            <a:pPr algn="l">
              <a:lnSpc>
                <a:spcPct val="94000"/>
              </a:lnSpc>
            </a:pPr>
            <a:r>
              <a:rPr sz="2700" b="1" i="0">
                <a:solidFill>
                  <a:srgbClr val="201914"/>
                </a:solidFill>
                <a:latin typeface="Arial"/>
              </a:rPr>
              <a:t>1 · Trigger</a:t>
            </a:r>
          </a:p>
        </p:txBody>
      </p:sp>
      <p:sp>
        <p:nvSpPr>
          <p:cNvPr id="6" name="TextBox 5"/>
          <p:cNvSpPr txBox="1"/>
          <p:nvPr/>
        </p:nvSpPr>
        <p:spPr>
          <a:xfrm>
            <a:off x="5562600" y="3724275"/>
            <a:ext cx="11372850" cy="866775"/>
          </a:xfrm>
          <a:prstGeom prst="rect">
            <a:avLst/>
          </a:prstGeom>
          <a:noFill/>
        </p:spPr>
        <p:txBody>
          <a:bodyPr wrap="square" lIns="0" rIns="0" tIns="0" bIns="0" anchor="ctr">
            <a:spAutoFit/>
          </a:bodyPr>
          <a:lstStyle/>
          <a:p>
            <a:pPr algn="l">
              <a:lnSpc>
                <a:spcPct val="108000"/>
              </a:lnSpc>
            </a:pPr>
            <a:r>
              <a:rPr sz="2250" b="0" i="0">
                <a:solidFill>
                  <a:srgbClr val="665B53"/>
                </a:solidFill>
                <a:latin typeface="Arial"/>
              </a:rPr>
              <a:t>Something outside or inside starts the feeling. An alarm, a notification, a friend's comment, a wedding invitation.</a:t>
            </a:r>
          </a:p>
        </p:txBody>
      </p:sp>
      <p:sp>
        <p:nvSpPr>
          <p:cNvPr id="7" name="Rectangle 6"/>
          <p:cNvSpPr/>
          <p:nvPr/>
        </p:nvSpPr>
        <p:spPr>
          <a:xfrm>
            <a:off x="1047750" y="4838700"/>
            <a:ext cx="16192500" cy="1057275"/>
          </a:xfrm>
          <a:prstGeom prst="rect">
            <a:avLst/>
          </a:prstGeom>
          <a:solidFill>
            <a:srgbClr val="F0EAE1"/>
          </a:solidFill>
          <a:ln>
            <a:noFill/>
          </a:ln>
          <a:effectLst/>
        </p:spPr>
        <p:txBody>
          <a:bodyPr rtlCol="0" anchor="ctr"/>
          <a:lstStyle/>
          <a:p>
            <a:pPr algn="ctr"/>
          </a:p>
        </p:txBody>
      </p:sp>
      <p:sp>
        <p:nvSpPr>
          <p:cNvPr id="8" name="TextBox 7"/>
          <p:cNvSpPr txBox="1"/>
          <p:nvPr/>
        </p:nvSpPr>
        <p:spPr>
          <a:xfrm>
            <a:off x="1352550" y="4933950"/>
            <a:ext cx="3676650" cy="866775"/>
          </a:xfrm>
          <a:prstGeom prst="rect">
            <a:avLst/>
          </a:prstGeom>
          <a:noFill/>
        </p:spPr>
        <p:txBody>
          <a:bodyPr wrap="square" lIns="0" rIns="0" tIns="0" bIns="0" anchor="ctr">
            <a:spAutoFit/>
          </a:bodyPr>
          <a:lstStyle/>
          <a:p>
            <a:pPr algn="l">
              <a:lnSpc>
                <a:spcPct val="94000"/>
              </a:lnSpc>
            </a:pPr>
            <a:r>
              <a:rPr sz="2700" b="1" i="0">
                <a:solidFill>
                  <a:srgbClr val="201914"/>
                </a:solidFill>
                <a:latin typeface="Arial"/>
              </a:rPr>
              <a:t>2 · Action</a:t>
            </a:r>
          </a:p>
        </p:txBody>
      </p:sp>
      <p:sp>
        <p:nvSpPr>
          <p:cNvPr id="9" name="TextBox 8"/>
          <p:cNvSpPr txBox="1"/>
          <p:nvPr/>
        </p:nvSpPr>
        <p:spPr>
          <a:xfrm>
            <a:off x="5562600" y="4933950"/>
            <a:ext cx="11372850" cy="866775"/>
          </a:xfrm>
          <a:prstGeom prst="rect">
            <a:avLst/>
          </a:prstGeom>
          <a:noFill/>
        </p:spPr>
        <p:txBody>
          <a:bodyPr wrap="square" lIns="0" rIns="0" tIns="0" bIns="0" anchor="ctr">
            <a:spAutoFit/>
          </a:bodyPr>
          <a:lstStyle/>
          <a:p>
            <a:pPr algn="l">
              <a:lnSpc>
                <a:spcPct val="108000"/>
              </a:lnSpc>
            </a:pPr>
            <a:r>
              <a:rPr sz="2250" b="0" i="0">
                <a:solidFill>
                  <a:srgbClr val="665B53"/>
                </a:solidFill>
                <a:latin typeface="Arial"/>
              </a:rPr>
              <a:t>The smallest thing the customer can do while the feeling is still hot. Cult.fit's action is booking a class, not attending one — eight seconds, from the bed.</a:t>
            </a:r>
          </a:p>
        </p:txBody>
      </p:sp>
      <p:sp>
        <p:nvSpPr>
          <p:cNvPr id="10" name="Rectangle 9"/>
          <p:cNvSpPr/>
          <p:nvPr/>
        </p:nvSpPr>
        <p:spPr>
          <a:xfrm>
            <a:off x="1047750" y="6048375"/>
            <a:ext cx="16192500" cy="762000"/>
          </a:xfrm>
          <a:prstGeom prst="rect">
            <a:avLst/>
          </a:prstGeom>
          <a:solidFill>
            <a:srgbClr val="F0EAE1"/>
          </a:solidFill>
          <a:ln>
            <a:noFill/>
          </a:ln>
          <a:effectLst/>
        </p:spPr>
        <p:txBody>
          <a:bodyPr rtlCol="0" anchor="ctr"/>
          <a:lstStyle/>
          <a:p>
            <a:pPr algn="ctr"/>
          </a:p>
        </p:txBody>
      </p:sp>
      <p:sp>
        <p:nvSpPr>
          <p:cNvPr id="11" name="TextBox 10"/>
          <p:cNvSpPr txBox="1"/>
          <p:nvPr/>
        </p:nvSpPr>
        <p:spPr>
          <a:xfrm>
            <a:off x="1352550" y="6143625"/>
            <a:ext cx="3676650" cy="571500"/>
          </a:xfrm>
          <a:prstGeom prst="rect">
            <a:avLst/>
          </a:prstGeom>
          <a:noFill/>
        </p:spPr>
        <p:txBody>
          <a:bodyPr wrap="square" lIns="0" rIns="0" tIns="0" bIns="0" anchor="ctr">
            <a:spAutoFit/>
          </a:bodyPr>
          <a:lstStyle/>
          <a:p>
            <a:pPr algn="l">
              <a:lnSpc>
                <a:spcPct val="94000"/>
              </a:lnSpc>
            </a:pPr>
            <a:r>
              <a:rPr sz="2700" b="1" i="0">
                <a:solidFill>
                  <a:srgbClr val="201914"/>
                </a:solidFill>
                <a:latin typeface="Arial"/>
              </a:rPr>
              <a:t>3 · Reward</a:t>
            </a:r>
          </a:p>
        </p:txBody>
      </p:sp>
      <p:sp>
        <p:nvSpPr>
          <p:cNvPr id="12" name="TextBox 11"/>
          <p:cNvSpPr txBox="1"/>
          <p:nvPr/>
        </p:nvSpPr>
        <p:spPr>
          <a:xfrm>
            <a:off x="5562600" y="6143625"/>
            <a:ext cx="11372850" cy="571500"/>
          </a:xfrm>
          <a:prstGeom prst="rect">
            <a:avLst/>
          </a:prstGeom>
          <a:noFill/>
        </p:spPr>
        <p:txBody>
          <a:bodyPr wrap="square" lIns="0" rIns="0" tIns="0" bIns="0" anchor="ctr">
            <a:spAutoFit/>
          </a:bodyPr>
          <a:lstStyle/>
          <a:p>
            <a:pPr algn="l">
              <a:lnSpc>
                <a:spcPct val="108000"/>
              </a:lnSpc>
            </a:pPr>
            <a:r>
              <a:rPr sz="2250" b="0" i="0">
                <a:solidFill>
                  <a:srgbClr val="665B53"/>
                </a:solidFill>
                <a:latin typeface="Arial"/>
              </a:rPr>
              <a:t>The feeling is relieved, and it lands harder when it is not perfectly predictable.</a:t>
            </a:r>
          </a:p>
        </p:txBody>
      </p:sp>
      <p:sp>
        <p:nvSpPr>
          <p:cNvPr id="13" name="Rectangle 12"/>
          <p:cNvSpPr/>
          <p:nvPr/>
        </p:nvSpPr>
        <p:spPr>
          <a:xfrm>
            <a:off x="1047750" y="6962775"/>
            <a:ext cx="16192500" cy="1362075"/>
          </a:xfrm>
          <a:prstGeom prst="rect">
            <a:avLst/>
          </a:prstGeom>
          <a:solidFill>
            <a:srgbClr val="F0EAE1"/>
          </a:solidFill>
          <a:ln>
            <a:noFill/>
          </a:ln>
          <a:effectLst/>
        </p:spPr>
        <p:txBody>
          <a:bodyPr rtlCol="0" anchor="ctr"/>
          <a:lstStyle/>
          <a:p>
            <a:pPr algn="ctr"/>
          </a:p>
        </p:txBody>
      </p:sp>
      <p:sp>
        <p:nvSpPr>
          <p:cNvPr id="14" name="TextBox 13"/>
          <p:cNvSpPr txBox="1"/>
          <p:nvPr/>
        </p:nvSpPr>
        <p:spPr>
          <a:xfrm>
            <a:off x="1352550" y="7058025"/>
            <a:ext cx="3676650" cy="1171575"/>
          </a:xfrm>
          <a:prstGeom prst="rect">
            <a:avLst/>
          </a:prstGeom>
          <a:noFill/>
        </p:spPr>
        <p:txBody>
          <a:bodyPr wrap="square" lIns="0" rIns="0" tIns="0" bIns="0" anchor="ctr">
            <a:spAutoFit/>
          </a:bodyPr>
          <a:lstStyle/>
          <a:p>
            <a:pPr algn="l">
              <a:lnSpc>
                <a:spcPct val="94000"/>
              </a:lnSpc>
            </a:pPr>
            <a:r>
              <a:rPr sz="2700" b="1" i="0">
                <a:solidFill>
                  <a:srgbClr val="201914"/>
                </a:solidFill>
                <a:latin typeface="Arial"/>
              </a:rPr>
              <a:t>4 · Investment</a:t>
            </a:r>
          </a:p>
        </p:txBody>
      </p:sp>
      <p:sp>
        <p:nvSpPr>
          <p:cNvPr id="15" name="TextBox 14"/>
          <p:cNvSpPr txBox="1"/>
          <p:nvPr/>
        </p:nvSpPr>
        <p:spPr>
          <a:xfrm>
            <a:off x="5562600" y="7058025"/>
            <a:ext cx="11372850" cy="1171575"/>
          </a:xfrm>
          <a:prstGeom prst="rect">
            <a:avLst/>
          </a:prstGeom>
          <a:noFill/>
        </p:spPr>
        <p:txBody>
          <a:bodyPr wrap="square" lIns="0" rIns="0" tIns="0" bIns="0" anchor="ctr">
            <a:spAutoFit/>
          </a:bodyPr>
          <a:lstStyle/>
          <a:p>
            <a:pPr algn="l">
              <a:lnSpc>
                <a:spcPct val="108000"/>
              </a:lnSpc>
            </a:pPr>
            <a:r>
              <a:rPr sz="2250" b="0" i="0">
                <a:solidFill>
                  <a:srgbClr val="665B53"/>
                </a:solidFill>
                <a:latin typeface="Arial"/>
              </a:rPr>
              <a:t>The customer leaves something behind — a streak, a history, a profile, a group, a purchase others saw. Now the next trigger is stronger, because there is something to lose.</a:t>
            </a:r>
          </a:p>
        </p:txBody>
      </p:sp>
      <p:sp>
        <p:nvSpPr>
          <p:cNvPr id="16" name="TextBox 15"/>
          <p:cNvSpPr txBox="1"/>
          <p:nvPr/>
        </p:nvSpPr>
        <p:spPr>
          <a:xfrm>
            <a:off x="1047750" y="8667750"/>
            <a:ext cx="16192500" cy="885825"/>
          </a:xfrm>
          <a:prstGeom prst="rect">
            <a:avLst/>
          </a:prstGeom>
          <a:noFill/>
        </p:spPr>
        <p:txBody>
          <a:bodyPr wrap="square" lIns="0" rIns="0" tIns="0" bIns="0" anchor="t">
            <a:spAutoFit/>
          </a:bodyPr>
          <a:lstStyle/>
          <a:p>
            <a:pPr algn="l">
              <a:lnSpc>
                <a:spcPct val="112000"/>
              </a:lnSpc>
            </a:pPr>
            <a:r>
              <a:rPr sz="2850" b="0" i="1">
                <a:solidFill>
                  <a:srgbClr val="362C24"/>
                </a:solidFill>
                <a:latin typeface="Georgia"/>
              </a:rPr>
              <a:t>Without the investment step you have a trigger that works exactly once. With it, every trip round the loop makes the next trigger stronger.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THREE THINGS MOST PEOPLE GET WRONG ABOUT THE LOOP</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The action has to be small, the reward uncertain, the investment real</a:t>
            </a:r>
          </a:p>
        </p:txBody>
      </p:sp>
      <p:sp>
        <p:nvSpPr>
          <p:cNvPr id="4" name="Rectangle 3"/>
          <p:cNvSpPr/>
          <p:nvPr/>
        </p:nvSpPr>
        <p:spPr>
          <a:xfrm>
            <a:off x="1047750" y="3629025"/>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933825"/>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Keep the action small</a:t>
            </a:r>
          </a:p>
        </p:txBody>
      </p:sp>
      <p:sp>
        <p:nvSpPr>
          <p:cNvPr id="6" name="TextBox 5"/>
          <p:cNvSpPr txBox="1"/>
          <p:nvPr/>
        </p:nvSpPr>
        <p:spPr>
          <a:xfrm>
            <a:off x="1047750" y="4933950"/>
            <a:ext cx="5143500" cy="2524125"/>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If the feeling lasts sixty seconds and your action takes ten minutes, you lose. An oversized action means the product is only used when the customer is already free and calm — which is never when the feeling is strongest.</a:t>
            </a:r>
          </a:p>
        </p:txBody>
      </p:sp>
      <p:sp>
        <p:nvSpPr>
          <p:cNvPr id="7" name="Rectangle 6"/>
          <p:cNvSpPr/>
          <p:nvPr/>
        </p:nvSpPr>
        <p:spPr>
          <a:xfrm>
            <a:off x="6572250" y="3629025"/>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933825"/>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Keep the reward slightly unpredictable</a:t>
            </a:r>
          </a:p>
        </p:txBody>
      </p:sp>
      <p:sp>
        <p:nvSpPr>
          <p:cNvPr id="9" name="TextBox 8"/>
          <p:cNvSpPr txBox="1"/>
          <p:nvPr/>
        </p:nvSpPr>
        <p:spPr>
          <a:xfrm>
            <a:off x="6572250" y="4933950"/>
            <a:ext cx="5143500" cy="2524125"/>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Everybody knows what a Royal Enfield sounds like, but you do not know which stranger at which traffic light will look. A flat reward means retention looks fine for two quarters and then falls off a cliff with no warning in the data.</a:t>
            </a:r>
          </a:p>
        </p:txBody>
      </p:sp>
      <p:sp>
        <p:nvSpPr>
          <p:cNvPr id="10" name="Rectangle 9"/>
          <p:cNvSpPr/>
          <p:nvPr/>
        </p:nvSpPr>
        <p:spPr>
          <a:xfrm>
            <a:off x="12096750" y="3629025"/>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933825"/>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The investment step is where the business is</a:t>
            </a:r>
          </a:p>
        </p:txBody>
      </p:sp>
      <p:sp>
        <p:nvSpPr>
          <p:cNvPr id="12" name="TextBox 11"/>
          <p:cNvSpPr txBox="1"/>
          <p:nvPr/>
        </p:nvSpPr>
        <p:spPr>
          <a:xfrm>
            <a:off x="12096750" y="4933950"/>
            <a:ext cx="5143500" cy="217170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It quietly converts a belonging or identity product into an avoidance one over time, because the customer has accumulated something they do not want to give up.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THE BOUNDARY · WHERE DESIGNING FOR A DRIVER STOPS WORKING</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Three failure conditions, and one of them is ethical</a:t>
            </a:r>
          </a:p>
        </p:txBody>
      </p:sp>
      <p:sp>
        <p:nvSpPr>
          <p:cNvPr id="4" name="TextBox 3"/>
          <p:cNvSpPr txBox="1"/>
          <p:nvPr/>
        </p:nvSpPr>
        <p:spPr>
          <a:xfrm>
            <a:off x="1314450" y="3629025"/>
            <a:ext cx="2667000" cy="276225"/>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THE FAILURE</a:t>
            </a:r>
          </a:p>
        </p:txBody>
      </p:sp>
      <p:sp>
        <p:nvSpPr>
          <p:cNvPr id="5" name="TextBox 4"/>
          <p:cNvSpPr txBox="1"/>
          <p:nvPr/>
        </p:nvSpPr>
        <p:spPr>
          <a:xfrm>
            <a:off x="4229100" y="3629025"/>
            <a:ext cx="6667500" cy="276225"/>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WHAT GOES WRONG</a:t>
            </a:r>
          </a:p>
        </p:txBody>
      </p:sp>
      <p:sp>
        <p:nvSpPr>
          <p:cNvPr id="6" name="TextBox 5"/>
          <p:cNvSpPr txBox="1"/>
          <p:nvPr/>
        </p:nvSpPr>
        <p:spPr>
          <a:xfrm>
            <a:off x="11144250" y="3629025"/>
            <a:ext cx="5143500" cy="276225"/>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THE EARLIEST SIGNAL IN THE DATA</a:t>
            </a:r>
          </a:p>
        </p:txBody>
      </p:sp>
      <p:sp>
        <p:nvSpPr>
          <p:cNvPr id="7" name="Rectangle 6"/>
          <p:cNvSpPr/>
          <p:nvPr/>
        </p:nvSpPr>
        <p:spPr>
          <a:xfrm>
            <a:off x="1047750" y="4076700"/>
            <a:ext cx="16192500" cy="28575"/>
          </a:xfrm>
          <a:prstGeom prst="rect">
            <a:avLst/>
          </a:prstGeom>
          <a:solidFill>
            <a:srgbClr val="201914"/>
          </a:solidFill>
          <a:ln>
            <a:noFill/>
          </a:ln>
          <a:effectLst/>
        </p:spPr>
        <p:txBody>
          <a:bodyPr rtlCol="0" anchor="ctr"/>
          <a:lstStyle/>
          <a:p>
            <a:pPr algn="ctr"/>
          </a:p>
        </p:txBody>
      </p:sp>
      <p:sp>
        <p:nvSpPr>
          <p:cNvPr id="8" name="TextBox 7"/>
          <p:cNvSpPr txBox="1"/>
          <p:nvPr/>
        </p:nvSpPr>
        <p:spPr>
          <a:xfrm>
            <a:off x="1314450" y="4181475"/>
            <a:ext cx="2667000" cy="1647825"/>
          </a:xfrm>
          <a:prstGeom prst="rect">
            <a:avLst/>
          </a:prstGeom>
          <a:noFill/>
        </p:spPr>
        <p:txBody>
          <a:bodyPr wrap="square" lIns="0" rIns="0" tIns="0" bIns="0" anchor="ctr">
            <a:spAutoFit/>
          </a:bodyPr>
          <a:lstStyle/>
          <a:p>
            <a:pPr algn="l">
              <a:lnSpc>
                <a:spcPct val="106000"/>
              </a:lnSpc>
            </a:pPr>
            <a:r>
              <a:rPr sz="1800" b="1" i="0">
                <a:solidFill>
                  <a:srgbClr val="201914"/>
                </a:solidFill>
                <a:latin typeface="Arial"/>
              </a:rPr>
              <a:t>1 · Driver fatigue</a:t>
            </a:r>
          </a:p>
        </p:txBody>
      </p:sp>
      <p:sp>
        <p:nvSpPr>
          <p:cNvPr id="9" name="TextBox 8"/>
          <p:cNvSpPr txBox="1"/>
          <p:nvPr/>
        </p:nvSpPr>
        <p:spPr>
          <a:xfrm>
            <a:off x="4229100" y="4181475"/>
            <a:ext cx="6667500" cy="1647825"/>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Every driver decays and avoidance decays fastest. The first time an app says your streak is about to break you feel something; the fortieth time you swipe it away. The fix is not a louder mechanic — it is a new station in the loop, or a move up the ladder.</a:t>
            </a:r>
          </a:p>
        </p:txBody>
      </p:sp>
      <p:sp>
        <p:nvSpPr>
          <p:cNvPr id="10" name="TextBox 9"/>
          <p:cNvSpPr txBox="1"/>
          <p:nvPr/>
        </p:nvSpPr>
        <p:spPr>
          <a:xfrm>
            <a:off x="11144250" y="4181475"/>
            <a:ext cx="5143500" cy="1647825"/>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The mechanic still fires at the same rate but the action rate behind it falls — the same number of notifications producing fewer bookings.</a:t>
            </a:r>
          </a:p>
        </p:txBody>
      </p:sp>
      <p:sp>
        <p:nvSpPr>
          <p:cNvPr id="11" name="Rectangle 10"/>
          <p:cNvSpPr/>
          <p:nvPr/>
        </p:nvSpPr>
        <p:spPr>
          <a:xfrm>
            <a:off x="1047750" y="5924550"/>
            <a:ext cx="16192500" cy="9525"/>
          </a:xfrm>
          <a:prstGeom prst="rect">
            <a:avLst/>
          </a:prstGeom>
          <a:solidFill>
            <a:srgbClr val="D8CFC7"/>
          </a:solidFill>
          <a:ln>
            <a:noFill/>
          </a:ln>
          <a:effectLst/>
        </p:spPr>
        <p:txBody>
          <a:bodyPr rtlCol="0" anchor="ctr"/>
          <a:lstStyle/>
          <a:p>
            <a:pPr algn="ctr"/>
          </a:p>
        </p:txBody>
      </p:sp>
      <p:sp>
        <p:nvSpPr>
          <p:cNvPr id="12" name="Rectangle 11"/>
          <p:cNvSpPr/>
          <p:nvPr/>
        </p:nvSpPr>
        <p:spPr>
          <a:xfrm>
            <a:off x="1047750" y="5924550"/>
            <a:ext cx="16192500" cy="1838325"/>
          </a:xfrm>
          <a:prstGeom prst="rect">
            <a:avLst/>
          </a:prstGeom>
          <a:solidFill>
            <a:srgbClr val="F3EEE6"/>
          </a:solidFill>
          <a:ln>
            <a:noFill/>
          </a:ln>
          <a:effectLst/>
        </p:spPr>
        <p:txBody>
          <a:bodyPr rtlCol="0" anchor="ctr"/>
          <a:lstStyle/>
          <a:p>
            <a:pPr algn="ctr"/>
          </a:p>
        </p:txBody>
      </p:sp>
      <p:sp>
        <p:nvSpPr>
          <p:cNvPr id="13" name="TextBox 12"/>
          <p:cNvSpPr txBox="1"/>
          <p:nvPr/>
        </p:nvSpPr>
        <p:spPr>
          <a:xfrm>
            <a:off x="1314450" y="6019800"/>
            <a:ext cx="2667000" cy="1647825"/>
          </a:xfrm>
          <a:prstGeom prst="rect">
            <a:avLst/>
          </a:prstGeom>
          <a:noFill/>
        </p:spPr>
        <p:txBody>
          <a:bodyPr wrap="square" lIns="0" rIns="0" tIns="0" bIns="0" anchor="ctr">
            <a:spAutoFit/>
          </a:bodyPr>
          <a:lstStyle/>
          <a:p>
            <a:pPr algn="l">
              <a:lnSpc>
                <a:spcPct val="106000"/>
              </a:lnSpc>
            </a:pPr>
            <a:r>
              <a:rPr sz="1800" b="1" i="0">
                <a:solidFill>
                  <a:srgbClr val="201914"/>
                </a:solidFill>
                <a:latin typeface="Arial"/>
              </a:rPr>
              <a:t>2 · Driver-buyer mismatch</a:t>
            </a:r>
          </a:p>
        </p:txBody>
      </p:sp>
      <p:sp>
        <p:nvSpPr>
          <p:cNvPr id="14" name="TextBox 13"/>
          <p:cNvSpPr txBox="1"/>
          <p:nvPr/>
        </p:nvSpPr>
        <p:spPr>
          <a:xfrm>
            <a:off x="4229100" y="6019800"/>
            <a:ext cx="6667500" cy="1647825"/>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You designed the driver for the person who uses the product and somebody else pays. Guilt aimed at a nineteen-year-old about a missed workout is fine. The same guilt reaching the father who paid for the annual pack reads as harassment about money already spent.</a:t>
            </a:r>
          </a:p>
        </p:txBody>
      </p:sp>
      <p:sp>
        <p:nvSpPr>
          <p:cNvPr id="15" name="TextBox 14"/>
          <p:cNvSpPr txBox="1"/>
          <p:nvPr/>
        </p:nvSpPr>
        <p:spPr>
          <a:xfrm>
            <a:off x="11144250" y="6019800"/>
            <a:ext cx="5143500" cy="1647825"/>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A gap between usage and renewal — which almost always means the person enjoying the product and the person paying for it are different people.</a:t>
            </a:r>
          </a:p>
        </p:txBody>
      </p:sp>
      <p:sp>
        <p:nvSpPr>
          <p:cNvPr id="16" name="Rectangle 15"/>
          <p:cNvSpPr/>
          <p:nvPr/>
        </p:nvSpPr>
        <p:spPr>
          <a:xfrm>
            <a:off x="1047750" y="7762875"/>
            <a:ext cx="16192500" cy="9525"/>
          </a:xfrm>
          <a:prstGeom prst="rect">
            <a:avLst/>
          </a:prstGeom>
          <a:solidFill>
            <a:srgbClr val="D8CFC7"/>
          </a:solidFill>
          <a:ln>
            <a:noFill/>
          </a:ln>
          <a:effectLst/>
        </p:spPr>
        <p:txBody>
          <a:bodyPr rtlCol="0" anchor="ctr"/>
          <a:lstStyle/>
          <a:p>
            <a:pPr algn="ctr"/>
          </a:p>
        </p:txBody>
      </p:sp>
      <p:sp>
        <p:nvSpPr>
          <p:cNvPr id="17" name="TextBox 16"/>
          <p:cNvSpPr txBox="1"/>
          <p:nvPr/>
        </p:nvSpPr>
        <p:spPr>
          <a:xfrm>
            <a:off x="1314450" y="7858125"/>
            <a:ext cx="2667000" cy="1409700"/>
          </a:xfrm>
          <a:prstGeom prst="rect">
            <a:avLst/>
          </a:prstGeom>
          <a:noFill/>
        </p:spPr>
        <p:txBody>
          <a:bodyPr wrap="square" lIns="0" rIns="0" tIns="0" bIns="0" anchor="ctr">
            <a:spAutoFit/>
          </a:bodyPr>
          <a:lstStyle/>
          <a:p>
            <a:pPr algn="l">
              <a:lnSpc>
                <a:spcPct val="106000"/>
              </a:lnSpc>
            </a:pPr>
            <a:r>
              <a:rPr sz="1800" b="1" i="0">
                <a:solidFill>
                  <a:srgbClr val="201914"/>
                </a:solidFill>
                <a:latin typeface="Arial"/>
              </a:rPr>
              <a:t>3 · The shame line</a:t>
            </a:r>
          </a:p>
        </p:txBody>
      </p:sp>
      <p:sp>
        <p:nvSpPr>
          <p:cNvPr id="18" name="TextBox 17"/>
          <p:cNvSpPr txBox="1"/>
          <p:nvPr/>
        </p:nvSpPr>
        <p:spPr>
          <a:xfrm>
            <a:off x="4229100" y="7858125"/>
            <a:ext cx="6667500" cy="140970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A missed-class notification sent to you is a nudge. The same information shown to eleven other people in your class is a public verdict on your body, and it is the same product feature. The test is not whether the copy is kind.</a:t>
            </a:r>
          </a:p>
        </p:txBody>
      </p:sp>
      <p:sp>
        <p:nvSpPr>
          <p:cNvPr id="19" name="TextBox 18"/>
          <p:cNvSpPr txBox="1"/>
          <p:nvPr/>
        </p:nvSpPr>
        <p:spPr>
          <a:xfrm>
            <a:off x="11144250" y="7858125"/>
            <a:ext cx="5143500" cy="140970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Selective withdrawal: customers quietly switching off the social or public features while continuing to pay.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6029325"/>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PART TWO</a:t>
            </a:r>
          </a:p>
        </p:txBody>
      </p:sp>
      <p:sp>
        <p:nvSpPr>
          <p:cNvPr id="3" name="TextBox 2"/>
          <p:cNvSpPr txBox="1"/>
          <p:nvPr/>
        </p:nvSpPr>
        <p:spPr>
          <a:xfrm>
            <a:off x="1047750" y="6581775"/>
            <a:ext cx="16192500" cy="1181100"/>
          </a:xfrm>
          <a:prstGeom prst="rect">
            <a:avLst/>
          </a:prstGeom>
          <a:noFill/>
        </p:spPr>
        <p:txBody>
          <a:bodyPr wrap="square" lIns="0" rIns="0" tIns="0" bIns="0" anchor="t">
            <a:spAutoFit/>
          </a:bodyPr>
          <a:lstStyle/>
          <a:p>
            <a:pPr algn="l">
              <a:lnSpc>
                <a:spcPct val="88000"/>
              </a:lnSpc>
            </a:pPr>
            <a:r>
              <a:rPr sz="9900" b="1" i="0" spc="-450">
                <a:solidFill>
                  <a:srgbClr val="F5F1E9"/>
                </a:solidFill>
                <a:latin typeface="Arial"/>
              </a:rPr>
              <a:t>Levers</a:t>
            </a:r>
          </a:p>
        </p:txBody>
      </p:sp>
      <p:sp>
        <p:nvSpPr>
          <p:cNvPr id="4" name="TextBox 3"/>
          <p:cNvSpPr txBox="1"/>
          <p:nvPr/>
        </p:nvSpPr>
        <p:spPr>
          <a:xfrm>
            <a:off x="1047750" y="8086725"/>
            <a:ext cx="14287500" cy="1247775"/>
          </a:xfrm>
          <a:prstGeom prst="rect">
            <a:avLst/>
          </a:prstGeom>
          <a:noFill/>
        </p:spPr>
        <p:txBody>
          <a:bodyPr wrap="square" lIns="0" rIns="0" tIns="0" bIns="0" anchor="t">
            <a:spAutoFit/>
          </a:bodyPr>
          <a:lstStyle/>
          <a:p>
            <a:pPr algn="l">
              <a:lnSpc>
                <a:spcPct val="118000"/>
              </a:lnSpc>
            </a:pPr>
            <a:r>
              <a:rPr sz="3900" b="0" i="1">
                <a:solidFill>
                  <a:srgbClr val="C1B5AB"/>
                </a:solidFill>
                <a:latin typeface="Georgia"/>
              </a:rPr>
              <a:t>You now know why they wanted it. Next question: who decided what they were comparing it against, and how long they had?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EF806F"/>
                </a:solidFill>
                <a:latin typeface="Arial"/>
              </a:rPr>
              <a:t>WRITE THIS UNDER THE LADDER</a:t>
            </a:r>
          </a:p>
        </p:txBody>
      </p:sp>
      <p:sp>
        <p:nvSpPr>
          <p:cNvPr id="3" name="TextBox 2"/>
          <p:cNvSpPr txBox="1"/>
          <p:nvPr/>
        </p:nvSpPr>
        <p:spPr>
          <a:xfrm>
            <a:off x="1714500" y="4343400"/>
            <a:ext cx="14859000" cy="1704975"/>
          </a:xfrm>
          <a:prstGeom prst="rect">
            <a:avLst/>
          </a:prstGeom>
          <a:noFill/>
        </p:spPr>
        <p:txBody>
          <a:bodyPr wrap="square" lIns="0" rIns="0" tIns="0" bIns="0" anchor="t">
            <a:spAutoFit/>
          </a:bodyPr>
          <a:lstStyle/>
          <a:p>
            <a:pPr algn="l">
              <a:lnSpc>
                <a:spcPct val="102000"/>
              </a:lnSpc>
            </a:pPr>
            <a:r>
              <a:rPr sz="4200" b="1" i="0" spc="-200">
                <a:solidFill>
                  <a:srgbClr val="F5F1E9"/>
                </a:solidFill>
                <a:latin typeface="Arial"/>
              </a:rPr>
              <a:t>DRIVER = why they wanted it.
LEVER = what the screen put next to it, and how long they had.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TAKE ONE PURCHASE APART</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A shirt bought at 10:40 pm in the last two hours of a sale</a:t>
            </a:r>
          </a:p>
        </p:txBody>
      </p:sp>
      <p:sp>
        <p:nvSpPr>
          <p:cNvPr id="4" name="Rectangle 3"/>
          <p:cNvSpPr/>
          <p:nvPr/>
        </p:nvSpPr>
        <p:spPr>
          <a:xfrm>
            <a:off x="1047750" y="3629025"/>
            <a:ext cx="7905750" cy="4581525"/>
          </a:xfrm>
          <a:prstGeom prst="rect">
            <a:avLst/>
          </a:prstGeom>
          <a:solidFill>
            <a:srgbClr val="F0EAE1"/>
          </a:solidFill>
          <a:ln>
            <a:noFill/>
          </a:ln>
          <a:effectLst/>
        </p:spPr>
        <p:txBody>
          <a:bodyPr rtlCol="0" anchor="ctr"/>
          <a:lstStyle/>
          <a:p>
            <a:pPr algn="ctr"/>
          </a:p>
        </p:txBody>
      </p:sp>
      <p:sp>
        <p:nvSpPr>
          <p:cNvPr id="5" name="TextBox 4"/>
          <p:cNvSpPr txBox="1"/>
          <p:nvPr/>
        </p:nvSpPr>
        <p:spPr>
          <a:xfrm>
            <a:off x="1466850" y="4010025"/>
            <a:ext cx="7067550" cy="600075"/>
          </a:xfrm>
          <a:prstGeom prst="rect">
            <a:avLst/>
          </a:prstGeom>
          <a:noFill/>
        </p:spPr>
        <p:txBody>
          <a:bodyPr wrap="square" lIns="0" rIns="0" tIns="0" bIns="0" anchor="t">
            <a:spAutoFit/>
          </a:bodyPr>
          <a:lstStyle/>
          <a:p>
            <a:pPr algn="l">
              <a:lnSpc>
                <a:spcPct val="112000"/>
              </a:lnSpc>
            </a:pPr>
            <a:r>
              <a:rPr sz="2100" b="1" i="0" spc="200">
                <a:solidFill>
                  <a:srgbClr val="C35141"/>
                </a:solidFill>
                <a:latin typeface="Arial"/>
              </a:rPr>
              <a:t>THE DRIVER — ALREADY THERE</a:t>
            </a:r>
          </a:p>
        </p:txBody>
      </p:sp>
      <p:sp>
        <p:nvSpPr>
          <p:cNvPr id="6" name="TextBox 5"/>
          <p:cNvSpPr txBox="1"/>
          <p:nvPr/>
        </p:nvSpPr>
        <p:spPr>
          <a:xfrm>
            <a:off x="1466850" y="4724400"/>
            <a:ext cx="7067550" cy="609600"/>
          </a:xfrm>
          <a:prstGeom prst="rect">
            <a:avLst/>
          </a:prstGeom>
          <a:noFill/>
        </p:spPr>
        <p:txBody>
          <a:bodyPr wrap="square" lIns="0" rIns="0" tIns="0" bIns="0" anchor="t">
            <a:spAutoFit/>
          </a:bodyPr>
          <a:lstStyle/>
          <a:p>
            <a:pPr algn="l">
              <a:lnSpc>
                <a:spcPct val="108000"/>
              </a:lnSpc>
            </a:pPr>
            <a:r>
              <a:rPr sz="1950" b="0" i="0">
                <a:solidFill>
                  <a:srgbClr val="665B53"/>
                </a:solidFill>
                <a:latin typeface="Arial"/>
              </a:rPr>
              <a:t>Loss aversion. The discount felt like something about to be taken away.</a:t>
            </a:r>
          </a:p>
        </p:txBody>
      </p:sp>
      <p:sp>
        <p:nvSpPr>
          <p:cNvPr id="7" name="TextBox 6"/>
          <p:cNvSpPr txBox="1"/>
          <p:nvPr/>
        </p:nvSpPr>
        <p:spPr>
          <a:xfrm>
            <a:off x="1466850" y="5505450"/>
            <a:ext cx="7067550" cy="342900"/>
          </a:xfrm>
          <a:prstGeom prst="rect">
            <a:avLst/>
          </a:prstGeom>
          <a:noFill/>
        </p:spPr>
        <p:txBody>
          <a:bodyPr wrap="square" lIns="0" rIns="0" tIns="0" bIns="0" anchor="t">
            <a:spAutoFit/>
          </a:bodyPr>
          <a:lstStyle/>
          <a:p>
            <a:pPr algn="l">
              <a:lnSpc>
                <a:spcPct val="108000"/>
              </a:lnSpc>
            </a:pPr>
            <a:r>
              <a:rPr sz="1950" b="0" i="0">
                <a:solidFill>
                  <a:srgbClr val="665B53"/>
                </a:solidFill>
                <a:latin typeface="Arial"/>
              </a:rPr>
              <a:t>The company did not create that. It inherited it.</a:t>
            </a:r>
          </a:p>
        </p:txBody>
      </p:sp>
      <p:sp>
        <p:nvSpPr>
          <p:cNvPr id="8" name="TextBox 7"/>
          <p:cNvSpPr txBox="1"/>
          <p:nvPr/>
        </p:nvSpPr>
        <p:spPr>
          <a:xfrm>
            <a:off x="1466850" y="6019800"/>
            <a:ext cx="7067550" cy="342900"/>
          </a:xfrm>
          <a:prstGeom prst="rect">
            <a:avLst/>
          </a:prstGeom>
          <a:noFill/>
        </p:spPr>
        <p:txBody>
          <a:bodyPr wrap="square" lIns="0" rIns="0" tIns="0" bIns="0" anchor="t">
            <a:spAutoFit/>
          </a:bodyPr>
          <a:lstStyle/>
          <a:p>
            <a:pPr algn="l">
              <a:lnSpc>
                <a:spcPct val="108000"/>
              </a:lnSpc>
            </a:pPr>
            <a:r>
              <a:rPr sz="1950" b="0" i="0">
                <a:solidFill>
                  <a:srgbClr val="665B53"/>
                </a:solidFill>
                <a:latin typeface="Arial"/>
              </a:rPr>
              <a:t>You cannot change it, and you did not pay for it.</a:t>
            </a:r>
          </a:p>
        </p:txBody>
      </p:sp>
      <p:sp>
        <p:nvSpPr>
          <p:cNvPr id="9" name="Rectangle 8"/>
          <p:cNvSpPr/>
          <p:nvPr/>
        </p:nvSpPr>
        <p:spPr>
          <a:xfrm>
            <a:off x="9334500" y="3629025"/>
            <a:ext cx="7905750" cy="4581525"/>
          </a:xfrm>
          <a:prstGeom prst="rect">
            <a:avLst/>
          </a:prstGeom>
          <a:solidFill>
            <a:srgbClr val="201914"/>
          </a:solidFill>
          <a:ln>
            <a:noFill/>
          </a:ln>
          <a:effectLst/>
        </p:spPr>
        <p:txBody>
          <a:bodyPr rtlCol="0" anchor="ctr"/>
          <a:lstStyle/>
          <a:p>
            <a:pPr algn="ctr"/>
          </a:p>
        </p:txBody>
      </p:sp>
      <p:sp>
        <p:nvSpPr>
          <p:cNvPr id="10" name="TextBox 9"/>
          <p:cNvSpPr txBox="1"/>
          <p:nvPr/>
        </p:nvSpPr>
        <p:spPr>
          <a:xfrm>
            <a:off x="9753600" y="4010025"/>
            <a:ext cx="7067550" cy="600075"/>
          </a:xfrm>
          <a:prstGeom prst="rect">
            <a:avLst/>
          </a:prstGeom>
          <a:noFill/>
        </p:spPr>
        <p:txBody>
          <a:bodyPr wrap="square" lIns="0" rIns="0" tIns="0" bIns="0" anchor="t">
            <a:spAutoFit/>
          </a:bodyPr>
          <a:lstStyle/>
          <a:p>
            <a:pPr algn="l">
              <a:lnSpc>
                <a:spcPct val="112000"/>
              </a:lnSpc>
            </a:pPr>
            <a:r>
              <a:rPr sz="2100" b="1" i="0" spc="200">
                <a:solidFill>
                  <a:srgbClr val="EF806F"/>
                </a:solidFill>
                <a:latin typeface="Arial"/>
              </a:rPr>
              <a:t>THE LEVERS — MANUFACTURED THAT MORNING</a:t>
            </a:r>
          </a:p>
        </p:txBody>
      </p:sp>
      <p:sp>
        <p:nvSpPr>
          <p:cNvPr id="11" name="TextBox 10"/>
          <p:cNvSpPr txBox="1"/>
          <p:nvPr/>
        </p:nvSpPr>
        <p:spPr>
          <a:xfrm>
            <a:off x="9753600" y="4724400"/>
            <a:ext cx="7067550" cy="609600"/>
          </a:xfrm>
          <a:prstGeom prst="rect">
            <a:avLst/>
          </a:prstGeom>
          <a:noFill/>
        </p:spPr>
        <p:txBody>
          <a:bodyPr wrap="square" lIns="0" rIns="0" tIns="0" bIns="0" anchor="t">
            <a:spAutoFit/>
          </a:bodyPr>
          <a:lstStyle/>
          <a:p>
            <a:pPr algn="l">
              <a:lnSpc>
                <a:spcPct val="108000"/>
              </a:lnSpc>
            </a:pPr>
            <a:r>
              <a:rPr sz="1950" b="0" i="0">
                <a:solidFill>
                  <a:srgbClr val="C1B5AB"/>
                </a:solidFill>
                <a:latin typeface="Arial"/>
              </a:rPr>
              <a:t>The struck-through ₹2,499 that created the sense of a discount at all.</a:t>
            </a:r>
          </a:p>
        </p:txBody>
      </p:sp>
      <p:sp>
        <p:nvSpPr>
          <p:cNvPr id="12" name="TextBox 11"/>
          <p:cNvSpPr txBox="1"/>
          <p:nvPr/>
        </p:nvSpPr>
        <p:spPr>
          <a:xfrm>
            <a:off x="9753600" y="5505450"/>
            <a:ext cx="7067550" cy="609600"/>
          </a:xfrm>
          <a:prstGeom prst="rect">
            <a:avLst/>
          </a:prstGeom>
          <a:noFill/>
        </p:spPr>
        <p:txBody>
          <a:bodyPr wrap="square" lIns="0" rIns="0" tIns="0" bIns="0" anchor="t">
            <a:spAutoFit/>
          </a:bodyPr>
          <a:lstStyle/>
          <a:p>
            <a:pPr algn="l">
              <a:lnSpc>
                <a:spcPct val="108000"/>
              </a:lnSpc>
            </a:pPr>
            <a:r>
              <a:rPr sz="1950" b="0" i="0">
                <a:solidFill>
                  <a:srgbClr val="C1B5AB"/>
                </a:solidFill>
                <a:latin typeface="Arial"/>
              </a:rPr>
              <a:t>The countdown that decided the purchase would happen tonight rather than next week.</a:t>
            </a:r>
          </a:p>
        </p:txBody>
      </p:sp>
      <p:sp>
        <p:nvSpPr>
          <p:cNvPr id="13" name="TextBox 12"/>
          <p:cNvSpPr txBox="1"/>
          <p:nvPr/>
        </p:nvSpPr>
        <p:spPr>
          <a:xfrm>
            <a:off x="9753600" y="6286500"/>
            <a:ext cx="7067550" cy="609600"/>
          </a:xfrm>
          <a:prstGeom prst="rect">
            <a:avLst/>
          </a:prstGeom>
          <a:noFill/>
        </p:spPr>
        <p:txBody>
          <a:bodyPr wrap="square" lIns="0" rIns="0" tIns="0" bIns="0" anchor="t">
            <a:spAutoFit/>
          </a:bodyPr>
          <a:lstStyle/>
          <a:p>
            <a:pPr algn="l">
              <a:lnSpc>
                <a:spcPct val="108000"/>
              </a:lnSpc>
            </a:pPr>
            <a:r>
              <a:rPr sz="1950" b="0" i="0">
                <a:solidFill>
                  <a:srgbClr val="C1B5AB"/>
                </a:solidFill>
                <a:latin typeface="Arial"/>
              </a:rPr>
              <a:t>The 'only 2 left' under the size selector, compressing the decision further.</a:t>
            </a:r>
          </a:p>
        </p:txBody>
      </p:sp>
      <p:sp>
        <p:nvSpPr>
          <p:cNvPr id="14" name="TextBox 13"/>
          <p:cNvSpPr txBox="1"/>
          <p:nvPr/>
        </p:nvSpPr>
        <p:spPr>
          <a:xfrm>
            <a:off x="9753600" y="7067550"/>
            <a:ext cx="7067550" cy="609600"/>
          </a:xfrm>
          <a:prstGeom prst="rect">
            <a:avLst/>
          </a:prstGeom>
          <a:noFill/>
        </p:spPr>
        <p:txBody>
          <a:bodyPr wrap="square" lIns="0" rIns="0" tIns="0" bIns="0" anchor="t">
            <a:spAutoFit/>
          </a:bodyPr>
          <a:lstStyle/>
          <a:p>
            <a:pPr algn="l">
              <a:lnSpc>
                <a:spcPct val="108000"/>
              </a:lnSpc>
            </a:pPr>
            <a:r>
              <a:rPr sz="1950" b="0" i="0">
                <a:solidFill>
                  <a:srgbClr val="C1B5AB"/>
                </a:solidFill>
                <a:latin typeface="Arial"/>
              </a:rPr>
              <a:t>Every one of these was a decision somebody in an office was paid to make.</a:t>
            </a:r>
          </a:p>
        </p:txBody>
      </p:sp>
      <p:sp>
        <p:nvSpPr>
          <p:cNvPr id="15" name="TextBox 14"/>
          <p:cNvSpPr txBox="1"/>
          <p:nvPr/>
        </p:nvSpPr>
        <p:spPr>
          <a:xfrm>
            <a:off x="1047750" y="8382000"/>
            <a:ext cx="16192500" cy="933450"/>
          </a:xfrm>
          <a:prstGeom prst="rect">
            <a:avLst/>
          </a:prstGeom>
          <a:noFill/>
        </p:spPr>
        <p:txBody>
          <a:bodyPr wrap="square" lIns="0" rIns="0" tIns="0" bIns="0" anchor="t">
            <a:spAutoFit/>
          </a:bodyPr>
          <a:lstStyle/>
          <a:p>
            <a:pPr algn="l">
              <a:lnSpc>
                <a:spcPct val="112000"/>
              </a:lnSpc>
            </a:pPr>
            <a:r>
              <a:rPr sz="3000" b="0" i="1">
                <a:solidFill>
                  <a:srgbClr val="362C24"/>
                </a:solidFill>
                <a:latin typeface="Georgia"/>
              </a:rPr>
              <a:t>Levers are the part you control, they cost almost nothing to change, and you can change them by Friday.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6029325"/>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CASE STUDY · THREE SCREENS</a:t>
            </a:r>
          </a:p>
        </p:txBody>
      </p:sp>
      <p:sp>
        <p:nvSpPr>
          <p:cNvPr id="3" name="TextBox 2"/>
          <p:cNvSpPr txBox="1"/>
          <p:nvPr/>
        </p:nvSpPr>
        <p:spPr>
          <a:xfrm>
            <a:off x="1047750" y="6581775"/>
            <a:ext cx="16192500" cy="1181100"/>
          </a:xfrm>
          <a:prstGeom prst="rect">
            <a:avLst/>
          </a:prstGeom>
          <a:noFill/>
        </p:spPr>
        <p:txBody>
          <a:bodyPr wrap="square" lIns="0" rIns="0" tIns="0" bIns="0" anchor="t">
            <a:spAutoFit/>
          </a:bodyPr>
          <a:lstStyle/>
          <a:p>
            <a:pPr algn="l">
              <a:lnSpc>
                <a:spcPct val="88000"/>
              </a:lnSpc>
            </a:pPr>
            <a:r>
              <a:rPr sz="9900" b="1" i="0" spc="-450">
                <a:solidFill>
                  <a:srgbClr val="F5F1E9"/>
                </a:solidFill>
                <a:latin typeface="Arial"/>
              </a:rPr>
              <a:t>Three screens</a:t>
            </a:r>
          </a:p>
        </p:txBody>
      </p:sp>
      <p:sp>
        <p:nvSpPr>
          <p:cNvPr id="4" name="TextBox 3"/>
          <p:cNvSpPr txBox="1"/>
          <p:nvPr/>
        </p:nvSpPr>
        <p:spPr>
          <a:xfrm>
            <a:off x="1047750" y="8086725"/>
            <a:ext cx="14287500" cy="1247775"/>
          </a:xfrm>
          <a:prstGeom prst="rect">
            <a:avLst/>
          </a:prstGeom>
          <a:noFill/>
        </p:spPr>
        <p:txBody>
          <a:bodyPr wrap="square" lIns="0" rIns="0" tIns="0" bIns="0" anchor="t">
            <a:spAutoFit/>
          </a:bodyPr>
          <a:lstStyle/>
          <a:p>
            <a:pPr algn="l">
              <a:lnSpc>
                <a:spcPct val="118000"/>
              </a:lnSpc>
            </a:pPr>
            <a:r>
              <a:rPr sz="3900" b="0" i="1">
                <a:solidFill>
                  <a:srgbClr val="C1B5AB"/>
                </a:solidFill>
                <a:latin typeface="Georgia"/>
              </a:rPr>
              <a:t>A cinema ticket, a shirt and a membership — and the small design decisions that decided all three.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BOOKMYSHOW · FOUNDED 1999, BUILT OUT FROM 2007</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Honest scarcity, because a cinema seat really is finite</a:t>
            </a:r>
          </a:p>
        </p:txBody>
      </p:sp>
      <p:sp>
        <p:nvSpPr>
          <p:cNvPr id="4" name="Rectangle 3"/>
          <p:cNvSpPr/>
          <p:nvPr/>
        </p:nvSpPr>
        <p:spPr>
          <a:xfrm>
            <a:off x="1047750" y="3629025"/>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933825"/>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Hemrajani, Dar and Balpande</a:t>
            </a:r>
          </a:p>
        </p:txBody>
      </p:sp>
      <p:sp>
        <p:nvSpPr>
          <p:cNvPr id="6" name="TextBox 5"/>
          <p:cNvSpPr txBox="1"/>
          <p:nvPr/>
        </p:nvSpPr>
        <p:spPr>
          <a:xfrm>
            <a:off x="1047750" y="4933950"/>
            <a:ext cx="5143500" cy="217170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Ashish Hemrajani's idea came from watching ticketing work in South Africa. The first version nearly died in the dot-com collapse and was rebuilt running ticketing counters and call centres.</a:t>
            </a:r>
          </a:p>
        </p:txBody>
      </p:sp>
      <p:sp>
        <p:nvSpPr>
          <p:cNvPr id="7" name="Rectangle 6"/>
          <p:cNvSpPr/>
          <p:nvPr/>
        </p:nvSpPr>
        <p:spPr>
          <a:xfrm>
            <a:off x="6572250" y="3629025"/>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933825"/>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15 million bookings a month</a:t>
            </a:r>
          </a:p>
        </p:txBody>
      </p:sp>
      <p:sp>
        <p:nvSpPr>
          <p:cNvPr id="9" name="TextBox 8"/>
          <p:cNvSpPr txBox="1"/>
          <p:nvPr/>
        </p:nvSpPr>
        <p:spPr>
          <a:xfrm>
            <a:off x="6572250" y="4933950"/>
            <a:ext cx="5143500" cy="112395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Across more than 650 cities. The default way a very large number of Indians buy a seat at anything.</a:t>
            </a:r>
          </a:p>
        </p:txBody>
      </p:sp>
      <p:sp>
        <p:nvSpPr>
          <p:cNvPr id="10" name="Rectangle 9"/>
          <p:cNvSpPr/>
          <p:nvPr/>
        </p:nvSpPr>
        <p:spPr>
          <a:xfrm>
            <a:off x="12096750" y="3629025"/>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933825"/>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The seat map does the work</a:t>
            </a:r>
          </a:p>
        </p:txBody>
      </p:sp>
      <p:sp>
        <p:nvSpPr>
          <p:cNvPr id="12" name="TextBox 11"/>
          <p:cNvSpPr txBox="1"/>
          <p:nvPr/>
        </p:nvSpPr>
        <p:spPr>
          <a:xfrm>
            <a:off x="12096750" y="4933950"/>
            <a:ext cx="5143500" cy="1476375"/>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You are not told there are 40 seats left. You can see that the middle rows are almost gone. Real information, honestly presented.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THEN THE PART THAT MATTERS COMMERCIALLY</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The fee is not large. Its placement is the whole design.</a:t>
            </a:r>
          </a:p>
        </p:txBody>
      </p:sp>
      <p:sp>
        <p:nvSpPr>
          <p:cNvPr id="4" name="Rectangle 3"/>
          <p:cNvSpPr/>
          <p:nvPr/>
        </p:nvSpPr>
        <p:spPr>
          <a:xfrm>
            <a:off x="1047750" y="3629025"/>
            <a:ext cx="16192500" cy="1685925"/>
          </a:xfrm>
          <a:prstGeom prst="rect">
            <a:avLst/>
          </a:prstGeom>
          <a:solidFill>
            <a:srgbClr val="F0EAE1"/>
          </a:solidFill>
          <a:ln>
            <a:noFill/>
          </a:ln>
          <a:effectLst/>
        </p:spPr>
        <p:txBody>
          <a:bodyPr rtlCol="0" anchor="ctr"/>
          <a:lstStyle/>
          <a:p>
            <a:pPr algn="ctr"/>
          </a:p>
        </p:txBody>
      </p:sp>
      <p:sp>
        <p:nvSpPr>
          <p:cNvPr id="5" name="TextBox 4"/>
          <p:cNvSpPr txBox="1"/>
          <p:nvPr/>
        </p:nvSpPr>
        <p:spPr>
          <a:xfrm>
            <a:off x="1352550" y="3724275"/>
            <a:ext cx="3676650" cy="1495425"/>
          </a:xfrm>
          <a:prstGeom prst="rect">
            <a:avLst/>
          </a:prstGeom>
          <a:noFill/>
        </p:spPr>
        <p:txBody>
          <a:bodyPr wrap="square" lIns="0" rIns="0" tIns="0" bIns="0" anchor="ctr">
            <a:spAutoFit/>
          </a:bodyPr>
          <a:lstStyle/>
          <a:p>
            <a:pPr algn="l">
              <a:lnSpc>
                <a:spcPct val="94000"/>
              </a:lnSpc>
            </a:pPr>
            <a:r>
              <a:rPr sz="2700" b="1" i="0">
                <a:solidFill>
                  <a:srgbClr val="201914"/>
                </a:solidFill>
                <a:latin typeface="Arial"/>
              </a:rPr>
              <a:t>Four decisions first</a:t>
            </a:r>
          </a:p>
        </p:txBody>
      </p:sp>
      <p:sp>
        <p:nvSpPr>
          <p:cNvPr id="6" name="TextBox 5"/>
          <p:cNvSpPr txBox="1"/>
          <p:nvPr/>
        </p:nvSpPr>
        <p:spPr>
          <a:xfrm>
            <a:off x="5562600" y="3724275"/>
            <a:ext cx="11372850" cy="1495425"/>
          </a:xfrm>
          <a:prstGeom prst="rect">
            <a:avLst/>
          </a:prstGeom>
          <a:noFill/>
        </p:spPr>
        <p:txBody>
          <a:bodyPr wrap="square" lIns="0" rIns="0" tIns="0" bIns="0" anchor="ctr">
            <a:spAutoFit/>
          </a:bodyPr>
          <a:lstStyle/>
          <a:p>
            <a:pPr algn="l">
              <a:lnSpc>
                <a:spcPct val="108000"/>
              </a:lnSpc>
            </a:pPr>
            <a:r>
              <a:rPr sz="2250" b="0" i="0">
                <a:solidFill>
                  <a:srgbClr val="665B53"/>
                </a:solidFill>
                <a:latin typeface="Arial"/>
              </a:rPr>
              <a:t>You pick the film, the show, the seats and the time. Only then does a convenience fee join the ticket price.</a:t>
            </a:r>
          </a:p>
        </p:txBody>
      </p:sp>
      <p:sp>
        <p:nvSpPr>
          <p:cNvPr id="7" name="Rectangle 6"/>
          <p:cNvSpPr/>
          <p:nvPr/>
        </p:nvSpPr>
        <p:spPr>
          <a:xfrm>
            <a:off x="1047750" y="5467350"/>
            <a:ext cx="16192500" cy="1714500"/>
          </a:xfrm>
          <a:prstGeom prst="rect">
            <a:avLst/>
          </a:prstGeom>
          <a:solidFill>
            <a:srgbClr val="F0EAE1"/>
          </a:solidFill>
          <a:ln>
            <a:noFill/>
          </a:ln>
          <a:effectLst/>
        </p:spPr>
        <p:txBody>
          <a:bodyPr rtlCol="0" anchor="ctr"/>
          <a:lstStyle/>
          <a:p>
            <a:pPr algn="ctr"/>
          </a:p>
        </p:txBody>
      </p:sp>
      <p:sp>
        <p:nvSpPr>
          <p:cNvPr id="8" name="TextBox 7"/>
          <p:cNvSpPr txBox="1"/>
          <p:nvPr/>
        </p:nvSpPr>
        <p:spPr>
          <a:xfrm>
            <a:off x="1352550" y="5562600"/>
            <a:ext cx="3676650" cy="1524000"/>
          </a:xfrm>
          <a:prstGeom prst="rect">
            <a:avLst/>
          </a:prstGeom>
          <a:noFill/>
        </p:spPr>
        <p:txBody>
          <a:bodyPr wrap="square" lIns="0" rIns="0" tIns="0" bIns="0" anchor="ctr">
            <a:spAutoFit/>
          </a:bodyPr>
          <a:lstStyle/>
          <a:p>
            <a:pPr algn="l">
              <a:lnSpc>
                <a:spcPct val="94000"/>
              </a:lnSpc>
            </a:pPr>
            <a:r>
              <a:rPr sz="2700" b="1" i="0">
                <a:solidFill>
                  <a:srgbClr val="201914"/>
                </a:solidFill>
                <a:latin typeface="Arial"/>
              </a:rPr>
              <a:t>Anchored against a bigger number</a:t>
            </a:r>
          </a:p>
        </p:txBody>
      </p:sp>
      <p:sp>
        <p:nvSpPr>
          <p:cNvPr id="9" name="TextBox 8"/>
          <p:cNvSpPr txBox="1"/>
          <p:nvPr/>
        </p:nvSpPr>
        <p:spPr>
          <a:xfrm>
            <a:off x="5562600" y="5562600"/>
            <a:ext cx="11372850" cy="1524000"/>
          </a:xfrm>
          <a:prstGeom prst="rect">
            <a:avLst/>
          </a:prstGeom>
          <a:noFill/>
        </p:spPr>
        <p:txBody>
          <a:bodyPr wrap="square" lIns="0" rIns="0" tIns="0" bIns="0" anchor="ctr">
            <a:spAutoFit/>
          </a:bodyPr>
          <a:lstStyle/>
          <a:p>
            <a:pPr algn="l">
              <a:lnSpc>
                <a:spcPct val="108000"/>
              </a:lnSpc>
            </a:pPr>
            <a:r>
              <a:rPr sz="2250" b="0" i="0">
                <a:solidFill>
                  <a:srgbClr val="665B53"/>
                </a:solidFill>
                <a:latin typeface="Arial"/>
              </a:rPr>
              <a:t>A few tens of rupees set beside the ticket price looks minor. That half is entirely fair.</a:t>
            </a:r>
          </a:p>
        </p:txBody>
      </p:sp>
      <p:sp>
        <p:nvSpPr>
          <p:cNvPr id="10" name="Rectangle 9"/>
          <p:cNvSpPr/>
          <p:nvPr/>
        </p:nvSpPr>
        <p:spPr>
          <a:xfrm>
            <a:off x="1047750" y="7334250"/>
            <a:ext cx="16192500" cy="2038350"/>
          </a:xfrm>
          <a:prstGeom prst="rect">
            <a:avLst/>
          </a:prstGeom>
          <a:solidFill>
            <a:srgbClr val="F0EAE1"/>
          </a:solidFill>
          <a:ln>
            <a:noFill/>
          </a:ln>
          <a:effectLst/>
        </p:spPr>
        <p:txBody>
          <a:bodyPr rtlCol="0" anchor="ctr"/>
          <a:lstStyle/>
          <a:p>
            <a:pPr algn="ctr"/>
          </a:p>
        </p:txBody>
      </p:sp>
      <p:sp>
        <p:nvSpPr>
          <p:cNvPr id="11" name="TextBox 10"/>
          <p:cNvSpPr txBox="1"/>
          <p:nvPr/>
        </p:nvSpPr>
        <p:spPr>
          <a:xfrm>
            <a:off x="1352550" y="7429500"/>
            <a:ext cx="3676650" cy="1847850"/>
          </a:xfrm>
          <a:prstGeom prst="rect">
            <a:avLst/>
          </a:prstGeom>
          <a:noFill/>
        </p:spPr>
        <p:txBody>
          <a:bodyPr wrap="square" lIns="0" rIns="0" tIns="0" bIns="0" anchor="ctr">
            <a:spAutoFit/>
          </a:bodyPr>
          <a:lstStyle/>
          <a:p>
            <a:pPr algn="l">
              <a:lnSpc>
                <a:spcPct val="94000"/>
              </a:lnSpc>
            </a:pPr>
            <a:r>
              <a:rPr sz="2700" b="1" i="0">
                <a:solidFill>
                  <a:srgbClr val="201914"/>
                </a:solidFill>
                <a:latin typeface="Arial"/>
              </a:rPr>
              <a:t>Revealed after commitment, not before</a:t>
            </a:r>
          </a:p>
        </p:txBody>
      </p:sp>
      <p:sp>
        <p:nvSpPr>
          <p:cNvPr id="12" name="TextBox 11"/>
          <p:cNvSpPr txBox="1"/>
          <p:nvPr/>
        </p:nvSpPr>
        <p:spPr>
          <a:xfrm>
            <a:off x="5562600" y="7429500"/>
            <a:ext cx="11372850" cy="1847850"/>
          </a:xfrm>
          <a:prstGeom prst="rect">
            <a:avLst/>
          </a:prstGeom>
          <a:noFill/>
        </p:spPr>
        <p:txBody>
          <a:bodyPr wrap="square" lIns="0" rIns="0" tIns="0" bIns="0" anchor="ctr">
            <a:spAutoFit/>
          </a:bodyPr>
          <a:lstStyle/>
          <a:p>
            <a:pPr algn="l">
              <a:lnSpc>
                <a:spcPct val="108000"/>
              </a:lnSpc>
            </a:pPr>
            <a:r>
              <a:rPr sz="2250" b="0" i="0">
                <a:solidFill>
                  <a:srgbClr val="665B53"/>
                </a:solidFill>
                <a:latin typeface="Arial"/>
              </a:rPr>
              <a:t>By that point the alternative is throwing away four decisions and several minutes and driving to the cinema. Almost nobody does. This is the practice the CCPA calls drip pricing.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BOOKMYSHOW · FY25</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The platform that sells the seat is more reliably profitable than the business that owns it</a:t>
            </a:r>
          </a:p>
        </p:txBody>
      </p:sp>
      <p:sp>
        <p:nvSpPr>
          <p:cNvPr id="4" name="Rectangle 3"/>
          <p:cNvSpPr/>
          <p:nvPr/>
        </p:nvSpPr>
        <p:spPr>
          <a:xfrm>
            <a:off x="1047750" y="3629025"/>
            <a:ext cx="5143500" cy="3228975"/>
          </a:xfrm>
          <a:prstGeom prst="rect">
            <a:avLst/>
          </a:prstGeom>
          <a:solidFill>
            <a:srgbClr val="F0EAE1"/>
          </a:solidFill>
          <a:ln>
            <a:noFill/>
          </a:ln>
          <a:effectLst/>
        </p:spPr>
        <p:txBody>
          <a:bodyPr rtlCol="0" anchor="ctr"/>
          <a:lstStyle/>
          <a:p>
            <a:pPr algn="ctr"/>
          </a:p>
        </p:txBody>
      </p:sp>
      <p:sp>
        <p:nvSpPr>
          <p:cNvPr id="5" name="TextBox 4"/>
          <p:cNvSpPr txBox="1"/>
          <p:nvPr/>
        </p:nvSpPr>
        <p:spPr>
          <a:xfrm>
            <a:off x="1466850" y="4010025"/>
            <a:ext cx="4305300" cy="933450"/>
          </a:xfrm>
          <a:prstGeom prst="rect">
            <a:avLst/>
          </a:prstGeom>
          <a:noFill/>
        </p:spPr>
        <p:txBody>
          <a:bodyPr wrap="square" lIns="0" rIns="0" tIns="0" bIns="0" anchor="t">
            <a:spAutoFit/>
          </a:bodyPr>
          <a:lstStyle/>
          <a:p>
            <a:pPr algn="l">
              <a:lnSpc>
                <a:spcPct val="92000"/>
              </a:lnSpc>
            </a:pPr>
            <a:r>
              <a:rPr sz="6600" b="1" i="0" spc="-200">
                <a:solidFill>
                  <a:srgbClr val="201914"/>
                </a:solidFill>
                <a:latin typeface="Arial"/>
              </a:rPr>
              <a:t>₹1,869 cr</a:t>
            </a:r>
          </a:p>
        </p:txBody>
      </p:sp>
      <p:sp>
        <p:nvSpPr>
          <p:cNvPr id="6" name="TextBox 5"/>
          <p:cNvSpPr txBox="1"/>
          <p:nvPr/>
        </p:nvSpPr>
        <p:spPr>
          <a:xfrm>
            <a:off x="1466850" y="4905375"/>
            <a:ext cx="4305300" cy="409575"/>
          </a:xfrm>
          <a:prstGeom prst="rect">
            <a:avLst/>
          </a:prstGeom>
          <a:noFill/>
        </p:spPr>
        <p:txBody>
          <a:bodyPr wrap="square" lIns="0" rIns="0" tIns="0" bIns="0" anchor="t">
            <a:spAutoFit/>
          </a:bodyPr>
          <a:lstStyle/>
          <a:p>
            <a:pPr algn="l">
              <a:lnSpc>
                <a:spcPct val="108000"/>
              </a:lnSpc>
            </a:pPr>
            <a:r>
              <a:rPr sz="2400" b="1" i="0">
                <a:solidFill>
                  <a:srgbClr val="201914"/>
                </a:solidFill>
                <a:latin typeface="Arial"/>
              </a:rPr>
              <a:t>total revenue</a:t>
            </a:r>
          </a:p>
        </p:txBody>
      </p:sp>
      <p:sp>
        <p:nvSpPr>
          <p:cNvPr id="7" name="TextBox 6"/>
          <p:cNvSpPr txBox="1"/>
          <p:nvPr/>
        </p:nvSpPr>
        <p:spPr>
          <a:xfrm>
            <a:off x="1466850" y="5448300"/>
            <a:ext cx="4305300" cy="647700"/>
          </a:xfrm>
          <a:prstGeom prst="rect">
            <a:avLst/>
          </a:prstGeom>
          <a:noFill/>
        </p:spPr>
        <p:txBody>
          <a:bodyPr wrap="square" lIns="0" rIns="0" tIns="0" bIns="0" anchor="t">
            <a:spAutoFit/>
          </a:bodyPr>
          <a:lstStyle/>
          <a:p>
            <a:pPr algn="l">
              <a:lnSpc>
                <a:spcPct val="108000"/>
              </a:lnSpc>
            </a:pPr>
            <a:r>
              <a:rPr sz="2100" b="0" i="0">
                <a:solidFill>
                  <a:srgbClr val="665B53"/>
                </a:solidFill>
                <a:latin typeface="Arial"/>
              </a:rPr>
              <a:t>Up about 30% on the previous year</a:t>
            </a:r>
          </a:p>
        </p:txBody>
      </p:sp>
      <p:sp>
        <p:nvSpPr>
          <p:cNvPr id="8" name="Rectangle 7"/>
          <p:cNvSpPr/>
          <p:nvPr/>
        </p:nvSpPr>
        <p:spPr>
          <a:xfrm>
            <a:off x="6572250" y="3629025"/>
            <a:ext cx="5143500" cy="3228975"/>
          </a:xfrm>
          <a:prstGeom prst="rect">
            <a:avLst/>
          </a:prstGeom>
          <a:solidFill>
            <a:srgbClr val="F0EAE1"/>
          </a:solidFill>
          <a:ln>
            <a:noFill/>
          </a:ln>
          <a:effectLst/>
        </p:spPr>
        <p:txBody>
          <a:bodyPr rtlCol="0" anchor="ctr"/>
          <a:lstStyle/>
          <a:p>
            <a:pPr algn="ctr"/>
          </a:p>
        </p:txBody>
      </p:sp>
      <p:sp>
        <p:nvSpPr>
          <p:cNvPr id="9" name="TextBox 8"/>
          <p:cNvSpPr txBox="1"/>
          <p:nvPr/>
        </p:nvSpPr>
        <p:spPr>
          <a:xfrm>
            <a:off x="6991350" y="4010025"/>
            <a:ext cx="4305300" cy="933450"/>
          </a:xfrm>
          <a:prstGeom prst="rect">
            <a:avLst/>
          </a:prstGeom>
          <a:noFill/>
        </p:spPr>
        <p:txBody>
          <a:bodyPr wrap="square" lIns="0" rIns="0" tIns="0" bIns="0" anchor="t">
            <a:spAutoFit/>
          </a:bodyPr>
          <a:lstStyle/>
          <a:p>
            <a:pPr algn="l">
              <a:lnSpc>
                <a:spcPct val="92000"/>
              </a:lnSpc>
            </a:pPr>
            <a:r>
              <a:rPr sz="6600" b="1" i="0" spc="-200">
                <a:solidFill>
                  <a:srgbClr val="201914"/>
                </a:solidFill>
                <a:latin typeface="Arial"/>
              </a:rPr>
              <a:t>₹192.5 cr</a:t>
            </a:r>
          </a:p>
        </p:txBody>
      </p:sp>
      <p:sp>
        <p:nvSpPr>
          <p:cNvPr id="10" name="TextBox 9"/>
          <p:cNvSpPr txBox="1"/>
          <p:nvPr/>
        </p:nvSpPr>
        <p:spPr>
          <a:xfrm>
            <a:off x="6991350" y="4905375"/>
            <a:ext cx="4305300" cy="409575"/>
          </a:xfrm>
          <a:prstGeom prst="rect">
            <a:avLst/>
          </a:prstGeom>
          <a:noFill/>
        </p:spPr>
        <p:txBody>
          <a:bodyPr wrap="square" lIns="0" rIns="0" tIns="0" bIns="0" anchor="t">
            <a:spAutoFit/>
          </a:bodyPr>
          <a:lstStyle/>
          <a:p>
            <a:pPr algn="l">
              <a:lnSpc>
                <a:spcPct val="108000"/>
              </a:lnSpc>
            </a:pPr>
            <a:r>
              <a:rPr sz="2400" b="1" i="0">
                <a:solidFill>
                  <a:srgbClr val="201914"/>
                </a:solidFill>
                <a:latin typeface="Arial"/>
              </a:rPr>
              <a:t>net profit</a:t>
            </a:r>
          </a:p>
        </p:txBody>
      </p:sp>
      <p:sp>
        <p:nvSpPr>
          <p:cNvPr id="11" name="TextBox 10"/>
          <p:cNvSpPr txBox="1"/>
          <p:nvPr/>
        </p:nvSpPr>
        <p:spPr>
          <a:xfrm>
            <a:off x="6991350" y="5448300"/>
            <a:ext cx="4305300" cy="647700"/>
          </a:xfrm>
          <a:prstGeom prst="rect">
            <a:avLst/>
          </a:prstGeom>
          <a:noFill/>
        </p:spPr>
        <p:txBody>
          <a:bodyPr wrap="square" lIns="0" rIns="0" tIns="0" bIns="0" anchor="t">
            <a:spAutoFit/>
          </a:bodyPr>
          <a:lstStyle/>
          <a:p>
            <a:pPr algn="l">
              <a:lnSpc>
                <a:spcPct val="108000"/>
              </a:lnSpc>
            </a:pPr>
            <a:r>
              <a:rPr sz="2100" b="0" i="0">
                <a:solidFill>
                  <a:srgbClr val="665B53"/>
                </a:solidFill>
                <a:latin typeface="Arial"/>
              </a:rPr>
              <a:t>Against roughly ₹109 crore the year before</a:t>
            </a:r>
          </a:p>
        </p:txBody>
      </p:sp>
      <p:sp>
        <p:nvSpPr>
          <p:cNvPr id="12" name="Rectangle 11"/>
          <p:cNvSpPr/>
          <p:nvPr/>
        </p:nvSpPr>
        <p:spPr>
          <a:xfrm>
            <a:off x="12096750" y="3629025"/>
            <a:ext cx="5143500" cy="3228975"/>
          </a:xfrm>
          <a:prstGeom prst="rect">
            <a:avLst/>
          </a:prstGeom>
          <a:solidFill>
            <a:srgbClr val="F0EAE1"/>
          </a:solidFill>
          <a:ln>
            <a:noFill/>
          </a:ln>
          <a:effectLst/>
        </p:spPr>
        <p:txBody>
          <a:bodyPr rtlCol="0" anchor="ctr"/>
          <a:lstStyle/>
          <a:p>
            <a:pPr algn="ctr"/>
          </a:p>
        </p:txBody>
      </p:sp>
      <p:sp>
        <p:nvSpPr>
          <p:cNvPr id="13" name="TextBox 12"/>
          <p:cNvSpPr txBox="1"/>
          <p:nvPr/>
        </p:nvSpPr>
        <p:spPr>
          <a:xfrm>
            <a:off x="12515850" y="4010025"/>
            <a:ext cx="4305300" cy="933450"/>
          </a:xfrm>
          <a:prstGeom prst="rect">
            <a:avLst/>
          </a:prstGeom>
          <a:noFill/>
        </p:spPr>
        <p:txBody>
          <a:bodyPr wrap="square" lIns="0" rIns="0" tIns="0" bIns="0" anchor="t">
            <a:spAutoFit/>
          </a:bodyPr>
          <a:lstStyle/>
          <a:p>
            <a:pPr algn="l">
              <a:lnSpc>
                <a:spcPct val="92000"/>
              </a:lnSpc>
            </a:pPr>
            <a:r>
              <a:rPr sz="6600" b="1" i="0" spc="-200">
                <a:solidFill>
                  <a:srgbClr val="201914"/>
                </a:solidFill>
                <a:latin typeface="Arial"/>
              </a:rPr>
              <a:t>₹828 cr</a:t>
            </a:r>
          </a:p>
        </p:txBody>
      </p:sp>
      <p:sp>
        <p:nvSpPr>
          <p:cNvPr id="14" name="TextBox 13"/>
          <p:cNvSpPr txBox="1"/>
          <p:nvPr/>
        </p:nvSpPr>
        <p:spPr>
          <a:xfrm>
            <a:off x="12515850" y="4905375"/>
            <a:ext cx="4305300" cy="409575"/>
          </a:xfrm>
          <a:prstGeom prst="rect">
            <a:avLst/>
          </a:prstGeom>
          <a:noFill/>
        </p:spPr>
        <p:txBody>
          <a:bodyPr wrap="square" lIns="0" rIns="0" tIns="0" bIns="0" anchor="t">
            <a:spAutoFit/>
          </a:bodyPr>
          <a:lstStyle/>
          <a:p>
            <a:pPr algn="l">
              <a:lnSpc>
                <a:spcPct val="108000"/>
              </a:lnSpc>
            </a:pPr>
            <a:r>
              <a:rPr sz="2400" b="1" i="0">
                <a:solidFill>
                  <a:srgbClr val="201914"/>
                </a:solidFill>
                <a:latin typeface="Arial"/>
              </a:rPr>
              <a:t>online ticket sales</a:t>
            </a:r>
          </a:p>
        </p:txBody>
      </p:sp>
      <p:sp>
        <p:nvSpPr>
          <p:cNvPr id="15" name="TextBox 14"/>
          <p:cNvSpPr txBox="1"/>
          <p:nvPr/>
        </p:nvSpPr>
        <p:spPr>
          <a:xfrm>
            <a:off x="12515850" y="5448300"/>
            <a:ext cx="4305300" cy="647700"/>
          </a:xfrm>
          <a:prstGeom prst="rect">
            <a:avLst/>
          </a:prstGeom>
          <a:noFill/>
        </p:spPr>
        <p:txBody>
          <a:bodyPr wrap="square" lIns="0" rIns="0" tIns="0" bIns="0" anchor="t">
            <a:spAutoFit/>
          </a:bodyPr>
          <a:lstStyle/>
          <a:p>
            <a:pPr algn="l">
              <a:lnSpc>
                <a:spcPct val="108000"/>
              </a:lnSpc>
            </a:pPr>
            <a:r>
              <a:rPr sz="2100" b="0" i="0">
                <a:solidFill>
                  <a:srgbClr val="665B53"/>
                </a:solidFill>
                <a:latin typeface="Arial"/>
              </a:rPr>
              <a:t>With event ticketing contributing about ₹756 crore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MYNTRA · STARTED 2007, ACQUIRED BY FLIPKART IN 2014</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Nothing on a fashion marketplace is scarce, so every signal is built</a:t>
            </a:r>
          </a:p>
        </p:txBody>
      </p:sp>
      <p:sp>
        <p:nvSpPr>
          <p:cNvPr id="4" name="Rectangle 3"/>
          <p:cNvSpPr/>
          <p:nvPr/>
        </p:nvSpPr>
        <p:spPr>
          <a:xfrm>
            <a:off x="1047750" y="3629025"/>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933825"/>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A shirt is not a cinema seat</a:t>
            </a:r>
          </a:p>
        </p:txBody>
      </p:sp>
      <p:sp>
        <p:nvSpPr>
          <p:cNvPr id="6" name="TextBox 5"/>
          <p:cNvSpPr txBox="1"/>
          <p:nvPr/>
        </p:nvSpPr>
        <p:spPr>
          <a:xfrm>
            <a:off x="1047750" y="4933950"/>
            <a:ext cx="5143500" cy="217170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A shirt in a warehouse is not taken from you when somebody else buys one. There are usually more, and if there are not, a nearly identical one exists three scrolls down.</a:t>
            </a:r>
          </a:p>
        </p:txBody>
      </p:sp>
      <p:sp>
        <p:nvSpPr>
          <p:cNvPr id="7" name="Rectangle 6"/>
          <p:cNvSpPr/>
          <p:nvPr/>
        </p:nvSpPr>
        <p:spPr>
          <a:xfrm>
            <a:off x="6572250" y="3629025"/>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933825"/>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The reference price</a:t>
            </a:r>
          </a:p>
        </p:txBody>
      </p:sp>
      <p:sp>
        <p:nvSpPr>
          <p:cNvPr id="9" name="TextBox 8"/>
          <p:cNvSpPr txBox="1"/>
          <p:nvPr/>
        </p:nvSpPr>
        <p:spPr>
          <a:xfrm>
            <a:off x="6572250" y="4933950"/>
            <a:ext cx="5143500" cy="2524125"/>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Almost every item shows two numbers — a struck-through figure and a lower one. The struck-through figure does the entire job: every rupee below it registers as a gain rather than a cost.</a:t>
            </a:r>
          </a:p>
        </p:txBody>
      </p:sp>
      <p:sp>
        <p:nvSpPr>
          <p:cNvPr id="10" name="Rectangle 9"/>
          <p:cNvSpPr/>
          <p:nvPr/>
        </p:nvSpPr>
        <p:spPr>
          <a:xfrm>
            <a:off x="12096750" y="3629025"/>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933825"/>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The End of Reason Sale, and Insider</a:t>
            </a:r>
          </a:p>
        </p:txBody>
      </p:sp>
      <p:sp>
        <p:nvSpPr>
          <p:cNvPr id="12" name="TextBox 11"/>
          <p:cNvSpPr txBox="1"/>
          <p:nvPr/>
        </p:nvSpPr>
        <p:spPr>
          <a:xfrm>
            <a:off x="12096750" y="4933950"/>
            <a:ext cx="5143500" cy="217170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A scheduled, named, advertised festival with a countdown running for weeks. Then tiers and points that create a running total the customer can see and does not want to lose.</a:t>
            </a:r>
          </a:p>
        </p:txBody>
      </p:sp>
      <p:sp>
        <p:nvSpPr>
          <p:cNvPr id="13" name="TextBox 12"/>
          <p:cNvSpPr txBox="1"/>
          <p:nvPr/>
        </p:nvSpPr>
        <p:spPr>
          <a:xfrm>
            <a:off x="1047750" y="8439150"/>
            <a:ext cx="16192500" cy="933450"/>
          </a:xfrm>
          <a:prstGeom prst="rect">
            <a:avLst/>
          </a:prstGeom>
          <a:noFill/>
        </p:spPr>
        <p:txBody>
          <a:bodyPr wrap="square" lIns="0" rIns="0" tIns="0" bIns="0" anchor="t">
            <a:spAutoFit/>
          </a:bodyPr>
          <a:lstStyle/>
          <a:p>
            <a:pPr algn="l">
              <a:lnSpc>
                <a:spcPct val="112000"/>
              </a:lnSpc>
            </a:pPr>
            <a:r>
              <a:rPr sz="3000" b="0" i="1">
                <a:solidFill>
                  <a:srgbClr val="362C24"/>
                </a:solidFill>
                <a:latin typeface="Georgia"/>
              </a:rPr>
              <a:t>A message saying you are 300 points from the next tier is not offering you anything. It is telling you about a distance — and distances make people walk.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MYNTRA · FY25 · THE MOST INSTRUCTIVE PAIR OF NUMBERS IN THE HOUR</a:t>
            </a:r>
          </a:p>
        </p:txBody>
      </p:sp>
      <p:sp>
        <p:nvSpPr>
          <p:cNvPr id="3" name="TextBox 2"/>
          <p:cNvSpPr txBox="1"/>
          <p:nvPr/>
        </p:nvSpPr>
        <p:spPr>
          <a:xfrm>
            <a:off x="1047750" y="1504950"/>
            <a:ext cx="16192500" cy="895350"/>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Revenue grew 18%. Profit grew about 1,700%.</a:t>
            </a:r>
          </a:p>
        </p:txBody>
      </p:sp>
      <p:sp>
        <p:nvSpPr>
          <p:cNvPr id="4" name="Rectangle 3"/>
          <p:cNvSpPr/>
          <p:nvPr/>
        </p:nvSpPr>
        <p:spPr>
          <a:xfrm>
            <a:off x="1047750" y="2838450"/>
            <a:ext cx="5143500" cy="3524250"/>
          </a:xfrm>
          <a:prstGeom prst="rect">
            <a:avLst/>
          </a:prstGeom>
          <a:solidFill>
            <a:srgbClr val="F0EAE1"/>
          </a:solidFill>
          <a:ln>
            <a:noFill/>
          </a:ln>
          <a:effectLst/>
        </p:spPr>
        <p:txBody>
          <a:bodyPr rtlCol="0" anchor="ctr"/>
          <a:lstStyle/>
          <a:p>
            <a:pPr algn="ctr"/>
          </a:p>
        </p:txBody>
      </p:sp>
      <p:sp>
        <p:nvSpPr>
          <p:cNvPr id="5" name="TextBox 4"/>
          <p:cNvSpPr txBox="1"/>
          <p:nvPr/>
        </p:nvSpPr>
        <p:spPr>
          <a:xfrm>
            <a:off x="1466850" y="3219450"/>
            <a:ext cx="4305300" cy="933450"/>
          </a:xfrm>
          <a:prstGeom prst="rect">
            <a:avLst/>
          </a:prstGeom>
          <a:noFill/>
        </p:spPr>
        <p:txBody>
          <a:bodyPr wrap="square" lIns="0" rIns="0" tIns="0" bIns="0" anchor="t">
            <a:spAutoFit/>
          </a:bodyPr>
          <a:lstStyle/>
          <a:p>
            <a:pPr algn="l">
              <a:lnSpc>
                <a:spcPct val="92000"/>
              </a:lnSpc>
            </a:pPr>
            <a:r>
              <a:rPr sz="6600" b="1" i="0" spc="-200">
                <a:solidFill>
                  <a:srgbClr val="201914"/>
                </a:solidFill>
                <a:latin typeface="Arial"/>
              </a:rPr>
              <a:t>₹6,043 cr</a:t>
            </a:r>
          </a:p>
        </p:txBody>
      </p:sp>
      <p:sp>
        <p:nvSpPr>
          <p:cNvPr id="6" name="TextBox 5"/>
          <p:cNvSpPr txBox="1"/>
          <p:nvPr/>
        </p:nvSpPr>
        <p:spPr>
          <a:xfrm>
            <a:off x="1466850" y="4114800"/>
            <a:ext cx="4305300" cy="409575"/>
          </a:xfrm>
          <a:prstGeom prst="rect">
            <a:avLst/>
          </a:prstGeom>
          <a:noFill/>
        </p:spPr>
        <p:txBody>
          <a:bodyPr wrap="square" lIns="0" rIns="0" tIns="0" bIns="0" anchor="t">
            <a:spAutoFit/>
          </a:bodyPr>
          <a:lstStyle/>
          <a:p>
            <a:pPr algn="l">
              <a:lnSpc>
                <a:spcPct val="108000"/>
              </a:lnSpc>
            </a:pPr>
            <a:r>
              <a:rPr sz="2400" b="1" i="0">
                <a:solidFill>
                  <a:srgbClr val="201914"/>
                </a:solidFill>
                <a:latin typeface="Arial"/>
              </a:rPr>
              <a:t>revenue</a:t>
            </a:r>
          </a:p>
        </p:txBody>
      </p:sp>
      <p:sp>
        <p:nvSpPr>
          <p:cNvPr id="7" name="TextBox 6"/>
          <p:cNvSpPr txBox="1"/>
          <p:nvPr/>
        </p:nvSpPr>
        <p:spPr>
          <a:xfrm>
            <a:off x="1466850" y="4657725"/>
            <a:ext cx="4305300" cy="942975"/>
          </a:xfrm>
          <a:prstGeom prst="rect">
            <a:avLst/>
          </a:prstGeom>
          <a:noFill/>
        </p:spPr>
        <p:txBody>
          <a:bodyPr wrap="square" lIns="0" rIns="0" tIns="0" bIns="0" anchor="t">
            <a:spAutoFit/>
          </a:bodyPr>
          <a:lstStyle/>
          <a:p>
            <a:pPr algn="l">
              <a:lnSpc>
                <a:spcPct val="108000"/>
              </a:lnSpc>
            </a:pPr>
            <a:r>
              <a:rPr sz="2100" b="0" i="0">
                <a:solidFill>
                  <a:srgbClr val="665B53"/>
                </a:solidFill>
                <a:latin typeface="Arial"/>
              </a:rPr>
              <a:t>Up about 18% on ₹5,122 crore</a:t>
            </a:r>
          </a:p>
        </p:txBody>
      </p:sp>
      <p:sp>
        <p:nvSpPr>
          <p:cNvPr id="8" name="Rectangle 7"/>
          <p:cNvSpPr/>
          <p:nvPr/>
        </p:nvSpPr>
        <p:spPr>
          <a:xfrm>
            <a:off x="6572250" y="2838450"/>
            <a:ext cx="5143500" cy="3524250"/>
          </a:xfrm>
          <a:prstGeom prst="rect">
            <a:avLst/>
          </a:prstGeom>
          <a:solidFill>
            <a:srgbClr val="F0EAE1"/>
          </a:solidFill>
          <a:ln>
            <a:noFill/>
          </a:ln>
          <a:effectLst/>
        </p:spPr>
        <p:txBody>
          <a:bodyPr rtlCol="0" anchor="ctr"/>
          <a:lstStyle/>
          <a:p>
            <a:pPr algn="ctr"/>
          </a:p>
        </p:txBody>
      </p:sp>
      <p:sp>
        <p:nvSpPr>
          <p:cNvPr id="9" name="TextBox 8"/>
          <p:cNvSpPr txBox="1"/>
          <p:nvPr/>
        </p:nvSpPr>
        <p:spPr>
          <a:xfrm>
            <a:off x="6991350" y="3219450"/>
            <a:ext cx="4305300" cy="933450"/>
          </a:xfrm>
          <a:prstGeom prst="rect">
            <a:avLst/>
          </a:prstGeom>
          <a:noFill/>
        </p:spPr>
        <p:txBody>
          <a:bodyPr wrap="square" lIns="0" rIns="0" tIns="0" bIns="0" anchor="t">
            <a:spAutoFit/>
          </a:bodyPr>
          <a:lstStyle/>
          <a:p>
            <a:pPr algn="l">
              <a:lnSpc>
                <a:spcPct val="92000"/>
              </a:lnSpc>
            </a:pPr>
            <a:r>
              <a:rPr sz="6600" b="1" i="0" spc="-200">
                <a:solidFill>
                  <a:srgbClr val="201914"/>
                </a:solidFill>
                <a:latin typeface="Arial"/>
              </a:rPr>
              <a:t>₹548 cr</a:t>
            </a:r>
          </a:p>
        </p:txBody>
      </p:sp>
      <p:sp>
        <p:nvSpPr>
          <p:cNvPr id="10" name="TextBox 9"/>
          <p:cNvSpPr txBox="1"/>
          <p:nvPr/>
        </p:nvSpPr>
        <p:spPr>
          <a:xfrm>
            <a:off x="6991350" y="4114800"/>
            <a:ext cx="4305300" cy="409575"/>
          </a:xfrm>
          <a:prstGeom prst="rect">
            <a:avLst/>
          </a:prstGeom>
          <a:noFill/>
        </p:spPr>
        <p:txBody>
          <a:bodyPr wrap="square" lIns="0" rIns="0" tIns="0" bIns="0" anchor="t">
            <a:spAutoFit/>
          </a:bodyPr>
          <a:lstStyle/>
          <a:p>
            <a:pPr algn="l">
              <a:lnSpc>
                <a:spcPct val="108000"/>
              </a:lnSpc>
            </a:pPr>
            <a:r>
              <a:rPr sz="2400" b="1" i="0">
                <a:solidFill>
                  <a:srgbClr val="201914"/>
                </a:solidFill>
                <a:latin typeface="Arial"/>
              </a:rPr>
              <a:t>profit after tax</a:t>
            </a:r>
          </a:p>
        </p:txBody>
      </p:sp>
      <p:sp>
        <p:nvSpPr>
          <p:cNvPr id="11" name="TextBox 10"/>
          <p:cNvSpPr txBox="1"/>
          <p:nvPr/>
        </p:nvSpPr>
        <p:spPr>
          <a:xfrm>
            <a:off x="6991350" y="4657725"/>
            <a:ext cx="4305300" cy="942975"/>
          </a:xfrm>
          <a:prstGeom prst="rect">
            <a:avLst/>
          </a:prstGeom>
          <a:noFill/>
        </p:spPr>
        <p:txBody>
          <a:bodyPr wrap="square" lIns="0" rIns="0" tIns="0" bIns="0" anchor="t">
            <a:spAutoFit/>
          </a:bodyPr>
          <a:lstStyle/>
          <a:p>
            <a:pPr algn="l">
              <a:lnSpc>
                <a:spcPct val="108000"/>
              </a:lnSpc>
            </a:pPr>
            <a:r>
              <a:rPr sz="2100" b="0" i="0">
                <a:solidFill>
                  <a:srgbClr val="665B53"/>
                </a:solidFill>
                <a:latin typeface="Arial"/>
              </a:rPr>
              <a:t>Against roughly ₹31 crore the previous year — about eighteen times</a:t>
            </a:r>
          </a:p>
        </p:txBody>
      </p:sp>
      <p:sp>
        <p:nvSpPr>
          <p:cNvPr id="12" name="Rectangle 11"/>
          <p:cNvSpPr/>
          <p:nvPr/>
        </p:nvSpPr>
        <p:spPr>
          <a:xfrm>
            <a:off x="12096750" y="2838450"/>
            <a:ext cx="5143500" cy="3524250"/>
          </a:xfrm>
          <a:prstGeom prst="rect">
            <a:avLst/>
          </a:prstGeom>
          <a:solidFill>
            <a:srgbClr val="C35141"/>
          </a:solidFill>
          <a:ln>
            <a:noFill/>
          </a:ln>
          <a:effectLst/>
        </p:spPr>
        <p:txBody>
          <a:bodyPr rtlCol="0" anchor="ctr"/>
          <a:lstStyle/>
          <a:p>
            <a:pPr algn="ctr"/>
          </a:p>
        </p:txBody>
      </p:sp>
      <p:sp>
        <p:nvSpPr>
          <p:cNvPr id="13" name="TextBox 12"/>
          <p:cNvSpPr txBox="1"/>
          <p:nvPr/>
        </p:nvSpPr>
        <p:spPr>
          <a:xfrm>
            <a:off x="12515850" y="3219450"/>
            <a:ext cx="4305300" cy="933450"/>
          </a:xfrm>
          <a:prstGeom prst="rect">
            <a:avLst/>
          </a:prstGeom>
          <a:noFill/>
        </p:spPr>
        <p:txBody>
          <a:bodyPr wrap="square" lIns="0" rIns="0" tIns="0" bIns="0" anchor="t">
            <a:spAutoFit/>
          </a:bodyPr>
          <a:lstStyle/>
          <a:p>
            <a:pPr algn="l">
              <a:lnSpc>
                <a:spcPct val="92000"/>
              </a:lnSpc>
            </a:pPr>
            <a:r>
              <a:rPr sz="6600" b="1" i="0" spc="-200">
                <a:solidFill>
                  <a:srgbClr val="F5F1E9"/>
                </a:solidFill>
                <a:latin typeface="Arial"/>
              </a:rPr>
              <a:t>₹2,105 cr</a:t>
            </a:r>
          </a:p>
        </p:txBody>
      </p:sp>
      <p:sp>
        <p:nvSpPr>
          <p:cNvPr id="14" name="TextBox 13"/>
          <p:cNvSpPr txBox="1"/>
          <p:nvPr/>
        </p:nvSpPr>
        <p:spPr>
          <a:xfrm>
            <a:off x="12515850" y="4114800"/>
            <a:ext cx="4305300" cy="409575"/>
          </a:xfrm>
          <a:prstGeom prst="rect">
            <a:avLst/>
          </a:prstGeom>
          <a:noFill/>
        </p:spPr>
        <p:txBody>
          <a:bodyPr wrap="square" lIns="0" rIns="0" tIns="0" bIns="0" anchor="t">
            <a:spAutoFit/>
          </a:bodyPr>
          <a:lstStyle/>
          <a:p>
            <a:pPr algn="l">
              <a:lnSpc>
                <a:spcPct val="108000"/>
              </a:lnSpc>
            </a:pPr>
            <a:r>
              <a:rPr sz="2400" b="1" i="0">
                <a:solidFill>
                  <a:srgbClr val="F5F1E9"/>
                </a:solidFill>
                <a:latin typeface="Arial"/>
              </a:rPr>
              <a:t>advertising and promotion</a:t>
            </a:r>
          </a:p>
        </p:txBody>
      </p:sp>
      <p:sp>
        <p:nvSpPr>
          <p:cNvPr id="15" name="TextBox 14"/>
          <p:cNvSpPr txBox="1"/>
          <p:nvPr/>
        </p:nvSpPr>
        <p:spPr>
          <a:xfrm>
            <a:off x="12515850" y="4657725"/>
            <a:ext cx="4305300" cy="942975"/>
          </a:xfrm>
          <a:prstGeom prst="rect">
            <a:avLst/>
          </a:prstGeom>
          <a:noFill/>
        </p:spPr>
        <p:txBody>
          <a:bodyPr wrap="square" lIns="0" rIns="0" tIns="0" bIns="0" anchor="t">
            <a:spAutoFit/>
          </a:bodyPr>
          <a:lstStyle/>
          <a:p>
            <a:pPr algn="l">
              <a:lnSpc>
                <a:spcPct val="108000"/>
              </a:lnSpc>
            </a:pPr>
            <a:r>
              <a:rPr sz="2100" b="0" i="0">
                <a:solidFill>
                  <a:srgbClr val="F5F1E9"/>
                </a:solidFill>
                <a:latin typeface="Arial"/>
              </a:rPr>
              <a:t>Up about 37%, to earn roughly ₹914 crore of advertising revenue</a:t>
            </a:r>
          </a:p>
        </p:txBody>
      </p:sp>
      <p:sp>
        <p:nvSpPr>
          <p:cNvPr id="16" name="TextBox 15"/>
          <p:cNvSpPr txBox="1"/>
          <p:nvPr/>
        </p:nvSpPr>
        <p:spPr>
          <a:xfrm>
            <a:off x="1047750" y="8286750"/>
            <a:ext cx="16192500" cy="933450"/>
          </a:xfrm>
          <a:prstGeom prst="rect">
            <a:avLst/>
          </a:prstGeom>
          <a:noFill/>
        </p:spPr>
        <p:txBody>
          <a:bodyPr wrap="square" lIns="0" rIns="0" tIns="0" bIns="0" anchor="t">
            <a:spAutoFit/>
          </a:bodyPr>
          <a:lstStyle/>
          <a:p>
            <a:pPr algn="l">
              <a:lnSpc>
                <a:spcPct val="112000"/>
              </a:lnSpc>
            </a:pPr>
            <a:r>
              <a:rPr sz="3000" b="0" i="1">
                <a:solidFill>
                  <a:srgbClr val="362C24"/>
                </a:solidFill>
                <a:latin typeface="Georgia"/>
              </a:rPr>
              <a:t>The screen multiplies whatever traffic you have already paid dearly to get. Multiplying zero still gives you zero.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AMAZON PRIME · LAUNCHED IN INDIA IN 2016</a:t>
            </a:r>
          </a:p>
        </p:txBody>
      </p:sp>
      <p:sp>
        <p:nvSpPr>
          <p:cNvPr id="3" name="TextBox 2"/>
          <p:cNvSpPr txBox="1"/>
          <p:nvPr/>
        </p:nvSpPr>
        <p:spPr>
          <a:xfrm>
            <a:off x="1047750" y="1504950"/>
            <a:ext cx="16192500" cy="895350"/>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The lever that makes the customer do the work</a:t>
            </a:r>
          </a:p>
        </p:txBody>
      </p:sp>
      <p:sp>
        <p:nvSpPr>
          <p:cNvPr id="4" name="Rectangle 3"/>
          <p:cNvSpPr/>
          <p:nvPr/>
        </p:nvSpPr>
        <p:spPr>
          <a:xfrm>
            <a:off x="1047750" y="2838450"/>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143250"/>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The annual fee is not a revenue line</a:t>
            </a:r>
          </a:p>
        </p:txBody>
      </p:sp>
      <p:sp>
        <p:nvSpPr>
          <p:cNvPr id="6" name="TextBox 5"/>
          <p:cNvSpPr txBox="1"/>
          <p:nvPr/>
        </p:nvSpPr>
        <p:spPr>
          <a:xfrm>
            <a:off x="1047750" y="4143375"/>
            <a:ext cx="5143500" cy="217170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It is an installation. The day after it is paid the money is gone and cannot be recovered, so every rational calculation from that point should ignore it entirely. Human beings do not do this.</a:t>
            </a:r>
          </a:p>
        </p:txBody>
      </p:sp>
      <p:sp>
        <p:nvSpPr>
          <p:cNvPr id="7" name="Rectangle 6"/>
          <p:cNvSpPr/>
          <p:nvPr/>
        </p:nvSpPr>
        <p:spPr>
          <a:xfrm>
            <a:off x="6572250" y="2838450"/>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143250"/>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Reciprocity, delivered by a free trial</a:t>
            </a:r>
          </a:p>
        </p:txBody>
      </p:sp>
      <p:sp>
        <p:nvSpPr>
          <p:cNvPr id="9" name="TextBox 8"/>
          <p:cNvSpPr txBox="1"/>
          <p:nvPr/>
        </p:nvSpPr>
        <p:spPr>
          <a:xfrm>
            <a:off x="6572250" y="4143375"/>
            <a:ext cx="5143500" cy="1476375"/>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The company gives something before asking for anything. A free trial is not a sample; it is a small debt.</a:t>
            </a:r>
          </a:p>
        </p:txBody>
      </p:sp>
      <p:sp>
        <p:nvSpPr>
          <p:cNvPr id="10" name="Rectangle 9"/>
          <p:cNvSpPr/>
          <p:nvPr/>
        </p:nvSpPr>
        <p:spPr>
          <a:xfrm>
            <a:off x="12096750" y="2838450"/>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143250"/>
            <a:ext cx="5143500" cy="828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Bundle ambiguity</a:t>
            </a:r>
          </a:p>
        </p:txBody>
      </p:sp>
      <p:sp>
        <p:nvSpPr>
          <p:cNvPr id="12" name="TextBox 11"/>
          <p:cNvSpPr txBox="1"/>
          <p:nvPr/>
        </p:nvSpPr>
        <p:spPr>
          <a:xfrm>
            <a:off x="12096750" y="4143375"/>
            <a:ext cx="5143500" cy="217170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Prime is delivery plus video plus music plus assorted other benefits. Nobody can honestly price 'Amazon Music to me, personally, this year', so the decision falls back on feeling.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FRAMEWORK 3 · BLUE, GREEN, AMBER — THE ORDER THEY ACT IN</a:t>
            </a:r>
          </a:p>
        </p:txBody>
      </p:sp>
      <p:sp>
        <p:nvSpPr>
          <p:cNvPr id="3" name="TextBox 2"/>
          <p:cNvSpPr txBox="1"/>
          <p:nvPr/>
        </p:nvSpPr>
        <p:spPr>
          <a:xfrm>
            <a:off x="1047750" y="1504950"/>
            <a:ext cx="16192500" cy="895350"/>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The Three Levers of Choice Architecture</a:t>
            </a:r>
          </a:p>
        </p:txBody>
      </p:sp>
      <p:sp>
        <p:nvSpPr>
          <p:cNvPr id="4" name="TextBox 3"/>
          <p:cNvSpPr txBox="1"/>
          <p:nvPr/>
        </p:nvSpPr>
        <p:spPr>
          <a:xfrm>
            <a:off x="1314450" y="2838450"/>
            <a:ext cx="2381250" cy="276225"/>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FAMILY</a:t>
            </a:r>
          </a:p>
        </p:txBody>
      </p:sp>
      <p:sp>
        <p:nvSpPr>
          <p:cNvPr id="5" name="TextBox 4"/>
          <p:cNvSpPr txBox="1"/>
          <p:nvPr/>
        </p:nvSpPr>
        <p:spPr>
          <a:xfrm>
            <a:off x="3943350" y="2838450"/>
            <a:ext cx="3048000" cy="276225"/>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WHAT IT CHANGES</a:t>
            </a:r>
          </a:p>
        </p:txBody>
      </p:sp>
      <p:sp>
        <p:nvSpPr>
          <p:cNvPr id="6" name="TextBox 5"/>
          <p:cNvSpPr txBox="1"/>
          <p:nvPr/>
        </p:nvSpPr>
        <p:spPr>
          <a:xfrm>
            <a:off x="7239000" y="2838450"/>
            <a:ext cx="4762500" cy="276225"/>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TYPICAL FORMS</a:t>
            </a:r>
          </a:p>
        </p:txBody>
      </p:sp>
      <p:sp>
        <p:nvSpPr>
          <p:cNvPr id="7" name="TextBox 6"/>
          <p:cNvSpPr txBox="1"/>
          <p:nvPr/>
        </p:nvSpPr>
        <p:spPr>
          <a:xfrm>
            <a:off x="12249150" y="2838450"/>
            <a:ext cx="4572000" cy="276225"/>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FROM OUR CASE</a:t>
            </a:r>
          </a:p>
        </p:txBody>
      </p:sp>
      <p:sp>
        <p:nvSpPr>
          <p:cNvPr id="8" name="Rectangle 7"/>
          <p:cNvSpPr/>
          <p:nvPr/>
        </p:nvSpPr>
        <p:spPr>
          <a:xfrm>
            <a:off x="1047750" y="3286125"/>
            <a:ext cx="16192500" cy="28575"/>
          </a:xfrm>
          <a:prstGeom prst="rect">
            <a:avLst/>
          </a:prstGeom>
          <a:solidFill>
            <a:srgbClr val="201914"/>
          </a:solidFill>
          <a:ln>
            <a:noFill/>
          </a:ln>
          <a:effectLst/>
        </p:spPr>
        <p:txBody>
          <a:bodyPr rtlCol="0" anchor="ctr"/>
          <a:lstStyle/>
          <a:p>
            <a:pPr algn="ctr"/>
          </a:p>
        </p:txBody>
      </p:sp>
      <p:sp>
        <p:nvSpPr>
          <p:cNvPr id="9" name="TextBox 8"/>
          <p:cNvSpPr txBox="1"/>
          <p:nvPr/>
        </p:nvSpPr>
        <p:spPr>
          <a:xfrm>
            <a:off x="1314450" y="3390900"/>
            <a:ext cx="2381250" cy="1914525"/>
          </a:xfrm>
          <a:prstGeom prst="rect">
            <a:avLst/>
          </a:prstGeom>
          <a:noFill/>
        </p:spPr>
        <p:txBody>
          <a:bodyPr wrap="square" lIns="0" rIns="0" tIns="0" bIns="0" anchor="ctr">
            <a:spAutoFit/>
          </a:bodyPr>
          <a:lstStyle/>
          <a:p>
            <a:pPr algn="l">
              <a:lnSpc>
                <a:spcPct val="106000"/>
              </a:lnSpc>
            </a:pPr>
            <a:r>
              <a:rPr sz="1800" b="1" i="0">
                <a:solidFill>
                  <a:srgbClr val="201914"/>
                </a:solidFill>
                <a:latin typeface="Arial"/>
              </a:rPr>
              <a:t>Reference
(Blue)</a:t>
            </a:r>
          </a:p>
        </p:txBody>
      </p:sp>
      <p:sp>
        <p:nvSpPr>
          <p:cNvPr id="10" name="TextBox 9"/>
          <p:cNvSpPr txBox="1"/>
          <p:nvPr/>
        </p:nvSpPr>
        <p:spPr>
          <a:xfrm>
            <a:off x="3943350" y="3390900"/>
            <a:ext cx="3048000" cy="1914525"/>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What the customer compares the price against</a:t>
            </a:r>
          </a:p>
        </p:txBody>
      </p:sp>
      <p:sp>
        <p:nvSpPr>
          <p:cNvPr id="11" name="TextBox 10"/>
          <p:cNvSpPr txBox="1"/>
          <p:nvPr/>
        </p:nvSpPr>
        <p:spPr>
          <a:xfrm>
            <a:off x="7239000" y="3390900"/>
            <a:ext cx="4762500" cy="1914525"/>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Struck-through price, decoy option, badge, order of reveal, a pre-selected 'recommended' plan</a:t>
            </a:r>
          </a:p>
        </p:txBody>
      </p:sp>
      <p:sp>
        <p:nvSpPr>
          <p:cNvPr id="12" name="TextBox 11"/>
          <p:cNvSpPr txBox="1"/>
          <p:nvPr/>
        </p:nvSpPr>
        <p:spPr>
          <a:xfrm>
            <a:off x="12249150" y="3390900"/>
            <a:ext cx="4572000" cy="1914525"/>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Myntra's crossed-out ₹2,499; the fee shown after the ticket price</a:t>
            </a:r>
          </a:p>
        </p:txBody>
      </p:sp>
      <p:sp>
        <p:nvSpPr>
          <p:cNvPr id="13" name="Rectangle 12"/>
          <p:cNvSpPr/>
          <p:nvPr/>
        </p:nvSpPr>
        <p:spPr>
          <a:xfrm>
            <a:off x="1047750" y="5400675"/>
            <a:ext cx="16192500" cy="9525"/>
          </a:xfrm>
          <a:prstGeom prst="rect">
            <a:avLst/>
          </a:prstGeom>
          <a:solidFill>
            <a:srgbClr val="D8CFC7"/>
          </a:solidFill>
          <a:ln>
            <a:noFill/>
          </a:ln>
          <a:effectLst/>
        </p:spPr>
        <p:txBody>
          <a:bodyPr rtlCol="0" anchor="ctr"/>
          <a:lstStyle/>
          <a:p>
            <a:pPr algn="ctr"/>
          </a:p>
        </p:txBody>
      </p:sp>
      <p:sp>
        <p:nvSpPr>
          <p:cNvPr id="14" name="Rectangle 13"/>
          <p:cNvSpPr/>
          <p:nvPr/>
        </p:nvSpPr>
        <p:spPr>
          <a:xfrm>
            <a:off x="1047750" y="5400675"/>
            <a:ext cx="16192500" cy="2105025"/>
          </a:xfrm>
          <a:prstGeom prst="rect">
            <a:avLst/>
          </a:prstGeom>
          <a:solidFill>
            <a:srgbClr val="F3EEE6"/>
          </a:solidFill>
          <a:ln>
            <a:noFill/>
          </a:ln>
          <a:effectLst/>
        </p:spPr>
        <p:txBody>
          <a:bodyPr rtlCol="0" anchor="ctr"/>
          <a:lstStyle/>
          <a:p>
            <a:pPr algn="ctr"/>
          </a:p>
        </p:txBody>
      </p:sp>
      <p:sp>
        <p:nvSpPr>
          <p:cNvPr id="15" name="TextBox 14"/>
          <p:cNvSpPr txBox="1"/>
          <p:nvPr/>
        </p:nvSpPr>
        <p:spPr>
          <a:xfrm>
            <a:off x="1314450" y="5495925"/>
            <a:ext cx="2381250" cy="1914525"/>
          </a:xfrm>
          <a:prstGeom prst="rect">
            <a:avLst/>
          </a:prstGeom>
          <a:noFill/>
        </p:spPr>
        <p:txBody>
          <a:bodyPr wrap="square" lIns="0" rIns="0" tIns="0" bIns="0" anchor="ctr">
            <a:spAutoFit/>
          </a:bodyPr>
          <a:lstStyle/>
          <a:p>
            <a:pPr algn="l">
              <a:lnSpc>
                <a:spcPct val="106000"/>
              </a:lnSpc>
            </a:pPr>
            <a:r>
              <a:rPr sz="1800" b="1" i="0">
                <a:solidFill>
                  <a:srgbClr val="201914"/>
                </a:solidFill>
                <a:latin typeface="Arial"/>
              </a:rPr>
              <a:t>Commitment
(Green)</a:t>
            </a:r>
          </a:p>
        </p:txBody>
      </p:sp>
      <p:sp>
        <p:nvSpPr>
          <p:cNvPr id="16" name="TextBox 15"/>
          <p:cNvSpPr txBox="1"/>
          <p:nvPr/>
        </p:nvSpPr>
        <p:spPr>
          <a:xfrm>
            <a:off x="3943350" y="5495925"/>
            <a:ext cx="3048000" cy="1914525"/>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What the customer has already put in before deciding</a:t>
            </a:r>
          </a:p>
        </p:txBody>
      </p:sp>
      <p:sp>
        <p:nvSpPr>
          <p:cNvPr id="17" name="TextBox 16"/>
          <p:cNvSpPr txBox="1"/>
          <p:nvPr/>
        </p:nvSpPr>
        <p:spPr>
          <a:xfrm>
            <a:off x="7239000" y="5495925"/>
            <a:ext cx="4762500" cy="1914525"/>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Sunk cost, points and tiers, free trial, progress bar, saved cart</a:t>
            </a:r>
          </a:p>
        </p:txBody>
      </p:sp>
      <p:sp>
        <p:nvSpPr>
          <p:cNvPr id="18" name="TextBox 17"/>
          <p:cNvSpPr txBox="1"/>
          <p:nvPr/>
        </p:nvSpPr>
        <p:spPr>
          <a:xfrm>
            <a:off x="12249150" y="5495925"/>
            <a:ext cx="4572000" cy="1914525"/>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Prime's annual fee; Myntra Insider tiers; four decisions before BookMyShow's fee</a:t>
            </a:r>
          </a:p>
        </p:txBody>
      </p:sp>
      <p:sp>
        <p:nvSpPr>
          <p:cNvPr id="19" name="Rectangle 18"/>
          <p:cNvSpPr/>
          <p:nvPr/>
        </p:nvSpPr>
        <p:spPr>
          <a:xfrm>
            <a:off x="1047750" y="7505700"/>
            <a:ext cx="16192500" cy="9525"/>
          </a:xfrm>
          <a:prstGeom prst="rect">
            <a:avLst/>
          </a:prstGeom>
          <a:solidFill>
            <a:srgbClr val="D8CFC7"/>
          </a:solidFill>
          <a:ln>
            <a:noFill/>
          </a:ln>
          <a:effectLst/>
        </p:spPr>
        <p:txBody>
          <a:bodyPr rtlCol="0" anchor="ctr"/>
          <a:lstStyle/>
          <a:p>
            <a:pPr algn="ctr"/>
          </a:p>
        </p:txBody>
      </p:sp>
      <p:sp>
        <p:nvSpPr>
          <p:cNvPr id="20" name="TextBox 19"/>
          <p:cNvSpPr txBox="1"/>
          <p:nvPr/>
        </p:nvSpPr>
        <p:spPr>
          <a:xfrm>
            <a:off x="1314450" y="7600950"/>
            <a:ext cx="2381250" cy="1676400"/>
          </a:xfrm>
          <a:prstGeom prst="rect">
            <a:avLst/>
          </a:prstGeom>
          <a:noFill/>
        </p:spPr>
        <p:txBody>
          <a:bodyPr wrap="square" lIns="0" rIns="0" tIns="0" bIns="0" anchor="ctr">
            <a:spAutoFit/>
          </a:bodyPr>
          <a:lstStyle/>
          <a:p>
            <a:pPr algn="l">
              <a:lnSpc>
                <a:spcPct val="106000"/>
              </a:lnSpc>
            </a:pPr>
            <a:r>
              <a:rPr sz="1800" b="1" i="0">
                <a:solidFill>
                  <a:srgbClr val="201914"/>
                </a:solidFill>
                <a:latin typeface="Arial"/>
              </a:rPr>
              <a:t>Urgency
(Amber)</a:t>
            </a:r>
          </a:p>
        </p:txBody>
      </p:sp>
      <p:sp>
        <p:nvSpPr>
          <p:cNvPr id="21" name="TextBox 20"/>
          <p:cNvSpPr txBox="1"/>
          <p:nvPr/>
        </p:nvSpPr>
        <p:spPr>
          <a:xfrm>
            <a:off x="3943350" y="7600950"/>
            <a:ext cx="3048000" cy="167640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How much time the customer has to think</a:t>
            </a:r>
          </a:p>
        </p:txBody>
      </p:sp>
      <p:sp>
        <p:nvSpPr>
          <p:cNvPr id="22" name="TextBox 21"/>
          <p:cNvSpPr txBox="1"/>
          <p:nvPr/>
        </p:nvSpPr>
        <p:spPr>
          <a:xfrm>
            <a:off x="7239000" y="7600950"/>
            <a:ext cx="4762500" cy="167640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Countdown, stock counter, viewer count, expiring offer</a:t>
            </a:r>
          </a:p>
        </p:txBody>
      </p:sp>
      <p:sp>
        <p:nvSpPr>
          <p:cNvPr id="23" name="TextBox 22"/>
          <p:cNvSpPr txBox="1"/>
          <p:nvPr/>
        </p:nvSpPr>
        <p:spPr>
          <a:xfrm>
            <a:off x="12249150" y="7600950"/>
            <a:ext cx="4572000" cy="167640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BookMyShow's seat-hold timer; 'only 2 left'; a sale ending in two hours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TRY THESE YOURSELF · BLUE, GREEN OR AMBER</a:t>
            </a:r>
          </a:p>
        </p:txBody>
      </p:sp>
      <p:sp>
        <p:nvSpPr>
          <p:cNvPr id="3" name="TextBox 2"/>
          <p:cNvSpPr txBox="1"/>
          <p:nvPr/>
        </p:nvSpPr>
        <p:spPr>
          <a:xfrm>
            <a:off x="1047750" y="1504950"/>
            <a:ext cx="16192500" cy="895350"/>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Name the family. Then say whether it is honest.</a:t>
            </a:r>
          </a:p>
        </p:txBody>
      </p:sp>
      <p:sp>
        <p:nvSpPr>
          <p:cNvPr id="4" name="Rectangle 3"/>
          <p:cNvSpPr/>
          <p:nvPr/>
        </p:nvSpPr>
        <p:spPr>
          <a:xfrm>
            <a:off x="1047750" y="2838450"/>
            <a:ext cx="3762375" cy="5753100"/>
          </a:xfrm>
          <a:prstGeom prst="rect">
            <a:avLst/>
          </a:prstGeom>
          <a:solidFill>
            <a:srgbClr val="F0EAE1"/>
          </a:solidFill>
          <a:ln>
            <a:noFill/>
          </a:ln>
          <a:effectLst/>
        </p:spPr>
        <p:txBody>
          <a:bodyPr rtlCol="0" anchor="ctr"/>
          <a:lstStyle/>
          <a:p>
            <a:pPr algn="ctr"/>
          </a:p>
        </p:txBody>
      </p:sp>
      <p:sp>
        <p:nvSpPr>
          <p:cNvPr id="5" name="TextBox 4"/>
          <p:cNvSpPr txBox="1"/>
          <p:nvPr/>
        </p:nvSpPr>
        <p:spPr>
          <a:xfrm>
            <a:off x="1314450" y="3143250"/>
            <a:ext cx="3228975" cy="733425"/>
          </a:xfrm>
          <a:prstGeom prst="rect">
            <a:avLst/>
          </a:prstGeom>
          <a:noFill/>
        </p:spPr>
        <p:txBody>
          <a:bodyPr wrap="square" lIns="0" rIns="0" tIns="0" bIns="0" anchor="t">
            <a:spAutoFit/>
          </a:bodyPr>
          <a:lstStyle/>
          <a:p>
            <a:pPr algn="l">
              <a:lnSpc>
                <a:spcPct val="94000"/>
              </a:lnSpc>
            </a:pPr>
            <a:r>
              <a:rPr sz="2850" b="1" i="0">
                <a:solidFill>
                  <a:srgbClr val="201914"/>
                </a:solidFill>
                <a:latin typeface="Arial"/>
              </a:rPr>
              <a:t>Two timers</a:t>
            </a:r>
          </a:p>
        </p:txBody>
      </p:sp>
      <p:sp>
        <p:nvSpPr>
          <p:cNvPr id="6" name="TextBox 5"/>
          <p:cNvSpPr txBox="1"/>
          <p:nvPr/>
        </p:nvSpPr>
        <p:spPr>
          <a:xfrm>
            <a:off x="1314450" y="4086225"/>
            <a:ext cx="3228975" cy="3362325"/>
          </a:xfrm>
          <a:prstGeom prst="rect">
            <a:avLst/>
          </a:prstGeom>
          <a:noFill/>
        </p:spPr>
        <p:txBody>
          <a:bodyPr wrap="square" lIns="0" rIns="0" tIns="0" bIns="0" anchor="t">
            <a:spAutoFit/>
          </a:bodyPr>
          <a:lstStyle/>
          <a:p>
            <a:pPr algn="l">
              <a:lnSpc>
                <a:spcPct val="112000"/>
              </a:lnSpc>
            </a:pPr>
            <a:r>
              <a:rPr sz="2100" b="0" i="0">
                <a:solidFill>
                  <a:srgbClr val="665B53"/>
                </a:solidFill>
                <a:latin typeface="Arial"/>
              </a:rPr>
              <a:t>Screen one: a cinema seat map, three seats selected, a counter reading 4:52 and falling. Screen two: a shopping app selling a printed t-shirt made to order, a banner reading 'Offer ends in 02:14:37'. Which family, and are they the same thing?</a:t>
            </a:r>
          </a:p>
        </p:txBody>
      </p:sp>
      <p:sp>
        <p:nvSpPr>
          <p:cNvPr id="7" name="Rectangle 6"/>
          <p:cNvSpPr/>
          <p:nvPr/>
        </p:nvSpPr>
        <p:spPr>
          <a:xfrm>
            <a:off x="5191125" y="2838450"/>
            <a:ext cx="3762375" cy="5753100"/>
          </a:xfrm>
          <a:prstGeom prst="rect">
            <a:avLst/>
          </a:prstGeom>
          <a:solidFill>
            <a:srgbClr val="F0EAE1"/>
          </a:solidFill>
          <a:ln>
            <a:noFill/>
          </a:ln>
          <a:effectLst/>
        </p:spPr>
        <p:txBody>
          <a:bodyPr rtlCol="0" anchor="ctr"/>
          <a:lstStyle/>
          <a:p>
            <a:pPr algn="ctr"/>
          </a:p>
        </p:txBody>
      </p:sp>
      <p:sp>
        <p:nvSpPr>
          <p:cNvPr id="8" name="TextBox 7"/>
          <p:cNvSpPr txBox="1"/>
          <p:nvPr/>
        </p:nvSpPr>
        <p:spPr>
          <a:xfrm>
            <a:off x="5457825" y="3143250"/>
            <a:ext cx="3228975" cy="733425"/>
          </a:xfrm>
          <a:prstGeom prst="rect">
            <a:avLst/>
          </a:prstGeom>
          <a:noFill/>
        </p:spPr>
        <p:txBody>
          <a:bodyPr wrap="square" lIns="0" rIns="0" tIns="0" bIns="0" anchor="t">
            <a:spAutoFit/>
          </a:bodyPr>
          <a:lstStyle/>
          <a:p>
            <a:pPr algn="l">
              <a:lnSpc>
                <a:spcPct val="94000"/>
              </a:lnSpc>
            </a:pPr>
            <a:r>
              <a:rPr sz="2850" b="1" i="0">
                <a:solidFill>
                  <a:srgbClr val="201914"/>
                </a:solidFill>
                <a:latin typeface="Arial"/>
              </a:rPr>
              <a:t>The price that was never charged</a:t>
            </a:r>
          </a:p>
        </p:txBody>
      </p:sp>
      <p:sp>
        <p:nvSpPr>
          <p:cNvPr id="9" name="TextBox 8"/>
          <p:cNvSpPr txBox="1"/>
          <p:nvPr/>
        </p:nvSpPr>
        <p:spPr>
          <a:xfrm>
            <a:off x="5457825" y="4086225"/>
            <a:ext cx="3228975" cy="2762250"/>
          </a:xfrm>
          <a:prstGeom prst="rect">
            <a:avLst/>
          </a:prstGeom>
          <a:noFill/>
        </p:spPr>
        <p:txBody>
          <a:bodyPr wrap="square" lIns="0" rIns="0" tIns="0" bIns="0" anchor="t">
            <a:spAutoFit/>
          </a:bodyPr>
          <a:lstStyle/>
          <a:p>
            <a:pPr algn="l">
              <a:lnSpc>
                <a:spcPct val="112000"/>
              </a:lnSpc>
            </a:pPr>
            <a:r>
              <a:rPr sz="2100" b="0" i="0">
                <a:solidFill>
                  <a:srgbClr val="665B53"/>
                </a:solidFill>
                <a:latin typeface="Arial"/>
              </a:rPr>
              <a:t>A shirt listed at ₹1,180 with ₹2,499 struck through above it. Investigation shows the shirt has been on sale at ₹1,180 continuously since it was listed and has never been sold at ₹2,499 to anybody.</a:t>
            </a:r>
          </a:p>
        </p:txBody>
      </p:sp>
      <p:sp>
        <p:nvSpPr>
          <p:cNvPr id="10" name="Rectangle 9"/>
          <p:cNvSpPr/>
          <p:nvPr/>
        </p:nvSpPr>
        <p:spPr>
          <a:xfrm>
            <a:off x="9334500" y="2838450"/>
            <a:ext cx="3762375" cy="5753100"/>
          </a:xfrm>
          <a:prstGeom prst="rect">
            <a:avLst/>
          </a:prstGeom>
          <a:solidFill>
            <a:srgbClr val="F0EAE1"/>
          </a:solidFill>
          <a:ln>
            <a:noFill/>
          </a:ln>
          <a:effectLst/>
        </p:spPr>
        <p:txBody>
          <a:bodyPr rtlCol="0" anchor="ctr"/>
          <a:lstStyle/>
          <a:p>
            <a:pPr algn="ctr"/>
          </a:p>
        </p:txBody>
      </p:sp>
      <p:sp>
        <p:nvSpPr>
          <p:cNvPr id="11" name="TextBox 10"/>
          <p:cNvSpPr txBox="1"/>
          <p:nvPr/>
        </p:nvSpPr>
        <p:spPr>
          <a:xfrm>
            <a:off x="9601200" y="3143250"/>
            <a:ext cx="3228975" cy="733425"/>
          </a:xfrm>
          <a:prstGeom prst="rect">
            <a:avLst/>
          </a:prstGeom>
          <a:noFill/>
        </p:spPr>
        <p:txBody>
          <a:bodyPr wrap="square" lIns="0" rIns="0" tIns="0" bIns="0" anchor="t">
            <a:spAutoFit/>
          </a:bodyPr>
          <a:lstStyle/>
          <a:p>
            <a:pPr algn="l">
              <a:lnSpc>
                <a:spcPct val="94000"/>
              </a:lnSpc>
            </a:pPr>
            <a:r>
              <a:rPr sz="2850" b="1" i="0">
                <a:solidFill>
                  <a:srgbClr val="201914"/>
                </a:solidFill>
                <a:latin typeface="Arial"/>
              </a:rPr>
              <a:t>Three hundred points from Gold</a:t>
            </a:r>
          </a:p>
        </p:txBody>
      </p:sp>
      <p:sp>
        <p:nvSpPr>
          <p:cNvPr id="12" name="TextBox 11"/>
          <p:cNvSpPr txBox="1"/>
          <p:nvPr/>
        </p:nvSpPr>
        <p:spPr>
          <a:xfrm>
            <a:off x="9601200" y="4086225"/>
            <a:ext cx="3228975" cy="2171700"/>
          </a:xfrm>
          <a:prstGeom prst="rect">
            <a:avLst/>
          </a:prstGeom>
          <a:noFill/>
        </p:spPr>
        <p:txBody>
          <a:bodyPr wrap="square" lIns="0" rIns="0" tIns="0" bIns="0" anchor="t">
            <a:spAutoFit/>
          </a:bodyPr>
          <a:lstStyle/>
          <a:p>
            <a:pPr algn="l">
              <a:lnSpc>
                <a:spcPct val="112000"/>
              </a:lnSpc>
            </a:pPr>
            <a:r>
              <a:rPr sz="2100" b="0" i="0">
                <a:solidFill>
                  <a:srgbClr val="665B53"/>
                </a:solidFill>
                <a:latin typeface="Arial"/>
              </a:rPr>
              <a:t>A loyalty programme sends a message: 'You are 300 points away from Gold tier. Your points expire on 31 March.' Which family, and does it pass or fail?</a:t>
            </a:r>
          </a:p>
        </p:txBody>
      </p:sp>
      <p:sp>
        <p:nvSpPr>
          <p:cNvPr id="13" name="Rectangle 12"/>
          <p:cNvSpPr/>
          <p:nvPr/>
        </p:nvSpPr>
        <p:spPr>
          <a:xfrm>
            <a:off x="13477875" y="2838450"/>
            <a:ext cx="3762375" cy="5753100"/>
          </a:xfrm>
          <a:prstGeom prst="rect">
            <a:avLst/>
          </a:prstGeom>
          <a:solidFill>
            <a:srgbClr val="F0EAE1"/>
          </a:solidFill>
          <a:ln>
            <a:noFill/>
          </a:ln>
          <a:effectLst/>
        </p:spPr>
        <p:txBody>
          <a:bodyPr rtlCol="0" anchor="ctr"/>
          <a:lstStyle/>
          <a:p>
            <a:pPr algn="ctr"/>
          </a:p>
        </p:txBody>
      </p:sp>
      <p:sp>
        <p:nvSpPr>
          <p:cNvPr id="14" name="TextBox 13"/>
          <p:cNvSpPr txBox="1"/>
          <p:nvPr/>
        </p:nvSpPr>
        <p:spPr>
          <a:xfrm>
            <a:off x="13744575" y="3143250"/>
            <a:ext cx="3228975" cy="733425"/>
          </a:xfrm>
          <a:prstGeom prst="rect">
            <a:avLst/>
          </a:prstGeom>
          <a:noFill/>
        </p:spPr>
        <p:txBody>
          <a:bodyPr wrap="square" lIns="0" rIns="0" tIns="0" bIns="0" anchor="t">
            <a:spAutoFit/>
          </a:bodyPr>
          <a:lstStyle/>
          <a:p>
            <a:pPr algn="l">
              <a:lnSpc>
                <a:spcPct val="94000"/>
              </a:lnSpc>
            </a:pPr>
            <a:r>
              <a:rPr sz="2850" b="1" i="0">
                <a:solidFill>
                  <a:srgbClr val="201914"/>
                </a:solidFill>
                <a:latin typeface="Arial"/>
              </a:rPr>
              <a:t>The fee at the end</a:t>
            </a:r>
          </a:p>
        </p:txBody>
      </p:sp>
      <p:sp>
        <p:nvSpPr>
          <p:cNvPr id="15" name="TextBox 14"/>
          <p:cNvSpPr txBox="1"/>
          <p:nvPr/>
        </p:nvSpPr>
        <p:spPr>
          <a:xfrm>
            <a:off x="13744575" y="4086225"/>
            <a:ext cx="3228975" cy="3067050"/>
          </a:xfrm>
          <a:prstGeom prst="rect">
            <a:avLst/>
          </a:prstGeom>
          <a:noFill/>
        </p:spPr>
        <p:txBody>
          <a:bodyPr wrap="square" lIns="0" rIns="0" tIns="0" bIns="0" anchor="t">
            <a:spAutoFit/>
          </a:bodyPr>
          <a:lstStyle/>
          <a:p>
            <a:pPr algn="l">
              <a:lnSpc>
                <a:spcPct val="112000"/>
              </a:lnSpc>
            </a:pPr>
            <a:r>
              <a:rPr sz="2100" b="0" i="0">
                <a:solidFill>
                  <a:srgbClr val="665B53"/>
                </a:solidFill>
                <a:latin typeface="Arial"/>
              </a:rPr>
              <a:t>A ticket advertised at ₹250, with a convenience fee added at the final screen. Separately, an airline advertises 'fares from ₹3,499' and the traveller reaches ₹4,812 at checkout after taxes, seat selection and a pre-ticked add-on.</a:t>
            </a:r>
          </a:p>
        </p:txBody>
      </p:sp>
      <p:sp>
        <p:nvSpPr>
          <p:cNvPr id="16" name="TextBox 15"/>
          <p:cNvSpPr txBox="1"/>
          <p:nvPr/>
        </p:nvSpPr>
        <p:spPr>
          <a:xfrm>
            <a:off x="1047750" y="8934450"/>
            <a:ext cx="16192500" cy="542925"/>
          </a:xfrm>
          <a:prstGeom prst="rect">
            <a:avLst/>
          </a:prstGeom>
          <a:noFill/>
        </p:spPr>
        <p:txBody>
          <a:bodyPr wrap="square" lIns="0" rIns="0" tIns="0" bIns="0" anchor="t">
            <a:spAutoFit/>
          </a:bodyPr>
          <a:lstStyle/>
          <a:p>
            <a:pPr algn="l">
              <a:lnSpc>
                <a:spcPct val="112000"/>
              </a:lnSpc>
            </a:pPr>
            <a:r>
              <a:rPr sz="3300" b="0" i="1">
                <a:solidFill>
                  <a:srgbClr val="362C24"/>
                </a:solidFill>
                <a:latin typeface="Georgia"/>
              </a:rPr>
              <a:t>Family first. Honesty second. They are different questions.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THE ANSWERS</a:t>
            </a:r>
          </a:p>
        </p:txBody>
      </p:sp>
      <p:sp>
        <p:nvSpPr>
          <p:cNvPr id="3" name="TextBox 2"/>
          <p:cNvSpPr txBox="1"/>
          <p:nvPr/>
        </p:nvSpPr>
        <p:spPr>
          <a:xfrm>
            <a:off x="1047750" y="1504950"/>
            <a:ext cx="16192500" cy="895350"/>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Name the family. Then say whether it is honest.</a:t>
            </a:r>
          </a:p>
        </p:txBody>
      </p:sp>
      <p:sp>
        <p:nvSpPr>
          <p:cNvPr id="4" name="Rectangle 3"/>
          <p:cNvSpPr/>
          <p:nvPr/>
        </p:nvSpPr>
        <p:spPr>
          <a:xfrm>
            <a:off x="1047750" y="2838450"/>
            <a:ext cx="3762375" cy="3619500"/>
          </a:xfrm>
          <a:prstGeom prst="rect">
            <a:avLst/>
          </a:prstGeom>
          <a:solidFill>
            <a:srgbClr val="F0EAE1"/>
          </a:solidFill>
          <a:ln>
            <a:noFill/>
          </a:ln>
          <a:effectLst/>
        </p:spPr>
        <p:txBody>
          <a:bodyPr rtlCol="0" anchor="ctr"/>
          <a:lstStyle/>
          <a:p>
            <a:pPr algn="ctr"/>
          </a:p>
        </p:txBody>
      </p:sp>
      <p:sp>
        <p:nvSpPr>
          <p:cNvPr id="5" name="TextBox 4"/>
          <p:cNvSpPr txBox="1"/>
          <p:nvPr/>
        </p:nvSpPr>
        <p:spPr>
          <a:xfrm>
            <a:off x="1314450" y="3143250"/>
            <a:ext cx="3228975" cy="733425"/>
          </a:xfrm>
          <a:prstGeom prst="rect">
            <a:avLst/>
          </a:prstGeom>
          <a:noFill/>
        </p:spPr>
        <p:txBody>
          <a:bodyPr wrap="square" lIns="0" rIns="0" tIns="0" bIns="0" anchor="t">
            <a:spAutoFit/>
          </a:bodyPr>
          <a:lstStyle/>
          <a:p>
            <a:pPr algn="l">
              <a:lnSpc>
                <a:spcPct val="94000"/>
              </a:lnSpc>
            </a:pPr>
            <a:r>
              <a:rPr sz="2850" b="1" i="0">
                <a:solidFill>
                  <a:srgbClr val="201914"/>
                </a:solidFill>
                <a:latin typeface="Arial"/>
              </a:rPr>
              <a:t>Two timers</a:t>
            </a:r>
          </a:p>
        </p:txBody>
      </p:sp>
      <p:sp>
        <p:nvSpPr>
          <p:cNvPr id="6" name="TextBox 5"/>
          <p:cNvSpPr txBox="1"/>
          <p:nvPr/>
        </p:nvSpPr>
        <p:spPr>
          <a:xfrm>
            <a:off x="1314450" y="4086225"/>
            <a:ext cx="3228975" cy="971550"/>
          </a:xfrm>
          <a:prstGeom prst="rect">
            <a:avLst/>
          </a:prstGeom>
          <a:noFill/>
        </p:spPr>
        <p:txBody>
          <a:bodyPr wrap="square" lIns="0" rIns="0" tIns="0" bIns="0" anchor="t">
            <a:spAutoFit/>
          </a:bodyPr>
          <a:lstStyle/>
          <a:p>
            <a:pPr algn="l">
              <a:lnSpc>
                <a:spcPct val="112000"/>
              </a:lnSpc>
            </a:pPr>
            <a:r>
              <a:rPr sz="2100" b="0" i="0">
                <a:solidFill>
                  <a:srgbClr val="665B53"/>
                </a:solidFill>
                <a:latin typeface="Arial"/>
              </a:rPr>
              <a:t>A cinema hold at 4:52, and a made-to-order t-shirt at 02:14:37.</a:t>
            </a:r>
          </a:p>
        </p:txBody>
      </p:sp>
      <p:sp>
        <p:nvSpPr>
          <p:cNvPr id="7" name="Rectangle 6"/>
          <p:cNvSpPr/>
          <p:nvPr/>
        </p:nvSpPr>
        <p:spPr>
          <a:xfrm>
            <a:off x="1047750" y="6686550"/>
            <a:ext cx="3762375" cy="2952750"/>
          </a:xfrm>
          <a:prstGeom prst="rect">
            <a:avLst/>
          </a:prstGeom>
          <a:solidFill>
            <a:srgbClr val="201914"/>
          </a:solidFill>
          <a:ln>
            <a:noFill/>
          </a:ln>
          <a:effectLst/>
        </p:spPr>
        <p:txBody>
          <a:bodyPr rtlCol="0" anchor="ctr"/>
          <a:lstStyle/>
          <a:p>
            <a:pPr algn="ctr"/>
          </a:p>
        </p:txBody>
      </p:sp>
      <p:sp>
        <p:nvSpPr>
          <p:cNvPr id="8" name="TextBox 7"/>
          <p:cNvSpPr txBox="1"/>
          <p:nvPr/>
        </p:nvSpPr>
        <p:spPr>
          <a:xfrm>
            <a:off x="1314450" y="6972300"/>
            <a:ext cx="3228975" cy="828675"/>
          </a:xfrm>
          <a:prstGeom prst="rect">
            <a:avLst/>
          </a:prstGeom>
          <a:noFill/>
        </p:spPr>
        <p:txBody>
          <a:bodyPr wrap="square" lIns="0" rIns="0" tIns="0" bIns="0" anchor="t">
            <a:spAutoFit/>
          </a:bodyPr>
          <a:lstStyle/>
          <a:p>
            <a:pPr algn="l">
              <a:lnSpc>
                <a:spcPct val="96000"/>
              </a:lnSpc>
            </a:pPr>
            <a:r>
              <a:rPr sz="2100" b="1" i="0">
                <a:solidFill>
                  <a:srgbClr val="F5F1E9"/>
                </a:solidFill>
                <a:latin typeface="Arial"/>
              </a:rPr>
              <a:t>Both URGENCY — amber, and not the same thing</a:t>
            </a:r>
          </a:p>
        </p:txBody>
      </p:sp>
      <p:sp>
        <p:nvSpPr>
          <p:cNvPr id="9" name="TextBox 8"/>
          <p:cNvSpPr txBox="1"/>
          <p:nvPr/>
        </p:nvSpPr>
        <p:spPr>
          <a:xfrm>
            <a:off x="1314450" y="7896225"/>
            <a:ext cx="3228975" cy="1162050"/>
          </a:xfrm>
          <a:prstGeom prst="rect">
            <a:avLst/>
          </a:prstGeom>
          <a:noFill/>
        </p:spPr>
        <p:txBody>
          <a:bodyPr wrap="square" lIns="0" rIns="0" tIns="0" bIns="0" anchor="t">
            <a:spAutoFit/>
          </a:bodyPr>
          <a:lstStyle/>
          <a:p>
            <a:pPr algn="l">
              <a:lnSpc>
                <a:spcPct val="110000"/>
              </a:lnSpc>
            </a:pPr>
            <a:r>
              <a:rPr sz="1950" b="0" i="0">
                <a:solidFill>
                  <a:srgbClr val="C1B5AB"/>
                </a:solidFill>
                <a:latin typeface="Arial"/>
              </a:rPr>
              <a:t>At zero, three real seats go back into the pool. The t-shirt counter often just restarts.</a:t>
            </a:r>
          </a:p>
        </p:txBody>
      </p:sp>
      <p:sp>
        <p:nvSpPr>
          <p:cNvPr id="10" name="Rectangle 9"/>
          <p:cNvSpPr/>
          <p:nvPr/>
        </p:nvSpPr>
        <p:spPr>
          <a:xfrm>
            <a:off x="5191125" y="2838450"/>
            <a:ext cx="3762375" cy="3619500"/>
          </a:xfrm>
          <a:prstGeom prst="rect">
            <a:avLst/>
          </a:prstGeom>
          <a:solidFill>
            <a:srgbClr val="F0EAE1"/>
          </a:solidFill>
          <a:ln>
            <a:noFill/>
          </a:ln>
          <a:effectLst/>
        </p:spPr>
        <p:txBody>
          <a:bodyPr rtlCol="0" anchor="ctr"/>
          <a:lstStyle/>
          <a:p>
            <a:pPr algn="ctr"/>
          </a:p>
        </p:txBody>
      </p:sp>
      <p:sp>
        <p:nvSpPr>
          <p:cNvPr id="11" name="TextBox 10"/>
          <p:cNvSpPr txBox="1"/>
          <p:nvPr/>
        </p:nvSpPr>
        <p:spPr>
          <a:xfrm>
            <a:off x="5457825" y="3143250"/>
            <a:ext cx="3228975" cy="733425"/>
          </a:xfrm>
          <a:prstGeom prst="rect">
            <a:avLst/>
          </a:prstGeom>
          <a:noFill/>
        </p:spPr>
        <p:txBody>
          <a:bodyPr wrap="square" lIns="0" rIns="0" tIns="0" bIns="0" anchor="t">
            <a:spAutoFit/>
          </a:bodyPr>
          <a:lstStyle/>
          <a:p>
            <a:pPr algn="l">
              <a:lnSpc>
                <a:spcPct val="94000"/>
              </a:lnSpc>
            </a:pPr>
            <a:r>
              <a:rPr sz="2850" b="1" i="0">
                <a:solidFill>
                  <a:srgbClr val="201914"/>
                </a:solidFill>
                <a:latin typeface="Arial"/>
              </a:rPr>
              <a:t>The price that was never charged</a:t>
            </a:r>
          </a:p>
        </p:txBody>
      </p:sp>
      <p:sp>
        <p:nvSpPr>
          <p:cNvPr id="12" name="TextBox 11"/>
          <p:cNvSpPr txBox="1"/>
          <p:nvPr/>
        </p:nvSpPr>
        <p:spPr>
          <a:xfrm>
            <a:off x="5457825" y="4086225"/>
            <a:ext cx="3228975" cy="676275"/>
          </a:xfrm>
          <a:prstGeom prst="rect">
            <a:avLst/>
          </a:prstGeom>
          <a:noFill/>
        </p:spPr>
        <p:txBody>
          <a:bodyPr wrap="square" lIns="0" rIns="0" tIns="0" bIns="0" anchor="t">
            <a:spAutoFit/>
          </a:bodyPr>
          <a:lstStyle/>
          <a:p>
            <a:pPr algn="l">
              <a:lnSpc>
                <a:spcPct val="112000"/>
              </a:lnSpc>
            </a:pPr>
            <a:r>
              <a:rPr sz="2100" b="0" i="0">
                <a:solidFill>
                  <a:srgbClr val="665B53"/>
                </a:solidFill>
                <a:latin typeface="Arial"/>
              </a:rPr>
              <a:t>₹1,180 beside a ₹2,499 nobody has ever paid.</a:t>
            </a:r>
          </a:p>
        </p:txBody>
      </p:sp>
      <p:sp>
        <p:nvSpPr>
          <p:cNvPr id="13" name="Rectangle 12"/>
          <p:cNvSpPr/>
          <p:nvPr/>
        </p:nvSpPr>
        <p:spPr>
          <a:xfrm>
            <a:off x="5191125" y="6686550"/>
            <a:ext cx="3762375" cy="2952750"/>
          </a:xfrm>
          <a:prstGeom prst="rect">
            <a:avLst/>
          </a:prstGeom>
          <a:solidFill>
            <a:srgbClr val="201914"/>
          </a:solidFill>
          <a:ln>
            <a:noFill/>
          </a:ln>
          <a:effectLst/>
        </p:spPr>
        <p:txBody>
          <a:bodyPr rtlCol="0" anchor="ctr"/>
          <a:lstStyle/>
          <a:p>
            <a:pPr algn="ctr"/>
          </a:p>
        </p:txBody>
      </p:sp>
      <p:sp>
        <p:nvSpPr>
          <p:cNvPr id="14" name="TextBox 13"/>
          <p:cNvSpPr txBox="1"/>
          <p:nvPr/>
        </p:nvSpPr>
        <p:spPr>
          <a:xfrm>
            <a:off x="5457825" y="6972300"/>
            <a:ext cx="3228975" cy="828675"/>
          </a:xfrm>
          <a:prstGeom prst="rect">
            <a:avLst/>
          </a:prstGeom>
          <a:noFill/>
        </p:spPr>
        <p:txBody>
          <a:bodyPr wrap="square" lIns="0" rIns="0" tIns="0" bIns="0" anchor="t">
            <a:spAutoFit/>
          </a:bodyPr>
          <a:lstStyle/>
          <a:p>
            <a:pPr algn="l">
              <a:lnSpc>
                <a:spcPct val="96000"/>
              </a:lnSpc>
            </a:pPr>
            <a:r>
              <a:rPr sz="2100" b="1" i="0">
                <a:solidFill>
                  <a:srgbClr val="F5F1E9"/>
                </a:solidFill>
                <a:latin typeface="Arial"/>
              </a:rPr>
              <a:t>REFERENCE — blue, and dishonest</a:t>
            </a:r>
          </a:p>
        </p:txBody>
      </p:sp>
      <p:sp>
        <p:nvSpPr>
          <p:cNvPr id="15" name="TextBox 14"/>
          <p:cNvSpPr txBox="1"/>
          <p:nvPr/>
        </p:nvSpPr>
        <p:spPr>
          <a:xfrm>
            <a:off x="5457825" y="7896225"/>
            <a:ext cx="3228975" cy="895350"/>
          </a:xfrm>
          <a:prstGeom prst="rect">
            <a:avLst/>
          </a:prstGeom>
          <a:noFill/>
        </p:spPr>
        <p:txBody>
          <a:bodyPr wrap="square" lIns="0" rIns="0" tIns="0" bIns="0" anchor="t">
            <a:spAutoFit/>
          </a:bodyPr>
          <a:lstStyle/>
          <a:p>
            <a:pPr algn="l">
              <a:lnSpc>
                <a:spcPct val="110000"/>
              </a:lnSpc>
            </a:pPr>
            <a:r>
              <a:rPr sz="1950" b="0" i="0">
                <a:solidFill>
                  <a:srgbClr val="C1B5AB"/>
                </a:solidFill>
                <a:latin typeface="Arial"/>
              </a:rPr>
              <a:t>They believe they received ₹1,319. They received a shirt for ₹1,180.</a:t>
            </a:r>
          </a:p>
        </p:txBody>
      </p:sp>
      <p:sp>
        <p:nvSpPr>
          <p:cNvPr id="16" name="Rectangle 15"/>
          <p:cNvSpPr/>
          <p:nvPr/>
        </p:nvSpPr>
        <p:spPr>
          <a:xfrm>
            <a:off x="9334500" y="2838450"/>
            <a:ext cx="3762375" cy="3619500"/>
          </a:xfrm>
          <a:prstGeom prst="rect">
            <a:avLst/>
          </a:prstGeom>
          <a:solidFill>
            <a:srgbClr val="F0EAE1"/>
          </a:solidFill>
          <a:ln>
            <a:noFill/>
          </a:ln>
          <a:effectLst/>
        </p:spPr>
        <p:txBody>
          <a:bodyPr rtlCol="0" anchor="ctr"/>
          <a:lstStyle/>
          <a:p>
            <a:pPr algn="ctr"/>
          </a:p>
        </p:txBody>
      </p:sp>
      <p:sp>
        <p:nvSpPr>
          <p:cNvPr id="17" name="TextBox 16"/>
          <p:cNvSpPr txBox="1"/>
          <p:nvPr/>
        </p:nvSpPr>
        <p:spPr>
          <a:xfrm>
            <a:off x="9601200" y="3143250"/>
            <a:ext cx="3228975" cy="733425"/>
          </a:xfrm>
          <a:prstGeom prst="rect">
            <a:avLst/>
          </a:prstGeom>
          <a:noFill/>
        </p:spPr>
        <p:txBody>
          <a:bodyPr wrap="square" lIns="0" rIns="0" tIns="0" bIns="0" anchor="t">
            <a:spAutoFit/>
          </a:bodyPr>
          <a:lstStyle/>
          <a:p>
            <a:pPr algn="l">
              <a:lnSpc>
                <a:spcPct val="94000"/>
              </a:lnSpc>
            </a:pPr>
            <a:r>
              <a:rPr sz="2850" b="1" i="0">
                <a:solidFill>
                  <a:srgbClr val="201914"/>
                </a:solidFill>
                <a:latin typeface="Arial"/>
              </a:rPr>
              <a:t>Three hundred points from Gold</a:t>
            </a:r>
          </a:p>
        </p:txBody>
      </p:sp>
      <p:sp>
        <p:nvSpPr>
          <p:cNvPr id="18" name="TextBox 17"/>
          <p:cNvSpPr txBox="1"/>
          <p:nvPr/>
        </p:nvSpPr>
        <p:spPr>
          <a:xfrm>
            <a:off x="9601200" y="4086225"/>
            <a:ext cx="3228975" cy="676275"/>
          </a:xfrm>
          <a:prstGeom prst="rect">
            <a:avLst/>
          </a:prstGeom>
          <a:noFill/>
        </p:spPr>
        <p:txBody>
          <a:bodyPr wrap="square" lIns="0" rIns="0" tIns="0" bIns="0" anchor="t">
            <a:spAutoFit/>
          </a:bodyPr>
          <a:lstStyle/>
          <a:p>
            <a:pPr algn="l">
              <a:lnSpc>
                <a:spcPct val="112000"/>
              </a:lnSpc>
            </a:pPr>
            <a:r>
              <a:rPr sz="2100" b="0" i="0">
                <a:solidFill>
                  <a:srgbClr val="665B53"/>
                </a:solidFill>
                <a:latin typeface="Arial"/>
              </a:rPr>
              <a:t>'300 points from Gold. Points expire 31 March.'</a:t>
            </a:r>
          </a:p>
        </p:txBody>
      </p:sp>
      <p:sp>
        <p:nvSpPr>
          <p:cNvPr id="19" name="Rectangle 18"/>
          <p:cNvSpPr/>
          <p:nvPr/>
        </p:nvSpPr>
        <p:spPr>
          <a:xfrm>
            <a:off x="9334500" y="6686550"/>
            <a:ext cx="3762375" cy="2952750"/>
          </a:xfrm>
          <a:prstGeom prst="rect">
            <a:avLst/>
          </a:prstGeom>
          <a:solidFill>
            <a:srgbClr val="201914"/>
          </a:solidFill>
          <a:ln>
            <a:noFill/>
          </a:ln>
          <a:effectLst/>
        </p:spPr>
        <p:txBody>
          <a:bodyPr rtlCol="0" anchor="ctr"/>
          <a:lstStyle/>
          <a:p>
            <a:pPr algn="ctr"/>
          </a:p>
        </p:txBody>
      </p:sp>
      <p:sp>
        <p:nvSpPr>
          <p:cNvPr id="20" name="TextBox 19"/>
          <p:cNvSpPr txBox="1"/>
          <p:nvPr/>
        </p:nvSpPr>
        <p:spPr>
          <a:xfrm>
            <a:off x="9601200" y="6972300"/>
            <a:ext cx="3228975" cy="828675"/>
          </a:xfrm>
          <a:prstGeom prst="rect">
            <a:avLst/>
          </a:prstGeom>
          <a:noFill/>
        </p:spPr>
        <p:txBody>
          <a:bodyPr wrap="square" lIns="0" rIns="0" tIns="0" bIns="0" anchor="t">
            <a:spAutoFit/>
          </a:bodyPr>
          <a:lstStyle/>
          <a:p>
            <a:pPr algn="l">
              <a:lnSpc>
                <a:spcPct val="96000"/>
              </a:lnSpc>
            </a:pPr>
            <a:r>
              <a:rPr sz="2100" b="1" i="0">
                <a:solidFill>
                  <a:srgbClr val="F5F1E9"/>
                </a:solidFill>
                <a:latin typeface="Arial"/>
              </a:rPr>
              <a:t>COMMITMENT — green, by the rule</a:t>
            </a:r>
          </a:p>
        </p:txBody>
      </p:sp>
      <p:sp>
        <p:nvSpPr>
          <p:cNvPr id="21" name="TextBox 20"/>
          <p:cNvSpPr txBox="1"/>
          <p:nvPr/>
        </p:nvSpPr>
        <p:spPr>
          <a:xfrm>
            <a:off x="9601200" y="7896225"/>
            <a:ext cx="3228975" cy="1162050"/>
          </a:xfrm>
          <a:prstGeom prst="rect">
            <a:avLst/>
          </a:prstGeom>
          <a:noFill/>
        </p:spPr>
        <p:txBody>
          <a:bodyPr wrap="square" lIns="0" rIns="0" tIns="0" bIns="0" anchor="t">
            <a:spAutoFit/>
          </a:bodyPr>
          <a:lstStyle/>
          <a:p>
            <a:pPr algn="l">
              <a:lnSpc>
                <a:spcPct val="110000"/>
              </a:lnSpc>
            </a:pPr>
            <a:r>
              <a:rPr sz="1950" b="0" i="0">
                <a:solidFill>
                  <a:srgbClr val="C1B5AB"/>
                </a:solidFill>
                <a:latin typeface="Arial"/>
              </a:rPr>
              <a:t>Urgency sits on top. It passes only if the points really expire and Gold is worth reaching.</a:t>
            </a:r>
          </a:p>
        </p:txBody>
      </p:sp>
      <p:sp>
        <p:nvSpPr>
          <p:cNvPr id="22" name="Rectangle 21"/>
          <p:cNvSpPr/>
          <p:nvPr/>
        </p:nvSpPr>
        <p:spPr>
          <a:xfrm>
            <a:off x="13477875" y="2838450"/>
            <a:ext cx="3762375" cy="3619500"/>
          </a:xfrm>
          <a:prstGeom prst="rect">
            <a:avLst/>
          </a:prstGeom>
          <a:solidFill>
            <a:srgbClr val="F0EAE1"/>
          </a:solidFill>
          <a:ln>
            <a:noFill/>
          </a:ln>
          <a:effectLst/>
        </p:spPr>
        <p:txBody>
          <a:bodyPr rtlCol="0" anchor="ctr"/>
          <a:lstStyle/>
          <a:p>
            <a:pPr algn="ctr"/>
          </a:p>
        </p:txBody>
      </p:sp>
      <p:sp>
        <p:nvSpPr>
          <p:cNvPr id="23" name="TextBox 22"/>
          <p:cNvSpPr txBox="1"/>
          <p:nvPr/>
        </p:nvSpPr>
        <p:spPr>
          <a:xfrm>
            <a:off x="13744575" y="3143250"/>
            <a:ext cx="3228975" cy="733425"/>
          </a:xfrm>
          <a:prstGeom prst="rect">
            <a:avLst/>
          </a:prstGeom>
          <a:noFill/>
        </p:spPr>
        <p:txBody>
          <a:bodyPr wrap="square" lIns="0" rIns="0" tIns="0" bIns="0" anchor="t">
            <a:spAutoFit/>
          </a:bodyPr>
          <a:lstStyle/>
          <a:p>
            <a:pPr algn="l">
              <a:lnSpc>
                <a:spcPct val="94000"/>
              </a:lnSpc>
            </a:pPr>
            <a:r>
              <a:rPr sz="2850" b="1" i="0">
                <a:solidFill>
                  <a:srgbClr val="201914"/>
                </a:solidFill>
                <a:latin typeface="Arial"/>
              </a:rPr>
              <a:t>The fee at the end</a:t>
            </a:r>
          </a:p>
        </p:txBody>
      </p:sp>
      <p:sp>
        <p:nvSpPr>
          <p:cNvPr id="24" name="TextBox 23"/>
          <p:cNvSpPr txBox="1"/>
          <p:nvPr/>
        </p:nvSpPr>
        <p:spPr>
          <a:xfrm>
            <a:off x="13744575" y="4086225"/>
            <a:ext cx="3228975" cy="971550"/>
          </a:xfrm>
          <a:prstGeom prst="rect">
            <a:avLst/>
          </a:prstGeom>
          <a:noFill/>
        </p:spPr>
        <p:txBody>
          <a:bodyPr wrap="square" lIns="0" rIns="0" tIns="0" bIns="0" anchor="t">
            <a:spAutoFit/>
          </a:bodyPr>
          <a:lstStyle/>
          <a:p>
            <a:pPr algn="l">
              <a:lnSpc>
                <a:spcPct val="112000"/>
              </a:lnSpc>
            </a:pPr>
            <a:r>
              <a:rPr sz="2100" b="0" i="0">
                <a:solidFill>
                  <a:srgbClr val="665B53"/>
                </a:solidFill>
                <a:latin typeface="Arial"/>
              </a:rPr>
              <a:t>A fee at the final screen, and a pre-ticked ₹199 add-on.</a:t>
            </a:r>
          </a:p>
        </p:txBody>
      </p:sp>
      <p:sp>
        <p:nvSpPr>
          <p:cNvPr id="25" name="Rectangle 24"/>
          <p:cNvSpPr/>
          <p:nvPr/>
        </p:nvSpPr>
        <p:spPr>
          <a:xfrm>
            <a:off x="13477875" y="6686550"/>
            <a:ext cx="3762375" cy="2952750"/>
          </a:xfrm>
          <a:prstGeom prst="rect">
            <a:avLst/>
          </a:prstGeom>
          <a:solidFill>
            <a:srgbClr val="C35141"/>
          </a:solidFill>
          <a:ln>
            <a:noFill/>
          </a:ln>
          <a:effectLst/>
        </p:spPr>
        <p:txBody>
          <a:bodyPr rtlCol="0" anchor="ctr"/>
          <a:lstStyle/>
          <a:p>
            <a:pPr algn="ctr"/>
          </a:p>
        </p:txBody>
      </p:sp>
      <p:sp>
        <p:nvSpPr>
          <p:cNvPr id="26" name="TextBox 25"/>
          <p:cNvSpPr txBox="1"/>
          <p:nvPr/>
        </p:nvSpPr>
        <p:spPr>
          <a:xfrm>
            <a:off x="13744575" y="6972300"/>
            <a:ext cx="3228975" cy="828675"/>
          </a:xfrm>
          <a:prstGeom prst="rect">
            <a:avLst/>
          </a:prstGeom>
          <a:noFill/>
        </p:spPr>
        <p:txBody>
          <a:bodyPr wrap="square" lIns="0" rIns="0" tIns="0" bIns="0" anchor="t">
            <a:spAutoFit/>
          </a:bodyPr>
          <a:lstStyle/>
          <a:p>
            <a:pPr algn="l">
              <a:lnSpc>
                <a:spcPct val="96000"/>
              </a:lnSpc>
            </a:pPr>
            <a:r>
              <a:rPr sz="2100" b="1" i="0">
                <a:solidFill>
                  <a:srgbClr val="F5F1E9"/>
                </a:solidFill>
                <a:latin typeface="Arial"/>
              </a:rPr>
              <a:t>Both REFERENCE — blue, different in kind</a:t>
            </a:r>
          </a:p>
        </p:txBody>
      </p:sp>
      <p:sp>
        <p:nvSpPr>
          <p:cNvPr id="27" name="TextBox 26"/>
          <p:cNvSpPr txBox="1"/>
          <p:nvPr/>
        </p:nvSpPr>
        <p:spPr>
          <a:xfrm>
            <a:off x="13744575" y="7896225"/>
            <a:ext cx="3228975" cy="1162050"/>
          </a:xfrm>
          <a:prstGeom prst="rect">
            <a:avLst/>
          </a:prstGeom>
          <a:noFill/>
        </p:spPr>
        <p:txBody>
          <a:bodyPr wrap="square" lIns="0" rIns="0" tIns="0" bIns="0" anchor="t">
            <a:spAutoFit/>
          </a:bodyPr>
          <a:lstStyle/>
          <a:p>
            <a:pPr algn="l">
              <a:lnSpc>
                <a:spcPct val="110000"/>
              </a:lnSpc>
            </a:pPr>
            <a:r>
              <a:rPr sz="1950" b="0" i="0">
                <a:solidFill>
                  <a:srgbClr val="F5F1E9"/>
                </a:solidFill>
                <a:latin typeface="Arial"/>
              </a:rPr>
              <a:t>Drip pricing can still be refused. A pre-ticked item is basket sneaking — a charge without consent.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FRAMEWORK 4 · TEN SECONDS, ON A REAL SCREEN, NO INTERNAL DATA</a:t>
            </a:r>
          </a:p>
        </p:txBody>
      </p:sp>
      <p:sp>
        <p:nvSpPr>
          <p:cNvPr id="3" name="TextBox 2"/>
          <p:cNvSpPr txBox="1"/>
          <p:nvPr/>
        </p:nvSpPr>
        <p:spPr>
          <a:xfrm>
            <a:off x="1047750" y="1504950"/>
            <a:ext cx="16192500" cy="895350"/>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The Three-Question Test</a:t>
            </a:r>
          </a:p>
        </p:txBody>
      </p:sp>
      <p:sp>
        <p:nvSpPr>
          <p:cNvPr id="4" name="Rectangle 3"/>
          <p:cNvSpPr/>
          <p:nvPr/>
        </p:nvSpPr>
        <p:spPr>
          <a:xfrm>
            <a:off x="1047750" y="2838450"/>
            <a:ext cx="16192500" cy="1438275"/>
          </a:xfrm>
          <a:prstGeom prst="rect">
            <a:avLst/>
          </a:prstGeom>
          <a:solidFill>
            <a:srgbClr val="F0EAE1"/>
          </a:solidFill>
          <a:ln>
            <a:noFill/>
          </a:ln>
          <a:effectLst/>
        </p:spPr>
        <p:txBody>
          <a:bodyPr rtlCol="0" anchor="ctr"/>
          <a:lstStyle/>
          <a:p>
            <a:pPr algn="ctr"/>
          </a:p>
        </p:txBody>
      </p:sp>
      <p:sp>
        <p:nvSpPr>
          <p:cNvPr id="5" name="TextBox 4"/>
          <p:cNvSpPr txBox="1"/>
          <p:nvPr/>
        </p:nvSpPr>
        <p:spPr>
          <a:xfrm>
            <a:off x="1352550" y="2933700"/>
            <a:ext cx="3676650" cy="1247775"/>
          </a:xfrm>
          <a:prstGeom prst="rect">
            <a:avLst/>
          </a:prstGeom>
          <a:noFill/>
        </p:spPr>
        <p:txBody>
          <a:bodyPr wrap="square" lIns="0" rIns="0" tIns="0" bIns="0" anchor="ctr">
            <a:spAutoFit/>
          </a:bodyPr>
          <a:lstStyle/>
          <a:p>
            <a:pPr algn="l">
              <a:lnSpc>
                <a:spcPct val="94000"/>
              </a:lnSpc>
            </a:pPr>
            <a:r>
              <a:rPr sz="2700" b="1" i="0">
                <a:solidFill>
                  <a:srgbClr val="201914"/>
                </a:solidFill>
                <a:latin typeface="Arial"/>
              </a:rPr>
              <a:t>Q1 · Is it true?</a:t>
            </a:r>
          </a:p>
        </p:txBody>
      </p:sp>
      <p:sp>
        <p:nvSpPr>
          <p:cNvPr id="6" name="TextBox 5"/>
          <p:cNvSpPr txBox="1"/>
          <p:nvPr/>
        </p:nvSpPr>
        <p:spPr>
          <a:xfrm>
            <a:off x="5562600" y="2933700"/>
            <a:ext cx="11372850" cy="1247775"/>
          </a:xfrm>
          <a:prstGeom prst="rect">
            <a:avLst/>
          </a:prstGeom>
          <a:noFill/>
        </p:spPr>
        <p:txBody>
          <a:bodyPr wrap="square" lIns="0" rIns="0" tIns="0" bIns="0" anchor="ctr">
            <a:spAutoFit/>
          </a:bodyPr>
          <a:lstStyle/>
          <a:p>
            <a:pPr algn="l">
              <a:lnSpc>
                <a:spcPct val="108000"/>
              </a:lnSpc>
            </a:pPr>
            <a:r>
              <a:rPr sz="2250" b="0" i="0">
                <a:solidFill>
                  <a:srgbClr val="665B53"/>
                </a:solidFill>
                <a:latin typeface="Arial"/>
              </a:rPr>
              <a:t>Does the number, deadline or claim describe something real? A matter of fact — settle it by checking the page again in three days.</a:t>
            </a:r>
          </a:p>
        </p:txBody>
      </p:sp>
      <p:sp>
        <p:nvSpPr>
          <p:cNvPr id="7" name="Rectangle 6"/>
          <p:cNvSpPr/>
          <p:nvPr/>
        </p:nvSpPr>
        <p:spPr>
          <a:xfrm>
            <a:off x="1047750" y="4429125"/>
            <a:ext cx="16192500" cy="1466850"/>
          </a:xfrm>
          <a:prstGeom prst="rect">
            <a:avLst/>
          </a:prstGeom>
          <a:solidFill>
            <a:srgbClr val="F0EAE1"/>
          </a:solidFill>
          <a:ln>
            <a:noFill/>
          </a:ln>
          <a:effectLst/>
        </p:spPr>
        <p:txBody>
          <a:bodyPr rtlCol="0" anchor="ctr"/>
          <a:lstStyle/>
          <a:p>
            <a:pPr algn="ctr"/>
          </a:p>
        </p:txBody>
      </p:sp>
      <p:sp>
        <p:nvSpPr>
          <p:cNvPr id="8" name="TextBox 7"/>
          <p:cNvSpPr txBox="1"/>
          <p:nvPr/>
        </p:nvSpPr>
        <p:spPr>
          <a:xfrm>
            <a:off x="1352550" y="4524375"/>
            <a:ext cx="3676650" cy="1276350"/>
          </a:xfrm>
          <a:prstGeom prst="rect">
            <a:avLst/>
          </a:prstGeom>
          <a:noFill/>
        </p:spPr>
        <p:txBody>
          <a:bodyPr wrap="square" lIns="0" rIns="0" tIns="0" bIns="0" anchor="ctr">
            <a:spAutoFit/>
          </a:bodyPr>
          <a:lstStyle/>
          <a:p>
            <a:pPr algn="l">
              <a:lnSpc>
                <a:spcPct val="94000"/>
              </a:lnSpc>
            </a:pPr>
            <a:r>
              <a:rPr sz="2700" b="1" i="0">
                <a:solidFill>
                  <a:srgbClr val="201914"/>
                </a:solidFill>
                <a:latin typeface="Arial"/>
              </a:rPr>
              <a:t>Q2 · Was it disclosed in time?</a:t>
            </a:r>
          </a:p>
        </p:txBody>
      </p:sp>
      <p:sp>
        <p:nvSpPr>
          <p:cNvPr id="9" name="TextBox 8"/>
          <p:cNvSpPr txBox="1"/>
          <p:nvPr/>
        </p:nvSpPr>
        <p:spPr>
          <a:xfrm>
            <a:off x="5562600" y="4524375"/>
            <a:ext cx="11372850" cy="1276350"/>
          </a:xfrm>
          <a:prstGeom prst="rect">
            <a:avLst/>
          </a:prstGeom>
          <a:noFill/>
        </p:spPr>
        <p:txBody>
          <a:bodyPr wrap="square" lIns="0" rIns="0" tIns="0" bIns="0" anchor="ctr">
            <a:spAutoFit/>
          </a:bodyPr>
          <a:lstStyle/>
          <a:p>
            <a:pPr algn="l">
              <a:lnSpc>
                <a:spcPct val="108000"/>
              </a:lnSpc>
            </a:pPr>
            <a:r>
              <a:rPr sz="2250" b="0" i="0">
                <a:solidFill>
                  <a:srgbClr val="665B53"/>
                </a:solidFill>
                <a:latin typeface="Arial"/>
              </a:rPr>
              <a:t>Did the customer know before they committed, or only after? A matter of record — settle it with screenshots.</a:t>
            </a:r>
          </a:p>
        </p:txBody>
      </p:sp>
      <p:sp>
        <p:nvSpPr>
          <p:cNvPr id="10" name="Rectangle 9"/>
          <p:cNvSpPr/>
          <p:nvPr/>
        </p:nvSpPr>
        <p:spPr>
          <a:xfrm>
            <a:off x="1047750" y="6048375"/>
            <a:ext cx="16192500" cy="1438275"/>
          </a:xfrm>
          <a:prstGeom prst="rect">
            <a:avLst/>
          </a:prstGeom>
          <a:solidFill>
            <a:srgbClr val="F0EAE1"/>
          </a:solidFill>
          <a:ln>
            <a:noFill/>
          </a:ln>
          <a:effectLst/>
        </p:spPr>
        <p:txBody>
          <a:bodyPr rtlCol="0" anchor="ctr"/>
          <a:lstStyle/>
          <a:p>
            <a:pPr algn="ctr"/>
          </a:p>
        </p:txBody>
      </p:sp>
      <p:sp>
        <p:nvSpPr>
          <p:cNvPr id="11" name="TextBox 10"/>
          <p:cNvSpPr txBox="1"/>
          <p:nvPr/>
        </p:nvSpPr>
        <p:spPr>
          <a:xfrm>
            <a:off x="1352550" y="6143625"/>
            <a:ext cx="3676650" cy="1247775"/>
          </a:xfrm>
          <a:prstGeom prst="rect">
            <a:avLst/>
          </a:prstGeom>
          <a:noFill/>
        </p:spPr>
        <p:txBody>
          <a:bodyPr wrap="square" lIns="0" rIns="0" tIns="0" bIns="0" anchor="ctr">
            <a:spAutoFit/>
          </a:bodyPr>
          <a:lstStyle/>
          <a:p>
            <a:pPr algn="l">
              <a:lnSpc>
                <a:spcPct val="94000"/>
              </a:lnSpc>
            </a:pPr>
            <a:r>
              <a:rPr sz="2700" b="1" i="0">
                <a:solidFill>
                  <a:srgbClr val="201914"/>
                </a:solidFill>
                <a:latin typeface="Arial"/>
              </a:rPr>
              <a:t>Q3 · Does it help?</a:t>
            </a:r>
          </a:p>
        </p:txBody>
      </p:sp>
      <p:sp>
        <p:nvSpPr>
          <p:cNvPr id="12" name="TextBox 11"/>
          <p:cNvSpPr txBox="1"/>
          <p:nvPr/>
        </p:nvSpPr>
        <p:spPr>
          <a:xfrm>
            <a:off x="5562600" y="6143625"/>
            <a:ext cx="11372850" cy="1247775"/>
          </a:xfrm>
          <a:prstGeom prst="rect">
            <a:avLst/>
          </a:prstGeom>
          <a:noFill/>
        </p:spPr>
        <p:txBody>
          <a:bodyPr wrap="square" lIns="0" rIns="0" tIns="0" bIns="0" anchor="ctr">
            <a:spAutoFit/>
          </a:bodyPr>
          <a:lstStyle/>
          <a:p>
            <a:pPr algn="l">
              <a:lnSpc>
                <a:spcPct val="108000"/>
              </a:lnSpc>
            </a:pPr>
            <a:r>
              <a:rPr sz="2250" b="0" i="0">
                <a:solidFill>
                  <a:srgbClr val="665B53"/>
                </a:solidFill>
                <a:latin typeface="Arial"/>
              </a:rPr>
              <a:t>Does it move the customer towards something they already wanted? The only judgement of the three, and the one people skip.</a:t>
            </a:r>
          </a:p>
        </p:txBody>
      </p:sp>
      <p:sp>
        <p:nvSpPr>
          <p:cNvPr id="13" name="Rectangle 12"/>
          <p:cNvSpPr/>
          <p:nvPr/>
        </p:nvSpPr>
        <p:spPr>
          <a:xfrm>
            <a:off x="1047750" y="7639050"/>
            <a:ext cx="16192500" cy="1743075"/>
          </a:xfrm>
          <a:prstGeom prst="rect">
            <a:avLst/>
          </a:prstGeom>
          <a:solidFill>
            <a:srgbClr val="F0EAE1"/>
          </a:solidFill>
          <a:ln>
            <a:noFill/>
          </a:ln>
          <a:effectLst/>
        </p:spPr>
        <p:txBody>
          <a:bodyPr rtlCol="0" anchor="ctr"/>
          <a:lstStyle/>
          <a:p>
            <a:pPr algn="ctr"/>
          </a:p>
        </p:txBody>
      </p:sp>
      <p:sp>
        <p:nvSpPr>
          <p:cNvPr id="14" name="TextBox 13"/>
          <p:cNvSpPr txBox="1"/>
          <p:nvPr/>
        </p:nvSpPr>
        <p:spPr>
          <a:xfrm>
            <a:off x="1352550" y="7734300"/>
            <a:ext cx="3676650" cy="1552575"/>
          </a:xfrm>
          <a:prstGeom prst="rect">
            <a:avLst/>
          </a:prstGeom>
          <a:noFill/>
        </p:spPr>
        <p:txBody>
          <a:bodyPr wrap="square" lIns="0" rIns="0" tIns="0" bIns="0" anchor="ctr">
            <a:spAutoFit/>
          </a:bodyPr>
          <a:lstStyle/>
          <a:p>
            <a:pPr algn="l">
              <a:lnSpc>
                <a:spcPct val="94000"/>
              </a:lnSpc>
            </a:pPr>
            <a:r>
              <a:rPr sz="2700" b="1" i="0">
                <a:solidFill>
                  <a:srgbClr val="201914"/>
                </a:solidFill>
                <a:latin typeface="Arial"/>
              </a:rPr>
              <a:t>The scoring</a:t>
            </a:r>
          </a:p>
        </p:txBody>
      </p:sp>
      <p:sp>
        <p:nvSpPr>
          <p:cNvPr id="15" name="TextBox 14"/>
          <p:cNvSpPr txBox="1"/>
          <p:nvPr/>
        </p:nvSpPr>
        <p:spPr>
          <a:xfrm>
            <a:off x="5562600" y="7734300"/>
            <a:ext cx="11372850" cy="1552575"/>
          </a:xfrm>
          <a:prstGeom prst="rect">
            <a:avLst/>
          </a:prstGeom>
          <a:noFill/>
        </p:spPr>
        <p:txBody>
          <a:bodyPr wrap="square" lIns="0" rIns="0" tIns="0" bIns="0" anchor="ctr">
            <a:spAutoFit/>
          </a:bodyPr>
          <a:lstStyle/>
          <a:p>
            <a:pPr algn="l">
              <a:lnSpc>
                <a:spcPct val="108000"/>
              </a:lnSpc>
            </a:pPr>
            <a:r>
              <a:rPr sz="2250" b="0" i="0">
                <a:solidFill>
                  <a:srgbClr val="665B53"/>
                </a:solidFill>
                <a:latin typeface="Arial"/>
              </a:rPr>
              <a:t>Three out of three is DESIGN, and usually good for the customer. Two is PRESSURE — uncomfortable, widespread, survivable and worth fixing. Zero or one is a DARK PATTERN, and in India quite possibly a regulatory problem.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RUN OUR OWN CASE THROUGH THE TEST</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BookMyShow's convenience fee lands at two out of three</a:t>
            </a:r>
          </a:p>
        </p:txBody>
      </p:sp>
      <p:sp>
        <p:nvSpPr>
          <p:cNvPr id="4" name="Rectangle 3"/>
          <p:cNvSpPr/>
          <p:nvPr/>
        </p:nvSpPr>
        <p:spPr>
          <a:xfrm>
            <a:off x="1047750" y="3629025"/>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933825"/>
            <a:ext cx="5143500" cy="438150"/>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Q1 — true</a:t>
            </a:r>
          </a:p>
        </p:txBody>
      </p:sp>
      <p:sp>
        <p:nvSpPr>
          <p:cNvPr id="6" name="TextBox 5"/>
          <p:cNvSpPr txBox="1"/>
          <p:nvPr/>
        </p:nvSpPr>
        <p:spPr>
          <a:xfrm>
            <a:off x="1047750" y="4543425"/>
            <a:ext cx="5143500" cy="771525"/>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The fee is a real charge, honestly stated. No falsehood anywhere.</a:t>
            </a:r>
          </a:p>
        </p:txBody>
      </p:sp>
      <p:sp>
        <p:nvSpPr>
          <p:cNvPr id="7" name="Rectangle 6"/>
          <p:cNvSpPr/>
          <p:nvPr/>
        </p:nvSpPr>
        <p:spPr>
          <a:xfrm>
            <a:off x="6572250" y="3629025"/>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933825"/>
            <a:ext cx="5143500" cy="438150"/>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Q2 — doubtful</a:t>
            </a:r>
          </a:p>
        </p:txBody>
      </p:sp>
      <p:sp>
        <p:nvSpPr>
          <p:cNvPr id="9" name="TextBox 8"/>
          <p:cNvSpPr txBox="1"/>
          <p:nvPr/>
        </p:nvSpPr>
        <p:spPr>
          <a:xfrm>
            <a:off x="6572250" y="4543425"/>
            <a:ext cx="5143500" cy="1476375"/>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It appears after four decisions, not before the first. That is exactly the placement the CCPA calls drip pricing.</a:t>
            </a:r>
          </a:p>
        </p:txBody>
      </p:sp>
      <p:sp>
        <p:nvSpPr>
          <p:cNvPr id="10" name="Rectangle 9"/>
          <p:cNvSpPr/>
          <p:nvPr/>
        </p:nvSpPr>
        <p:spPr>
          <a:xfrm>
            <a:off x="12096750" y="3629025"/>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933825"/>
            <a:ext cx="5143500" cy="438150"/>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Q3 — arguable</a:t>
            </a:r>
          </a:p>
        </p:txBody>
      </p:sp>
      <p:sp>
        <p:nvSpPr>
          <p:cNvPr id="12" name="TextBox 11"/>
          <p:cNvSpPr txBox="1"/>
          <p:nvPr/>
        </p:nvSpPr>
        <p:spPr>
          <a:xfrm>
            <a:off x="12096750" y="4543425"/>
            <a:ext cx="5143500" cy="112395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It does not help the customer do anything. It funds the platform that does.</a:t>
            </a:r>
          </a:p>
        </p:txBody>
      </p:sp>
      <p:sp>
        <p:nvSpPr>
          <p:cNvPr id="13" name="TextBox 12"/>
          <p:cNvSpPr txBox="1"/>
          <p:nvPr/>
        </p:nvSpPr>
        <p:spPr>
          <a:xfrm>
            <a:off x="1047750" y="8439150"/>
            <a:ext cx="16192500" cy="933450"/>
          </a:xfrm>
          <a:prstGeom prst="rect">
            <a:avLst/>
          </a:prstGeom>
          <a:noFill/>
        </p:spPr>
        <p:txBody>
          <a:bodyPr wrap="square" lIns="0" rIns="0" tIns="0" bIns="0" anchor="t">
            <a:spAutoFit/>
          </a:bodyPr>
          <a:lstStyle/>
          <a:p>
            <a:pPr algn="l">
              <a:lnSpc>
                <a:spcPct val="112000"/>
              </a:lnSpc>
            </a:pPr>
            <a:r>
              <a:rPr sz="3000" b="0" i="1">
                <a:solidFill>
                  <a:srgbClr val="362C24"/>
                </a:solidFill>
                <a:latin typeface="Georgia"/>
              </a:rPr>
              <a:t>Two out of three is pressure, not a dark pattern. The band matters, and so does saying which one you are in.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THE BOUNDARY · WHERE LEVERS STOP WORKING</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Three ways this subject stops behaving the way founders expect</a:t>
            </a:r>
          </a:p>
        </p:txBody>
      </p:sp>
      <p:sp>
        <p:nvSpPr>
          <p:cNvPr id="4" name="TextBox 3"/>
          <p:cNvSpPr txBox="1"/>
          <p:nvPr/>
        </p:nvSpPr>
        <p:spPr>
          <a:xfrm>
            <a:off x="1314450" y="3629025"/>
            <a:ext cx="2857500" cy="276225"/>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THE FAILURE</a:t>
            </a:r>
          </a:p>
        </p:txBody>
      </p:sp>
      <p:sp>
        <p:nvSpPr>
          <p:cNvPr id="5" name="TextBox 4"/>
          <p:cNvSpPr txBox="1"/>
          <p:nvPr/>
        </p:nvSpPr>
        <p:spPr>
          <a:xfrm>
            <a:off x="4419600" y="3629025"/>
            <a:ext cx="6667500" cy="276225"/>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WHAT HAPPENS</a:t>
            </a:r>
          </a:p>
        </p:txBody>
      </p:sp>
      <p:sp>
        <p:nvSpPr>
          <p:cNvPr id="6" name="TextBox 5"/>
          <p:cNvSpPr txBox="1"/>
          <p:nvPr/>
        </p:nvSpPr>
        <p:spPr>
          <a:xfrm>
            <a:off x="11334750" y="3629025"/>
            <a:ext cx="4953000" cy="276225"/>
          </a:xfrm>
          <a:prstGeom prst="rect">
            <a:avLst/>
          </a:prstGeom>
          <a:noFill/>
        </p:spPr>
        <p:txBody>
          <a:bodyPr wrap="square" lIns="0" rIns="0" tIns="0" bIns="0" anchor="t">
            <a:spAutoFit/>
          </a:bodyPr>
          <a:lstStyle/>
          <a:p>
            <a:pPr algn="l">
              <a:lnSpc>
                <a:spcPct val="112000"/>
              </a:lnSpc>
            </a:pPr>
            <a:r>
              <a:rPr sz="1800" b="1" i="0" spc="200">
                <a:solidFill>
                  <a:srgbClr val="7B6F66"/>
                </a:solidFill>
                <a:latin typeface="Arial"/>
              </a:rPr>
              <a:t>THE TELL</a:t>
            </a:r>
          </a:p>
        </p:txBody>
      </p:sp>
      <p:sp>
        <p:nvSpPr>
          <p:cNvPr id="7" name="Rectangle 6"/>
          <p:cNvSpPr/>
          <p:nvPr/>
        </p:nvSpPr>
        <p:spPr>
          <a:xfrm>
            <a:off x="1047750" y="4076700"/>
            <a:ext cx="16192500" cy="28575"/>
          </a:xfrm>
          <a:prstGeom prst="rect">
            <a:avLst/>
          </a:prstGeom>
          <a:solidFill>
            <a:srgbClr val="201914"/>
          </a:solidFill>
          <a:ln>
            <a:noFill/>
          </a:ln>
          <a:effectLst/>
        </p:spPr>
        <p:txBody>
          <a:bodyPr rtlCol="0" anchor="ctr"/>
          <a:lstStyle/>
          <a:p>
            <a:pPr algn="ctr"/>
          </a:p>
        </p:txBody>
      </p:sp>
      <p:sp>
        <p:nvSpPr>
          <p:cNvPr id="8" name="TextBox 7"/>
          <p:cNvSpPr txBox="1"/>
          <p:nvPr/>
        </p:nvSpPr>
        <p:spPr>
          <a:xfrm>
            <a:off x="1314450" y="4181475"/>
            <a:ext cx="2857500" cy="1495425"/>
          </a:xfrm>
          <a:prstGeom prst="rect">
            <a:avLst/>
          </a:prstGeom>
          <a:noFill/>
        </p:spPr>
        <p:txBody>
          <a:bodyPr wrap="square" lIns="0" rIns="0" tIns="0" bIns="0" anchor="ctr">
            <a:spAutoFit/>
          </a:bodyPr>
          <a:lstStyle/>
          <a:p>
            <a:pPr algn="l">
              <a:lnSpc>
                <a:spcPct val="106000"/>
              </a:lnSpc>
            </a:pPr>
            <a:r>
              <a:rPr sz="1800" b="1" i="0">
                <a:solidFill>
                  <a:srgbClr val="201914"/>
                </a:solidFill>
                <a:latin typeface="Arial"/>
              </a:rPr>
              <a:t>1 · Lever blindness</a:t>
            </a:r>
          </a:p>
        </p:txBody>
      </p:sp>
      <p:sp>
        <p:nvSpPr>
          <p:cNvPr id="9" name="TextBox 8"/>
          <p:cNvSpPr txBox="1"/>
          <p:nvPr/>
        </p:nvSpPr>
        <p:spPr>
          <a:xfrm>
            <a:off x="4419600" y="4181475"/>
            <a:ext cx="6667500" cy="1495425"/>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A lever works because the customer reads it as information. The more often a population sees it, the less information it carries. The struck-through price worked powerfully for about a decade; a large share of shoppers now ignore it entirely.</a:t>
            </a:r>
          </a:p>
        </p:txBody>
      </p:sp>
      <p:sp>
        <p:nvSpPr>
          <p:cNvPr id="10" name="TextBox 9"/>
          <p:cNvSpPr txBox="1"/>
          <p:nvPr/>
        </p:nvSpPr>
        <p:spPr>
          <a:xfrm>
            <a:off x="11334750" y="4181475"/>
            <a:ext cx="4953000" cy="1495425"/>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Companies escalate — bigger discounts on bigger fictional prices, more counters, more banners — and escalation accelerates the blindness rather than fixing it.</a:t>
            </a:r>
          </a:p>
        </p:txBody>
      </p:sp>
      <p:sp>
        <p:nvSpPr>
          <p:cNvPr id="11" name="Rectangle 10"/>
          <p:cNvSpPr/>
          <p:nvPr/>
        </p:nvSpPr>
        <p:spPr>
          <a:xfrm>
            <a:off x="1047750" y="5772150"/>
            <a:ext cx="16192500" cy="9525"/>
          </a:xfrm>
          <a:prstGeom prst="rect">
            <a:avLst/>
          </a:prstGeom>
          <a:solidFill>
            <a:srgbClr val="D8CFC7"/>
          </a:solidFill>
          <a:ln>
            <a:noFill/>
          </a:ln>
          <a:effectLst/>
        </p:spPr>
        <p:txBody>
          <a:bodyPr rtlCol="0" anchor="ctr"/>
          <a:lstStyle/>
          <a:p>
            <a:pPr algn="ctr"/>
          </a:p>
        </p:txBody>
      </p:sp>
      <p:sp>
        <p:nvSpPr>
          <p:cNvPr id="12" name="Rectangle 11"/>
          <p:cNvSpPr/>
          <p:nvPr/>
        </p:nvSpPr>
        <p:spPr>
          <a:xfrm>
            <a:off x="1047750" y="5772150"/>
            <a:ext cx="16192500" cy="1685925"/>
          </a:xfrm>
          <a:prstGeom prst="rect">
            <a:avLst/>
          </a:prstGeom>
          <a:solidFill>
            <a:srgbClr val="F3EEE6"/>
          </a:solidFill>
          <a:ln>
            <a:noFill/>
          </a:ln>
          <a:effectLst/>
        </p:spPr>
        <p:txBody>
          <a:bodyPr rtlCol="0" anchor="ctr"/>
          <a:lstStyle/>
          <a:p>
            <a:pPr algn="ctr"/>
          </a:p>
        </p:txBody>
      </p:sp>
      <p:sp>
        <p:nvSpPr>
          <p:cNvPr id="13" name="TextBox 12"/>
          <p:cNvSpPr txBox="1"/>
          <p:nvPr/>
        </p:nvSpPr>
        <p:spPr>
          <a:xfrm>
            <a:off x="1314450" y="5867400"/>
            <a:ext cx="2857500" cy="1495425"/>
          </a:xfrm>
          <a:prstGeom prst="rect">
            <a:avLst/>
          </a:prstGeom>
          <a:noFill/>
        </p:spPr>
        <p:txBody>
          <a:bodyPr wrap="square" lIns="0" rIns="0" tIns="0" bIns="0" anchor="ctr">
            <a:spAutoFit/>
          </a:bodyPr>
          <a:lstStyle/>
          <a:p>
            <a:pPr algn="l">
              <a:lnSpc>
                <a:spcPct val="106000"/>
              </a:lnSpc>
            </a:pPr>
            <a:r>
              <a:rPr sz="1800" b="1" i="0">
                <a:solidFill>
                  <a:srgbClr val="201914"/>
                </a:solidFill>
                <a:latin typeface="Arial"/>
              </a:rPr>
              <a:t>2 · Trust is borrowed, not earned</a:t>
            </a:r>
          </a:p>
        </p:txBody>
      </p:sp>
      <p:sp>
        <p:nvSpPr>
          <p:cNvPr id="14" name="TextBox 13"/>
          <p:cNvSpPr txBox="1"/>
          <p:nvPr/>
        </p:nvSpPr>
        <p:spPr>
          <a:xfrm>
            <a:off x="4419600" y="5867400"/>
            <a:ext cx="6667500" cy="1495425"/>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Every dishonest lever is a loan taken from a customer's future willingness to believe you. The conversion gain lands this week, in the metric the team is measured on. The repayment lands next quarter, in a different report.</a:t>
            </a:r>
          </a:p>
        </p:txBody>
      </p:sp>
      <p:sp>
        <p:nvSpPr>
          <p:cNvPr id="15" name="TextBox 14"/>
          <p:cNvSpPr txBox="1"/>
          <p:nvPr/>
        </p:nvSpPr>
        <p:spPr>
          <a:xfrm>
            <a:off x="11334750" y="5867400"/>
            <a:ext cx="4953000" cy="1495425"/>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Returns, cancellations, refund requests and support contacts rise — and, most expensively, the cost of acquiring the next customer rises, because the last one is not recommending you.</a:t>
            </a:r>
          </a:p>
        </p:txBody>
      </p:sp>
      <p:sp>
        <p:nvSpPr>
          <p:cNvPr id="16" name="Rectangle 15"/>
          <p:cNvSpPr/>
          <p:nvPr/>
        </p:nvSpPr>
        <p:spPr>
          <a:xfrm>
            <a:off x="1047750" y="7458075"/>
            <a:ext cx="16192500" cy="9525"/>
          </a:xfrm>
          <a:prstGeom prst="rect">
            <a:avLst/>
          </a:prstGeom>
          <a:solidFill>
            <a:srgbClr val="D8CFC7"/>
          </a:solidFill>
          <a:ln>
            <a:noFill/>
          </a:ln>
          <a:effectLst/>
        </p:spPr>
        <p:txBody>
          <a:bodyPr rtlCol="0" anchor="ctr"/>
          <a:lstStyle/>
          <a:p>
            <a:pPr algn="ctr"/>
          </a:p>
        </p:txBody>
      </p:sp>
      <p:sp>
        <p:nvSpPr>
          <p:cNvPr id="17" name="TextBox 16"/>
          <p:cNvSpPr txBox="1"/>
          <p:nvPr/>
        </p:nvSpPr>
        <p:spPr>
          <a:xfrm>
            <a:off x="1314450" y="7553325"/>
            <a:ext cx="2857500" cy="1733550"/>
          </a:xfrm>
          <a:prstGeom prst="rect">
            <a:avLst/>
          </a:prstGeom>
          <a:noFill/>
        </p:spPr>
        <p:txBody>
          <a:bodyPr wrap="square" lIns="0" rIns="0" tIns="0" bIns="0" anchor="ctr">
            <a:spAutoFit/>
          </a:bodyPr>
          <a:lstStyle/>
          <a:p>
            <a:pPr algn="l">
              <a:lnSpc>
                <a:spcPct val="106000"/>
              </a:lnSpc>
            </a:pPr>
            <a:r>
              <a:rPr sz="1800" b="1" i="0">
                <a:solidFill>
                  <a:srgbClr val="201914"/>
                </a:solidFill>
                <a:latin typeface="Arial"/>
              </a:rPr>
              <a:t>3 · The line is now written down</a:t>
            </a:r>
          </a:p>
        </p:txBody>
      </p:sp>
      <p:sp>
        <p:nvSpPr>
          <p:cNvPr id="18" name="TextBox 17"/>
          <p:cNvSpPr txBox="1"/>
          <p:nvPr/>
        </p:nvSpPr>
        <p:spPr>
          <a:xfrm>
            <a:off x="4419600" y="7553325"/>
            <a:ext cx="6667500" cy="173355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On 30 November 2023, notified 6 December 2023, India's Central Consumer Protection Authority issued Guidelines for Prevention and Regulation of Dark Patterns under the Consumer Protection Act, 2019, naming thirteen specific practices.</a:t>
            </a:r>
          </a:p>
        </p:txBody>
      </p:sp>
      <p:sp>
        <p:nvSpPr>
          <p:cNvPr id="19" name="TextBox 18"/>
          <p:cNvSpPr txBox="1"/>
          <p:nvPr/>
        </p:nvSpPr>
        <p:spPr>
          <a:xfrm>
            <a:off x="11334750" y="7553325"/>
            <a:ext cx="4953000" cy="1733550"/>
          </a:xfrm>
          <a:prstGeom prst="rect">
            <a:avLst/>
          </a:prstGeom>
          <a:noFill/>
        </p:spPr>
        <p:txBody>
          <a:bodyPr wrap="square" lIns="0" rIns="0" tIns="0" bIns="0" anchor="ctr">
            <a:spAutoFit/>
          </a:bodyPr>
          <a:lstStyle/>
          <a:p>
            <a:pPr algn="l">
              <a:lnSpc>
                <a:spcPct val="106000"/>
              </a:lnSpc>
            </a:pPr>
            <a:r>
              <a:rPr sz="1800" b="0" i="0">
                <a:solidFill>
                  <a:srgbClr val="665B53"/>
                </a:solidFill>
                <a:latin typeface="Arial"/>
              </a:rPr>
              <a:t>Several of the mechanisms in today's case appear on that list by name: false urgency, basket sneaking, drip pricing, subscription trap, confirm shaming, forced action and more.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THIRTEEN NAMED PRACTICES · CONSUMER PROTECTION ACT, 2019</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Mechanisms taught in every marketing course, now named in an Indian regulatory instrument</a:t>
            </a:r>
          </a:p>
        </p:txBody>
      </p:sp>
      <p:sp>
        <p:nvSpPr>
          <p:cNvPr id="4" name="Rectangle 3"/>
          <p:cNvSpPr/>
          <p:nvPr/>
        </p:nvSpPr>
        <p:spPr>
          <a:xfrm>
            <a:off x="1047750" y="3629025"/>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933825"/>
            <a:ext cx="5143500" cy="1209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False urgency, basket sneaking, drip pricing</a:t>
            </a:r>
          </a:p>
        </p:txBody>
      </p:sp>
      <p:sp>
        <p:nvSpPr>
          <p:cNvPr id="6" name="TextBox 5"/>
          <p:cNvSpPr txBox="1"/>
          <p:nvPr/>
        </p:nvSpPr>
        <p:spPr>
          <a:xfrm>
            <a:off x="1047750" y="5314950"/>
            <a:ext cx="5143500" cy="217170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A fabricated sense of scarcity or a countdown that means nothing. Items added at checkout the customer did not select. Costs concealed until after the customer has committed.</a:t>
            </a:r>
          </a:p>
        </p:txBody>
      </p:sp>
      <p:sp>
        <p:nvSpPr>
          <p:cNvPr id="7" name="Rectangle 6"/>
          <p:cNvSpPr/>
          <p:nvPr/>
        </p:nvSpPr>
        <p:spPr>
          <a:xfrm>
            <a:off x="6572250" y="3629025"/>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933825"/>
            <a:ext cx="5143500" cy="1209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Subscription trap, confirm shaming, forced action</a:t>
            </a:r>
          </a:p>
        </p:txBody>
      </p:sp>
      <p:sp>
        <p:nvSpPr>
          <p:cNvPr id="9" name="TextBox 8"/>
          <p:cNvSpPr txBox="1"/>
          <p:nvPr/>
        </p:nvSpPr>
        <p:spPr>
          <a:xfrm>
            <a:off x="6572250" y="5314950"/>
            <a:ext cx="5143500" cy="2171700"/>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Making cancellation hard, hiding the option, or demanding card details for a free trial. 'No thanks, I prefer to pay full price' as the only way to decline. Being made to do something unrelated to proceed.</a:t>
            </a:r>
          </a:p>
        </p:txBody>
      </p:sp>
      <p:sp>
        <p:nvSpPr>
          <p:cNvPr id="10" name="Rectangle 9"/>
          <p:cNvSpPr/>
          <p:nvPr/>
        </p:nvSpPr>
        <p:spPr>
          <a:xfrm>
            <a:off x="12096750" y="3629025"/>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933825"/>
            <a:ext cx="5143500" cy="1209675"/>
          </a:xfrm>
          <a:prstGeom prst="rect">
            <a:avLst/>
          </a:prstGeom>
          <a:noFill/>
        </p:spPr>
        <p:txBody>
          <a:bodyPr wrap="square" lIns="0" rIns="0" tIns="0" bIns="0" anchor="t">
            <a:spAutoFit/>
          </a:bodyPr>
          <a:lstStyle/>
          <a:p>
            <a:pPr algn="l">
              <a:lnSpc>
                <a:spcPct val="92000"/>
              </a:lnSpc>
            </a:pPr>
            <a:r>
              <a:rPr sz="3300" b="1" i="0">
                <a:solidFill>
                  <a:srgbClr val="201914"/>
                </a:solidFill>
                <a:latin typeface="Arial"/>
              </a:rPr>
              <a:t>And the rest</a:t>
            </a:r>
          </a:p>
        </p:txBody>
      </p:sp>
      <p:sp>
        <p:nvSpPr>
          <p:cNvPr id="12" name="TextBox 11"/>
          <p:cNvSpPr txBox="1"/>
          <p:nvPr/>
        </p:nvSpPr>
        <p:spPr>
          <a:xfrm>
            <a:off x="12096750" y="5314950"/>
            <a:ext cx="5143500" cy="1476375"/>
          </a:xfrm>
          <a:prstGeom prst="rect">
            <a:avLst/>
          </a:prstGeom>
          <a:noFill/>
        </p:spPr>
        <p:txBody>
          <a:bodyPr wrap="square" lIns="0" rIns="0" tIns="0" bIns="0" anchor="t">
            <a:spAutoFit/>
          </a:bodyPr>
          <a:lstStyle/>
          <a:p>
            <a:pPr algn="l">
              <a:lnSpc>
                <a:spcPct val="108000"/>
              </a:lnSpc>
            </a:pPr>
            <a:r>
              <a:rPr sz="2550" b="0" i="0">
                <a:solidFill>
                  <a:srgbClr val="665B53"/>
                </a:solidFill>
                <a:latin typeface="Arial"/>
              </a:rPr>
              <a:t>Interface interference, bait and switch, disguised advertisement, nagging, trick questions, and two more.</a:t>
            </a:r>
          </a:p>
        </p:txBody>
      </p:sp>
      <p:sp>
        <p:nvSpPr>
          <p:cNvPr id="13" name="TextBox 12"/>
          <p:cNvSpPr txBox="1"/>
          <p:nvPr/>
        </p:nvSpPr>
        <p:spPr>
          <a:xfrm>
            <a:off x="1047750" y="8439150"/>
            <a:ext cx="16192500" cy="933450"/>
          </a:xfrm>
          <a:prstGeom prst="rect">
            <a:avLst/>
          </a:prstGeom>
          <a:noFill/>
        </p:spPr>
        <p:txBody>
          <a:bodyPr wrap="square" lIns="0" rIns="0" tIns="0" bIns="0" anchor="t">
            <a:spAutoFit/>
          </a:bodyPr>
          <a:lstStyle/>
          <a:p>
            <a:pPr algn="l">
              <a:lnSpc>
                <a:spcPct val="112000"/>
              </a:lnSpc>
            </a:pPr>
            <a:r>
              <a:rPr sz="3000" b="0" i="1">
                <a:solidFill>
                  <a:srgbClr val="362C24"/>
                </a:solidFill>
                <a:latin typeface="Georgia"/>
              </a:rPr>
              <a:t>The difference between design and manipulation is not how hard you push. It is whether the thing you are pushing with is true.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ACTIVITY · APP DETECTIVE</a:t>
            </a:r>
          </a:p>
        </p:txBody>
      </p:sp>
      <p:sp>
        <p:nvSpPr>
          <p:cNvPr id="3" name="TextBox 2"/>
          <p:cNvSpPr txBox="1"/>
          <p:nvPr/>
        </p:nvSpPr>
        <p:spPr>
          <a:xfrm>
            <a:off x="1047750" y="1504950"/>
            <a:ext cx="16192500" cy="895350"/>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App Detective</a:t>
            </a:r>
          </a:p>
        </p:txBody>
      </p:sp>
      <p:sp>
        <p:nvSpPr>
          <p:cNvPr id="4" name="TextBox 3"/>
          <p:cNvSpPr txBox="1"/>
          <p:nvPr/>
        </p:nvSpPr>
        <p:spPr>
          <a:xfrm>
            <a:off x="1047750" y="2838450"/>
            <a:ext cx="16192500" cy="1247775"/>
          </a:xfrm>
          <a:prstGeom prst="rect">
            <a:avLst/>
          </a:prstGeom>
          <a:noFill/>
        </p:spPr>
        <p:txBody>
          <a:bodyPr wrap="square" lIns="0" rIns="0" tIns="0" bIns="0" anchor="t">
            <a:spAutoFit/>
          </a:bodyPr>
          <a:lstStyle/>
          <a:p>
            <a:pPr algn="l">
              <a:lnSpc>
                <a:spcPct val="108000"/>
              </a:lnSpc>
            </a:pPr>
            <a:r>
              <a:rPr sz="2850" b="1" i="0">
                <a:solidFill>
                  <a:srgbClr val="201914"/>
                </a:solidFill>
                <a:latin typeface="Arial"/>
              </a:rPr>
              <a:t>Open three apps you actually use, from three different categories, and go as far into a purchase as you can without paying. Find the levers, quote them exactly, and deliver a verdict.</a:t>
            </a:r>
          </a:p>
        </p:txBody>
      </p:sp>
      <p:sp>
        <p:nvSpPr>
          <p:cNvPr id="5" name="TextBox 4"/>
          <p:cNvSpPr txBox="1"/>
          <p:nvPr/>
        </p:nvSpPr>
        <p:spPr>
          <a:xfrm>
            <a:off x="1047750" y="4467225"/>
            <a:ext cx="381000" cy="419100"/>
          </a:xfrm>
          <a:prstGeom prst="rect">
            <a:avLst/>
          </a:prstGeom>
          <a:noFill/>
        </p:spPr>
        <p:txBody>
          <a:bodyPr wrap="square" lIns="0" rIns="0" tIns="0" bIns="0" anchor="t">
            <a:spAutoFit/>
          </a:bodyPr>
          <a:lstStyle/>
          <a:p>
            <a:pPr algn="l"/>
            <a:r>
              <a:rPr sz="2100" b="1" i="0">
                <a:solidFill>
                  <a:srgbClr val="C35141"/>
                </a:solidFill>
                <a:latin typeface="Arial"/>
              </a:rPr>
              <a:t>1</a:t>
            </a:r>
          </a:p>
        </p:txBody>
      </p:sp>
      <p:sp>
        <p:nvSpPr>
          <p:cNvPr id="6" name="TextBox 5"/>
          <p:cNvSpPr txBox="1"/>
          <p:nvPr/>
        </p:nvSpPr>
        <p:spPr>
          <a:xfrm>
            <a:off x="1485900" y="4467225"/>
            <a:ext cx="6953250" cy="952500"/>
          </a:xfrm>
          <a:prstGeom prst="rect">
            <a:avLst/>
          </a:prstGeom>
          <a:noFill/>
        </p:spPr>
        <p:txBody>
          <a:bodyPr wrap="square" lIns="0" rIns="0" tIns="0" bIns="0" anchor="t">
            <a:spAutoFit/>
          </a:bodyPr>
          <a:lstStyle/>
          <a:p>
            <a:pPr algn="l">
              <a:lnSpc>
                <a:spcPct val="110000"/>
              </a:lnSpc>
            </a:pPr>
            <a:r>
              <a:rPr sz="2100" b="0" i="0">
                <a:solidFill>
                  <a:srgbClr val="201914"/>
                </a:solidFill>
                <a:latin typeface="Arial"/>
              </a:rPr>
              <a:t>Pick three apps from three different categories — one ticketing or travel, one fashion or general shopping, one food delivery, quick-commerce, payments or telecom.</a:t>
            </a:r>
          </a:p>
        </p:txBody>
      </p:sp>
      <p:sp>
        <p:nvSpPr>
          <p:cNvPr id="7" name="TextBox 6"/>
          <p:cNvSpPr txBox="1"/>
          <p:nvPr/>
        </p:nvSpPr>
        <p:spPr>
          <a:xfrm>
            <a:off x="1047750" y="5629275"/>
            <a:ext cx="381000" cy="419100"/>
          </a:xfrm>
          <a:prstGeom prst="rect">
            <a:avLst/>
          </a:prstGeom>
          <a:noFill/>
        </p:spPr>
        <p:txBody>
          <a:bodyPr wrap="square" lIns="0" rIns="0" tIns="0" bIns="0" anchor="t">
            <a:spAutoFit/>
          </a:bodyPr>
          <a:lstStyle/>
          <a:p>
            <a:pPr algn="l"/>
            <a:r>
              <a:rPr sz="2100" b="1" i="0">
                <a:solidFill>
                  <a:srgbClr val="C35141"/>
                </a:solidFill>
                <a:latin typeface="Arial"/>
              </a:rPr>
              <a:t>2</a:t>
            </a:r>
          </a:p>
        </p:txBody>
      </p:sp>
      <p:sp>
        <p:nvSpPr>
          <p:cNvPr id="8" name="TextBox 7"/>
          <p:cNvSpPr txBox="1"/>
          <p:nvPr/>
        </p:nvSpPr>
        <p:spPr>
          <a:xfrm>
            <a:off x="1485900" y="5629275"/>
            <a:ext cx="6953250" cy="952500"/>
          </a:xfrm>
          <a:prstGeom prst="rect">
            <a:avLst/>
          </a:prstGeom>
          <a:noFill/>
        </p:spPr>
        <p:txBody>
          <a:bodyPr wrap="square" lIns="0" rIns="0" tIns="0" bIns="0" anchor="t">
            <a:spAutoFit/>
          </a:bodyPr>
          <a:lstStyle/>
          <a:p>
            <a:pPr algn="l">
              <a:lnSpc>
                <a:spcPct val="110000"/>
              </a:lnSpc>
            </a:pPr>
            <a:r>
              <a:rPr sz="2100" b="0" i="0">
                <a:solidFill>
                  <a:srgbClr val="201914"/>
                </a:solidFill>
                <a:latin typeface="Arial"/>
              </a:rPr>
              <a:t>Go through a real purchase flow up to but NOT including payment. Move slowly. Most levers appear in the last two screens.</a:t>
            </a:r>
          </a:p>
        </p:txBody>
      </p:sp>
      <p:sp>
        <p:nvSpPr>
          <p:cNvPr id="9" name="TextBox 8"/>
          <p:cNvSpPr txBox="1"/>
          <p:nvPr/>
        </p:nvSpPr>
        <p:spPr>
          <a:xfrm>
            <a:off x="1047750" y="6791325"/>
            <a:ext cx="381000" cy="419100"/>
          </a:xfrm>
          <a:prstGeom prst="rect">
            <a:avLst/>
          </a:prstGeom>
          <a:noFill/>
        </p:spPr>
        <p:txBody>
          <a:bodyPr wrap="square" lIns="0" rIns="0" tIns="0" bIns="0" anchor="t">
            <a:spAutoFit/>
          </a:bodyPr>
          <a:lstStyle/>
          <a:p>
            <a:pPr algn="l"/>
            <a:r>
              <a:rPr sz="2100" b="1" i="0">
                <a:solidFill>
                  <a:srgbClr val="C35141"/>
                </a:solidFill>
                <a:latin typeface="Arial"/>
              </a:rPr>
              <a:t>3</a:t>
            </a:r>
          </a:p>
        </p:txBody>
      </p:sp>
      <p:sp>
        <p:nvSpPr>
          <p:cNvPr id="10" name="TextBox 9"/>
          <p:cNvSpPr txBox="1"/>
          <p:nvPr/>
        </p:nvSpPr>
        <p:spPr>
          <a:xfrm>
            <a:off x="1485900" y="6791325"/>
            <a:ext cx="6953250" cy="1247775"/>
          </a:xfrm>
          <a:prstGeom prst="rect">
            <a:avLst/>
          </a:prstGeom>
          <a:noFill/>
        </p:spPr>
        <p:txBody>
          <a:bodyPr wrap="square" lIns="0" rIns="0" tIns="0" bIns="0" anchor="t">
            <a:spAutoFit/>
          </a:bodyPr>
          <a:lstStyle/>
          <a:p>
            <a:pPr algn="l">
              <a:lnSpc>
                <a:spcPct val="110000"/>
              </a:lnSpc>
            </a:pPr>
            <a:r>
              <a:rPr sz="2100" b="0" i="0">
                <a:solidFill>
                  <a:srgbClr val="201914"/>
                </a:solidFill>
                <a:latin typeface="Arial"/>
              </a:rPr>
              <a:t>In each app find at least one reference lever (blue), one commitment lever (green) and one urgency lever (amber). 'None found' is a real and interesting result, not a failure.</a:t>
            </a:r>
          </a:p>
        </p:txBody>
      </p:sp>
      <p:sp>
        <p:nvSpPr>
          <p:cNvPr id="11" name="TextBox 10"/>
          <p:cNvSpPr txBox="1"/>
          <p:nvPr/>
        </p:nvSpPr>
        <p:spPr>
          <a:xfrm>
            <a:off x="1047750" y="8248650"/>
            <a:ext cx="381000" cy="419100"/>
          </a:xfrm>
          <a:prstGeom prst="rect">
            <a:avLst/>
          </a:prstGeom>
          <a:noFill/>
        </p:spPr>
        <p:txBody>
          <a:bodyPr wrap="square" lIns="0" rIns="0" tIns="0" bIns="0" anchor="t">
            <a:spAutoFit/>
          </a:bodyPr>
          <a:lstStyle/>
          <a:p>
            <a:pPr algn="l"/>
            <a:r>
              <a:rPr sz="2100" b="1" i="0">
                <a:solidFill>
                  <a:srgbClr val="C35141"/>
                </a:solidFill>
                <a:latin typeface="Arial"/>
              </a:rPr>
              <a:t>4</a:t>
            </a:r>
          </a:p>
        </p:txBody>
      </p:sp>
      <p:sp>
        <p:nvSpPr>
          <p:cNvPr id="12" name="TextBox 11"/>
          <p:cNvSpPr txBox="1"/>
          <p:nvPr/>
        </p:nvSpPr>
        <p:spPr>
          <a:xfrm>
            <a:off x="1485900" y="8248650"/>
            <a:ext cx="6953250" cy="952500"/>
          </a:xfrm>
          <a:prstGeom prst="rect">
            <a:avLst/>
          </a:prstGeom>
          <a:noFill/>
        </p:spPr>
        <p:txBody>
          <a:bodyPr wrap="square" lIns="0" rIns="0" tIns="0" bIns="0" anchor="t">
            <a:spAutoFit/>
          </a:bodyPr>
          <a:lstStyle/>
          <a:p>
            <a:pPr algn="l">
              <a:lnSpc>
                <a:spcPct val="110000"/>
              </a:lnSpc>
            </a:pPr>
            <a:r>
              <a:rPr sz="2100" b="0" i="0">
                <a:solidFill>
                  <a:srgbClr val="201914"/>
                </a:solidFill>
                <a:latin typeface="Arial"/>
              </a:rPr>
              <a:t>Write down the exact words and numbers. Quote them. Both figures for a struck-through price; the time a timer showed and the time it showed thirty seconds later.</a:t>
            </a:r>
          </a:p>
        </p:txBody>
      </p:sp>
      <p:sp>
        <p:nvSpPr>
          <p:cNvPr id="13" name="TextBox 12"/>
          <p:cNvSpPr txBox="1"/>
          <p:nvPr/>
        </p:nvSpPr>
        <p:spPr>
          <a:xfrm>
            <a:off x="9429750" y="4467225"/>
            <a:ext cx="381000" cy="419100"/>
          </a:xfrm>
          <a:prstGeom prst="rect">
            <a:avLst/>
          </a:prstGeom>
          <a:noFill/>
        </p:spPr>
        <p:txBody>
          <a:bodyPr wrap="square" lIns="0" rIns="0" tIns="0" bIns="0" anchor="t">
            <a:spAutoFit/>
          </a:bodyPr>
          <a:lstStyle/>
          <a:p>
            <a:pPr algn="l"/>
            <a:r>
              <a:rPr sz="2100" b="1" i="0">
                <a:solidFill>
                  <a:srgbClr val="C35141"/>
                </a:solidFill>
                <a:latin typeface="Arial"/>
              </a:rPr>
              <a:t>5</a:t>
            </a:r>
          </a:p>
        </p:txBody>
      </p:sp>
      <p:sp>
        <p:nvSpPr>
          <p:cNvPr id="14" name="TextBox 13"/>
          <p:cNvSpPr txBox="1"/>
          <p:nvPr/>
        </p:nvSpPr>
        <p:spPr>
          <a:xfrm>
            <a:off x="9867900" y="4467225"/>
            <a:ext cx="6953250" cy="952500"/>
          </a:xfrm>
          <a:prstGeom prst="rect">
            <a:avLst/>
          </a:prstGeom>
          <a:noFill/>
        </p:spPr>
        <p:txBody>
          <a:bodyPr wrap="square" lIns="0" rIns="0" tIns="0" bIns="0" anchor="t">
            <a:spAutoFit/>
          </a:bodyPr>
          <a:lstStyle/>
          <a:p>
            <a:pPr algn="l">
              <a:lnSpc>
                <a:spcPct val="110000"/>
              </a:lnSpc>
            </a:pPr>
            <a:r>
              <a:rPr sz="2100" b="0" i="0">
                <a:solidFill>
                  <a:srgbClr val="201914"/>
                </a:solidFill>
                <a:latin typeface="Arial"/>
              </a:rPr>
              <a:t>Run each one through the Three-Question Test. Score it out of three and give a verdict: design, pressure, or dark pattern.</a:t>
            </a:r>
          </a:p>
        </p:txBody>
      </p:sp>
      <p:sp>
        <p:nvSpPr>
          <p:cNvPr id="15" name="TextBox 14"/>
          <p:cNvSpPr txBox="1"/>
          <p:nvPr/>
        </p:nvSpPr>
        <p:spPr>
          <a:xfrm>
            <a:off x="9429750" y="5629275"/>
            <a:ext cx="381000" cy="419100"/>
          </a:xfrm>
          <a:prstGeom prst="rect">
            <a:avLst/>
          </a:prstGeom>
          <a:noFill/>
        </p:spPr>
        <p:txBody>
          <a:bodyPr wrap="square" lIns="0" rIns="0" tIns="0" bIns="0" anchor="t">
            <a:spAutoFit/>
          </a:bodyPr>
          <a:lstStyle/>
          <a:p>
            <a:pPr algn="l"/>
            <a:r>
              <a:rPr sz="2100" b="1" i="0">
                <a:solidFill>
                  <a:srgbClr val="C35141"/>
                </a:solidFill>
                <a:latin typeface="Arial"/>
              </a:rPr>
              <a:t>6</a:t>
            </a:r>
          </a:p>
        </p:txBody>
      </p:sp>
      <p:sp>
        <p:nvSpPr>
          <p:cNvPr id="16" name="TextBox 15"/>
          <p:cNvSpPr txBox="1"/>
          <p:nvPr/>
        </p:nvSpPr>
        <p:spPr>
          <a:xfrm>
            <a:off x="9867900" y="5629275"/>
            <a:ext cx="6953250" cy="952500"/>
          </a:xfrm>
          <a:prstGeom prst="rect">
            <a:avLst/>
          </a:prstGeom>
          <a:noFill/>
        </p:spPr>
        <p:txBody>
          <a:bodyPr wrap="square" lIns="0" rIns="0" tIns="0" bIns="0" anchor="t">
            <a:spAutoFit/>
          </a:bodyPr>
          <a:lstStyle/>
          <a:p>
            <a:pPr algn="l">
              <a:lnSpc>
                <a:spcPct val="110000"/>
              </a:lnSpc>
            </a:pPr>
            <a:r>
              <a:rPr sz="2100" b="0" i="0">
                <a:solidFill>
                  <a:srgbClr val="201914"/>
                </a:solidFill>
                <a:latin typeface="Arial"/>
              </a:rPr>
              <a:t>For anything scoring 0 or 1, check it against the CCPA's thirteen named practices and write down which one it matches.</a:t>
            </a:r>
          </a:p>
        </p:txBody>
      </p:sp>
      <p:sp>
        <p:nvSpPr>
          <p:cNvPr id="17" name="TextBox 16"/>
          <p:cNvSpPr txBox="1"/>
          <p:nvPr/>
        </p:nvSpPr>
        <p:spPr>
          <a:xfrm>
            <a:off x="9429750" y="6791325"/>
            <a:ext cx="381000" cy="419100"/>
          </a:xfrm>
          <a:prstGeom prst="rect">
            <a:avLst/>
          </a:prstGeom>
          <a:noFill/>
        </p:spPr>
        <p:txBody>
          <a:bodyPr wrap="square" lIns="0" rIns="0" tIns="0" bIns="0" anchor="t">
            <a:spAutoFit/>
          </a:bodyPr>
          <a:lstStyle/>
          <a:p>
            <a:pPr algn="l"/>
            <a:r>
              <a:rPr sz="2100" b="1" i="0">
                <a:solidFill>
                  <a:srgbClr val="C35141"/>
                </a:solidFill>
                <a:latin typeface="Arial"/>
              </a:rPr>
              <a:t>7</a:t>
            </a:r>
          </a:p>
        </p:txBody>
      </p:sp>
      <p:sp>
        <p:nvSpPr>
          <p:cNvPr id="18" name="TextBox 17"/>
          <p:cNvSpPr txBox="1"/>
          <p:nvPr/>
        </p:nvSpPr>
        <p:spPr>
          <a:xfrm>
            <a:off x="9867900" y="6791325"/>
            <a:ext cx="6953250" cy="1247775"/>
          </a:xfrm>
          <a:prstGeom prst="rect">
            <a:avLst/>
          </a:prstGeom>
          <a:noFill/>
        </p:spPr>
        <p:txBody>
          <a:bodyPr wrap="square" lIns="0" rIns="0" tIns="0" bIns="0" anchor="t">
            <a:spAutoFit/>
          </a:bodyPr>
          <a:lstStyle/>
          <a:p>
            <a:pPr algn="l">
              <a:lnSpc>
                <a:spcPct val="110000"/>
              </a:lnSpc>
            </a:pPr>
            <a:r>
              <a:rPr sz="2100" b="0" i="0">
                <a:solidFill>
                  <a:srgbClr val="201914"/>
                </a:solidFill>
                <a:latin typeface="Arial"/>
              </a:rPr>
              <a:t>Overnight — reopen one page you flagged for false urgency after 24 hours. Screenshot both times. An unchanged stock count or countdown is documented evidence.</a:t>
            </a:r>
          </a:p>
        </p:txBody>
      </p:sp>
      <p:sp>
        <p:nvSpPr>
          <p:cNvPr id="19" name="TextBox 18"/>
          <p:cNvSpPr txBox="1"/>
          <p:nvPr/>
        </p:nvSpPr>
        <p:spPr>
          <a:xfrm>
            <a:off x="9429750" y="8248650"/>
            <a:ext cx="381000" cy="419100"/>
          </a:xfrm>
          <a:prstGeom prst="rect">
            <a:avLst/>
          </a:prstGeom>
          <a:noFill/>
        </p:spPr>
        <p:txBody>
          <a:bodyPr wrap="square" lIns="0" rIns="0" tIns="0" bIns="0" anchor="t">
            <a:spAutoFit/>
          </a:bodyPr>
          <a:lstStyle/>
          <a:p>
            <a:pPr algn="l"/>
            <a:r>
              <a:rPr sz="2100" b="1" i="0">
                <a:solidFill>
                  <a:srgbClr val="C35141"/>
                </a:solidFill>
                <a:latin typeface="Arial"/>
              </a:rPr>
              <a:t>8</a:t>
            </a:r>
          </a:p>
        </p:txBody>
      </p:sp>
      <p:sp>
        <p:nvSpPr>
          <p:cNvPr id="20" name="TextBox 19"/>
          <p:cNvSpPr txBox="1"/>
          <p:nvPr/>
        </p:nvSpPr>
        <p:spPr>
          <a:xfrm>
            <a:off x="9867900" y="8248650"/>
            <a:ext cx="6953250" cy="371475"/>
          </a:xfrm>
          <a:prstGeom prst="rect">
            <a:avLst/>
          </a:prstGeom>
          <a:noFill/>
        </p:spPr>
        <p:txBody>
          <a:bodyPr wrap="square" lIns="0" rIns="0" tIns="0" bIns="0" anchor="t">
            <a:spAutoFit/>
          </a:bodyPr>
          <a:lstStyle/>
          <a:p>
            <a:pPr algn="l">
              <a:lnSpc>
                <a:spcPct val="110000"/>
              </a:lnSpc>
            </a:pPr>
            <a:r>
              <a:rPr sz="2100" b="0" i="0">
                <a:solidFill>
                  <a:srgbClr val="201914"/>
                </a:solidFill>
                <a:latin typeface="Arial"/>
              </a:rPr>
              <a:t>Bring both screenshots to the next class.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YOUR TEMPLATE</a:t>
            </a:r>
          </a:p>
        </p:txBody>
      </p:sp>
      <p:sp>
        <p:nvSpPr>
          <p:cNvPr id="3" name="TextBox 2"/>
          <p:cNvSpPr txBox="1"/>
          <p:nvPr/>
        </p:nvSpPr>
        <p:spPr>
          <a:xfrm>
            <a:off x="1047750" y="1504950"/>
            <a:ext cx="16192500" cy="895350"/>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Quote the screen. Do not describe it.</a:t>
            </a:r>
          </a:p>
        </p:txBody>
      </p:sp>
      <p:sp>
        <p:nvSpPr>
          <p:cNvPr id="4" name="TextBox 3"/>
          <p:cNvSpPr txBox="1"/>
          <p:nvPr/>
        </p:nvSpPr>
        <p:spPr>
          <a:xfrm>
            <a:off x="1276350" y="3048000"/>
            <a:ext cx="1609725" cy="1476375"/>
          </a:xfrm>
          <a:prstGeom prst="rect">
            <a:avLst/>
          </a:prstGeom>
          <a:noFill/>
        </p:spPr>
        <p:txBody>
          <a:bodyPr wrap="square" lIns="0" rIns="0" tIns="0" bIns="0" anchor="t">
            <a:spAutoFit/>
          </a:bodyPr>
          <a:lstStyle/>
          <a:p>
            <a:pPr algn="l">
              <a:lnSpc>
                <a:spcPct val="106000"/>
              </a:lnSpc>
            </a:pPr>
            <a:r>
              <a:rPr sz="1800" b="1" i="0" spc="200">
                <a:solidFill>
                  <a:srgbClr val="7B6F66"/>
                </a:solidFill>
                <a:latin typeface="Arial"/>
              </a:rPr>
              <a:t>#</a:t>
            </a:r>
          </a:p>
        </p:txBody>
      </p:sp>
      <p:sp>
        <p:nvSpPr>
          <p:cNvPr id="5" name="TextBox 4"/>
          <p:cNvSpPr txBox="1"/>
          <p:nvPr/>
        </p:nvSpPr>
        <p:spPr>
          <a:xfrm>
            <a:off x="3324225" y="3048000"/>
            <a:ext cx="1609725" cy="1476375"/>
          </a:xfrm>
          <a:prstGeom prst="rect">
            <a:avLst/>
          </a:prstGeom>
          <a:noFill/>
        </p:spPr>
        <p:txBody>
          <a:bodyPr wrap="square" lIns="0" rIns="0" tIns="0" bIns="0" anchor="t">
            <a:spAutoFit/>
          </a:bodyPr>
          <a:lstStyle/>
          <a:p>
            <a:pPr algn="l">
              <a:lnSpc>
                <a:spcPct val="106000"/>
              </a:lnSpc>
            </a:pPr>
            <a:r>
              <a:rPr sz="1800" b="1" i="0" spc="200">
                <a:solidFill>
                  <a:srgbClr val="7B6F66"/>
                </a:solidFill>
                <a:latin typeface="Arial"/>
              </a:rPr>
              <a:t>APP + SCREEN</a:t>
            </a:r>
          </a:p>
        </p:txBody>
      </p:sp>
      <p:sp>
        <p:nvSpPr>
          <p:cNvPr id="6" name="TextBox 5"/>
          <p:cNvSpPr txBox="1"/>
          <p:nvPr/>
        </p:nvSpPr>
        <p:spPr>
          <a:xfrm>
            <a:off x="5372100" y="3048000"/>
            <a:ext cx="1609725" cy="1476375"/>
          </a:xfrm>
          <a:prstGeom prst="rect">
            <a:avLst/>
          </a:prstGeom>
          <a:noFill/>
        </p:spPr>
        <p:txBody>
          <a:bodyPr wrap="square" lIns="0" rIns="0" tIns="0" bIns="0" anchor="t">
            <a:spAutoFit/>
          </a:bodyPr>
          <a:lstStyle/>
          <a:p>
            <a:pPr algn="l">
              <a:lnSpc>
                <a:spcPct val="106000"/>
              </a:lnSpc>
            </a:pPr>
            <a:r>
              <a:rPr sz="1800" b="1" i="0" spc="200">
                <a:solidFill>
                  <a:srgbClr val="7B6F66"/>
                </a:solidFill>
                <a:latin typeface="Arial"/>
              </a:rPr>
              <a:t>EXACT WORDS AND NUMBERS ON SCREEN</a:t>
            </a:r>
          </a:p>
        </p:txBody>
      </p:sp>
      <p:sp>
        <p:nvSpPr>
          <p:cNvPr id="7" name="TextBox 6"/>
          <p:cNvSpPr txBox="1"/>
          <p:nvPr/>
        </p:nvSpPr>
        <p:spPr>
          <a:xfrm>
            <a:off x="7419975" y="3048000"/>
            <a:ext cx="1609725" cy="1476375"/>
          </a:xfrm>
          <a:prstGeom prst="rect">
            <a:avLst/>
          </a:prstGeom>
          <a:noFill/>
        </p:spPr>
        <p:txBody>
          <a:bodyPr wrap="square" lIns="0" rIns="0" tIns="0" bIns="0" anchor="t">
            <a:spAutoFit/>
          </a:bodyPr>
          <a:lstStyle/>
          <a:p>
            <a:pPr algn="l">
              <a:lnSpc>
                <a:spcPct val="106000"/>
              </a:lnSpc>
            </a:pPr>
            <a:r>
              <a:rPr sz="1800" b="1" i="0" spc="200">
                <a:solidFill>
                  <a:srgbClr val="7B6F66"/>
                </a:solidFill>
                <a:latin typeface="Arial"/>
              </a:rPr>
              <a:t>LEVER FAMILY + COLOUR</a:t>
            </a:r>
          </a:p>
        </p:txBody>
      </p:sp>
      <p:sp>
        <p:nvSpPr>
          <p:cNvPr id="8" name="TextBox 7"/>
          <p:cNvSpPr txBox="1"/>
          <p:nvPr/>
        </p:nvSpPr>
        <p:spPr>
          <a:xfrm>
            <a:off x="9467850" y="3048000"/>
            <a:ext cx="1609725" cy="1476375"/>
          </a:xfrm>
          <a:prstGeom prst="rect">
            <a:avLst/>
          </a:prstGeom>
          <a:noFill/>
        </p:spPr>
        <p:txBody>
          <a:bodyPr wrap="square" lIns="0" rIns="0" tIns="0" bIns="0" anchor="t">
            <a:spAutoFit/>
          </a:bodyPr>
          <a:lstStyle/>
          <a:p>
            <a:pPr algn="l">
              <a:lnSpc>
                <a:spcPct val="106000"/>
              </a:lnSpc>
            </a:pPr>
            <a:r>
              <a:rPr sz="1800" b="1" i="0" spc="200">
                <a:solidFill>
                  <a:srgbClr val="7B6F66"/>
                </a:solidFill>
                <a:latin typeface="Arial"/>
              </a:rPr>
              <a:t>Q1 TRUE?</a:t>
            </a:r>
          </a:p>
        </p:txBody>
      </p:sp>
      <p:sp>
        <p:nvSpPr>
          <p:cNvPr id="9" name="TextBox 8"/>
          <p:cNvSpPr txBox="1"/>
          <p:nvPr/>
        </p:nvSpPr>
        <p:spPr>
          <a:xfrm>
            <a:off x="11515725" y="3048000"/>
            <a:ext cx="1609725" cy="1476375"/>
          </a:xfrm>
          <a:prstGeom prst="rect">
            <a:avLst/>
          </a:prstGeom>
          <a:noFill/>
        </p:spPr>
        <p:txBody>
          <a:bodyPr wrap="square" lIns="0" rIns="0" tIns="0" bIns="0" anchor="t">
            <a:spAutoFit/>
          </a:bodyPr>
          <a:lstStyle/>
          <a:p>
            <a:pPr algn="l">
              <a:lnSpc>
                <a:spcPct val="106000"/>
              </a:lnSpc>
            </a:pPr>
            <a:r>
              <a:rPr sz="1800" b="1" i="0" spc="200">
                <a:solidFill>
                  <a:srgbClr val="7B6F66"/>
                </a:solidFill>
                <a:latin typeface="Arial"/>
              </a:rPr>
              <a:t>Q2 IN TIME?</a:t>
            </a:r>
          </a:p>
        </p:txBody>
      </p:sp>
      <p:sp>
        <p:nvSpPr>
          <p:cNvPr id="10" name="TextBox 9"/>
          <p:cNvSpPr txBox="1"/>
          <p:nvPr/>
        </p:nvSpPr>
        <p:spPr>
          <a:xfrm>
            <a:off x="13563600" y="3048000"/>
            <a:ext cx="1609725" cy="1476375"/>
          </a:xfrm>
          <a:prstGeom prst="rect">
            <a:avLst/>
          </a:prstGeom>
          <a:noFill/>
        </p:spPr>
        <p:txBody>
          <a:bodyPr wrap="square" lIns="0" rIns="0" tIns="0" bIns="0" anchor="t">
            <a:spAutoFit/>
          </a:bodyPr>
          <a:lstStyle/>
          <a:p>
            <a:pPr algn="l">
              <a:lnSpc>
                <a:spcPct val="106000"/>
              </a:lnSpc>
            </a:pPr>
            <a:r>
              <a:rPr sz="1800" b="1" i="0" spc="200">
                <a:solidFill>
                  <a:srgbClr val="7B6F66"/>
                </a:solidFill>
                <a:latin typeface="Arial"/>
              </a:rPr>
              <a:t>Q3 HELPS ME?</a:t>
            </a:r>
          </a:p>
        </p:txBody>
      </p:sp>
      <p:sp>
        <p:nvSpPr>
          <p:cNvPr id="11" name="TextBox 10"/>
          <p:cNvSpPr txBox="1"/>
          <p:nvPr/>
        </p:nvSpPr>
        <p:spPr>
          <a:xfrm>
            <a:off x="15611475" y="3048000"/>
            <a:ext cx="1609725" cy="1476375"/>
          </a:xfrm>
          <a:prstGeom prst="rect">
            <a:avLst/>
          </a:prstGeom>
          <a:noFill/>
        </p:spPr>
        <p:txBody>
          <a:bodyPr wrap="square" lIns="0" rIns="0" tIns="0" bIns="0" anchor="t">
            <a:spAutoFit/>
          </a:bodyPr>
          <a:lstStyle/>
          <a:p>
            <a:pPr algn="l">
              <a:lnSpc>
                <a:spcPct val="106000"/>
              </a:lnSpc>
            </a:pPr>
            <a:r>
              <a:rPr sz="1800" b="1" i="0" spc="200">
                <a:solidFill>
                  <a:srgbClr val="7B6F66"/>
                </a:solidFill>
                <a:latin typeface="Arial"/>
              </a:rPr>
              <a:t>VERDICT</a:t>
            </a:r>
          </a:p>
        </p:txBody>
      </p:sp>
      <p:sp>
        <p:nvSpPr>
          <p:cNvPr id="12" name="Rectangle 11"/>
          <p:cNvSpPr/>
          <p:nvPr/>
        </p:nvSpPr>
        <p:spPr>
          <a:xfrm>
            <a:off x="1047750" y="4714875"/>
            <a:ext cx="16192500" cy="28575"/>
          </a:xfrm>
          <a:prstGeom prst="rect">
            <a:avLst/>
          </a:prstGeom>
          <a:solidFill>
            <a:srgbClr val="201914"/>
          </a:solidFill>
          <a:ln>
            <a:noFill/>
          </a:ln>
          <a:effectLst/>
        </p:spPr>
        <p:txBody>
          <a:bodyPr rtlCol="0" anchor="ctr"/>
          <a:lstStyle/>
          <a:p>
            <a:pPr algn="ctr"/>
          </a:p>
        </p:txBody>
      </p:sp>
      <p:sp>
        <p:nvSpPr>
          <p:cNvPr id="13" name="TextBox 12"/>
          <p:cNvSpPr txBox="1"/>
          <p:nvPr/>
        </p:nvSpPr>
        <p:spPr>
          <a:xfrm>
            <a:off x="1276350" y="4867275"/>
            <a:ext cx="571500" cy="419100"/>
          </a:xfrm>
          <a:prstGeom prst="rect">
            <a:avLst/>
          </a:prstGeom>
          <a:noFill/>
        </p:spPr>
        <p:txBody>
          <a:bodyPr wrap="square" lIns="0" rIns="0" tIns="0" bIns="0" anchor="t">
            <a:spAutoFit/>
          </a:bodyPr>
          <a:lstStyle/>
          <a:p>
            <a:pPr algn="l"/>
            <a:r>
              <a:rPr sz="2400" b="1" i="0">
                <a:solidFill>
                  <a:srgbClr val="201914"/>
                </a:solidFill>
                <a:latin typeface="Arial"/>
              </a:rPr>
              <a:t>1</a:t>
            </a:r>
          </a:p>
        </p:txBody>
      </p:sp>
      <p:sp>
        <p:nvSpPr>
          <p:cNvPr id="14" name="Rectangle 13"/>
          <p:cNvSpPr/>
          <p:nvPr/>
        </p:nvSpPr>
        <p:spPr>
          <a:xfrm>
            <a:off x="1047750" y="5343525"/>
            <a:ext cx="16192500" cy="9525"/>
          </a:xfrm>
          <a:prstGeom prst="rect">
            <a:avLst/>
          </a:prstGeom>
          <a:solidFill>
            <a:srgbClr val="D8CFC7"/>
          </a:solidFill>
          <a:ln>
            <a:noFill/>
          </a:ln>
          <a:effectLst/>
        </p:spPr>
        <p:txBody>
          <a:bodyPr rtlCol="0" anchor="ctr"/>
          <a:lstStyle/>
          <a:p>
            <a:pPr algn="ctr"/>
          </a:p>
        </p:txBody>
      </p:sp>
      <p:sp>
        <p:nvSpPr>
          <p:cNvPr id="15" name="Rectangle 14"/>
          <p:cNvSpPr/>
          <p:nvPr/>
        </p:nvSpPr>
        <p:spPr>
          <a:xfrm>
            <a:off x="1047750" y="5343525"/>
            <a:ext cx="16192500" cy="590550"/>
          </a:xfrm>
          <a:prstGeom prst="rect">
            <a:avLst/>
          </a:prstGeom>
          <a:solidFill>
            <a:srgbClr val="F3EEE6"/>
          </a:solidFill>
          <a:ln>
            <a:noFill/>
          </a:ln>
          <a:effectLst/>
        </p:spPr>
        <p:txBody>
          <a:bodyPr rtlCol="0" anchor="ctr"/>
          <a:lstStyle/>
          <a:p>
            <a:pPr algn="ctr"/>
          </a:p>
        </p:txBody>
      </p:sp>
      <p:sp>
        <p:nvSpPr>
          <p:cNvPr id="16" name="TextBox 15"/>
          <p:cNvSpPr txBox="1"/>
          <p:nvPr/>
        </p:nvSpPr>
        <p:spPr>
          <a:xfrm>
            <a:off x="1276350" y="5457825"/>
            <a:ext cx="571500" cy="419100"/>
          </a:xfrm>
          <a:prstGeom prst="rect">
            <a:avLst/>
          </a:prstGeom>
          <a:noFill/>
        </p:spPr>
        <p:txBody>
          <a:bodyPr wrap="square" lIns="0" rIns="0" tIns="0" bIns="0" anchor="t">
            <a:spAutoFit/>
          </a:bodyPr>
          <a:lstStyle/>
          <a:p>
            <a:pPr algn="l"/>
            <a:r>
              <a:rPr sz="2400" b="1" i="0">
                <a:solidFill>
                  <a:srgbClr val="201914"/>
                </a:solidFill>
                <a:latin typeface="Arial"/>
              </a:rPr>
              <a:t>2</a:t>
            </a:r>
          </a:p>
        </p:txBody>
      </p:sp>
      <p:sp>
        <p:nvSpPr>
          <p:cNvPr id="17" name="Rectangle 16"/>
          <p:cNvSpPr/>
          <p:nvPr/>
        </p:nvSpPr>
        <p:spPr>
          <a:xfrm>
            <a:off x="1047750" y="5934075"/>
            <a:ext cx="16192500" cy="9525"/>
          </a:xfrm>
          <a:prstGeom prst="rect">
            <a:avLst/>
          </a:prstGeom>
          <a:solidFill>
            <a:srgbClr val="D8CFC7"/>
          </a:solidFill>
          <a:ln>
            <a:noFill/>
          </a:ln>
          <a:effectLst/>
        </p:spPr>
        <p:txBody>
          <a:bodyPr rtlCol="0" anchor="ctr"/>
          <a:lstStyle/>
          <a:p>
            <a:pPr algn="ctr"/>
          </a:p>
        </p:txBody>
      </p:sp>
      <p:sp>
        <p:nvSpPr>
          <p:cNvPr id="18" name="TextBox 17"/>
          <p:cNvSpPr txBox="1"/>
          <p:nvPr/>
        </p:nvSpPr>
        <p:spPr>
          <a:xfrm>
            <a:off x="1276350" y="6048375"/>
            <a:ext cx="571500" cy="419100"/>
          </a:xfrm>
          <a:prstGeom prst="rect">
            <a:avLst/>
          </a:prstGeom>
          <a:noFill/>
        </p:spPr>
        <p:txBody>
          <a:bodyPr wrap="square" lIns="0" rIns="0" tIns="0" bIns="0" anchor="t">
            <a:spAutoFit/>
          </a:bodyPr>
          <a:lstStyle/>
          <a:p>
            <a:pPr algn="l"/>
            <a:r>
              <a:rPr sz="2400" b="1" i="0">
                <a:solidFill>
                  <a:srgbClr val="201914"/>
                </a:solidFill>
                <a:latin typeface="Arial"/>
              </a:rPr>
              <a:t>3</a:t>
            </a:r>
          </a:p>
        </p:txBody>
      </p:sp>
      <p:sp>
        <p:nvSpPr>
          <p:cNvPr id="19" name="Rectangle 18"/>
          <p:cNvSpPr/>
          <p:nvPr/>
        </p:nvSpPr>
        <p:spPr>
          <a:xfrm>
            <a:off x="1047750" y="6524625"/>
            <a:ext cx="16192500" cy="9525"/>
          </a:xfrm>
          <a:prstGeom prst="rect">
            <a:avLst/>
          </a:prstGeom>
          <a:solidFill>
            <a:srgbClr val="D8CFC7"/>
          </a:solidFill>
          <a:ln>
            <a:noFill/>
          </a:ln>
          <a:effectLst/>
        </p:spPr>
        <p:txBody>
          <a:bodyPr rtlCol="0" anchor="ctr"/>
          <a:lstStyle/>
          <a:p>
            <a:pPr algn="ctr"/>
          </a:p>
        </p:txBody>
      </p:sp>
      <p:sp>
        <p:nvSpPr>
          <p:cNvPr id="20" name="Rectangle 19"/>
          <p:cNvSpPr/>
          <p:nvPr/>
        </p:nvSpPr>
        <p:spPr>
          <a:xfrm>
            <a:off x="1047750" y="6524625"/>
            <a:ext cx="16192500" cy="590550"/>
          </a:xfrm>
          <a:prstGeom prst="rect">
            <a:avLst/>
          </a:prstGeom>
          <a:solidFill>
            <a:srgbClr val="F3EEE6"/>
          </a:solidFill>
          <a:ln>
            <a:noFill/>
          </a:ln>
          <a:effectLst/>
        </p:spPr>
        <p:txBody>
          <a:bodyPr rtlCol="0" anchor="ctr"/>
          <a:lstStyle/>
          <a:p>
            <a:pPr algn="ctr"/>
          </a:p>
        </p:txBody>
      </p:sp>
      <p:sp>
        <p:nvSpPr>
          <p:cNvPr id="21" name="TextBox 20"/>
          <p:cNvSpPr txBox="1"/>
          <p:nvPr/>
        </p:nvSpPr>
        <p:spPr>
          <a:xfrm>
            <a:off x="1276350" y="6638925"/>
            <a:ext cx="571500" cy="419100"/>
          </a:xfrm>
          <a:prstGeom prst="rect">
            <a:avLst/>
          </a:prstGeom>
          <a:noFill/>
        </p:spPr>
        <p:txBody>
          <a:bodyPr wrap="square" lIns="0" rIns="0" tIns="0" bIns="0" anchor="t">
            <a:spAutoFit/>
          </a:bodyPr>
          <a:lstStyle/>
          <a:p>
            <a:pPr algn="l"/>
            <a:r>
              <a:rPr sz="2400" b="1" i="0">
                <a:solidFill>
                  <a:srgbClr val="201914"/>
                </a:solidFill>
                <a:latin typeface="Arial"/>
              </a:rPr>
              <a:t>4</a:t>
            </a:r>
          </a:p>
        </p:txBody>
      </p:sp>
      <p:sp>
        <p:nvSpPr>
          <p:cNvPr id="22" name="Rectangle 21"/>
          <p:cNvSpPr/>
          <p:nvPr/>
        </p:nvSpPr>
        <p:spPr>
          <a:xfrm>
            <a:off x="1047750" y="7115175"/>
            <a:ext cx="16192500" cy="9525"/>
          </a:xfrm>
          <a:prstGeom prst="rect">
            <a:avLst/>
          </a:prstGeom>
          <a:solidFill>
            <a:srgbClr val="D8CFC7"/>
          </a:solidFill>
          <a:ln>
            <a:noFill/>
          </a:ln>
          <a:effectLst/>
        </p:spPr>
        <p:txBody>
          <a:bodyPr rtlCol="0" anchor="ctr"/>
          <a:lstStyle/>
          <a:p>
            <a:pPr algn="ctr"/>
          </a:p>
        </p:txBody>
      </p:sp>
      <p:sp>
        <p:nvSpPr>
          <p:cNvPr id="23" name="TextBox 22"/>
          <p:cNvSpPr txBox="1"/>
          <p:nvPr/>
        </p:nvSpPr>
        <p:spPr>
          <a:xfrm>
            <a:off x="1276350" y="7229475"/>
            <a:ext cx="571500" cy="419100"/>
          </a:xfrm>
          <a:prstGeom prst="rect">
            <a:avLst/>
          </a:prstGeom>
          <a:noFill/>
        </p:spPr>
        <p:txBody>
          <a:bodyPr wrap="square" lIns="0" rIns="0" tIns="0" bIns="0" anchor="t">
            <a:spAutoFit/>
          </a:bodyPr>
          <a:lstStyle/>
          <a:p>
            <a:pPr algn="l"/>
            <a:r>
              <a:rPr sz="2400" b="1" i="0">
                <a:solidFill>
                  <a:srgbClr val="201914"/>
                </a:solidFill>
                <a:latin typeface="Arial"/>
              </a:rPr>
              <a:t>5</a:t>
            </a:r>
          </a:p>
        </p:txBody>
      </p:sp>
      <p:sp>
        <p:nvSpPr>
          <p:cNvPr id="24" name="Rectangle 23"/>
          <p:cNvSpPr/>
          <p:nvPr/>
        </p:nvSpPr>
        <p:spPr>
          <a:xfrm>
            <a:off x="1047750" y="7705725"/>
            <a:ext cx="16192500" cy="9525"/>
          </a:xfrm>
          <a:prstGeom prst="rect">
            <a:avLst/>
          </a:prstGeom>
          <a:solidFill>
            <a:srgbClr val="D8CFC7"/>
          </a:solidFill>
          <a:ln>
            <a:noFill/>
          </a:ln>
          <a:effectLst/>
        </p:spPr>
        <p:txBody>
          <a:bodyPr rtlCol="0" anchor="ctr"/>
          <a:lstStyle/>
          <a:p>
            <a:pPr algn="ctr"/>
          </a:p>
        </p:txBody>
      </p:sp>
      <p:sp>
        <p:nvSpPr>
          <p:cNvPr id="25" name="TextBox 24"/>
          <p:cNvSpPr txBox="1"/>
          <p:nvPr/>
        </p:nvSpPr>
        <p:spPr>
          <a:xfrm>
            <a:off x="1047750" y="8401050"/>
            <a:ext cx="16192500" cy="800100"/>
          </a:xfrm>
          <a:prstGeom prst="rect">
            <a:avLst/>
          </a:prstGeom>
          <a:noFill/>
        </p:spPr>
        <p:txBody>
          <a:bodyPr wrap="square" lIns="0" rIns="0" tIns="0" bIns="0" anchor="t">
            <a:spAutoFit/>
          </a:bodyPr>
          <a:lstStyle/>
          <a:p>
            <a:pPr algn="l">
              <a:lnSpc>
                <a:spcPct val="112000"/>
              </a:lnSpc>
            </a:pPr>
            <a:r>
              <a:rPr sz="2550" b="1" i="0">
                <a:solidFill>
                  <a:srgbClr val="201914"/>
                </a:solidFill>
                <a:latin typeface="Arial"/>
              </a:rPr>
              <a:t>Also due overnight: the Honest Ledger. Three decisions you personally made in the last two weeks where money moved — the reason you gave out loud, the real driver, and its colour on the ladder.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THREE WORKED EXAMPLES · TWELVE MORE IN THE LECTURE</a:t>
            </a:r>
          </a:p>
        </p:txBody>
      </p:sp>
      <p:sp>
        <p:nvSpPr>
          <p:cNvPr id="3" name="TextBox 2"/>
          <p:cNvSpPr txBox="1"/>
          <p:nvPr/>
        </p:nvSpPr>
        <p:spPr>
          <a:xfrm>
            <a:off x="1047750" y="1504950"/>
            <a:ext cx="16192500" cy="2581275"/>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The same mechanism, used truthfully and used falsely</a:t>
            </a:r>
          </a:p>
        </p:txBody>
      </p:sp>
      <p:sp>
        <p:nvSpPr>
          <p:cNvPr id="4" name="Rectangle 3"/>
          <p:cNvSpPr/>
          <p:nvPr/>
        </p:nvSpPr>
        <p:spPr>
          <a:xfrm>
            <a:off x="1047750" y="3629025"/>
            <a:ext cx="5181600" cy="6010275"/>
          </a:xfrm>
          <a:prstGeom prst="rect">
            <a:avLst/>
          </a:prstGeom>
          <a:solidFill>
            <a:srgbClr val="F0EAE1"/>
          </a:solidFill>
          <a:ln>
            <a:noFill/>
          </a:ln>
          <a:effectLst/>
        </p:spPr>
        <p:txBody>
          <a:bodyPr rtlCol="0" anchor="ctr"/>
          <a:lstStyle/>
          <a:p>
            <a:pPr algn="ctr"/>
          </a:p>
        </p:txBody>
      </p:sp>
      <p:sp>
        <p:nvSpPr>
          <p:cNvPr id="5" name="TextBox 4"/>
          <p:cNvSpPr txBox="1"/>
          <p:nvPr/>
        </p:nvSpPr>
        <p:spPr>
          <a:xfrm>
            <a:off x="1466850" y="4048125"/>
            <a:ext cx="4343400" cy="638175"/>
          </a:xfrm>
          <a:prstGeom prst="rect">
            <a:avLst/>
          </a:prstGeom>
          <a:noFill/>
        </p:spPr>
        <p:txBody>
          <a:bodyPr wrap="square" lIns="0" rIns="0" tIns="0" bIns="0" anchor="t">
            <a:spAutoFit/>
          </a:bodyPr>
          <a:lstStyle/>
          <a:p>
            <a:pPr algn="l">
              <a:lnSpc>
                <a:spcPct val="96000"/>
              </a:lnSpc>
            </a:pPr>
            <a:r>
              <a:rPr sz="2400" b="1" i="0">
                <a:solidFill>
                  <a:srgbClr val="201914"/>
                </a:solidFill>
                <a:latin typeface="Arial"/>
              </a:rPr>
              <a:t>The struck-through price that was real</a:t>
            </a:r>
          </a:p>
        </p:txBody>
      </p:sp>
      <p:sp>
        <p:nvSpPr>
          <p:cNvPr id="6" name="TextBox 5"/>
          <p:cNvSpPr txBox="1"/>
          <p:nvPr/>
        </p:nvSpPr>
        <p:spPr>
          <a:xfrm>
            <a:off x="1466850" y="4914900"/>
            <a:ext cx="4343400" cy="847725"/>
          </a:xfrm>
          <a:prstGeom prst="rect">
            <a:avLst/>
          </a:prstGeom>
          <a:noFill/>
        </p:spPr>
        <p:txBody>
          <a:bodyPr wrap="square" lIns="0" rIns="0" tIns="0" bIns="0" anchor="t">
            <a:spAutoFit/>
          </a:bodyPr>
          <a:lstStyle/>
          <a:p>
            <a:pPr algn="l">
              <a:lnSpc>
                <a:spcPct val="112000"/>
              </a:lnSpc>
            </a:pPr>
            <a:r>
              <a:rPr sz="1800" b="1" i="0">
                <a:solidFill>
                  <a:srgbClr val="201914"/>
                </a:solidFill>
                <a:latin typeface="Arial"/>
              </a:rPr>
              <a:t>On screen: </a:t>
            </a:r>
            <a:r>
              <a:rPr sz="1800" b="0" i="0">
                <a:solidFill>
                  <a:srgbClr val="665B53"/>
                </a:solidFill>
                <a:latin typeface="Arial"/>
              </a:rPr>
              <a:t>'₹3,299' struck through, '₹1,979' in bold beside it, '40% OFF' in a green tag.</a:t>
            </a:r>
          </a:p>
        </p:txBody>
      </p:sp>
      <p:sp>
        <p:nvSpPr>
          <p:cNvPr id="7" name="TextBox 6"/>
          <p:cNvSpPr txBox="1"/>
          <p:nvPr/>
        </p:nvSpPr>
        <p:spPr>
          <a:xfrm>
            <a:off x="1466850" y="5915025"/>
            <a:ext cx="4343400" cy="847725"/>
          </a:xfrm>
          <a:prstGeom prst="rect">
            <a:avLst/>
          </a:prstGeom>
          <a:noFill/>
        </p:spPr>
        <p:txBody>
          <a:bodyPr wrap="square" lIns="0" rIns="0" tIns="0" bIns="0" anchor="t">
            <a:spAutoFit/>
          </a:bodyPr>
          <a:lstStyle/>
          <a:p>
            <a:pPr algn="l">
              <a:lnSpc>
                <a:spcPct val="112000"/>
              </a:lnSpc>
            </a:pPr>
            <a:r>
              <a:rPr sz="1800" b="1" i="0">
                <a:solidFill>
                  <a:srgbClr val="201914"/>
                </a:solidFill>
                <a:latin typeface="Arial"/>
              </a:rPr>
              <a:t>The lever: </a:t>
            </a:r>
            <a:r>
              <a:rPr sz="1800" b="0" i="0">
                <a:solidFill>
                  <a:srgbClr val="665B53"/>
                </a:solidFill>
                <a:latin typeface="Arial"/>
              </a:rPr>
              <a:t>Reference — blue. The ₹3,299 sets the point, so ₹1,979 is judged as a gain of ₹1,320 rather than a cost.</a:t>
            </a:r>
          </a:p>
        </p:txBody>
      </p:sp>
      <p:sp>
        <p:nvSpPr>
          <p:cNvPr id="8" name="TextBox 7"/>
          <p:cNvSpPr txBox="1"/>
          <p:nvPr/>
        </p:nvSpPr>
        <p:spPr>
          <a:xfrm>
            <a:off x="1466850" y="6915150"/>
            <a:ext cx="4343400" cy="847725"/>
          </a:xfrm>
          <a:prstGeom prst="rect">
            <a:avLst/>
          </a:prstGeom>
          <a:noFill/>
        </p:spPr>
        <p:txBody>
          <a:bodyPr wrap="square" lIns="0" rIns="0" tIns="0" bIns="0" anchor="t">
            <a:spAutoFit/>
          </a:bodyPr>
          <a:lstStyle/>
          <a:p>
            <a:pPr algn="l">
              <a:lnSpc>
                <a:spcPct val="112000"/>
              </a:lnSpc>
            </a:pPr>
            <a:r>
              <a:rPr sz="1800" b="1" i="0">
                <a:solidFill>
                  <a:srgbClr val="201914"/>
                </a:solidFill>
                <a:latin typeface="Arial"/>
              </a:rPr>
              <a:t>Underneath: </a:t>
            </a:r>
            <a:r>
              <a:rPr sz="1800" b="0" i="0">
                <a:solidFill>
                  <a:srgbClr val="665B53"/>
                </a:solidFill>
                <a:latin typeface="Arial"/>
              </a:rPr>
              <a:t>The shoe genuinely sold at ₹3,299 for the preceding two months, confirmable from an older screenshot.</a:t>
            </a:r>
          </a:p>
        </p:txBody>
      </p:sp>
      <p:sp>
        <p:nvSpPr>
          <p:cNvPr id="9" name="Rectangle 8"/>
          <p:cNvSpPr/>
          <p:nvPr/>
        </p:nvSpPr>
        <p:spPr>
          <a:xfrm>
            <a:off x="1466850" y="8667750"/>
            <a:ext cx="4210050" cy="19050"/>
          </a:xfrm>
          <a:prstGeom prst="rect">
            <a:avLst/>
          </a:prstGeom>
          <a:solidFill>
            <a:srgbClr val="C8BBB1"/>
          </a:solidFill>
          <a:ln>
            <a:noFill/>
          </a:ln>
          <a:effectLst/>
        </p:spPr>
        <p:txBody>
          <a:bodyPr rtlCol="0" anchor="ctr"/>
          <a:lstStyle/>
          <a:p>
            <a:pPr algn="ctr"/>
          </a:p>
        </p:txBody>
      </p:sp>
      <p:sp>
        <p:nvSpPr>
          <p:cNvPr id="10" name="TextBox 9"/>
          <p:cNvSpPr txBox="1"/>
          <p:nvPr/>
        </p:nvSpPr>
        <p:spPr>
          <a:xfrm>
            <a:off x="1466850" y="8915400"/>
            <a:ext cx="4343400" cy="342900"/>
          </a:xfrm>
          <a:prstGeom prst="rect">
            <a:avLst/>
          </a:prstGeom>
          <a:noFill/>
        </p:spPr>
        <p:txBody>
          <a:bodyPr wrap="square" lIns="0" rIns="0" tIns="0" bIns="0" anchor="t">
            <a:spAutoFit/>
          </a:bodyPr>
          <a:lstStyle/>
          <a:p>
            <a:pPr algn="l">
              <a:lnSpc>
                <a:spcPct val="108000"/>
              </a:lnSpc>
            </a:pPr>
            <a:r>
              <a:rPr sz="2100" b="1" i="0">
                <a:solidFill>
                  <a:srgbClr val="C35141"/>
                </a:solidFill>
                <a:latin typeface="Arial"/>
              </a:rPr>
              <a:t>DESIGN — 3 out of 3.</a:t>
            </a:r>
          </a:p>
        </p:txBody>
      </p:sp>
      <p:sp>
        <p:nvSpPr>
          <p:cNvPr id="11" name="Rectangle 10"/>
          <p:cNvSpPr/>
          <p:nvPr/>
        </p:nvSpPr>
        <p:spPr>
          <a:xfrm>
            <a:off x="6553200" y="3629025"/>
            <a:ext cx="5181600" cy="6010275"/>
          </a:xfrm>
          <a:prstGeom prst="rect">
            <a:avLst/>
          </a:prstGeom>
          <a:solidFill>
            <a:srgbClr val="201914"/>
          </a:solidFill>
          <a:ln>
            <a:noFill/>
          </a:ln>
          <a:effectLst/>
        </p:spPr>
        <p:txBody>
          <a:bodyPr rtlCol="0" anchor="ctr"/>
          <a:lstStyle/>
          <a:p>
            <a:pPr algn="ctr"/>
          </a:p>
        </p:txBody>
      </p:sp>
      <p:sp>
        <p:nvSpPr>
          <p:cNvPr id="12" name="TextBox 11"/>
          <p:cNvSpPr txBox="1"/>
          <p:nvPr/>
        </p:nvSpPr>
        <p:spPr>
          <a:xfrm>
            <a:off x="6972300" y="4048125"/>
            <a:ext cx="4343400" cy="638175"/>
          </a:xfrm>
          <a:prstGeom prst="rect">
            <a:avLst/>
          </a:prstGeom>
          <a:noFill/>
        </p:spPr>
        <p:txBody>
          <a:bodyPr wrap="square" lIns="0" rIns="0" tIns="0" bIns="0" anchor="t">
            <a:spAutoFit/>
          </a:bodyPr>
          <a:lstStyle/>
          <a:p>
            <a:pPr algn="l">
              <a:lnSpc>
                <a:spcPct val="96000"/>
              </a:lnSpc>
            </a:pPr>
            <a:r>
              <a:rPr sz="2400" b="1" i="0">
                <a:solidFill>
                  <a:srgbClr val="F5F1E9"/>
                </a:solidFill>
                <a:latin typeface="Arial"/>
              </a:rPr>
              <a:t>The struck-through price that was not</a:t>
            </a:r>
          </a:p>
        </p:txBody>
      </p:sp>
      <p:sp>
        <p:nvSpPr>
          <p:cNvPr id="13" name="TextBox 12"/>
          <p:cNvSpPr txBox="1"/>
          <p:nvPr/>
        </p:nvSpPr>
        <p:spPr>
          <a:xfrm>
            <a:off x="6972300" y="4914900"/>
            <a:ext cx="4343400" cy="847725"/>
          </a:xfrm>
          <a:prstGeom prst="rect">
            <a:avLst/>
          </a:prstGeom>
          <a:noFill/>
        </p:spPr>
        <p:txBody>
          <a:bodyPr wrap="square" lIns="0" rIns="0" tIns="0" bIns="0" anchor="t">
            <a:spAutoFit/>
          </a:bodyPr>
          <a:lstStyle/>
          <a:p>
            <a:pPr algn="l">
              <a:lnSpc>
                <a:spcPct val="112000"/>
              </a:lnSpc>
            </a:pPr>
            <a:r>
              <a:rPr sz="1800" b="1" i="0">
                <a:solidFill>
                  <a:srgbClr val="F5F1E9"/>
                </a:solidFill>
                <a:latin typeface="Arial"/>
              </a:rPr>
              <a:t>On screen: </a:t>
            </a:r>
            <a:r>
              <a:rPr sz="1800" b="0" i="0">
                <a:solidFill>
                  <a:srgbClr val="C1B5AB"/>
                </a:solidFill>
                <a:latin typeface="Arial"/>
              </a:rPr>
              <a:t>'₹1,999' struck through, '₹499' beside it, '75% OFF'. Identical to the first example in every visible respect.</a:t>
            </a:r>
          </a:p>
        </p:txBody>
      </p:sp>
      <p:sp>
        <p:nvSpPr>
          <p:cNvPr id="14" name="TextBox 13"/>
          <p:cNvSpPr txBox="1"/>
          <p:nvPr/>
        </p:nvSpPr>
        <p:spPr>
          <a:xfrm>
            <a:off x="6972300" y="5915025"/>
            <a:ext cx="4343400" cy="847725"/>
          </a:xfrm>
          <a:prstGeom prst="rect">
            <a:avLst/>
          </a:prstGeom>
          <a:noFill/>
        </p:spPr>
        <p:txBody>
          <a:bodyPr wrap="square" lIns="0" rIns="0" tIns="0" bIns="0" anchor="t">
            <a:spAutoFit/>
          </a:bodyPr>
          <a:lstStyle/>
          <a:p>
            <a:pPr algn="l">
              <a:lnSpc>
                <a:spcPct val="112000"/>
              </a:lnSpc>
            </a:pPr>
            <a:r>
              <a:rPr sz="1800" b="1" i="0">
                <a:solidFill>
                  <a:srgbClr val="F5F1E9"/>
                </a:solidFill>
                <a:latin typeface="Arial"/>
              </a:rPr>
              <a:t>The lever: </a:t>
            </a:r>
            <a:r>
              <a:rPr sz="1800" b="0" i="0">
                <a:solidFill>
                  <a:srgbClr val="C1B5AB"/>
                </a:solidFill>
                <a:latin typeface="Arial"/>
              </a:rPr>
              <a:t>Reference — blue. A comparison point that turns ₹499 into a saving of ₹1,500.</a:t>
            </a:r>
          </a:p>
        </p:txBody>
      </p:sp>
      <p:sp>
        <p:nvSpPr>
          <p:cNvPr id="15" name="TextBox 14"/>
          <p:cNvSpPr txBox="1"/>
          <p:nvPr/>
        </p:nvSpPr>
        <p:spPr>
          <a:xfrm>
            <a:off x="6972300" y="6915150"/>
            <a:ext cx="4343400" cy="1104900"/>
          </a:xfrm>
          <a:prstGeom prst="rect">
            <a:avLst/>
          </a:prstGeom>
          <a:noFill/>
        </p:spPr>
        <p:txBody>
          <a:bodyPr wrap="square" lIns="0" rIns="0" tIns="0" bIns="0" anchor="t">
            <a:spAutoFit/>
          </a:bodyPr>
          <a:lstStyle/>
          <a:p>
            <a:pPr algn="l">
              <a:lnSpc>
                <a:spcPct val="112000"/>
              </a:lnSpc>
            </a:pPr>
            <a:r>
              <a:rPr sz="1800" b="1" i="0">
                <a:solidFill>
                  <a:srgbClr val="F5F1E9"/>
                </a:solidFill>
                <a:latin typeface="Arial"/>
              </a:rPr>
              <a:t>Underneath: </a:t>
            </a:r>
            <a:r>
              <a:rPr sz="1800" b="0" i="0">
                <a:solidFill>
                  <a:srgbClr val="C1B5AB"/>
                </a:solidFill>
                <a:latin typeface="Arial"/>
              </a:rPr>
              <a:t>Made to order, listed at ₹499 since it appeared, never sold at ₹1,999. A permanent discount is a contradiction in terms.</a:t>
            </a:r>
          </a:p>
        </p:txBody>
      </p:sp>
      <p:sp>
        <p:nvSpPr>
          <p:cNvPr id="16" name="Rectangle 15"/>
          <p:cNvSpPr/>
          <p:nvPr/>
        </p:nvSpPr>
        <p:spPr>
          <a:xfrm>
            <a:off x="6972300" y="8667750"/>
            <a:ext cx="4210050" cy="19050"/>
          </a:xfrm>
          <a:prstGeom prst="rect">
            <a:avLst/>
          </a:prstGeom>
          <a:solidFill>
            <a:srgbClr val="50453D"/>
          </a:solidFill>
          <a:ln>
            <a:noFill/>
          </a:ln>
          <a:effectLst/>
        </p:spPr>
        <p:txBody>
          <a:bodyPr rtlCol="0" anchor="ctr"/>
          <a:lstStyle/>
          <a:p>
            <a:pPr algn="ctr"/>
          </a:p>
        </p:txBody>
      </p:sp>
      <p:sp>
        <p:nvSpPr>
          <p:cNvPr id="17" name="TextBox 16"/>
          <p:cNvSpPr txBox="1"/>
          <p:nvPr/>
        </p:nvSpPr>
        <p:spPr>
          <a:xfrm>
            <a:off x="6972300" y="8915400"/>
            <a:ext cx="4343400" cy="342900"/>
          </a:xfrm>
          <a:prstGeom prst="rect">
            <a:avLst/>
          </a:prstGeom>
          <a:noFill/>
        </p:spPr>
        <p:txBody>
          <a:bodyPr wrap="square" lIns="0" rIns="0" tIns="0" bIns="0" anchor="t">
            <a:spAutoFit/>
          </a:bodyPr>
          <a:lstStyle/>
          <a:p>
            <a:pPr algn="l">
              <a:lnSpc>
                <a:spcPct val="108000"/>
              </a:lnSpc>
            </a:pPr>
            <a:r>
              <a:rPr sz="2100" b="1" i="0">
                <a:solidFill>
                  <a:srgbClr val="EF806F"/>
                </a:solidFill>
                <a:latin typeface="Arial"/>
              </a:rPr>
              <a:t>DARK PATTERN — 1 out of 3.</a:t>
            </a:r>
          </a:p>
        </p:txBody>
      </p:sp>
      <p:sp>
        <p:nvSpPr>
          <p:cNvPr id="18" name="Rectangle 17"/>
          <p:cNvSpPr/>
          <p:nvPr/>
        </p:nvSpPr>
        <p:spPr>
          <a:xfrm>
            <a:off x="12058650" y="3629025"/>
            <a:ext cx="5181600" cy="6010275"/>
          </a:xfrm>
          <a:prstGeom prst="rect">
            <a:avLst/>
          </a:prstGeom>
          <a:solidFill>
            <a:srgbClr val="F0EAE1"/>
          </a:solidFill>
          <a:ln>
            <a:noFill/>
          </a:ln>
          <a:effectLst/>
        </p:spPr>
        <p:txBody>
          <a:bodyPr rtlCol="0" anchor="ctr"/>
          <a:lstStyle/>
          <a:p>
            <a:pPr algn="ctr"/>
          </a:p>
        </p:txBody>
      </p:sp>
      <p:sp>
        <p:nvSpPr>
          <p:cNvPr id="19" name="TextBox 18"/>
          <p:cNvSpPr txBox="1"/>
          <p:nvPr/>
        </p:nvSpPr>
        <p:spPr>
          <a:xfrm>
            <a:off x="12477750" y="4048125"/>
            <a:ext cx="4343400" cy="638175"/>
          </a:xfrm>
          <a:prstGeom prst="rect">
            <a:avLst/>
          </a:prstGeom>
          <a:noFill/>
        </p:spPr>
        <p:txBody>
          <a:bodyPr wrap="square" lIns="0" rIns="0" tIns="0" bIns="0" anchor="t">
            <a:spAutoFit/>
          </a:bodyPr>
          <a:lstStyle/>
          <a:p>
            <a:pPr algn="l">
              <a:lnSpc>
                <a:spcPct val="96000"/>
              </a:lnSpc>
            </a:pPr>
            <a:r>
              <a:rPr sz="2400" b="1" i="0">
                <a:solidFill>
                  <a:srgbClr val="201914"/>
                </a:solidFill>
                <a:latin typeface="Arial"/>
              </a:rPr>
              <a:t>The ₹49 that stands between you and free delivery</a:t>
            </a:r>
          </a:p>
        </p:txBody>
      </p:sp>
      <p:sp>
        <p:nvSpPr>
          <p:cNvPr id="20" name="TextBox 19"/>
          <p:cNvSpPr txBox="1"/>
          <p:nvPr/>
        </p:nvSpPr>
        <p:spPr>
          <a:xfrm>
            <a:off x="12477750" y="4914900"/>
            <a:ext cx="4343400" cy="847725"/>
          </a:xfrm>
          <a:prstGeom prst="rect">
            <a:avLst/>
          </a:prstGeom>
          <a:noFill/>
        </p:spPr>
        <p:txBody>
          <a:bodyPr wrap="square" lIns="0" rIns="0" tIns="0" bIns="0" anchor="t">
            <a:spAutoFit/>
          </a:bodyPr>
          <a:lstStyle/>
          <a:p>
            <a:pPr algn="l">
              <a:lnSpc>
                <a:spcPct val="112000"/>
              </a:lnSpc>
            </a:pPr>
            <a:r>
              <a:rPr sz="1800" b="1" i="0">
                <a:solidFill>
                  <a:srgbClr val="201914"/>
                </a:solidFill>
                <a:latin typeface="Arial"/>
              </a:rPr>
              <a:t>On screen: </a:t>
            </a:r>
            <a:r>
              <a:rPr sz="1800" b="0" i="0">
                <a:solidFill>
                  <a:srgbClr val="665B53"/>
                </a:solidFill>
                <a:latin typeface="Arial"/>
              </a:rPr>
              <a:t>'Add items worth ₹49 more to get FREE delivery', with a progress bar about three-quarters full.</a:t>
            </a:r>
          </a:p>
        </p:txBody>
      </p:sp>
      <p:sp>
        <p:nvSpPr>
          <p:cNvPr id="21" name="TextBox 20"/>
          <p:cNvSpPr txBox="1"/>
          <p:nvPr/>
        </p:nvSpPr>
        <p:spPr>
          <a:xfrm>
            <a:off x="12477750" y="5915025"/>
            <a:ext cx="4343400" cy="1104900"/>
          </a:xfrm>
          <a:prstGeom prst="rect">
            <a:avLst/>
          </a:prstGeom>
          <a:noFill/>
        </p:spPr>
        <p:txBody>
          <a:bodyPr wrap="square" lIns="0" rIns="0" tIns="0" bIns="0" anchor="t">
            <a:spAutoFit/>
          </a:bodyPr>
          <a:lstStyle/>
          <a:p>
            <a:pPr algn="l">
              <a:lnSpc>
                <a:spcPct val="112000"/>
              </a:lnSpc>
            </a:pPr>
            <a:r>
              <a:rPr sz="1800" b="1" i="0">
                <a:solidFill>
                  <a:srgbClr val="201914"/>
                </a:solidFill>
                <a:latin typeface="Arial"/>
              </a:rPr>
              <a:t>The lever: </a:t>
            </a:r>
            <a:r>
              <a:rPr sz="1800" b="0" i="0">
                <a:solidFill>
                  <a:srgbClr val="665B53"/>
                </a:solidFill>
                <a:latin typeface="Arial"/>
              </a:rPr>
              <a:t>Commitment — green. Endowed progress: a visible distance to a goal you did not set, on a bar you have already partly filled.</a:t>
            </a:r>
          </a:p>
        </p:txBody>
      </p:sp>
      <p:sp>
        <p:nvSpPr>
          <p:cNvPr id="22" name="TextBox 21"/>
          <p:cNvSpPr txBox="1"/>
          <p:nvPr/>
        </p:nvSpPr>
        <p:spPr>
          <a:xfrm>
            <a:off x="12477750" y="7172325"/>
            <a:ext cx="4343400" cy="1104900"/>
          </a:xfrm>
          <a:prstGeom prst="rect">
            <a:avLst/>
          </a:prstGeom>
          <a:noFill/>
        </p:spPr>
        <p:txBody>
          <a:bodyPr wrap="square" lIns="0" rIns="0" tIns="0" bIns="0" anchor="t">
            <a:spAutoFit/>
          </a:bodyPr>
          <a:lstStyle/>
          <a:p>
            <a:pPr algn="l">
              <a:lnSpc>
                <a:spcPct val="112000"/>
              </a:lnSpc>
            </a:pPr>
            <a:r>
              <a:rPr sz="1800" b="1" i="0">
                <a:solidFill>
                  <a:srgbClr val="201914"/>
                </a:solidFill>
                <a:latin typeface="Arial"/>
              </a:rPr>
              <a:t>Underneath: </a:t>
            </a:r>
            <a:r>
              <a:rPr sz="1800" b="0" i="0">
                <a:solidFill>
                  <a:srgbClr val="665B53"/>
                </a:solidFill>
                <a:latin typeface="Arial"/>
              </a:rPr>
              <a:t>The delivery fee is ₹35, so spending ₹49 to save ₹35 is a loss of ₹14 unless the added item was genuinely wanted.</a:t>
            </a:r>
          </a:p>
        </p:txBody>
      </p:sp>
      <p:sp>
        <p:nvSpPr>
          <p:cNvPr id="23" name="Rectangle 22"/>
          <p:cNvSpPr/>
          <p:nvPr/>
        </p:nvSpPr>
        <p:spPr>
          <a:xfrm>
            <a:off x="12477750" y="8667750"/>
            <a:ext cx="4210050" cy="19050"/>
          </a:xfrm>
          <a:prstGeom prst="rect">
            <a:avLst/>
          </a:prstGeom>
          <a:solidFill>
            <a:srgbClr val="C8BBB1"/>
          </a:solidFill>
          <a:ln>
            <a:noFill/>
          </a:ln>
          <a:effectLst/>
        </p:spPr>
        <p:txBody>
          <a:bodyPr rtlCol="0" anchor="ctr"/>
          <a:lstStyle/>
          <a:p>
            <a:pPr algn="ctr"/>
          </a:p>
        </p:txBody>
      </p:sp>
      <p:sp>
        <p:nvSpPr>
          <p:cNvPr id="24" name="TextBox 23"/>
          <p:cNvSpPr txBox="1"/>
          <p:nvPr/>
        </p:nvSpPr>
        <p:spPr>
          <a:xfrm>
            <a:off x="12477750" y="8915400"/>
            <a:ext cx="4343400" cy="342900"/>
          </a:xfrm>
          <a:prstGeom prst="rect">
            <a:avLst/>
          </a:prstGeom>
          <a:noFill/>
        </p:spPr>
        <p:txBody>
          <a:bodyPr wrap="square" lIns="0" rIns="0" tIns="0" bIns="0" anchor="t">
            <a:spAutoFit/>
          </a:bodyPr>
          <a:lstStyle/>
          <a:p>
            <a:pPr algn="l">
              <a:lnSpc>
                <a:spcPct val="108000"/>
              </a:lnSpc>
            </a:pPr>
            <a:r>
              <a:rPr sz="2100" b="1" i="0">
                <a:solidFill>
                  <a:srgbClr val="C35141"/>
                </a:solidFill>
                <a:latin typeface="Arial"/>
              </a:rPr>
              <a:t>PRESSURE — 2 out of 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C35141"/>
                </a:solidFill>
                <a:latin typeface="Arial"/>
              </a:rPr>
              <a:t>READ AFTER CLASS · DO NOT MEMORISE</a:t>
            </a:r>
          </a:p>
        </p:txBody>
      </p:sp>
      <p:sp>
        <p:nvSpPr>
          <p:cNvPr id="3" name="TextBox 2"/>
          <p:cNvSpPr txBox="1"/>
          <p:nvPr/>
        </p:nvSpPr>
        <p:spPr>
          <a:xfrm>
            <a:off x="1047750" y="1504950"/>
            <a:ext cx="16192500" cy="895350"/>
          </a:xfrm>
          <a:prstGeom prst="rect">
            <a:avLst/>
          </a:prstGeom>
          <a:noFill/>
        </p:spPr>
        <p:txBody>
          <a:bodyPr wrap="square" lIns="0" rIns="0" tIns="0" bIns="0" anchor="t">
            <a:spAutoFit/>
          </a:bodyPr>
          <a:lstStyle/>
          <a:p>
            <a:pPr algn="l">
              <a:lnSpc>
                <a:spcPct val="88600"/>
              </a:lnSpc>
            </a:pPr>
            <a:r>
              <a:rPr sz="5700" b="1" i="0" spc="-142">
                <a:solidFill>
                  <a:srgbClr val="201914"/>
                </a:solidFill>
                <a:latin typeface="Arial"/>
              </a:rPr>
              <a:t>Six terms, in plain English</a:t>
            </a:r>
          </a:p>
        </p:txBody>
      </p:sp>
      <p:sp>
        <p:nvSpPr>
          <p:cNvPr id="4" name="TextBox 3"/>
          <p:cNvSpPr txBox="1"/>
          <p:nvPr/>
        </p:nvSpPr>
        <p:spPr>
          <a:xfrm>
            <a:off x="1047750" y="2838450"/>
            <a:ext cx="5143500" cy="752475"/>
          </a:xfrm>
          <a:prstGeom prst="rect">
            <a:avLst/>
          </a:prstGeom>
          <a:noFill/>
        </p:spPr>
        <p:txBody>
          <a:bodyPr wrap="square" lIns="0" rIns="0" tIns="0" bIns="0" anchor="t">
            <a:spAutoFit/>
          </a:bodyPr>
          <a:lstStyle/>
          <a:p>
            <a:pPr algn="l">
              <a:lnSpc>
                <a:spcPct val="94000"/>
              </a:lnSpc>
            </a:pPr>
            <a:r>
              <a:rPr sz="3000" b="1" i="0">
                <a:solidFill>
                  <a:srgbClr val="201914"/>
                </a:solidFill>
                <a:latin typeface="Arial"/>
              </a:rPr>
              <a:t>The Driver Ladder</a:t>
            </a:r>
          </a:p>
        </p:txBody>
      </p:sp>
      <p:sp>
        <p:nvSpPr>
          <p:cNvPr id="5" name="Rectangle 4"/>
          <p:cNvSpPr/>
          <p:nvPr/>
        </p:nvSpPr>
        <p:spPr>
          <a:xfrm>
            <a:off x="1047750" y="3743325"/>
            <a:ext cx="3771900" cy="28575"/>
          </a:xfrm>
          <a:prstGeom prst="rect">
            <a:avLst/>
          </a:prstGeom>
          <a:solidFill>
            <a:srgbClr val="C35141"/>
          </a:solidFill>
          <a:ln>
            <a:noFill/>
          </a:ln>
          <a:effectLst/>
        </p:spPr>
        <p:txBody>
          <a:bodyPr rtlCol="0" anchor="ctr"/>
          <a:lstStyle/>
          <a:p>
            <a:pPr algn="ctr"/>
          </a:p>
        </p:txBody>
      </p:sp>
      <p:sp>
        <p:nvSpPr>
          <p:cNvPr id="6" name="TextBox 5"/>
          <p:cNvSpPr txBox="1"/>
          <p:nvPr/>
        </p:nvSpPr>
        <p:spPr>
          <a:xfrm>
            <a:off x="1047750" y="4029075"/>
            <a:ext cx="5143500" cy="1866900"/>
          </a:xfrm>
          <a:prstGeom prst="rect">
            <a:avLst/>
          </a:prstGeom>
          <a:noFill/>
        </p:spPr>
        <p:txBody>
          <a:bodyPr wrap="square" lIns="0" rIns="0" tIns="0" bIns="0" anchor="t">
            <a:spAutoFit/>
          </a:bodyPr>
          <a:lstStyle/>
          <a:p>
            <a:pPr algn="l">
              <a:lnSpc>
                <a:spcPct val="112000"/>
              </a:lnSpc>
            </a:pPr>
            <a:r>
              <a:rPr sz="2100" b="0" i="0">
                <a:solidFill>
                  <a:srgbClr val="201914"/>
                </a:solidFill>
                <a:latin typeface="Arial"/>
              </a:rPr>
              <a:t>Three families of emotional driver — avoidance (blue), belonging (green), identity (amber). Classify by the most foundational family present. Find it by asking what it costs the customer to do nothing.</a:t>
            </a:r>
          </a:p>
        </p:txBody>
      </p:sp>
      <p:sp>
        <p:nvSpPr>
          <p:cNvPr id="7" name="TextBox 6"/>
          <p:cNvSpPr txBox="1"/>
          <p:nvPr/>
        </p:nvSpPr>
        <p:spPr>
          <a:xfrm>
            <a:off x="6572250" y="2838450"/>
            <a:ext cx="5143500" cy="752475"/>
          </a:xfrm>
          <a:prstGeom prst="rect">
            <a:avLst/>
          </a:prstGeom>
          <a:noFill/>
        </p:spPr>
        <p:txBody>
          <a:bodyPr wrap="square" lIns="0" rIns="0" tIns="0" bIns="0" anchor="t">
            <a:spAutoFit/>
          </a:bodyPr>
          <a:lstStyle/>
          <a:p>
            <a:pPr algn="l">
              <a:lnSpc>
                <a:spcPct val="94000"/>
              </a:lnSpc>
            </a:pPr>
            <a:r>
              <a:rPr sz="3000" b="1" i="0">
                <a:solidFill>
                  <a:srgbClr val="201914"/>
                </a:solidFill>
                <a:latin typeface="Arial"/>
              </a:rPr>
              <a:t>The Driver Loop</a:t>
            </a:r>
          </a:p>
        </p:txBody>
      </p:sp>
      <p:sp>
        <p:nvSpPr>
          <p:cNvPr id="8" name="Rectangle 7"/>
          <p:cNvSpPr/>
          <p:nvPr/>
        </p:nvSpPr>
        <p:spPr>
          <a:xfrm>
            <a:off x="6572250" y="3743325"/>
            <a:ext cx="3771900" cy="28575"/>
          </a:xfrm>
          <a:prstGeom prst="rect">
            <a:avLst/>
          </a:prstGeom>
          <a:solidFill>
            <a:srgbClr val="C35141"/>
          </a:solidFill>
          <a:ln>
            <a:noFill/>
          </a:ln>
          <a:effectLst/>
        </p:spPr>
        <p:txBody>
          <a:bodyPr rtlCol="0" anchor="ctr"/>
          <a:lstStyle/>
          <a:p>
            <a:pPr algn="ctr"/>
          </a:p>
        </p:txBody>
      </p:sp>
      <p:sp>
        <p:nvSpPr>
          <p:cNvPr id="9" name="TextBox 8"/>
          <p:cNvSpPr txBox="1"/>
          <p:nvPr/>
        </p:nvSpPr>
        <p:spPr>
          <a:xfrm>
            <a:off x="6572250" y="4029075"/>
            <a:ext cx="5143500" cy="1266825"/>
          </a:xfrm>
          <a:prstGeom prst="rect">
            <a:avLst/>
          </a:prstGeom>
          <a:noFill/>
        </p:spPr>
        <p:txBody>
          <a:bodyPr wrap="square" lIns="0" rIns="0" tIns="0" bIns="0" anchor="t">
            <a:spAutoFit/>
          </a:bodyPr>
          <a:lstStyle/>
          <a:p>
            <a:pPr algn="l">
              <a:lnSpc>
                <a:spcPct val="112000"/>
              </a:lnSpc>
            </a:pPr>
            <a:r>
              <a:rPr sz="2100" b="0" i="0">
                <a:solidFill>
                  <a:srgbClr val="201914"/>
                </a:solidFill>
                <a:latin typeface="Arial"/>
              </a:rPr>
              <a:t>Trigger, action, reward, investment. The investment step is where a one-time reaction becomes a business, because now there is something to lose.</a:t>
            </a:r>
          </a:p>
        </p:txBody>
      </p:sp>
      <p:sp>
        <p:nvSpPr>
          <p:cNvPr id="10" name="TextBox 9"/>
          <p:cNvSpPr txBox="1"/>
          <p:nvPr/>
        </p:nvSpPr>
        <p:spPr>
          <a:xfrm>
            <a:off x="12096750" y="2838450"/>
            <a:ext cx="5143500" cy="752475"/>
          </a:xfrm>
          <a:prstGeom prst="rect">
            <a:avLst/>
          </a:prstGeom>
          <a:noFill/>
        </p:spPr>
        <p:txBody>
          <a:bodyPr wrap="square" lIns="0" rIns="0" tIns="0" bIns="0" anchor="t">
            <a:spAutoFit/>
          </a:bodyPr>
          <a:lstStyle/>
          <a:p>
            <a:pPr algn="l">
              <a:lnSpc>
                <a:spcPct val="94000"/>
              </a:lnSpc>
            </a:pPr>
            <a:r>
              <a:rPr sz="3000" b="1" i="0">
                <a:solidFill>
                  <a:srgbClr val="201914"/>
                </a:solidFill>
                <a:latin typeface="Arial"/>
              </a:rPr>
              <a:t>Anchoring</a:t>
            </a:r>
          </a:p>
        </p:txBody>
      </p:sp>
      <p:sp>
        <p:nvSpPr>
          <p:cNvPr id="11" name="Rectangle 10"/>
          <p:cNvSpPr/>
          <p:nvPr/>
        </p:nvSpPr>
        <p:spPr>
          <a:xfrm>
            <a:off x="12096750" y="3743325"/>
            <a:ext cx="3771900" cy="28575"/>
          </a:xfrm>
          <a:prstGeom prst="rect">
            <a:avLst/>
          </a:prstGeom>
          <a:solidFill>
            <a:srgbClr val="C35141"/>
          </a:solidFill>
          <a:ln>
            <a:noFill/>
          </a:ln>
          <a:effectLst/>
        </p:spPr>
        <p:txBody>
          <a:bodyPr rtlCol="0" anchor="ctr"/>
          <a:lstStyle/>
          <a:p>
            <a:pPr algn="ctr"/>
          </a:p>
        </p:txBody>
      </p:sp>
      <p:sp>
        <p:nvSpPr>
          <p:cNvPr id="12" name="TextBox 11"/>
          <p:cNvSpPr txBox="1"/>
          <p:nvPr/>
        </p:nvSpPr>
        <p:spPr>
          <a:xfrm>
            <a:off x="12096750" y="4029075"/>
            <a:ext cx="5143500" cy="1266825"/>
          </a:xfrm>
          <a:prstGeom prst="rect">
            <a:avLst/>
          </a:prstGeom>
          <a:noFill/>
        </p:spPr>
        <p:txBody>
          <a:bodyPr wrap="square" lIns="0" rIns="0" tIns="0" bIns="0" anchor="t">
            <a:spAutoFit/>
          </a:bodyPr>
          <a:lstStyle/>
          <a:p>
            <a:pPr algn="l">
              <a:lnSpc>
                <a:spcPct val="112000"/>
              </a:lnSpc>
            </a:pPr>
            <a:r>
              <a:rPr sz="2100" b="0" i="0">
                <a:solidFill>
                  <a:srgbClr val="201914"/>
                </a:solidFill>
                <a:latin typeface="Arial"/>
              </a:rPr>
              <a:t>The first number a customer sees becomes the reference point for every number after it. The honest test: was that reference price ever actually charged?</a:t>
            </a:r>
          </a:p>
        </p:txBody>
      </p:sp>
      <p:sp>
        <p:nvSpPr>
          <p:cNvPr id="13" name="TextBox 12"/>
          <p:cNvSpPr txBox="1"/>
          <p:nvPr/>
        </p:nvSpPr>
        <p:spPr>
          <a:xfrm>
            <a:off x="1047750" y="6400800"/>
            <a:ext cx="5143500" cy="752475"/>
          </a:xfrm>
          <a:prstGeom prst="rect">
            <a:avLst/>
          </a:prstGeom>
          <a:noFill/>
        </p:spPr>
        <p:txBody>
          <a:bodyPr wrap="square" lIns="0" rIns="0" tIns="0" bIns="0" anchor="t">
            <a:spAutoFit/>
          </a:bodyPr>
          <a:lstStyle/>
          <a:p>
            <a:pPr algn="l">
              <a:lnSpc>
                <a:spcPct val="94000"/>
              </a:lnSpc>
            </a:pPr>
            <a:r>
              <a:rPr sz="3000" b="1" i="0">
                <a:solidFill>
                  <a:srgbClr val="201914"/>
                </a:solidFill>
                <a:latin typeface="Arial"/>
              </a:rPr>
              <a:t>Sunk cost and endowed progress</a:t>
            </a:r>
          </a:p>
        </p:txBody>
      </p:sp>
      <p:sp>
        <p:nvSpPr>
          <p:cNvPr id="14" name="Rectangle 13"/>
          <p:cNvSpPr/>
          <p:nvPr/>
        </p:nvSpPr>
        <p:spPr>
          <a:xfrm>
            <a:off x="1047750" y="7305675"/>
            <a:ext cx="3771900" cy="28575"/>
          </a:xfrm>
          <a:prstGeom prst="rect">
            <a:avLst/>
          </a:prstGeom>
          <a:solidFill>
            <a:srgbClr val="C35141"/>
          </a:solidFill>
          <a:ln>
            <a:noFill/>
          </a:ln>
          <a:effectLst/>
        </p:spPr>
        <p:txBody>
          <a:bodyPr rtlCol="0" anchor="ctr"/>
          <a:lstStyle/>
          <a:p>
            <a:pPr algn="ctr"/>
          </a:p>
        </p:txBody>
      </p:sp>
      <p:sp>
        <p:nvSpPr>
          <p:cNvPr id="15" name="TextBox 14"/>
          <p:cNvSpPr txBox="1"/>
          <p:nvPr/>
        </p:nvSpPr>
        <p:spPr>
          <a:xfrm>
            <a:off x="1047750" y="7591425"/>
            <a:ext cx="5143500" cy="1571625"/>
          </a:xfrm>
          <a:prstGeom prst="rect">
            <a:avLst/>
          </a:prstGeom>
          <a:noFill/>
        </p:spPr>
        <p:txBody>
          <a:bodyPr wrap="square" lIns="0" rIns="0" tIns="0" bIns="0" anchor="t">
            <a:spAutoFit/>
          </a:bodyPr>
          <a:lstStyle/>
          <a:p>
            <a:pPr algn="l">
              <a:lnSpc>
                <a:spcPct val="112000"/>
              </a:lnSpc>
            </a:pPr>
            <a:r>
              <a:rPr sz="2100" b="0" i="0">
                <a:solidFill>
                  <a:srgbClr val="201914"/>
                </a:solidFill>
                <a:latin typeface="Arial"/>
              </a:rPr>
              <a:t>Money and effort already spent should not affect a decision, and always do — so companies arrange for the customer to have spent something first. Both are commitment levers.</a:t>
            </a:r>
          </a:p>
        </p:txBody>
      </p:sp>
      <p:sp>
        <p:nvSpPr>
          <p:cNvPr id="16" name="TextBox 15"/>
          <p:cNvSpPr txBox="1"/>
          <p:nvPr/>
        </p:nvSpPr>
        <p:spPr>
          <a:xfrm>
            <a:off x="6572250" y="6400800"/>
            <a:ext cx="5143500" cy="752475"/>
          </a:xfrm>
          <a:prstGeom prst="rect">
            <a:avLst/>
          </a:prstGeom>
          <a:noFill/>
        </p:spPr>
        <p:txBody>
          <a:bodyPr wrap="square" lIns="0" rIns="0" tIns="0" bIns="0" anchor="t">
            <a:spAutoFit/>
          </a:bodyPr>
          <a:lstStyle/>
          <a:p>
            <a:pPr algn="l">
              <a:lnSpc>
                <a:spcPct val="94000"/>
              </a:lnSpc>
            </a:pPr>
            <a:r>
              <a:rPr sz="3000" b="1" i="0">
                <a:solidFill>
                  <a:srgbClr val="201914"/>
                </a:solidFill>
                <a:latin typeface="Arial"/>
              </a:rPr>
              <a:t>Scarcity and urgency</a:t>
            </a:r>
          </a:p>
        </p:txBody>
      </p:sp>
      <p:sp>
        <p:nvSpPr>
          <p:cNvPr id="17" name="Rectangle 16"/>
          <p:cNvSpPr/>
          <p:nvPr/>
        </p:nvSpPr>
        <p:spPr>
          <a:xfrm>
            <a:off x="6572250" y="7305675"/>
            <a:ext cx="3771900" cy="28575"/>
          </a:xfrm>
          <a:prstGeom prst="rect">
            <a:avLst/>
          </a:prstGeom>
          <a:solidFill>
            <a:srgbClr val="C35141"/>
          </a:solidFill>
          <a:ln>
            <a:noFill/>
          </a:ln>
          <a:effectLst/>
        </p:spPr>
        <p:txBody>
          <a:bodyPr rtlCol="0" anchor="ctr"/>
          <a:lstStyle/>
          <a:p>
            <a:pPr algn="ctr"/>
          </a:p>
        </p:txBody>
      </p:sp>
      <p:sp>
        <p:nvSpPr>
          <p:cNvPr id="18" name="TextBox 17"/>
          <p:cNvSpPr txBox="1"/>
          <p:nvPr/>
        </p:nvSpPr>
        <p:spPr>
          <a:xfrm>
            <a:off x="6572250" y="7591425"/>
            <a:ext cx="5143500" cy="1571625"/>
          </a:xfrm>
          <a:prstGeom prst="rect">
            <a:avLst/>
          </a:prstGeom>
          <a:noFill/>
        </p:spPr>
        <p:txBody>
          <a:bodyPr wrap="square" lIns="0" rIns="0" tIns="0" bIns="0" anchor="t">
            <a:spAutoFit/>
          </a:bodyPr>
          <a:lstStyle/>
          <a:p>
            <a:pPr algn="l">
              <a:lnSpc>
                <a:spcPct val="112000"/>
              </a:lnSpc>
            </a:pPr>
            <a:r>
              <a:rPr sz="2100" b="0" i="0">
                <a:solidFill>
                  <a:srgbClr val="201914"/>
                </a:solidFill>
                <a:latin typeface="Arial"/>
              </a:rPr>
              <a:t>Limiting how much is available, or how long the customer has. The offence is not urgency; it is fabricated urgency, and the difference is whether anything in the world changes at zero.</a:t>
            </a:r>
          </a:p>
        </p:txBody>
      </p:sp>
      <p:sp>
        <p:nvSpPr>
          <p:cNvPr id="19" name="TextBox 18"/>
          <p:cNvSpPr txBox="1"/>
          <p:nvPr/>
        </p:nvSpPr>
        <p:spPr>
          <a:xfrm>
            <a:off x="12096750" y="6400800"/>
            <a:ext cx="5143500" cy="752475"/>
          </a:xfrm>
          <a:prstGeom prst="rect">
            <a:avLst/>
          </a:prstGeom>
          <a:noFill/>
        </p:spPr>
        <p:txBody>
          <a:bodyPr wrap="square" lIns="0" rIns="0" tIns="0" bIns="0" anchor="t">
            <a:spAutoFit/>
          </a:bodyPr>
          <a:lstStyle/>
          <a:p>
            <a:pPr algn="l">
              <a:lnSpc>
                <a:spcPct val="94000"/>
              </a:lnSpc>
            </a:pPr>
            <a:r>
              <a:rPr sz="3000" b="1" i="0">
                <a:solidFill>
                  <a:srgbClr val="201914"/>
                </a:solidFill>
                <a:latin typeface="Arial"/>
              </a:rPr>
              <a:t>Dark patterns and the Three-Question Test</a:t>
            </a:r>
          </a:p>
        </p:txBody>
      </p:sp>
      <p:sp>
        <p:nvSpPr>
          <p:cNvPr id="20" name="Rectangle 19"/>
          <p:cNvSpPr/>
          <p:nvPr/>
        </p:nvSpPr>
        <p:spPr>
          <a:xfrm>
            <a:off x="12096750" y="7305675"/>
            <a:ext cx="3771900" cy="28575"/>
          </a:xfrm>
          <a:prstGeom prst="rect">
            <a:avLst/>
          </a:prstGeom>
          <a:solidFill>
            <a:srgbClr val="C35141"/>
          </a:solidFill>
          <a:ln>
            <a:noFill/>
          </a:ln>
          <a:effectLst/>
        </p:spPr>
        <p:txBody>
          <a:bodyPr rtlCol="0" anchor="ctr"/>
          <a:lstStyle/>
          <a:p>
            <a:pPr algn="ctr"/>
          </a:p>
        </p:txBody>
      </p:sp>
      <p:sp>
        <p:nvSpPr>
          <p:cNvPr id="21" name="TextBox 20"/>
          <p:cNvSpPr txBox="1"/>
          <p:nvPr/>
        </p:nvSpPr>
        <p:spPr>
          <a:xfrm>
            <a:off x="12096750" y="7591425"/>
            <a:ext cx="5143500" cy="1571625"/>
          </a:xfrm>
          <a:prstGeom prst="rect">
            <a:avLst/>
          </a:prstGeom>
          <a:noFill/>
        </p:spPr>
        <p:txBody>
          <a:bodyPr wrap="square" lIns="0" rIns="0" tIns="0" bIns="0" anchor="t">
            <a:spAutoFit/>
          </a:bodyPr>
          <a:lstStyle/>
          <a:p>
            <a:pPr algn="l">
              <a:lnSpc>
                <a:spcPct val="112000"/>
              </a:lnSpc>
            </a:pPr>
            <a:r>
              <a:rPr sz="2100" b="0" i="0">
                <a:solidFill>
                  <a:srgbClr val="201914"/>
                </a:solidFill>
                <a:latin typeface="Arial"/>
              </a:rPr>
              <a:t>Is it true? Was it disclosed in time? Does it help? Three of three is design, two is pressure, one or none is a dark pattern — and, since December 2023, a named regulatory exposure in India.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bodyPr>
          <a:lstStyle/>
          <a:p>
            <a:pPr algn="l"/>
            <a:r>
              <a:rPr sz="1950" b="1" i="0" spc="312">
                <a:solidFill>
                  <a:srgbClr val="EF806F"/>
                </a:solidFill>
                <a:latin typeface="Arial"/>
              </a:rPr>
              <a:t>NEXT SESSION</a:t>
            </a:r>
          </a:p>
        </p:txBody>
      </p:sp>
      <p:sp>
        <p:nvSpPr>
          <p:cNvPr id="3" name="TextBox 2"/>
          <p:cNvSpPr txBox="1"/>
          <p:nvPr/>
        </p:nvSpPr>
        <p:spPr>
          <a:xfrm>
            <a:off x="1714500" y="3800475"/>
            <a:ext cx="14859000" cy="2686050"/>
          </a:xfrm>
          <a:prstGeom prst="rect">
            <a:avLst/>
          </a:prstGeom>
          <a:noFill/>
        </p:spPr>
        <p:txBody>
          <a:bodyPr wrap="square" lIns="0" rIns="0" tIns="0" bIns="0" anchor="t">
            <a:spAutoFit/>
          </a:bodyPr>
          <a:lstStyle/>
          <a:p>
            <a:pPr algn="l">
              <a:lnSpc>
                <a:spcPct val="95000"/>
              </a:lnSpc>
            </a:pPr>
            <a:r>
              <a:rPr sz="5400" b="1" i="0" spc="-250">
                <a:solidFill>
                  <a:srgbClr val="F5F1E9"/>
                </a:solidFill>
                <a:latin typeface="Arial"/>
              </a:rPr>
              <a:t>Two companies sell the same thing at the same price to the same customer. One of them is chosen. What did the customer actually compare?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