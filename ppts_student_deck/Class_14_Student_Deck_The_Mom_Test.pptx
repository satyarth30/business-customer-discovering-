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ZENITH SCHOOL OF AI · CUSTOMER DISCOVERY · CLASS 14</a:t>
            </a:r>
          </a:p>
        </p:txBody>
      </p:sp>
      <p:sp>
        <p:nvSpPr>
          <p:cNvPr id="3" name="TextBox 2"/>
          <p:cNvSpPr txBox="1"/>
          <p:nvPr/>
        </p:nvSpPr>
        <p:spPr>
          <a:xfrm>
            <a:off x="1047750" y="3209925"/>
            <a:ext cx="16192500" cy="1209675"/>
          </a:xfrm>
          <a:prstGeom prst="rect">
            <a:avLst/>
          </a:prstGeom>
          <a:noFill/>
        </p:spPr>
        <p:txBody>
          <a:bodyPr wrap="square" lIns="0" rIns="0" tIns="0" bIns="0" anchor="t">
            <a:noAutofit/>
          </a:bodyPr>
          <a:lstStyle/>
          <a:p>
            <a:pPr algn="l">
              <a:lnSpc>
                <a:spcPct val="98000"/>
              </a:lnSpc>
            </a:pPr>
            <a:r>
              <a:rPr sz="9900" b="1" i="0" spc="-120">
                <a:solidFill>
                  <a:srgbClr val="F5F1E9"/>
                </a:solidFill>
                <a:latin typeface="Arial"/>
              </a:rPr>
              <a:t>The Mom Test</a:t>
            </a:r>
          </a:p>
        </p:txBody>
      </p:sp>
      <p:sp>
        <p:nvSpPr>
          <p:cNvPr id="4" name="TextBox 3"/>
          <p:cNvSpPr txBox="1"/>
          <p:nvPr/>
        </p:nvSpPr>
        <p:spPr>
          <a:xfrm>
            <a:off x="1047750" y="4743450"/>
            <a:ext cx="13811250" cy="1133475"/>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Everybody says they want to invest. Almost nobody had. That gap is where most failed startups live.</a:t>
            </a:r>
          </a:p>
        </p:txBody>
      </p:sp>
      <p:sp>
        <p:nvSpPr>
          <p:cNvPr id="5" name="Rectangle 4"/>
          <p:cNvSpPr/>
          <p:nvPr/>
        </p:nvSpPr>
        <p:spPr>
          <a:xfrm>
            <a:off x="1047750" y="8877300"/>
            <a:ext cx="16192500" cy="19050"/>
          </a:xfrm>
          <a:prstGeom prst="rect">
            <a:avLst/>
          </a:prstGeom>
          <a:solidFill>
            <a:srgbClr val="3E332B"/>
          </a:solidFill>
          <a:ln>
            <a:noFill/>
          </a:ln>
          <a:effectLst/>
        </p:spPr>
        <p:txBody>
          <a:bodyPr rtlCol="0" anchor="ctr"/>
          <a:lstStyle/>
          <a:p>
            <a:pPr algn="ctr"/>
          </a:p>
        </p:txBody>
      </p:sp>
      <p:sp>
        <p:nvSpPr>
          <p:cNvPr id="6" name="TextBox 5"/>
          <p:cNvSpPr txBox="1"/>
          <p:nvPr/>
        </p:nvSpPr>
        <p:spPr>
          <a:xfrm>
            <a:off x="104775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Politeness Trap</a:t>
            </a:r>
          </a:p>
        </p:txBody>
      </p:sp>
      <p:sp>
        <p:nvSpPr>
          <p:cNvPr id="7" name="TextBox 6"/>
          <p:cNvSpPr txBox="1"/>
          <p:nvPr/>
        </p:nvSpPr>
        <p:spPr>
          <a:xfrm>
            <a:off x="533400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Compliment, Fluff, Data</a:t>
            </a:r>
          </a:p>
        </p:txBody>
      </p:sp>
      <p:sp>
        <p:nvSpPr>
          <p:cNvPr id="8" name="TextBox 7"/>
          <p:cNvSpPr txBox="1"/>
          <p:nvPr/>
        </p:nvSpPr>
        <p:spPr>
          <a:xfrm>
            <a:off x="962025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Three Rules</a:t>
            </a:r>
          </a:p>
        </p:txBody>
      </p:sp>
      <p:sp>
        <p:nvSpPr>
          <p:cNvPr id="9" name="TextBox 8"/>
          <p:cNvSpPr txBox="1"/>
          <p:nvPr/>
        </p:nvSpPr>
        <p:spPr>
          <a:xfrm>
            <a:off x="13906500" y="9239250"/>
            <a:ext cx="3619500" cy="361950"/>
          </a:xfrm>
          <a:prstGeom prst="rect">
            <a:avLst/>
          </a:prstGeom>
          <a:noFill/>
        </p:spPr>
        <p:txBody>
          <a:bodyPr wrap="square" lIns="0" rIns="0" tIns="0" bIns="0" anchor="t">
            <a:noAutofit/>
          </a:bodyPr>
          <a:lstStyle/>
          <a:p>
            <a:pPr algn="l">
              <a:lnSpc>
                <a:spcPct val="108000"/>
              </a:lnSpc>
            </a:pPr>
            <a:r>
              <a:rPr sz="2100" b="0" i="0">
                <a:solidFill>
                  <a:srgbClr val="AEA298"/>
                </a:solidFill>
                <a:latin typeface="Arial"/>
              </a:rPr>
              <a:t>The Commitment 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WHERE WE LEFT OFF</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You can now run an interview. Today is every conversation you cannot.</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Five Rules and the Answer Ladder</a:t>
            </a:r>
          </a:p>
        </p:txBody>
      </p:sp>
      <p:sp>
        <p:nvSpPr>
          <p:cNvPr id="6" name="TextBox 5"/>
          <p:cNvSpPr txBox="1"/>
          <p:nvPr/>
        </p:nvSpPr>
        <p:spPr>
          <a:xfrm>
            <a:off x="10477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Ask about the past, never lead, drill with why, hold the silence, never pitch. Then grade what comes back as story, pattern or opinion.</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Interview Arc and the Three Jobs</a:t>
            </a:r>
          </a:p>
        </p:txBody>
      </p:sp>
      <p:sp>
        <p:nvSpPr>
          <p:cNvPr id="9" name="TextBox 8"/>
          <p:cNvSpPr txBox="1"/>
          <p:nvPr/>
        </p:nvSpPr>
        <p:spPr>
          <a:xfrm>
            <a:off x="65722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Context, experience, implication, close. Every question grounds, excavates or quantifies.</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Implication Question</a:t>
            </a:r>
          </a:p>
        </p:txBody>
      </p:sp>
      <p:sp>
        <p:nvSpPr>
          <p:cNvPr id="12" name="TextBox 11"/>
          <p:cNvSpPr txBox="1"/>
          <p:nvPr/>
        </p:nvSpPr>
        <p:spPr>
          <a:xfrm>
            <a:off x="12096750" y="4835423"/>
            <a:ext cx="5143500" cy="3260827"/>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How often, how long, what did it cost, who else was affected. A story tells you it happened. This tells you what it was worth.</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All of it assumed thirty minutes with a stranger who agreed to be researched. Nobody offers you that at dinner.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BE HONEST WITH YOURSELF</a:t>
            </a:r>
          </a:p>
        </p:txBody>
      </p:sp>
      <p:sp>
        <p:nvSpPr>
          <p:cNvPr id="3" name="TextBox 2"/>
          <p:cNvSpPr txBox="1"/>
          <p:nvPr/>
        </p:nvSpPr>
        <p:spPr>
          <a:xfrm>
            <a:off x="1714500" y="4277258"/>
            <a:ext cx="14859000" cy="1922983"/>
          </a:xfrm>
          <a:prstGeom prst="rect">
            <a:avLst/>
          </a:prstGeom>
          <a:noFill/>
        </p:spPr>
        <p:txBody>
          <a:bodyPr wrap="square" lIns="0" rIns="0" tIns="0" bIns="0" anchor="t">
            <a:noAutofit/>
          </a:bodyPr>
          <a:lstStyle/>
          <a:p>
            <a:pPr algn="l">
              <a:lnSpc>
                <a:spcPct val="105000"/>
              </a:lnSpc>
            </a:pPr>
            <a:r>
              <a:rPr sz="5600" b="1" i="0">
                <a:solidFill>
                  <a:srgbClr val="F5F1E9"/>
                </a:solidFill>
                <a:latin typeface="Arial"/>
              </a:rPr>
              <a:t>Who has told somebody their idea was good when you privately thought it wasn't?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WHY DID YOU DO IT?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Nobody here is dishonest. Almost everybody has done it.</a:t>
            </a:r>
          </a:p>
        </p:txBody>
      </p:sp>
      <p:sp>
        <p:nvSpPr>
          <p:cNvPr id="4" name="Rectangle 3"/>
          <p:cNvSpPr/>
          <p:nvPr/>
        </p:nvSpPr>
        <p:spPr>
          <a:xfrm>
            <a:off x="1047750" y="3409950"/>
            <a:ext cx="2219325"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'They were so excited about it.'</a:t>
            </a:r>
          </a:p>
        </p:txBody>
      </p:sp>
      <p:sp>
        <p:nvSpPr>
          <p:cNvPr id="6" name="TextBox 5"/>
          <p:cNvSpPr txBox="1"/>
          <p:nvPr/>
        </p:nvSpPr>
        <p:spPr>
          <a:xfrm>
            <a:off x="104775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Making them feel bad about something they cared about had a real cost and no benefit to you.</a:t>
            </a:r>
          </a:p>
        </p:txBody>
      </p:sp>
      <p:sp>
        <p:nvSpPr>
          <p:cNvPr id="7" name="Rectangle 6"/>
          <p:cNvSpPr/>
          <p:nvPr/>
        </p:nvSpPr>
        <p:spPr>
          <a:xfrm>
            <a:off x="5191125" y="3409950"/>
            <a:ext cx="2219325"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5191125"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'It was going so well.'</a:t>
            </a:r>
          </a:p>
        </p:txBody>
      </p:sp>
      <p:sp>
        <p:nvSpPr>
          <p:cNvPr id="9" name="TextBox 8"/>
          <p:cNvSpPr txBox="1"/>
          <p:nvPr/>
        </p:nvSpPr>
        <p:spPr>
          <a:xfrm>
            <a:off x="5191125"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The conversation was pleasant. Honesty would have spoiled it.</a:t>
            </a:r>
          </a:p>
        </p:txBody>
      </p:sp>
      <p:sp>
        <p:nvSpPr>
          <p:cNvPr id="10" name="Rectangle 9"/>
          <p:cNvSpPr/>
          <p:nvPr/>
        </p:nvSpPr>
        <p:spPr>
          <a:xfrm>
            <a:off x="9334500" y="3409950"/>
            <a:ext cx="2219325"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933450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'It did not affect me.'</a:t>
            </a:r>
          </a:p>
        </p:txBody>
      </p:sp>
      <p:sp>
        <p:nvSpPr>
          <p:cNvPr id="12" name="TextBox 11"/>
          <p:cNvSpPr txBox="1"/>
          <p:nvPr/>
        </p:nvSpPr>
        <p:spPr>
          <a:xfrm>
            <a:off x="933450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You had nothing to gain from being the person who said it.</a:t>
            </a:r>
          </a:p>
        </p:txBody>
      </p:sp>
      <p:sp>
        <p:nvSpPr>
          <p:cNvPr id="13" name="Rectangle 12"/>
          <p:cNvSpPr/>
          <p:nvPr/>
        </p:nvSpPr>
        <p:spPr>
          <a:xfrm>
            <a:off x="13477875" y="3409950"/>
            <a:ext cx="3762375" cy="3048000"/>
          </a:xfrm>
          <a:prstGeom prst="rect">
            <a:avLst/>
          </a:prstGeom>
          <a:solidFill>
            <a:srgbClr val="C35141"/>
          </a:solidFill>
          <a:ln>
            <a:noFill/>
          </a:ln>
          <a:effectLst/>
        </p:spPr>
        <p:txBody>
          <a:bodyPr rtlCol="0" anchor="ctr"/>
          <a:lstStyle/>
          <a:p>
            <a:pPr algn="ctr"/>
          </a:p>
        </p:txBody>
      </p:sp>
      <p:sp>
        <p:nvSpPr>
          <p:cNvPr id="14" name="TextBox 13"/>
          <p:cNvSpPr txBox="1"/>
          <p:nvPr/>
        </p:nvSpPr>
        <p:spPr>
          <a:xfrm>
            <a:off x="13858875" y="3790950"/>
            <a:ext cx="3000375" cy="838535"/>
          </a:xfrm>
          <a:prstGeom prst="rect">
            <a:avLst/>
          </a:prstGeom>
          <a:noFill/>
        </p:spPr>
        <p:txBody>
          <a:bodyPr wrap="square" lIns="0" rIns="0" tIns="0" bIns="0" anchor="t">
            <a:noAutofit/>
          </a:bodyPr>
          <a:lstStyle/>
          <a:p>
            <a:pPr algn="l">
              <a:lnSpc>
                <a:spcPct val="102000"/>
              </a:lnSpc>
            </a:pPr>
            <a:r>
              <a:rPr sz="2600" b="1" i="0">
                <a:solidFill>
                  <a:srgbClr val="F5F1E9"/>
                </a:solidFill>
                <a:latin typeface="Arial"/>
              </a:rPr>
              <a:t>A reasonable choice</a:t>
            </a:r>
          </a:p>
        </p:txBody>
      </p:sp>
      <p:sp>
        <p:nvSpPr>
          <p:cNvPr id="15" name="TextBox 14"/>
          <p:cNvSpPr txBox="1"/>
          <p:nvPr/>
        </p:nvSpPr>
        <p:spPr>
          <a:xfrm>
            <a:off x="13858875" y="4781885"/>
            <a:ext cx="3000375" cy="338104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Not a character flaw. You will keep making it for the rest of your life.</a:t>
            </a:r>
          </a:p>
        </p:txBody>
      </p:sp>
      <p:sp>
        <p:nvSpPr>
          <p:cNvPr id="16" name="TextBox 15"/>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Everybody you ever describe your idea to will make exactly that choice, for exactly those reasons, and you will hear it as encouragement.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5900562"/>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CASE STUDY</a:t>
            </a:r>
          </a:p>
        </p:txBody>
      </p:sp>
      <p:sp>
        <p:nvSpPr>
          <p:cNvPr id="3" name="TextBox 2"/>
          <p:cNvSpPr txBox="1"/>
          <p:nvPr/>
        </p:nvSpPr>
        <p:spPr>
          <a:xfrm>
            <a:off x="1047750" y="6453012"/>
            <a:ext cx="16192500" cy="1264676"/>
          </a:xfrm>
          <a:prstGeom prst="rect">
            <a:avLst/>
          </a:prstGeom>
          <a:noFill/>
        </p:spPr>
        <p:txBody>
          <a:bodyPr wrap="square" lIns="0" rIns="0" tIns="0" bIns="0" anchor="t">
            <a:noAutofit/>
          </a:bodyPr>
          <a:lstStyle/>
          <a:p>
            <a:pPr algn="l">
              <a:lnSpc>
                <a:spcPct val="98000"/>
              </a:lnSpc>
            </a:pPr>
            <a:r>
              <a:rPr sz="8100" b="1" i="0" spc="-120">
                <a:solidFill>
                  <a:srgbClr val="F5F1E9"/>
                </a:solidFill>
                <a:latin typeface="Arial"/>
              </a:rPr>
              <a:t>Everybody Said Yes</a:t>
            </a:r>
          </a:p>
        </p:txBody>
      </p:sp>
      <p:sp>
        <p:nvSpPr>
          <p:cNvPr id="4" name="TextBox 3"/>
          <p:cNvSpPr txBox="1"/>
          <p:nvPr/>
        </p:nvSpPr>
        <p:spPr>
          <a:xfrm>
            <a:off x="1047750" y="7870088"/>
            <a:ext cx="14287500" cy="1845412"/>
          </a:xfrm>
          <a:prstGeom prst="rect">
            <a:avLst/>
          </a:prstGeom>
          <a:noFill/>
        </p:spPr>
        <p:txBody>
          <a:bodyPr wrap="square" lIns="0" rIns="0" tIns="0" bIns="0" anchor="t">
            <a:noAutofit/>
          </a:bodyPr>
          <a:lstStyle/>
          <a:p>
            <a:pPr algn="l">
              <a:lnSpc>
                <a:spcPct val="110000"/>
              </a:lnSpc>
            </a:pPr>
            <a:r>
              <a:rPr sz="3600" b="0" i="1">
                <a:solidFill>
                  <a:srgbClr val="C1B5AB"/>
                </a:solidFill>
                <a:latin typeface="Georgia"/>
              </a:rPr>
              <a:t>Three conversations about the same idea. Then one Indian company that ignored what people said about investing and watched what they did instead.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DINNER TABLE</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Two things arrived at once, and only one of them was visible.</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WHAT WAS TRUE</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1" i="0">
                <a:solidFill>
                  <a:srgbClr val="201914"/>
                </a:solidFill>
                <a:latin typeface="Arial"/>
              </a:rPr>
              <a:t>'That is a wonderful idea, beta. I am proud of you. You should build it.'</a:t>
            </a:r>
          </a:p>
          <a:p>
            <a:pPr algn="l">
              <a:lnSpc>
                <a:spcPct val="112000"/>
              </a:lnSpc>
            </a:pPr>
            <a:r>
              <a:rPr sz="2800" b="0" i="0">
                <a:solidFill>
                  <a:srgbClr val="201914"/>
                </a:solidFill>
                <a:latin typeface="Arial"/>
              </a:rPr>
              <a:t>This mother supports her daughter, is pleased she is building something, and will back her. That is real information about a real relationship.</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WHAT WAS NEVER SAID</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F5F1E9"/>
                </a:solidFill>
                <a:latin typeface="Arial"/>
              </a:rPr>
              <a:t>That the idea is good.</a:t>
            </a:r>
          </a:p>
          <a:p>
            <a:pPr algn="l">
              <a:lnSpc>
                <a:spcPct val="112000"/>
              </a:lnSpc>
              <a:spcAft>
                <a:spcPts val="1200"/>
              </a:spcAft>
            </a:pPr>
            <a:r>
              <a:rPr sz="2800" b="0" i="0">
                <a:solidFill>
                  <a:srgbClr val="F5F1E9"/>
                </a:solidFill>
                <a:latin typeface="Arial"/>
              </a:rPr>
              <a:t>That people want it.</a:t>
            </a:r>
          </a:p>
          <a:p>
            <a:pPr algn="l">
              <a:lnSpc>
                <a:spcPct val="112000"/>
              </a:lnSpc>
              <a:spcAft>
                <a:spcPts val="1200"/>
              </a:spcAft>
            </a:pPr>
            <a:r>
              <a:rPr sz="2800" b="0" i="0">
                <a:solidFill>
                  <a:srgbClr val="F5F1E9"/>
                </a:solidFill>
                <a:latin typeface="Arial"/>
              </a:rPr>
              <a:t>That it is worth eight months of her life.</a:t>
            </a:r>
          </a:p>
          <a:p>
            <a:pPr algn="l">
              <a:lnSpc>
                <a:spcPct val="112000"/>
              </a:lnSpc>
            </a:pPr>
            <a:r>
              <a:rPr sz="2800" b="0" i="0">
                <a:solidFill>
                  <a:srgbClr val="F5F1E9"/>
                </a:solidFill>
                <a:latin typeface="Arial"/>
              </a:rPr>
              <a:t>It arrived wrapped inside the first, so she will remember that everybody she spoke to was encouraging.</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She could not separate them then and will not later. That is the politeness trap, and it costs founders a year.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WHERE THE RULE COMES FROM · ROB FITZPATRICK · 2013</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problem is not your mother. It is your question.</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common advice</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Do not ask your mother about your business idea. She will be biased.</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Fitzpatrick's sharper point</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A well-designed question gets honest, useful answers from anybody, including your mother. A badly designed one gets flattery from complete strangers.</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In India, often the customer</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In a great many Indian businesses the mother is the customer. The rule was never to exclude her. It was to ask about her life instead of about your idea.</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If the problem were the person, you would interview only strangers. Because it is the question, the fix travels to a professor, an investor, a friend at a wedding.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SAME IDEA · TWO LISTENERS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What did the founder learn?</a:t>
            </a:r>
          </a:p>
        </p:txBody>
      </p:sp>
      <p:sp>
        <p:nvSpPr>
          <p:cNvPr id="4" name="Rectangle 3"/>
          <p:cNvSpPr/>
          <p:nvPr/>
        </p:nvSpPr>
        <p:spPr>
          <a:xfrm>
            <a:off x="1047750" y="2838450"/>
            <a:ext cx="7905750" cy="5715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90650" y="3143250"/>
            <a:ext cx="7239000" cy="3238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CONVERSATION ONE · A MOTHER</a:t>
            </a:r>
          </a:p>
        </p:txBody>
      </p:sp>
      <p:sp>
        <p:nvSpPr>
          <p:cNvPr id="6" name="TextBox 5"/>
          <p:cNvSpPr txBox="1"/>
          <p:nvPr/>
        </p:nvSpPr>
        <p:spPr>
          <a:xfrm>
            <a:off x="1390650" y="3714750"/>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7" name="TextBox 6"/>
          <p:cNvSpPr txBox="1"/>
          <p:nvPr/>
        </p:nvSpPr>
        <p:spPr>
          <a:xfrm>
            <a:off x="3009900" y="3676650"/>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You think people would use it?</a:t>
            </a:r>
          </a:p>
        </p:txBody>
      </p:sp>
      <p:sp>
        <p:nvSpPr>
          <p:cNvPr id="8" name="TextBox 7"/>
          <p:cNvSpPr txBox="1"/>
          <p:nvPr/>
        </p:nvSpPr>
        <p:spPr>
          <a:xfrm>
            <a:off x="1390650" y="4223461"/>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MOTHER</a:t>
            </a:r>
          </a:p>
        </p:txBody>
      </p:sp>
      <p:sp>
        <p:nvSpPr>
          <p:cNvPr id="9" name="TextBox 8"/>
          <p:cNvSpPr txBox="1"/>
          <p:nvPr/>
        </p:nvSpPr>
        <p:spPr>
          <a:xfrm>
            <a:off x="3009900" y="4185361"/>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Of course. You should talk to your uncle, he knows about these things.</a:t>
            </a:r>
          </a:p>
        </p:txBody>
      </p:sp>
      <p:sp>
        <p:nvSpPr>
          <p:cNvPr id="10" name="TextBox 9"/>
          <p:cNvSpPr txBox="1"/>
          <p:nvPr/>
        </p:nvSpPr>
        <p:spPr>
          <a:xfrm>
            <a:off x="1390650" y="5050384"/>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11" name="TextBox 10"/>
          <p:cNvSpPr txBox="1"/>
          <p:nvPr/>
        </p:nvSpPr>
        <p:spPr>
          <a:xfrm>
            <a:off x="3009900" y="5012284"/>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You don't think it's too crowded a space?</a:t>
            </a:r>
          </a:p>
        </p:txBody>
      </p:sp>
      <p:sp>
        <p:nvSpPr>
          <p:cNvPr id="12" name="TextBox 11"/>
          <p:cNvSpPr txBox="1"/>
          <p:nvPr/>
        </p:nvSpPr>
        <p:spPr>
          <a:xfrm>
            <a:off x="1390650" y="5559095"/>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MOTHER</a:t>
            </a:r>
          </a:p>
        </p:txBody>
      </p:sp>
      <p:sp>
        <p:nvSpPr>
          <p:cNvPr id="13" name="TextBox 12"/>
          <p:cNvSpPr txBox="1"/>
          <p:nvPr/>
        </p:nvSpPr>
        <p:spPr>
          <a:xfrm>
            <a:off x="3009900" y="5520995"/>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Beta, you are very capable. If you build it properly it will work.</a:t>
            </a:r>
          </a:p>
        </p:txBody>
      </p:sp>
      <p:sp>
        <p:nvSpPr>
          <p:cNvPr id="14" name="Rectangle 13"/>
          <p:cNvSpPr/>
          <p:nvPr/>
        </p:nvSpPr>
        <p:spPr>
          <a:xfrm>
            <a:off x="9334500" y="2838450"/>
            <a:ext cx="7905750" cy="5715000"/>
          </a:xfrm>
          <a:prstGeom prst="rect">
            <a:avLst/>
          </a:prstGeom>
          <a:solidFill>
            <a:srgbClr val="F0EAE1"/>
          </a:solidFill>
          <a:ln>
            <a:noFill/>
          </a:ln>
          <a:effectLst/>
        </p:spPr>
        <p:txBody>
          <a:bodyPr rtlCol="0" anchor="ctr"/>
          <a:lstStyle/>
          <a:p>
            <a:pPr algn="ctr"/>
          </a:p>
        </p:txBody>
      </p:sp>
      <p:sp>
        <p:nvSpPr>
          <p:cNvPr id="15" name="TextBox 14"/>
          <p:cNvSpPr txBox="1"/>
          <p:nvPr/>
        </p:nvSpPr>
        <p:spPr>
          <a:xfrm>
            <a:off x="9677400" y="3143250"/>
            <a:ext cx="7239000" cy="3238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CONVERSATION TWO · A PROFESSOR</a:t>
            </a:r>
          </a:p>
        </p:txBody>
      </p:sp>
      <p:sp>
        <p:nvSpPr>
          <p:cNvPr id="16" name="TextBox 15"/>
          <p:cNvSpPr txBox="1"/>
          <p:nvPr/>
        </p:nvSpPr>
        <p:spPr>
          <a:xfrm>
            <a:off x="9677400" y="3714750"/>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17" name="TextBox 16"/>
          <p:cNvSpPr txBox="1"/>
          <p:nvPr/>
        </p:nvSpPr>
        <p:spPr>
          <a:xfrm>
            <a:off x="11296650" y="3676650"/>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Do you think students would use something like this?</a:t>
            </a:r>
          </a:p>
        </p:txBody>
      </p:sp>
      <p:sp>
        <p:nvSpPr>
          <p:cNvPr id="18" name="TextBox 17"/>
          <p:cNvSpPr txBox="1"/>
          <p:nvPr/>
        </p:nvSpPr>
        <p:spPr>
          <a:xfrm>
            <a:off x="9677400" y="4541672"/>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PROFESSOR</a:t>
            </a:r>
          </a:p>
        </p:txBody>
      </p:sp>
      <p:sp>
        <p:nvSpPr>
          <p:cNvPr id="19" name="TextBox 18"/>
          <p:cNvSpPr txBox="1"/>
          <p:nvPr/>
        </p:nvSpPr>
        <p:spPr>
          <a:xfrm>
            <a:off x="11296650" y="4503572"/>
            <a:ext cx="5619750" cy="992734"/>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I think there is certainly a need. You would have to think about how you get companies onto it.</a:t>
            </a:r>
          </a:p>
        </p:txBody>
      </p:sp>
      <p:sp>
        <p:nvSpPr>
          <p:cNvPr id="20" name="TextBox 19"/>
          <p:cNvSpPr txBox="1"/>
          <p:nvPr/>
        </p:nvSpPr>
        <p:spPr>
          <a:xfrm>
            <a:off x="9677400" y="5686806"/>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21" name="TextBox 20"/>
          <p:cNvSpPr txBox="1"/>
          <p:nvPr/>
        </p:nvSpPr>
        <p:spPr>
          <a:xfrm>
            <a:off x="11296650" y="5648706"/>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That's the plan for phase two. Do you think the idea is sound?</a:t>
            </a:r>
          </a:p>
        </p:txBody>
      </p:sp>
      <p:sp>
        <p:nvSpPr>
          <p:cNvPr id="22" name="TextBox 21"/>
          <p:cNvSpPr txBox="1"/>
          <p:nvPr/>
        </p:nvSpPr>
        <p:spPr>
          <a:xfrm>
            <a:off x="9677400" y="6513728"/>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PROFESSOR</a:t>
            </a:r>
          </a:p>
        </p:txBody>
      </p:sp>
      <p:sp>
        <p:nvSpPr>
          <p:cNvPr id="23" name="TextBox 22"/>
          <p:cNvSpPr txBox="1"/>
          <p:nvPr/>
        </p:nvSpPr>
        <p:spPr>
          <a:xfrm>
            <a:off x="11296650" y="6475628"/>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It's a good direction. Keep me posted.</a:t>
            </a:r>
          </a:p>
        </p:txBody>
      </p:sp>
      <p:sp>
        <p:nvSpPr>
          <p:cNvPr id="24" name="TextBox 23"/>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2800" b="0" i="1">
                <a:solidFill>
                  <a:srgbClr val="362C24"/>
                </a:solidFill>
                <a:latin typeface="Georgia"/>
              </a:rPr>
              <a:t>The idea: help small-city students find a first internship.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What did the founder learn?</a:t>
            </a:r>
          </a:p>
        </p:txBody>
      </p:sp>
      <p:sp>
        <p:nvSpPr>
          <p:cNvPr id="4" name="Rectangle 3"/>
          <p:cNvSpPr/>
          <p:nvPr/>
        </p:nvSpPr>
        <p:spPr>
          <a:xfrm>
            <a:off x="1047750" y="2838450"/>
            <a:ext cx="7905750" cy="44767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90650" y="3143250"/>
            <a:ext cx="7239000" cy="3238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CONVERSATION ONE · A MOTHER</a:t>
            </a:r>
          </a:p>
        </p:txBody>
      </p:sp>
      <p:sp>
        <p:nvSpPr>
          <p:cNvPr id="6" name="TextBox 5"/>
          <p:cNvSpPr txBox="1"/>
          <p:nvPr/>
        </p:nvSpPr>
        <p:spPr>
          <a:xfrm>
            <a:off x="1390650" y="3714750"/>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7" name="TextBox 6"/>
          <p:cNvSpPr txBox="1"/>
          <p:nvPr/>
        </p:nvSpPr>
        <p:spPr>
          <a:xfrm>
            <a:off x="3009900" y="3676650"/>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You think people would use it?</a:t>
            </a:r>
          </a:p>
        </p:txBody>
      </p:sp>
      <p:sp>
        <p:nvSpPr>
          <p:cNvPr id="8" name="TextBox 7"/>
          <p:cNvSpPr txBox="1"/>
          <p:nvPr/>
        </p:nvSpPr>
        <p:spPr>
          <a:xfrm>
            <a:off x="1390650" y="4223461"/>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MOTHER</a:t>
            </a:r>
          </a:p>
        </p:txBody>
      </p:sp>
      <p:sp>
        <p:nvSpPr>
          <p:cNvPr id="9" name="TextBox 8"/>
          <p:cNvSpPr txBox="1"/>
          <p:nvPr/>
        </p:nvSpPr>
        <p:spPr>
          <a:xfrm>
            <a:off x="3009900" y="4185361"/>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Of course. You should talk to your uncle, he knows about these things.</a:t>
            </a:r>
          </a:p>
        </p:txBody>
      </p:sp>
      <p:sp>
        <p:nvSpPr>
          <p:cNvPr id="10" name="TextBox 9"/>
          <p:cNvSpPr txBox="1"/>
          <p:nvPr/>
        </p:nvSpPr>
        <p:spPr>
          <a:xfrm>
            <a:off x="1390650" y="5050384"/>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11" name="TextBox 10"/>
          <p:cNvSpPr txBox="1"/>
          <p:nvPr/>
        </p:nvSpPr>
        <p:spPr>
          <a:xfrm>
            <a:off x="3009900" y="5012284"/>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You don't think it's too crowded a space?</a:t>
            </a:r>
          </a:p>
        </p:txBody>
      </p:sp>
      <p:sp>
        <p:nvSpPr>
          <p:cNvPr id="12" name="TextBox 11"/>
          <p:cNvSpPr txBox="1"/>
          <p:nvPr/>
        </p:nvSpPr>
        <p:spPr>
          <a:xfrm>
            <a:off x="1390650" y="5559095"/>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MOTHER</a:t>
            </a:r>
          </a:p>
        </p:txBody>
      </p:sp>
      <p:sp>
        <p:nvSpPr>
          <p:cNvPr id="13" name="TextBox 12"/>
          <p:cNvSpPr txBox="1"/>
          <p:nvPr/>
        </p:nvSpPr>
        <p:spPr>
          <a:xfrm>
            <a:off x="3009900" y="5520995"/>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Beta, you are very capable. If you build it properly it will work.</a:t>
            </a:r>
          </a:p>
        </p:txBody>
      </p:sp>
      <p:sp>
        <p:nvSpPr>
          <p:cNvPr id="14" name="Rectangle 13"/>
          <p:cNvSpPr/>
          <p:nvPr/>
        </p:nvSpPr>
        <p:spPr>
          <a:xfrm>
            <a:off x="9334500" y="2838450"/>
            <a:ext cx="7905750" cy="4476750"/>
          </a:xfrm>
          <a:prstGeom prst="rect">
            <a:avLst/>
          </a:prstGeom>
          <a:solidFill>
            <a:srgbClr val="F0EAE1"/>
          </a:solidFill>
          <a:ln>
            <a:noFill/>
          </a:ln>
          <a:effectLst/>
        </p:spPr>
        <p:txBody>
          <a:bodyPr rtlCol="0" anchor="ctr"/>
          <a:lstStyle/>
          <a:p>
            <a:pPr algn="ctr"/>
          </a:p>
        </p:txBody>
      </p:sp>
      <p:sp>
        <p:nvSpPr>
          <p:cNvPr id="15" name="TextBox 14"/>
          <p:cNvSpPr txBox="1"/>
          <p:nvPr/>
        </p:nvSpPr>
        <p:spPr>
          <a:xfrm>
            <a:off x="9677400" y="3143250"/>
            <a:ext cx="7239000" cy="3238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CONVERSATION TWO · A PROFESSOR</a:t>
            </a:r>
          </a:p>
        </p:txBody>
      </p:sp>
      <p:sp>
        <p:nvSpPr>
          <p:cNvPr id="16" name="TextBox 15"/>
          <p:cNvSpPr txBox="1"/>
          <p:nvPr/>
        </p:nvSpPr>
        <p:spPr>
          <a:xfrm>
            <a:off x="9677400" y="3714750"/>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17" name="TextBox 16"/>
          <p:cNvSpPr txBox="1"/>
          <p:nvPr/>
        </p:nvSpPr>
        <p:spPr>
          <a:xfrm>
            <a:off x="11296650" y="3676650"/>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Do you think students would use something like this?</a:t>
            </a:r>
          </a:p>
        </p:txBody>
      </p:sp>
      <p:sp>
        <p:nvSpPr>
          <p:cNvPr id="18" name="TextBox 17"/>
          <p:cNvSpPr txBox="1"/>
          <p:nvPr/>
        </p:nvSpPr>
        <p:spPr>
          <a:xfrm>
            <a:off x="9677400" y="4541672"/>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PROFESSOR</a:t>
            </a:r>
          </a:p>
        </p:txBody>
      </p:sp>
      <p:sp>
        <p:nvSpPr>
          <p:cNvPr id="19" name="TextBox 18"/>
          <p:cNvSpPr txBox="1"/>
          <p:nvPr/>
        </p:nvSpPr>
        <p:spPr>
          <a:xfrm>
            <a:off x="11296650" y="4503572"/>
            <a:ext cx="5619750" cy="992734"/>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I think there is certainly a need. You would have to think about how you get companies onto it.</a:t>
            </a:r>
          </a:p>
        </p:txBody>
      </p:sp>
      <p:sp>
        <p:nvSpPr>
          <p:cNvPr id="20" name="TextBox 19"/>
          <p:cNvSpPr txBox="1"/>
          <p:nvPr/>
        </p:nvSpPr>
        <p:spPr>
          <a:xfrm>
            <a:off x="9677400" y="5686806"/>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STUDENT</a:t>
            </a:r>
          </a:p>
        </p:txBody>
      </p:sp>
      <p:sp>
        <p:nvSpPr>
          <p:cNvPr id="21" name="TextBox 20"/>
          <p:cNvSpPr txBox="1"/>
          <p:nvPr/>
        </p:nvSpPr>
        <p:spPr>
          <a:xfrm>
            <a:off x="11296650" y="5648706"/>
            <a:ext cx="5619750" cy="674522"/>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That's the plan for phase two. Do you think the idea is sound?</a:t>
            </a:r>
          </a:p>
        </p:txBody>
      </p:sp>
      <p:sp>
        <p:nvSpPr>
          <p:cNvPr id="22" name="TextBox 21"/>
          <p:cNvSpPr txBox="1"/>
          <p:nvPr/>
        </p:nvSpPr>
        <p:spPr>
          <a:xfrm>
            <a:off x="9677400" y="6513728"/>
            <a:ext cx="1619250" cy="266700"/>
          </a:xfrm>
          <a:prstGeom prst="rect">
            <a:avLst/>
          </a:prstGeom>
          <a:noFill/>
        </p:spPr>
        <p:txBody>
          <a:bodyPr wrap="square" lIns="0" rIns="0" tIns="0" bIns="0" anchor="t">
            <a:noAutofit/>
          </a:bodyPr>
          <a:lstStyle/>
          <a:p>
            <a:pPr algn="l">
              <a:lnSpc>
                <a:spcPct val="108000"/>
              </a:lnSpc>
            </a:pPr>
            <a:r>
              <a:rPr sz="1600" b="1" i="0" spc="100">
                <a:solidFill>
                  <a:srgbClr val="7B6F66"/>
                </a:solidFill>
                <a:latin typeface="Arial"/>
              </a:rPr>
              <a:t>PROFESSOR</a:t>
            </a:r>
          </a:p>
        </p:txBody>
      </p:sp>
      <p:sp>
        <p:nvSpPr>
          <p:cNvPr id="23" name="TextBox 22"/>
          <p:cNvSpPr txBox="1"/>
          <p:nvPr/>
        </p:nvSpPr>
        <p:spPr>
          <a:xfrm>
            <a:off x="11296650" y="6475628"/>
            <a:ext cx="5619750" cy="356311"/>
          </a:xfrm>
          <a:prstGeom prst="rect">
            <a:avLst/>
          </a:prstGeom>
          <a:noFill/>
        </p:spPr>
        <p:txBody>
          <a:bodyPr wrap="square" lIns="0" rIns="0" tIns="0" bIns="0" anchor="t">
            <a:noAutofit/>
          </a:bodyPr>
          <a:lstStyle/>
          <a:p>
            <a:pPr algn="l">
              <a:lnSpc>
                <a:spcPct val="108000"/>
              </a:lnSpc>
            </a:pPr>
            <a:r>
              <a:rPr sz="2000" b="0" i="1">
                <a:solidFill>
                  <a:srgbClr val="201914"/>
                </a:solidFill>
                <a:latin typeface="Georgia"/>
              </a:rPr>
              <a:t>It's a good direction. Keep me posted.</a:t>
            </a:r>
          </a:p>
        </p:txBody>
      </p:sp>
      <p:sp>
        <p:nvSpPr>
          <p:cNvPr id="24" name="Rectangle 23"/>
          <p:cNvSpPr/>
          <p:nvPr/>
        </p:nvSpPr>
        <p:spPr>
          <a:xfrm>
            <a:off x="1047750" y="7543800"/>
            <a:ext cx="7905750" cy="1905000"/>
          </a:xfrm>
          <a:prstGeom prst="rect">
            <a:avLst/>
          </a:prstGeom>
          <a:solidFill>
            <a:srgbClr val="201914"/>
          </a:solidFill>
          <a:ln>
            <a:noFill/>
          </a:ln>
          <a:effectLst/>
        </p:spPr>
        <p:txBody>
          <a:bodyPr rtlCol="0" anchor="ctr"/>
          <a:lstStyle/>
          <a:p>
            <a:pPr algn="ctr"/>
          </a:p>
        </p:txBody>
      </p:sp>
      <p:sp>
        <p:nvSpPr>
          <p:cNvPr id="25" name="TextBox 24"/>
          <p:cNvSpPr txBox="1"/>
          <p:nvPr/>
        </p:nvSpPr>
        <p:spPr>
          <a:xfrm>
            <a:off x="1390650" y="7791450"/>
            <a:ext cx="7219950" cy="1428750"/>
          </a:xfrm>
          <a:prstGeom prst="rect">
            <a:avLst/>
          </a:prstGeom>
          <a:noFill/>
        </p:spPr>
        <p:txBody>
          <a:bodyPr wrap="square" lIns="0" rIns="0" tIns="0" bIns="0" anchor="t">
            <a:noAutofit/>
          </a:bodyPr>
          <a:lstStyle/>
          <a:p>
            <a:pPr algn="l">
              <a:lnSpc>
                <a:spcPct val="110000"/>
              </a:lnSpc>
            </a:pPr>
            <a:r>
              <a:rPr sz="2100" b="0" i="0">
                <a:solidFill>
                  <a:srgbClr val="F5F1E9"/>
                </a:solidFill>
                <a:latin typeface="Arial"/>
              </a:rPr>
              <a:t>LEARNED: that this mother supports her child. Nothing about internships, students, or whether anybody will pay.</a:t>
            </a:r>
          </a:p>
        </p:txBody>
      </p:sp>
      <p:sp>
        <p:nvSpPr>
          <p:cNvPr id="26" name="Rectangle 25"/>
          <p:cNvSpPr/>
          <p:nvPr/>
        </p:nvSpPr>
        <p:spPr>
          <a:xfrm>
            <a:off x="9334500" y="7543800"/>
            <a:ext cx="7905750" cy="1905000"/>
          </a:xfrm>
          <a:prstGeom prst="rect">
            <a:avLst/>
          </a:prstGeom>
          <a:solidFill>
            <a:srgbClr val="C35141"/>
          </a:solidFill>
          <a:ln>
            <a:noFill/>
          </a:ln>
          <a:effectLst/>
        </p:spPr>
        <p:txBody>
          <a:bodyPr rtlCol="0" anchor="ctr"/>
          <a:lstStyle/>
          <a:p>
            <a:pPr algn="ctr"/>
          </a:p>
        </p:txBody>
      </p:sp>
      <p:sp>
        <p:nvSpPr>
          <p:cNvPr id="27" name="TextBox 26"/>
          <p:cNvSpPr txBox="1"/>
          <p:nvPr/>
        </p:nvSpPr>
        <p:spPr>
          <a:xfrm>
            <a:off x="9677400" y="7791450"/>
            <a:ext cx="7219950" cy="1428750"/>
          </a:xfrm>
          <a:prstGeom prst="rect">
            <a:avLst/>
          </a:prstGeom>
          <a:noFill/>
        </p:spPr>
        <p:txBody>
          <a:bodyPr wrap="square" lIns="0" rIns="0" tIns="0" bIns="0" anchor="t">
            <a:noAutofit/>
          </a:bodyPr>
          <a:lstStyle/>
          <a:p>
            <a:pPr algn="l">
              <a:lnSpc>
                <a:spcPct val="110000"/>
              </a:lnSpc>
            </a:pPr>
            <a:r>
              <a:rPr sz="2100" b="0" i="0">
                <a:solidFill>
                  <a:srgbClr val="F5F1E9"/>
                </a:solidFill>
                <a:latin typeface="Arial"/>
              </a:rPr>
              <a:t>LEARNED: almost nothing, from somebody with authority, which is more dangerous. He said one useful thing, that getting companies on board is the hard part, and the student steered past it to ask for approval again.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PAUSE AND ANSWER</a:t>
            </a:r>
          </a:p>
        </p:txBody>
      </p:sp>
      <p:sp>
        <p:nvSpPr>
          <p:cNvPr id="3" name="TextBox 2"/>
          <p:cNvSpPr txBox="1"/>
          <p:nvPr/>
        </p:nvSpPr>
        <p:spPr>
          <a:xfrm>
            <a:off x="1714500" y="4029761"/>
            <a:ext cx="14859000" cy="2417978"/>
          </a:xfrm>
          <a:prstGeom prst="rect">
            <a:avLst/>
          </a:prstGeom>
          <a:noFill/>
        </p:spPr>
        <p:txBody>
          <a:bodyPr wrap="square" lIns="0" rIns="0" tIns="0" bIns="0" anchor="t">
            <a:noAutofit/>
          </a:bodyPr>
          <a:lstStyle/>
          <a:p>
            <a:pPr algn="l">
              <a:lnSpc>
                <a:spcPct val="105000"/>
              </a:lnSpc>
            </a:pPr>
            <a:r>
              <a:rPr sz="4800" b="1" i="0">
                <a:solidFill>
                  <a:srgbClr val="F5F1E9"/>
                </a:solidFill>
                <a:latin typeface="Arial"/>
              </a:rPr>
              <a:t>What should the student have said at the exact moment the professor mentioned getting companies on board?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CONVERSATION THREE · A FINAL-YEAR STUDENT · THE IDEA IS NEVER MENTIONED</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Watch how little the founder says</a:t>
            </a:r>
          </a:p>
        </p:txBody>
      </p:sp>
      <p:sp>
        <p:nvSpPr>
          <p:cNvPr id="4" name="TextBox 3"/>
          <p:cNvSpPr txBox="1"/>
          <p:nvPr/>
        </p:nvSpPr>
        <p:spPr>
          <a:xfrm>
            <a:off x="1314450" y="2838450"/>
            <a:ext cx="55245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FOUNDER</a:t>
            </a:r>
          </a:p>
        </p:txBody>
      </p:sp>
      <p:sp>
        <p:nvSpPr>
          <p:cNvPr id="5" name="TextBox 4"/>
          <p:cNvSpPr txBox="1"/>
          <p:nvPr/>
        </p:nvSpPr>
        <p:spPr>
          <a:xfrm>
            <a:off x="7219950" y="2838450"/>
            <a:ext cx="9715500" cy="323850"/>
          </a:xfrm>
          <a:prstGeom prst="rect">
            <a:avLst/>
          </a:prstGeom>
          <a:noFill/>
        </p:spPr>
        <p:txBody>
          <a:bodyPr wrap="square" lIns="0" rIns="0" tIns="0" bIns="0" anchor="t">
            <a:noAutofit/>
          </a:bodyPr>
          <a:lstStyle/>
          <a:p>
            <a:pPr algn="l">
              <a:lnSpc>
                <a:spcPct val="108000"/>
              </a:lnSpc>
            </a:pPr>
            <a:r>
              <a:rPr sz="1800" b="1" i="0" spc="120">
                <a:solidFill>
                  <a:srgbClr val="7B6F66"/>
                </a:solidFill>
                <a:latin typeface="Arial"/>
              </a:rPr>
              <a:t>THE STUDENT</a:t>
            </a:r>
          </a:p>
        </p:txBody>
      </p:sp>
      <p:sp>
        <p:nvSpPr>
          <p:cNvPr id="6" name="Rectangle 5"/>
          <p:cNvSpPr/>
          <p:nvPr/>
        </p:nvSpPr>
        <p:spPr>
          <a:xfrm>
            <a:off x="1047750" y="3276600"/>
            <a:ext cx="16192500" cy="28575"/>
          </a:xfrm>
          <a:prstGeom prst="rect">
            <a:avLst/>
          </a:prstGeom>
          <a:solidFill>
            <a:srgbClr val="201914"/>
          </a:solidFill>
          <a:ln>
            <a:noFill/>
          </a:ln>
          <a:effectLst/>
        </p:spPr>
        <p:txBody>
          <a:bodyPr rtlCol="0" anchor="ctr"/>
          <a:lstStyle/>
          <a:p>
            <a:pPr algn="ctr"/>
          </a:p>
        </p:txBody>
      </p:sp>
      <p:sp>
        <p:nvSpPr>
          <p:cNvPr id="7" name="TextBox 6"/>
          <p:cNvSpPr txBox="1"/>
          <p:nvPr/>
        </p:nvSpPr>
        <p:spPr>
          <a:xfrm>
            <a:off x="1314450" y="3638550"/>
            <a:ext cx="5334000" cy="725394"/>
          </a:xfrm>
          <a:prstGeom prst="rect">
            <a:avLst/>
          </a:prstGeom>
          <a:noFill/>
        </p:spPr>
        <p:txBody>
          <a:bodyPr wrap="square" lIns="0" rIns="0" tIns="0" bIns="0" anchor="t">
            <a:noAutofit/>
          </a:bodyPr>
          <a:lstStyle/>
          <a:p>
            <a:pPr algn="l">
              <a:lnSpc>
                <a:spcPct val="108000"/>
              </a:lnSpc>
            </a:pPr>
            <a:r>
              <a:rPr sz="2100" b="0" i="0">
                <a:solidFill>
                  <a:srgbClr val="201914"/>
                </a:solidFill>
                <a:latin typeface="Arial"/>
              </a:rPr>
              <a:t>You were looking for an internship last semester. How did that go?</a:t>
            </a:r>
          </a:p>
        </p:txBody>
      </p:sp>
      <p:sp>
        <p:nvSpPr>
          <p:cNvPr id="8" name="TextBox 7"/>
          <p:cNvSpPr txBox="1"/>
          <p:nvPr/>
        </p:nvSpPr>
        <p:spPr>
          <a:xfrm>
            <a:off x="7219950" y="3797656"/>
            <a:ext cx="9620250" cy="407182"/>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Ya, it was a mess honestly.</a:t>
            </a:r>
          </a:p>
        </p:txBody>
      </p:sp>
      <p:sp>
        <p:nvSpPr>
          <p:cNvPr id="9" name="Rectangle 8"/>
          <p:cNvSpPr/>
          <p:nvPr/>
        </p:nvSpPr>
        <p:spPr>
          <a:xfrm>
            <a:off x="1047750" y="4478244"/>
            <a:ext cx="16192500" cy="1042965"/>
          </a:xfrm>
          <a:prstGeom prst="rect">
            <a:avLst/>
          </a:prstGeom>
          <a:solidFill>
            <a:srgbClr val="F3EEE6"/>
          </a:solidFill>
          <a:ln>
            <a:noFill/>
          </a:ln>
          <a:effectLst/>
        </p:spPr>
        <p:txBody>
          <a:bodyPr rtlCol="0" anchor="ctr"/>
          <a:lstStyle/>
          <a:p>
            <a:pPr algn="ctr"/>
          </a:p>
        </p:txBody>
      </p:sp>
      <p:sp>
        <p:nvSpPr>
          <p:cNvPr id="10" name="TextBox 9"/>
          <p:cNvSpPr txBox="1"/>
          <p:nvPr/>
        </p:nvSpPr>
        <p:spPr>
          <a:xfrm>
            <a:off x="1314450" y="4665604"/>
            <a:ext cx="5334000" cy="725394"/>
          </a:xfrm>
          <a:prstGeom prst="rect">
            <a:avLst/>
          </a:prstGeom>
          <a:noFill/>
        </p:spPr>
        <p:txBody>
          <a:bodyPr wrap="square" lIns="0" rIns="0" tIns="0" bIns="0" anchor="t">
            <a:noAutofit/>
          </a:bodyPr>
          <a:lstStyle/>
          <a:p>
            <a:pPr algn="l">
              <a:lnSpc>
                <a:spcPct val="108000"/>
              </a:lnSpc>
            </a:pPr>
            <a:r>
              <a:rPr sz="2100" b="0" i="0">
                <a:solidFill>
                  <a:srgbClr val="201914"/>
                </a:solidFill>
                <a:latin typeface="Arial"/>
              </a:rPr>
              <a:t>Walk me through it. What did you actually do?</a:t>
            </a:r>
          </a:p>
        </p:txBody>
      </p:sp>
      <p:sp>
        <p:nvSpPr>
          <p:cNvPr id="11" name="TextBox 10"/>
          <p:cNvSpPr txBox="1"/>
          <p:nvPr/>
        </p:nvSpPr>
        <p:spPr>
          <a:xfrm>
            <a:off x="7219950" y="4649694"/>
            <a:ext cx="9620250" cy="757215"/>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I asked seniors, mostly. Then I applied to like forty things on two portals.</a:t>
            </a:r>
          </a:p>
        </p:txBody>
      </p:sp>
      <p:sp>
        <p:nvSpPr>
          <p:cNvPr id="12" name="Rectangle 11"/>
          <p:cNvSpPr/>
          <p:nvPr/>
        </p:nvSpPr>
        <p:spPr>
          <a:xfrm>
            <a:off x="1047750" y="5521208"/>
            <a:ext cx="16192500" cy="9525"/>
          </a:xfrm>
          <a:prstGeom prst="rect">
            <a:avLst/>
          </a:prstGeom>
          <a:solidFill>
            <a:srgbClr val="D8CFC7"/>
          </a:solidFill>
          <a:ln>
            <a:noFill/>
          </a:ln>
          <a:effectLst/>
        </p:spPr>
        <p:txBody>
          <a:bodyPr rtlCol="0" anchor="ctr"/>
          <a:lstStyle/>
          <a:p>
            <a:pPr algn="ctr"/>
          </a:p>
        </p:txBody>
      </p:sp>
      <p:sp>
        <p:nvSpPr>
          <p:cNvPr id="13" name="TextBox 12"/>
          <p:cNvSpPr txBox="1"/>
          <p:nvPr/>
        </p:nvSpPr>
        <p:spPr>
          <a:xfrm>
            <a:off x="1314450" y="5875630"/>
            <a:ext cx="5334000" cy="391272"/>
          </a:xfrm>
          <a:prstGeom prst="rect">
            <a:avLst/>
          </a:prstGeom>
          <a:noFill/>
        </p:spPr>
        <p:txBody>
          <a:bodyPr wrap="square" lIns="0" rIns="0" tIns="0" bIns="0" anchor="t">
            <a:noAutofit/>
          </a:bodyPr>
          <a:lstStyle/>
          <a:p>
            <a:pPr algn="l">
              <a:lnSpc>
                <a:spcPct val="108000"/>
              </a:lnSpc>
            </a:pPr>
            <a:r>
              <a:rPr sz="2100" b="0" i="0">
                <a:solidFill>
                  <a:srgbClr val="201914"/>
                </a:solidFill>
                <a:latin typeface="Arial"/>
              </a:rPr>
              <a:t>Forty. And then?</a:t>
            </a:r>
          </a:p>
        </p:txBody>
      </p:sp>
      <p:sp>
        <p:nvSpPr>
          <p:cNvPr id="14" name="TextBox 13"/>
          <p:cNvSpPr txBox="1"/>
          <p:nvPr/>
        </p:nvSpPr>
        <p:spPr>
          <a:xfrm>
            <a:off x="7219950" y="5692658"/>
            <a:ext cx="9620250" cy="757215"/>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I heard back from three. Two were unpaid and one was a scam I think, they asked for a registration fee.</a:t>
            </a:r>
          </a:p>
        </p:txBody>
      </p:sp>
      <p:sp>
        <p:nvSpPr>
          <p:cNvPr id="15" name="Rectangle 14"/>
          <p:cNvSpPr/>
          <p:nvPr/>
        </p:nvSpPr>
        <p:spPr>
          <a:xfrm>
            <a:off x="1047750" y="6564173"/>
            <a:ext cx="16192500" cy="692932"/>
          </a:xfrm>
          <a:prstGeom prst="rect">
            <a:avLst/>
          </a:prstGeom>
          <a:solidFill>
            <a:srgbClr val="F3EEE6"/>
          </a:solidFill>
          <a:ln>
            <a:noFill/>
          </a:ln>
          <a:effectLst/>
        </p:spPr>
        <p:txBody>
          <a:bodyPr rtlCol="0" anchor="ctr"/>
          <a:lstStyle/>
          <a:p>
            <a:pPr algn="ctr"/>
          </a:p>
        </p:txBody>
      </p:sp>
      <p:sp>
        <p:nvSpPr>
          <p:cNvPr id="16" name="TextBox 15"/>
          <p:cNvSpPr txBox="1"/>
          <p:nvPr/>
        </p:nvSpPr>
        <p:spPr>
          <a:xfrm>
            <a:off x="1314450" y="6743578"/>
            <a:ext cx="5334000" cy="391272"/>
          </a:xfrm>
          <a:prstGeom prst="rect">
            <a:avLst/>
          </a:prstGeom>
          <a:noFill/>
        </p:spPr>
        <p:txBody>
          <a:bodyPr wrap="square" lIns="0" rIns="0" tIns="0" bIns="0" anchor="t">
            <a:noAutofit/>
          </a:bodyPr>
          <a:lstStyle/>
          <a:p>
            <a:pPr algn="l">
              <a:lnSpc>
                <a:spcPct val="108000"/>
              </a:lnSpc>
            </a:pPr>
            <a:r>
              <a:rPr sz="2100" b="0" i="0">
                <a:solidFill>
                  <a:srgbClr val="201914"/>
                </a:solidFill>
                <a:latin typeface="Arial"/>
              </a:rPr>
              <a:t>What did you do about the fee?</a:t>
            </a:r>
          </a:p>
        </p:txBody>
      </p:sp>
      <p:sp>
        <p:nvSpPr>
          <p:cNvPr id="17" name="TextBox 16"/>
          <p:cNvSpPr txBox="1"/>
          <p:nvPr/>
        </p:nvSpPr>
        <p:spPr>
          <a:xfrm>
            <a:off x="7219950" y="6735623"/>
            <a:ext cx="9620250" cy="407182"/>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I paid it.</a:t>
            </a:r>
          </a:p>
        </p:txBody>
      </p:sp>
      <p:sp>
        <p:nvSpPr>
          <p:cNvPr id="18" name="Rectangle 17"/>
          <p:cNvSpPr/>
          <p:nvPr/>
        </p:nvSpPr>
        <p:spPr>
          <a:xfrm>
            <a:off x="1047750" y="7257105"/>
            <a:ext cx="16192500" cy="9525"/>
          </a:xfrm>
          <a:prstGeom prst="rect">
            <a:avLst/>
          </a:prstGeom>
          <a:solidFill>
            <a:srgbClr val="D8CFC7"/>
          </a:solidFill>
          <a:ln>
            <a:noFill/>
          </a:ln>
          <a:effectLst/>
        </p:spPr>
        <p:txBody>
          <a:bodyPr rtlCol="0" anchor="ctr"/>
          <a:lstStyle/>
          <a:p>
            <a:pPr algn="ctr"/>
          </a:p>
        </p:txBody>
      </p:sp>
      <p:sp>
        <p:nvSpPr>
          <p:cNvPr id="19" name="TextBox 18"/>
          <p:cNvSpPr txBox="1"/>
          <p:nvPr/>
        </p:nvSpPr>
        <p:spPr>
          <a:xfrm>
            <a:off x="1314450" y="7611527"/>
            <a:ext cx="5334000" cy="391272"/>
          </a:xfrm>
          <a:prstGeom prst="rect">
            <a:avLst/>
          </a:prstGeom>
          <a:noFill/>
        </p:spPr>
        <p:txBody>
          <a:bodyPr wrap="square" lIns="0" rIns="0" tIns="0" bIns="0" anchor="t">
            <a:noAutofit/>
          </a:bodyPr>
          <a:lstStyle/>
          <a:p>
            <a:pPr algn="l">
              <a:lnSpc>
                <a:spcPct val="108000"/>
              </a:lnSpc>
            </a:pPr>
            <a:r>
              <a:rPr sz="2100" b="1" i="1">
                <a:solidFill>
                  <a:srgbClr val="C35141"/>
                </a:solidFill>
                <a:latin typeface="Arial"/>
              </a:rPr>
              <a:t>[silence]</a:t>
            </a:r>
          </a:p>
        </p:txBody>
      </p:sp>
      <p:sp>
        <p:nvSpPr>
          <p:cNvPr id="20" name="TextBox 19"/>
          <p:cNvSpPr txBox="1"/>
          <p:nvPr/>
        </p:nvSpPr>
        <p:spPr>
          <a:xfrm>
            <a:off x="7219950" y="7428555"/>
            <a:ext cx="9620250" cy="757215"/>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It was ₹1,500. My father still doesn't know. That's why I stopped using those portals. I just went through seniors after that.</a:t>
            </a:r>
          </a:p>
        </p:txBody>
      </p:sp>
      <p:sp>
        <p:nvSpPr>
          <p:cNvPr id="21" name="Rectangle 20"/>
          <p:cNvSpPr/>
          <p:nvPr/>
        </p:nvSpPr>
        <p:spPr>
          <a:xfrm>
            <a:off x="1047750" y="8300070"/>
            <a:ext cx="16192500" cy="1042965"/>
          </a:xfrm>
          <a:prstGeom prst="rect">
            <a:avLst/>
          </a:prstGeom>
          <a:solidFill>
            <a:srgbClr val="F3EEE6"/>
          </a:solidFill>
          <a:ln>
            <a:noFill/>
          </a:ln>
          <a:effectLst/>
        </p:spPr>
        <p:txBody>
          <a:bodyPr rtlCol="0" anchor="ctr"/>
          <a:lstStyle/>
          <a:p>
            <a:pPr algn="ctr"/>
          </a:p>
        </p:txBody>
      </p:sp>
      <p:sp>
        <p:nvSpPr>
          <p:cNvPr id="22" name="TextBox 21"/>
          <p:cNvSpPr txBox="1"/>
          <p:nvPr/>
        </p:nvSpPr>
        <p:spPr>
          <a:xfrm>
            <a:off x="1314450" y="8487430"/>
            <a:ext cx="5334000" cy="725394"/>
          </a:xfrm>
          <a:prstGeom prst="rect">
            <a:avLst/>
          </a:prstGeom>
          <a:noFill/>
        </p:spPr>
        <p:txBody>
          <a:bodyPr wrap="square" lIns="0" rIns="0" tIns="0" bIns="0" anchor="t">
            <a:noAutofit/>
          </a:bodyPr>
          <a:lstStyle/>
          <a:p>
            <a:pPr algn="l">
              <a:lnSpc>
                <a:spcPct val="108000"/>
              </a:lnSpc>
            </a:pPr>
            <a:r>
              <a:rPr sz="2100" b="0" i="0">
                <a:solidFill>
                  <a:srgbClr val="201914"/>
                </a:solidFill>
                <a:latin typeface="Arial"/>
              </a:rPr>
              <a:t>How many people in your batch did something similar?</a:t>
            </a:r>
          </a:p>
        </p:txBody>
      </p:sp>
      <p:sp>
        <p:nvSpPr>
          <p:cNvPr id="23" name="TextBox 22"/>
          <p:cNvSpPr txBox="1"/>
          <p:nvPr/>
        </p:nvSpPr>
        <p:spPr>
          <a:xfrm>
            <a:off x="7219950" y="8471520"/>
            <a:ext cx="9620250" cy="757215"/>
          </a:xfrm>
          <a:prstGeom prst="rect">
            <a:avLst/>
          </a:prstGeom>
          <a:noFill/>
        </p:spPr>
        <p:txBody>
          <a:bodyPr wrap="square" lIns="0" rIns="0" tIns="0" bIns="0" anchor="t">
            <a:noAutofit/>
          </a:bodyPr>
          <a:lstStyle/>
          <a:p>
            <a:pPr algn="l">
              <a:lnSpc>
                <a:spcPct val="108000"/>
              </a:lnSpc>
            </a:pPr>
            <a:r>
              <a:rPr sz="2200" b="0" i="1">
                <a:solidFill>
                  <a:srgbClr val="665B53"/>
                </a:solidFill>
                <a:latin typeface="Georgia"/>
              </a:rPr>
              <a:t>Out of maybe sixty of us, almost everyone ended up going through someone they knew.</a:t>
            </a:r>
          </a:p>
        </p:txBody>
      </p:sp>
      <p:sp>
        <p:nvSpPr>
          <p:cNvPr id="24" name="Rectangle 23"/>
          <p:cNvSpPr/>
          <p:nvPr/>
        </p:nvSpPr>
        <p:spPr>
          <a:xfrm>
            <a:off x="1047750" y="9343034"/>
            <a:ext cx="16192500" cy="9525"/>
          </a:xfrm>
          <a:prstGeom prst="rect">
            <a:avLst/>
          </a:prstGeom>
          <a:solidFill>
            <a:srgbClr val="D8CFC7"/>
          </a:solidFill>
          <a:ln>
            <a:noFill/>
          </a:ln>
          <a:effectLst/>
        </p:spPr>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SCORE CONVERSATION THREE</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idea was never mentioned, so there was nothing to be kind about.</a:t>
            </a:r>
          </a:p>
        </p:txBody>
      </p:sp>
      <p:sp>
        <p:nvSpPr>
          <p:cNvPr id="4" name="Rectangle 3"/>
          <p:cNvSpPr/>
          <p:nvPr/>
        </p:nvSpPr>
        <p:spPr>
          <a:xfrm>
            <a:off x="1047750" y="3409950"/>
            <a:ext cx="3762375" cy="4572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7528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40</a:t>
            </a:r>
          </a:p>
        </p:txBody>
      </p:sp>
      <p:sp>
        <p:nvSpPr>
          <p:cNvPr id="6" name="TextBox 5"/>
          <p:cNvSpPr txBox="1"/>
          <p:nvPr/>
        </p:nvSpPr>
        <p:spPr>
          <a:xfrm>
            <a:off x="1466850"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applications</a:t>
            </a:r>
          </a:p>
        </p:txBody>
      </p:sp>
      <p:sp>
        <p:nvSpPr>
          <p:cNvPr id="7" name="TextBox 6"/>
          <p:cNvSpPr txBox="1"/>
          <p:nvPr/>
        </p:nvSpPr>
        <p:spPr>
          <a:xfrm>
            <a:off x="1466850"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In one semester, on two portals. Three replies.</a:t>
            </a:r>
          </a:p>
        </p:txBody>
      </p:sp>
      <p:sp>
        <p:nvSpPr>
          <p:cNvPr id="8" name="Rectangle 7"/>
          <p:cNvSpPr/>
          <p:nvPr/>
        </p:nvSpPr>
        <p:spPr>
          <a:xfrm>
            <a:off x="5191125" y="3409950"/>
            <a:ext cx="3762375" cy="4572000"/>
          </a:xfrm>
          <a:prstGeom prst="rect">
            <a:avLst/>
          </a:prstGeom>
          <a:solidFill>
            <a:srgbClr val="F0EAE1"/>
          </a:solidFill>
          <a:ln>
            <a:noFill/>
          </a:ln>
          <a:effectLst/>
        </p:spPr>
        <p:txBody>
          <a:bodyPr rtlCol="0" anchor="ctr"/>
          <a:lstStyle/>
          <a:p>
            <a:pPr algn="ctr"/>
          </a:p>
        </p:txBody>
      </p:sp>
      <p:sp>
        <p:nvSpPr>
          <p:cNvPr id="9" name="TextBox 8"/>
          <p:cNvSpPr txBox="1"/>
          <p:nvPr/>
        </p:nvSpPr>
        <p:spPr>
          <a:xfrm>
            <a:off x="5610225" y="37528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₹1,500</a:t>
            </a:r>
          </a:p>
        </p:txBody>
      </p:sp>
      <p:sp>
        <p:nvSpPr>
          <p:cNvPr id="10" name="TextBox 9"/>
          <p:cNvSpPr txBox="1"/>
          <p:nvPr/>
        </p:nvSpPr>
        <p:spPr>
          <a:xfrm>
            <a:off x="5610225"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a fee, paid</a:t>
            </a:r>
          </a:p>
        </p:txBody>
      </p:sp>
      <p:sp>
        <p:nvSpPr>
          <p:cNvPr id="11" name="TextBox 10"/>
          <p:cNvSpPr txBox="1"/>
          <p:nvPr/>
        </p:nvSpPr>
        <p:spPr>
          <a:xfrm>
            <a:off x="5610225"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To what turned out to be a scam. His father still does not know.</a:t>
            </a:r>
          </a:p>
        </p:txBody>
      </p:sp>
      <p:sp>
        <p:nvSpPr>
          <p:cNvPr id="12" name="Rectangle 11"/>
          <p:cNvSpPr/>
          <p:nvPr/>
        </p:nvSpPr>
        <p:spPr>
          <a:xfrm>
            <a:off x="9334500" y="3409950"/>
            <a:ext cx="3762375" cy="457200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9753600" y="3752850"/>
            <a:ext cx="2924175" cy="857250"/>
          </a:xfrm>
          <a:prstGeom prst="rect">
            <a:avLst/>
          </a:prstGeom>
          <a:noFill/>
        </p:spPr>
        <p:txBody>
          <a:bodyPr wrap="square" lIns="0" rIns="0" tIns="0" bIns="0" anchor="t">
            <a:noAutofit/>
          </a:bodyPr>
          <a:lstStyle/>
          <a:p>
            <a:pPr algn="l">
              <a:lnSpc>
                <a:spcPct val="100000"/>
              </a:lnSpc>
            </a:pPr>
            <a:r>
              <a:rPr sz="6000" b="1" i="0" spc="-100">
                <a:solidFill>
                  <a:srgbClr val="201914"/>
                </a:solidFill>
                <a:latin typeface="Arial"/>
              </a:rPr>
              <a:t>60</a:t>
            </a:r>
          </a:p>
        </p:txBody>
      </p:sp>
      <p:sp>
        <p:nvSpPr>
          <p:cNvPr id="14" name="TextBox 13"/>
          <p:cNvSpPr txBox="1"/>
          <p:nvPr/>
        </p:nvSpPr>
        <p:spPr>
          <a:xfrm>
            <a:off x="9753600"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in the batch</a:t>
            </a:r>
          </a:p>
        </p:txBody>
      </p:sp>
      <p:sp>
        <p:nvSpPr>
          <p:cNvPr id="15" name="TextBox 14"/>
          <p:cNvSpPr txBox="1"/>
          <p:nvPr/>
        </p:nvSpPr>
        <p:spPr>
          <a:xfrm>
            <a:off x="9753600"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Almost everyone ended up going through someone they knew.</a:t>
            </a:r>
          </a:p>
        </p:txBody>
      </p:sp>
      <p:sp>
        <p:nvSpPr>
          <p:cNvPr id="16" name="Rectangle 15"/>
          <p:cNvSpPr/>
          <p:nvPr/>
        </p:nvSpPr>
        <p:spPr>
          <a:xfrm>
            <a:off x="13477875" y="3409950"/>
            <a:ext cx="3762375" cy="4572000"/>
          </a:xfrm>
          <a:prstGeom prst="rect">
            <a:avLst/>
          </a:prstGeom>
          <a:solidFill>
            <a:srgbClr val="C35141"/>
          </a:solidFill>
          <a:ln>
            <a:noFill/>
          </a:ln>
          <a:effectLst/>
        </p:spPr>
        <p:txBody>
          <a:bodyPr rtlCol="0" anchor="ctr"/>
          <a:lstStyle/>
          <a:p>
            <a:pPr algn="ctr"/>
          </a:p>
        </p:txBody>
      </p:sp>
      <p:sp>
        <p:nvSpPr>
          <p:cNvPr id="17" name="TextBox 16"/>
          <p:cNvSpPr txBox="1"/>
          <p:nvPr/>
        </p:nvSpPr>
        <p:spPr>
          <a:xfrm>
            <a:off x="13896975" y="3752850"/>
            <a:ext cx="2924175" cy="857250"/>
          </a:xfrm>
          <a:prstGeom prst="rect">
            <a:avLst/>
          </a:prstGeom>
          <a:noFill/>
        </p:spPr>
        <p:txBody>
          <a:bodyPr wrap="square" lIns="0" rIns="0" tIns="0" bIns="0" anchor="t">
            <a:noAutofit/>
          </a:bodyPr>
          <a:lstStyle/>
          <a:p>
            <a:pPr algn="l">
              <a:lnSpc>
                <a:spcPct val="100000"/>
              </a:lnSpc>
            </a:pPr>
            <a:r>
              <a:rPr sz="6000" b="1" i="0" spc="-100">
                <a:solidFill>
                  <a:srgbClr val="F5F1E9"/>
                </a:solidFill>
                <a:latin typeface="Arial"/>
              </a:rPr>
              <a:t>30</a:t>
            </a:r>
          </a:p>
        </p:txBody>
      </p:sp>
      <p:sp>
        <p:nvSpPr>
          <p:cNvPr id="18" name="TextBox 17"/>
          <p:cNvSpPr txBox="1"/>
          <p:nvPr/>
        </p:nvSpPr>
        <p:spPr>
          <a:xfrm>
            <a:off x="13896975" y="4629150"/>
            <a:ext cx="2924175" cy="33147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words from the founder</a:t>
            </a:r>
          </a:p>
        </p:txBody>
      </p:sp>
      <p:sp>
        <p:nvSpPr>
          <p:cNvPr id="19" name="TextBox 18"/>
          <p:cNvSpPr txBox="1"/>
          <p:nvPr/>
        </p:nvSpPr>
        <p:spPr>
          <a:xfrm>
            <a:off x="13896975" y="5170170"/>
            <a:ext cx="2924175" cy="243078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One was a silence. One was 'forty', repeated back as a question.</a:t>
            </a:r>
          </a:p>
        </p:txBody>
      </p:sp>
      <p:sp>
        <p:nvSpPr>
          <p:cNvPr id="20" name="TextBox 1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 real event, a number, a cost he has not told his own father, a changed behaviour and a population estimate. Every one can build a business or kill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SAME TRAP AT THE SCALE OF A COUNTRY</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They said yes. They meant it. They did not do it.</a:t>
            </a:r>
          </a:p>
        </p:txBody>
      </p:sp>
      <p:sp>
        <p:nvSpPr>
          <p:cNvPr id="4" name="Rectangle 3"/>
          <p:cNvSpPr/>
          <p:nvPr/>
        </p:nvSpPr>
        <p:spPr>
          <a:xfrm>
            <a:off x="1047750" y="2838450"/>
            <a:ext cx="7905750" cy="51435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2838450"/>
            <a:ext cx="7905750" cy="51435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2194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WHAT PEOPLE SAID</a:t>
            </a:r>
          </a:p>
        </p:txBody>
      </p:sp>
      <p:sp>
        <p:nvSpPr>
          <p:cNvPr id="7" name="TextBox 6"/>
          <p:cNvSpPr txBox="1"/>
          <p:nvPr/>
        </p:nvSpPr>
        <p:spPr>
          <a:xfrm>
            <a:off x="1466850" y="3790950"/>
            <a:ext cx="7067550" cy="3905250"/>
          </a:xfrm>
          <a:prstGeom prst="rect">
            <a:avLst/>
          </a:prstGeom>
          <a:noFill/>
        </p:spPr>
        <p:txBody>
          <a:bodyPr wrap="square" lIns="0" rIns="0" tIns="0" bIns="0" anchor="t">
            <a:noAutofit/>
          </a:bodyPr>
          <a:lstStyle/>
          <a:p>
            <a:pPr algn="l">
              <a:lnSpc>
                <a:spcPct val="112000"/>
              </a:lnSpc>
              <a:spcAft>
                <a:spcPts val="1200"/>
              </a:spcAft>
            </a:pPr>
            <a:r>
              <a:rPr sz="2800" b="0" i="0">
                <a:solidFill>
                  <a:srgbClr val="201914"/>
                </a:solidFill>
                <a:latin typeface="Arial"/>
              </a:rPr>
              <a:t>Ask almost any salaried adult in India whether they would like to invest more sensibly than leave money in a savings account. They say yes, and they mean it.</a:t>
            </a:r>
          </a:p>
          <a:p>
            <a:pPr algn="l">
              <a:lnSpc>
                <a:spcPct val="112000"/>
              </a:lnSpc>
            </a:pPr>
            <a:r>
              <a:rPr sz="2800" b="0" i="0">
                <a:solidFill>
                  <a:srgbClr val="201914"/>
                </a:solidFill>
                <a:latin typeface="Arial"/>
              </a:rPr>
              <a:t>Run that as a survey and you would conclude that the market is nearly everyone.</a:t>
            </a:r>
          </a:p>
        </p:txBody>
      </p:sp>
      <p:sp>
        <p:nvSpPr>
          <p:cNvPr id="8" name="TextBox 7"/>
          <p:cNvSpPr txBox="1"/>
          <p:nvPr/>
        </p:nvSpPr>
        <p:spPr>
          <a:xfrm>
            <a:off x="9753600" y="32194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WHAT THEY DID</a:t>
            </a:r>
          </a:p>
        </p:txBody>
      </p:sp>
      <p:sp>
        <p:nvSpPr>
          <p:cNvPr id="9" name="TextBox 8"/>
          <p:cNvSpPr txBox="1"/>
          <p:nvPr/>
        </p:nvSpPr>
        <p:spPr>
          <a:xfrm>
            <a:off x="9753600" y="3790950"/>
            <a:ext cx="7067550" cy="3905250"/>
          </a:xfrm>
          <a:prstGeom prst="rect">
            <a:avLst/>
          </a:prstGeom>
          <a:noFill/>
        </p:spPr>
        <p:txBody>
          <a:bodyPr wrap="square" lIns="0" rIns="0" tIns="0" bIns="0" anchor="t">
            <a:noAutofit/>
          </a:bodyPr>
          <a:lstStyle/>
          <a:p>
            <a:pPr algn="l">
              <a:lnSpc>
                <a:spcPct val="112000"/>
              </a:lnSpc>
              <a:spcAft>
                <a:spcPts val="1200"/>
              </a:spcAft>
            </a:pPr>
            <a:r>
              <a:rPr sz="2800" b="0" i="0">
                <a:solidFill>
                  <a:srgbClr val="F5F1E9"/>
                </a:solidFill>
                <a:latin typeface="Arial"/>
              </a:rPr>
              <a:t>The number who held a demat account, which you need to own shares, was a small fraction of those who said yes.</a:t>
            </a:r>
          </a:p>
          <a:p>
            <a:pPr algn="l">
              <a:lnSpc>
                <a:spcPct val="112000"/>
              </a:lnSpc>
            </a:pPr>
            <a:r>
              <a:rPr sz="2800" b="0" i="0">
                <a:solidFill>
                  <a:srgbClr val="F5F1E9"/>
                </a:solidFill>
                <a:latin typeface="Arial"/>
              </a:rPr>
              <a:t>Savings went into fixed deposits, gold and property: things you can do without opening an unfamiliar app, learning new vocabulary or making a decision you might be judged for later.</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'I want to invest' is an honest statement about a person's aspirations. It is not a statement about what they will do on a Tuesday.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BARRIER WAS NEVER THE FEE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What stopped them never appeared in a survey.</a:t>
            </a:r>
          </a:p>
        </p:txBody>
      </p:sp>
      <p:sp>
        <p:nvSpPr>
          <p:cNvPr id="4" name="Rectangle 3"/>
          <p:cNvSpPr/>
          <p:nvPr/>
        </p:nvSpPr>
        <p:spPr>
          <a:xfrm>
            <a:off x="1047750" y="2838450"/>
            <a:ext cx="5143500" cy="4953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181350"/>
            <a:ext cx="4305300" cy="857250"/>
          </a:xfrm>
          <a:prstGeom prst="rect">
            <a:avLst/>
          </a:prstGeom>
          <a:noFill/>
        </p:spPr>
        <p:txBody>
          <a:bodyPr wrap="square" lIns="0" rIns="0" tIns="0" bIns="0" anchor="t">
            <a:noAutofit/>
          </a:bodyPr>
          <a:lstStyle/>
          <a:p>
            <a:pPr algn="l">
              <a:lnSpc>
                <a:spcPct val="100000"/>
              </a:lnSpc>
            </a:pPr>
            <a:r>
              <a:rPr sz="5700" b="1" i="0" spc="-100">
                <a:solidFill>
                  <a:srgbClr val="201914"/>
                </a:solidFill>
                <a:latin typeface="Arial"/>
              </a:rPr>
              <a:t>₹20</a:t>
            </a:r>
          </a:p>
        </p:txBody>
      </p:sp>
      <p:sp>
        <p:nvSpPr>
          <p:cNvPr id="6" name="TextBox 5"/>
          <p:cNvSpPr txBox="1"/>
          <p:nvPr/>
        </p:nvSpPr>
        <p:spPr>
          <a:xfrm>
            <a:off x="1466850" y="4057650"/>
            <a:ext cx="4305300" cy="422910"/>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flat brokerage</a:t>
            </a:r>
          </a:p>
        </p:txBody>
      </p:sp>
      <p:sp>
        <p:nvSpPr>
          <p:cNvPr id="7" name="TextBox 6"/>
          <p:cNvSpPr txBox="1"/>
          <p:nvPr/>
        </p:nvSpPr>
        <p:spPr>
          <a:xfrm>
            <a:off x="1466850" y="4690110"/>
            <a:ext cx="4305300" cy="2720340"/>
          </a:xfrm>
          <a:prstGeom prst="rect">
            <a:avLst/>
          </a:prstGeom>
          <a:noFill/>
        </p:spPr>
        <p:txBody>
          <a:bodyPr wrap="square" lIns="0" rIns="0" tIns="0" bIns="0" anchor="t">
            <a:noAutofit/>
          </a:bodyPr>
          <a:lstStyle/>
          <a:p>
            <a:pPr algn="l">
              <a:lnSpc>
                <a:spcPct val="110000"/>
              </a:lnSpc>
            </a:pPr>
            <a:r>
              <a:rPr sz="2400" b="0" i="0">
                <a:solidFill>
                  <a:srgbClr val="665B53"/>
                </a:solidFill>
                <a:latin typeface="Arial"/>
              </a:rPr>
              <a:t>Saves a small monthly investor about ₹25. Which is nothing.</a:t>
            </a:r>
          </a:p>
        </p:txBody>
      </p:sp>
      <p:sp>
        <p:nvSpPr>
          <p:cNvPr id="8" name="Rectangle 7"/>
          <p:cNvSpPr/>
          <p:nvPr/>
        </p:nvSpPr>
        <p:spPr>
          <a:xfrm>
            <a:off x="6572250" y="2838450"/>
            <a:ext cx="5143500" cy="4953000"/>
          </a:xfrm>
          <a:prstGeom prst="rect">
            <a:avLst/>
          </a:prstGeom>
          <a:solidFill>
            <a:srgbClr val="F0EAE1"/>
          </a:solidFill>
          <a:ln>
            <a:noFill/>
          </a:ln>
          <a:effectLst/>
        </p:spPr>
        <p:txBody>
          <a:bodyPr rtlCol="0" anchor="ctr"/>
          <a:lstStyle/>
          <a:p>
            <a:pPr algn="ctr"/>
          </a:p>
        </p:txBody>
      </p:sp>
      <p:sp>
        <p:nvSpPr>
          <p:cNvPr id="9" name="TextBox 8"/>
          <p:cNvSpPr txBox="1"/>
          <p:nvPr/>
        </p:nvSpPr>
        <p:spPr>
          <a:xfrm>
            <a:off x="6991350" y="3181350"/>
            <a:ext cx="4305300" cy="857250"/>
          </a:xfrm>
          <a:prstGeom prst="rect">
            <a:avLst/>
          </a:prstGeom>
          <a:noFill/>
        </p:spPr>
        <p:txBody>
          <a:bodyPr wrap="square" lIns="0" rIns="0" tIns="0" bIns="0" anchor="t">
            <a:noAutofit/>
          </a:bodyPr>
          <a:lstStyle/>
          <a:p>
            <a:pPr algn="l">
              <a:lnSpc>
                <a:spcPct val="100000"/>
              </a:lnSpc>
            </a:pPr>
            <a:r>
              <a:rPr sz="5700" b="1" i="0" spc="-100">
                <a:solidFill>
                  <a:srgbClr val="201914"/>
                </a:solidFill>
                <a:latin typeface="Arial"/>
              </a:rPr>
              <a:t>3rd</a:t>
            </a:r>
          </a:p>
        </p:txBody>
      </p:sp>
      <p:sp>
        <p:nvSpPr>
          <p:cNvPr id="10" name="TextBox 9"/>
          <p:cNvSpPr txBox="1"/>
          <p:nvPr/>
        </p:nvSpPr>
        <p:spPr>
          <a:xfrm>
            <a:off x="6991350" y="4057650"/>
            <a:ext cx="4305300" cy="422910"/>
          </a:xfrm>
          <a:prstGeom prst="rect">
            <a:avLst/>
          </a:prstGeom>
          <a:noFill/>
        </p:spPr>
        <p:txBody>
          <a:bodyPr wrap="square" lIns="0" rIns="0" tIns="0" bIns="0" anchor="t">
            <a:noAutofit/>
          </a:bodyPr>
          <a:lstStyle/>
          <a:p>
            <a:pPr algn="l">
              <a:lnSpc>
                <a:spcPct val="105000"/>
              </a:lnSpc>
            </a:pPr>
            <a:r>
              <a:rPr sz="2400" b="1" i="0">
                <a:solidFill>
                  <a:srgbClr val="201914"/>
                </a:solidFill>
                <a:latin typeface="Arial"/>
              </a:rPr>
              <a:t>screen of the flow</a:t>
            </a:r>
          </a:p>
        </p:txBody>
      </p:sp>
      <p:sp>
        <p:nvSpPr>
          <p:cNvPr id="11" name="TextBox 10"/>
          <p:cNvSpPr txBox="1"/>
          <p:nvPr/>
        </p:nvSpPr>
        <p:spPr>
          <a:xfrm>
            <a:off x="6991350" y="4690110"/>
            <a:ext cx="4305300" cy="2720340"/>
          </a:xfrm>
          <a:prstGeom prst="rect">
            <a:avLst/>
          </a:prstGeom>
          <a:noFill/>
        </p:spPr>
        <p:txBody>
          <a:bodyPr wrap="square" lIns="0" rIns="0" tIns="0" bIns="0" anchor="t">
            <a:noAutofit/>
          </a:bodyPr>
          <a:lstStyle/>
          <a:p>
            <a:pPr algn="l">
              <a:lnSpc>
                <a:spcPct val="110000"/>
              </a:lnSpc>
            </a:pPr>
            <a:r>
              <a:rPr sz="2400" b="0" i="0">
                <a:solidFill>
                  <a:srgbClr val="665B53"/>
                </a:solidFill>
                <a:latin typeface="Arial"/>
              </a:rPr>
              <a:t>Where people opened the account form, reached the third screen and stopped.</a:t>
            </a:r>
          </a:p>
        </p:txBody>
      </p:sp>
      <p:sp>
        <p:nvSpPr>
          <p:cNvPr id="12" name="Rectangle 11"/>
          <p:cNvSpPr/>
          <p:nvPr/>
        </p:nvSpPr>
        <p:spPr>
          <a:xfrm>
            <a:off x="12096750" y="2838450"/>
            <a:ext cx="5143500" cy="4953000"/>
          </a:xfrm>
          <a:prstGeom prst="rect">
            <a:avLst/>
          </a:prstGeom>
          <a:solidFill>
            <a:srgbClr val="C35141"/>
          </a:solidFill>
          <a:ln>
            <a:noFill/>
          </a:ln>
          <a:effectLst/>
        </p:spPr>
        <p:txBody>
          <a:bodyPr rtlCol="0" anchor="ctr"/>
          <a:lstStyle/>
          <a:p>
            <a:pPr algn="ctr"/>
          </a:p>
        </p:txBody>
      </p:sp>
      <p:sp>
        <p:nvSpPr>
          <p:cNvPr id="13" name="TextBox 12"/>
          <p:cNvSpPr txBox="1"/>
          <p:nvPr/>
        </p:nvSpPr>
        <p:spPr>
          <a:xfrm>
            <a:off x="12515850" y="3181350"/>
            <a:ext cx="4305300" cy="857250"/>
          </a:xfrm>
          <a:prstGeom prst="rect">
            <a:avLst/>
          </a:prstGeom>
          <a:noFill/>
        </p:spPr>
        <p:txBody>
          <a:bodyPr wrap="square" lIns="0" rIns="0" tIns="0" bIns="0" anchor="t">
            <a:noAutofit/>
          </a:bodyPr>
          <a:lstStyle/>
          <a:p>
            <a:pPr algn="l">
              <a:lnSpc>
                <a:spcPct val="100000"/>
              </a:lnSpc>
            </a:pPr>
            <a:r>
              <a:rPr sz="5700" b="1" i="0" spc="-100">
                <a:solidFill>
                  <a:srgbClr val="F5F1E9"/>
                </a:solidFill>
                <a:latin typeface="Arial"/>
              </a:rPr>
              <a:t>Fear</a:t>
            </a:r>
          </a:p>
        </p:txBody>
      </p:sp>
      <p:sp>
        <p:nvSpPr>
          <p:cNvPr id="14" name="TextBox 13"/>
          <p:cNvSpPr txBox="1"/>
          <p:nvPr/>
        </p:nvSpPr>
        <p:spPr>
          <a:xfrm>
            <a:off x="12515850" y="4057650"/>
            <a:ext cx="4305300" cy="422910"/>
          </a:xfrm>
          <a:prstGeom prst="rect">
            <a:avLst/>
          </a:prstGeom>
          <a:noFill/>
        </p:spPr>
        <p:txBody>
          <a:bodyPr wrap="square" lIns="0" rIns="0" tIns="0" bIns="0" anchor="t">
            <a:noAutofit/>
          </a:bodyPr>
          <a:lstStyle/>
          <a:p>
            <a:pPr algn="l">
              <a:lnSpc>
                <a:spcPct val="105000"/>
              </a:lnSpc>
            </a:pPr>
            <a:r>
              <a:rPr sz="2400" b="1" i="0">
                <a:solidFill>
                  <a:srgbClr val="F5F1E9"/>
                </a:solidFill>
                <a:latin typeface="Arial"/>
              </a:rPr>
              <a:t>of looking foolish</a:t>
            </a:r>
          </a:p>
        </p:txBody>
      </p:sp>
      <p:sp>
        <p:nvSpPr>
          <p:cNvPr id="15" name="TextBox 14"/>
          <p:cNvSpPr txBox="1"/>
          <p:nvPr/>
        </p:nvSpPr>
        <p:spPr>
          <a:xfrm>
            <a:off x="12515850" y="4690110"/>
            <a:ext cx="4305300" cy="2720340"/>
          </a:xfrm>
          <a:prstGeom prst="rect">
            <a:avLst/>
          </a:prstGeom>
          <a:noFill/>
        </p:spPr>
        <p:txBody>
          <a:bodyPr wrap="square" lIns="0" rIns="0" tIns="0" bIns="0" anchor="t">
            <a:noAutofit/>
          </a:bodyPr>
          <a:lstStyle/>
          <a:p>
            <a:pPr algn="l">
              <a:lnSpc>
                <a:spcPct val="110000"/>
              </a:lnSpc>
            </a:pPr>
            <a:r>
              <a:rPr sz="2400" b="0" i="0">
                <a:solidFill>
                  <a:srgbClr val="F5F1E9"/>
                </a:solidFill>
                <a:latin typeface="Arial"/>
              </a:rPr>
              <a:t>Paperwork you could get wrong. Hostile vocabulary. Losing money visibly in front of a family that advised a fixed deposit.</a:t>
            </a:r>
          </a:p>
        </p:txBody>
      </p:sp>
      <p:sp>
        <p:nvSpPr>
          <p:cNvPr id="16" name="TextBox 15"/>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Ask what would make people invest and you get lower charges. Watch them and you get something else entirely.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GROWW · FOUNDED 2016 · FOUR EX-FLIPKART FOUNDERS</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Everything distinctive followed from taking the behaviour seriously.</a:t>
            </a:r>
          </a:p>
        </p:txBody>
      </p:sp>
      <p:sp>
        <p:nvSpPr>
          <p:cNvPr id="4" name="Rectangle 3"/>
          <p:cNvSpPr/>
          <p:nvPr/>
        </p:nvSpPr>
        <p:spPr>
          <a:xfrm>
            <a:off x="1047750" y="3409950"/>
            <a:ext cx="2219325"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Mutual funds first</a:t>
            </a:r>
          </a:p>
        </p:txBody>
      </p:sp>
      <p:sp>
        <p:nvSpPr>
          <p:cNvPr id="6" name="TextBox 5"/>
          <p:cNvSpPr txBox="1"/>
          <p:nvPr/>
        </p:nvSpPr>
        <p:spPr>
          <a:xfrm>
            <a:off x="104775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The less exciting, far less profitable end of the market, because a frightened first-time investor can begin without judging a company.</a:t>
            </a:r>
          </a:p>
        </p:txBody>
      </p:sp>
      <p:sp>
        <p:nvSpPr>
          <p:cNvPr id="7" name="Rectangle 6"/>
          <p:cNvSpPr/>
          <p:nvPr/>
        </p:nvSpPr>
        <p:spPr>
          <a:xfrm>
            <a:off x="5191125" y="3409950"/>
            <a:ext cx="2219325"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5191125"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A smaller vocabulary</a:t>
            </a:r>
          </a:p>
        </p:txBody>
      </p:sp>
      <p:sp>
        <p:nvSpPr>
          <p:cNvPr id="9" name="TextBox 8"/>
          <p:cNvSpPr txBox="1"/>
          <p:nvPr/>
        </p:nvSpPr>
        <p:spPr>
          <a:xfrm>
            <a:off x="5191125"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Nobody should need to know what a segment is to open an account.</a:t>
            </a:r>
          </a:p>
        </p:txBody>
      </p:sp>
      <p:sp>
        <p:nvSpPr>
          <p:cNvPr id="10" name="Rectangle 9"/>
          <p:cNvSpPr/>
          <p:nvPr/>
        </p:nvSpPr>
        <p:spPr>
          <a:xfrm>
            <a:off x="9334500" y="3409950"/>
            <a:ext cx="2219325"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9334500"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The flow rebuilt</a:t>
            </a:r>
          </a:p>
        </p:txBody>
      </p:sp>
      <p:sp>
        <p:nvSpPr>
          <p:cNvPr id="12" name="TextBox 11"/>
          <p:cNvSpPr txBox="1"/>
          <p:nvPr/>
        </p:nvSpPr>
        <p:spPr>
          <a:xfrm>
            <a:off x="9334500"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Account opening was rebuilt around the specific screens where people abandoned.</a:t>
            </a:r>
          </a:p>
        </p:txBody>
      </p:sp>
      <p:sp>
        <p:nvSpPr>
          <p:cNvPr id="13" name="Rectangle 12"/>
          <p:cNvSpPr/>
          <p:nvPr/>
        </p:nvSpPr>
        <p:spPr>
          <a:xfrm>
            <a:off x="13477875" y="3409950"/>
            <a:ext cx="2219325"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13477875" y="3724275"/>
            <a:ext cx="3762375" cy="838535"/>
          </a:xfrm>
          <a:prstGeom prst="rect">
            <a:avLst/>
          </a:prstGeom>
          <a:noFill/>
        </p:spPr>
        <p:txBody>
          <a:bodyPr wrap="square" lIns="0" rIns="0" tIns="0" bIns="0" anchor="t">
            <a:noAutofit/>
          </a:bodyPr>
          <a:lstStyle/>
          <a:p>
            <a:pPr algn="l">
              <a:lnSpc>
                <a:spcPct val="102000"/>
              </a:lnSpc>
            </a:pPr>
            <a:r>
              <a:rPr sz="2600" b="1" i="0">
                <a:solidFill>
                  <a:srgbClr val="201914"/>
                </a:solidFill>
                <a:latin typeface="Arial"/>
              </a:rPr>
              <a:t>Teaching, not marketing</a:t>
            </a:r>
          </a:p>
        </p:txBody>
      </p:sp>
      <p:sp>
        <p:nvSpPr>
          <p:cNvPr id="15" name="TextBox 14"/>
          <p:cNvSpPr txBox="1"/>
          <p:nvPr/>
        </p:nvSpPr>
        <p:spPr>
          <a:xfrm>
            <a:off x="13477875" y="4715210"/>
            <a:ext cx="3762375" cy="338104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Heavy investment in explanation aimed at somebody who does not yet know the words.</a:t>
            </a:r>
          </a:p>
        </p:txBody>
      </p:sp>
      <p:sp>
        <p:nvSpPr>
          <p:cNvPr id="16" name="TextBox 15"/>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 ambition: make investing as easy as buying something online. Not cheaper. Easier.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TWO HALVES OF ONE STORY · LECTURE 16 AND TODAY</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Zerodha understood the serious trader. Groww understood everyone else.</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ZERODHA</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201914"/>
                </a:solidFill>
                <a:latin typeface="Arial"/>
              </a:rPr>
              <a:t>Understood the serious retail trader better than anybody in India and built a company on a flat fee worth ₹36 lakh a year from that customer.</a:t>
            </a:r>
          </a:p>
          <a:p>
            <a:pPr algn="l">
              <a:lnSpc>
                <a:spcPct val="112000"/>
              </a:lnSpc>
            </a:pPr>
            <a:r>
              <a:rPr sz="2800" b="0" i="0">
                <a:solidFill>
                  <a:srgbClr val="201914"/>
                </a:solidFill>
                <a:latin typeface="Arial"/>
              </a:rPr>
              <a:t>Started with a customer worth a great deal immediately.</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GROWW</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F5F1E9"/>
                </a:solidFill>
                <a:latin typeface="Arial"/>
              </a:rPr>
              <a:t>Went for first-time investors aged 22 to 28. The pain that built Zerodha is worth about ₹25 a month to that person, which is to say nothing.</a:t>
            </a:r>
          </a:p>
          <a:p>
            <a:pPr algn="l">
              <a:lnSpc>
                <a:spcPct val="112000"/>
              </a:lnSpc>
            </a:pPr>
            <a:r>
              <a:rPr sz="2800" b="0" i="0">
                <a:solidFill>
                  <a:srgbClr val="F5F1E9"/>
                </a:solidFill>
                <a:latin typeface="Arial"/>
              </a:rPr>
              <a:t>Started with a customer worth almost nothing, and waited.</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Neither is wrong. They are answers to different questions about who you are willing to wait for.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GROWW · FY25 · READ THESE HONESTLY</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Nobody organically downloads an app out of politeness.</a:t>
            </a:r>
          </a:p>
        </p:txBody>
      </p:sp>
      <p:sp>
        <p:nvSpPr>
          <p:cNvPr id="4" name="Rectangle 3"/>
          <p:cNvSpPr/>
          <p:nvPr/>
        </p:nvSpPr>
        <p:spPr>
          <a:xfrm>
            <a:off x="1047750" y="3409950"/>
            <a:ext cx="3762375" cy="4572000"/>
          </a:xfrm>
          <a:prstGeom prst="rect">
            <a:avLst/>
          </a:prstGeom>
          <a:solidFill>
            <a:srgbClr val="F0EAE1"/>
          </a:solidFill>
          <a:ln>
            <a:noFill/>
          </a:ln>
          <a:effectLst/>
        </p:spPr>
        <p:txBody>
          <a:bodyPr rtlCol="0" anchor="ctr"/>
          <a:lstStyle/>
          <a:p>
            <a:pPr algn="ctr"/>
          </a:p>
        </p:txBody>
      </p:sp>
      <p:sp>
        <p:nvSpPr>
          <p:cNvPr id="5" name="TextBox 4"/>
          <p:cNvSpPr txBox="1"/>
          <p:nvPr/>
        </p:nvSpPr>
        <p:spPr>
          <a:xfrm>
            <a:off x="1466850"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83%</a:t>
            </a:r>
          </a:p>
        </p:txBody>
      </p:sp>
      <p:sp>
        <p:nvSpPr>
          <p:cNvPr id="6" name="TextBox 5"/>
          <p:cNvSpPr txBox="1"/>
          <p:nvPr/>
        </p:nvSpPr>
        <p:spPr>
          <a:xfrm>
            <a:off x="1466850" y="4629150"/>
            <a:ext cx="2924175" cy="60579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of customers acquired organically</a:t>
            </a:r>
          </a:p>
        </p:txBody>
      </p:sp>
      <p:sp>
        <p:nvSpPr>
          <p:cNvPr id="7" name="TextBox 6"/>
          <p:cNvSpPr txBox="1"/>
          <p:nvPr/>
        </p:nvSpPr>
        <p:spPr>
          <a:xfrm>
            <a:off x="1466850" y="5444490"/>
            <a:ext cx="2924175" cy="215646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No advertisement, no referral fee, no distributor commission.</a:t>
            </a:r>
          </a:p>
        </p:txBody>
      </p:sp>
      <p:sp>
        <p:nvSpPr>
          <p:cNvPr id="8" name="Rectangle 7"/>
          <p:cNvSpPr/>
          <p:nvPr/>
        </p:nvSpPr>
        <p:spPr>
          <a:xfrm>
            <a:off x="5191125" y="3409950"/>
            <a:ext cx="3762375" cy="4572000"/>
          </a:xfrm>
          <a:prstGeom prst="rect">
            <a:avLst/>
          </a:prstGeom>
          <a:solidFill>
            <a:srgbClr val="C35141"/>
          </a:solidFill>
          <a:ln>
            <a:noFill/>
          </a:ln>
          <a:effectLst/>
        </p:spPr>
        <p:txBody>
          <a:bodyPr rtlCol="0" anchor="ctr"/>
          <a:lstStyle/>
          <a:p>
            <a:pPr algn="ctr"/>
          </a:p>
        </p:txBody>
      </p:sp>
      <p:sp>
        <p:nvSpPr>
          <p:cNvPr id="9" name="TextBox 8"/>
          <p:cNvSpPr txBox="1"/>
          <p:nvPr/>
        </p:nvSpPr>
        <p:spPr>
          <a:xfrm>
            <a:off x="5610225"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F5F1E9"/>
                </a:solidFill>
                <a:latin typeface="Arial"/>
              </a:rPr>
              <a:t>77.7%</a:t>
            </a:r>
          </a:p>
        </p:txBody>
      </p:sp>
      <p:sp>
        <p:nvSpPr>
          <p:cNvPr id="10" name="TextBox 9"/>
          <p:cNvSpPr txBox="1"/>
          <p:nvPr/>
        </p:nvSpPr>
        <p:spPr>
          <a:xfrm>
            <a:off x="5610225" y="4629150"/>
            <a:ext cx="2924175" cy="605790"/>
          </a:xfrm>
          <a:prstGeom prst="rect">
            <a:avLst/>
          </a:prstGeom>
          <a:noFill/>
        </p:spPr>
        <p:txBody>
          <a:bodyPr wrap="square" lIns="0" rIns="0" tIns="0" bIns="0" anchor="t">
            <a:noAutofit/>
          </a:bodyPr>
          <a:lstStyle/>
          <a:p>
            <a:pPr algn="l">
              <a:lnSpc>
                <a:spcPct val="105000"/>
              </a:lnSpc>
            </a:pPr>
            <a:r>
              <a:rPr sz="1800" b="1" i="0">
                <a:solidFill>
                  <a:srgbClr val="F5F1E9"/>
                </a:solidFill>
                <a:latin typeface="Arial"/>
              </a:rPr>
              <a:t>of active clients retained over three years</a:t>
            </a:r>
          </a:p>
        </p:txBody>
      </p:sp>
      <p:sp>
        <p:nvSpPr>
          <p:cNvPr id="11" name="TextBox 10"/>
          <p:cNvSpPr txBox="1"/>
          <p:nvPr/>
        </p:nvSpPr>
        <p:spPr>
          <a:xfrm>
            <a:off x="5610225" y="5444490"/>
            <a:ext cx="2924175" cy="2156460"/>
          </a:xfrm>
          <a:prstGeom prst="rect">
            <a:avLst/>
          </a:prstGeom>
          <a:noFill/>
        </p:spPr>
        <p:txBody>
          <a:bodyPr wrap="square" lIns="0" rIns="0" tIns="0" bIns="0" anchor="t">
            <a:noAutofit/>
          </a:bodyPr>
          <a:lstStyle/>
          <a:p>
            <a:pPr algn="l">
              <a:lnSpc>
                <a:spcPct val="110000"/>
              </a:lnSpc>
            </a:pPr>
            <a:r>
              <a:rPr sz="2300" b="0" i="0">
                <a:solidFill>
                  <a:srgbClr val="F5F1E9"/>
                </a:solidFill>
                <a:latin typeface="Arial"/>
              </a:rPr>
              <a:t>Nobody stays three years out of politeness.</a:t>
            </a:r>
          </a:p>
        </p:txBody>
      </p:sp>
      <p:sp>
        <p:nvSpPr>
          <p:cNvPr id="12" name="Rectangle 11"/>
          <p:cNvSpPr/>
          <p:nvPr/>
        </p:nvSpPr>
        <p:spPr>
          <a:xfrm>
            <a:off x="9334500" y="3409950"/>
            <a:ext cx="3762375" cy="4572000"/>
          </a:xfrm>
          <a:prstGeom prst="rect">
            <a:avLst/>
          </a:prstGeom>
          <a:solidFill>
            <a:srgbClr val="F0EAE1"/>
          </a:solidFill>
          <a:ln>
            <a:noFill/>
          </a:ln>
          <a:effectLst/>
        </p:spPr>
        <p:txBody>
          <a:bodyPr rtlCol="0" anchor="ctr"/>
          <a:lstStyle/>
          <a:p>
            <a:pPr algn="ctr"/>
          </a:p>
        </p:txBody>
      </p:sp>
      <p:sp>
        <p:nvSpPr>
          <p:cNvPr id="13" name="TextBox 12"/>
          <p:cNvSpPr txBox="1"/>
          <p:nvPr/>
        </p:nvSpPr>
        <p:spPr>
          <a:xfrm>
            <a:off x="9753600"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85%</a:t>
            </a:r>
          </a:p>
        </p:txBody>
      </p:sp>
      <p:sp>
        <p:nvSpPr>
          <p:cNvPr id="14" name="TextBox 13"/>
          <p:cNvSpPr txBox="1"/>
          <p:nvPr/>
        </p:nvSpPr>
        <p:spPr>
          <a:xfrm>
            <a:off x="9753600"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yearly revenue growth</a:t>
            </a:r>
          </a:p>
        </p:txBody>
      </p:sp>
      <p:sp>
        <p:nvSpPr>
          <p:cNvPr id="15" name="TextBox 14"/>
          <p:cNvSpPr txBox="1"/>
          <p:nvPr/>
        </p:nvSpPr>
        <p:spPr>
          <a:xfrm>
            <a:off x="9753600"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Compounded between FY23 and FY25.</a:t>
            </a:r>
          </a:p>
        </p:txBody>
      </p:sp>
      <p:sp>
        <p:nvSpPr>
          <p:cNvPr id="16" name="Rectangle 15"/>
          <p:cNvSpPr/>
          <p:nvPr/>
        </p:nvSpPr>
        <p:spPr>
          <a:xfrm>
            <a:off x="13477875" y="3409950"/>
            <a:ext cx="3762375" cy="457200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13896975" y="3752850"/>
            <a:ext cx="2924175" cy="857250"/>
          </a:xfrm>
          <a:prstGeom prst="rect">
            <a:avLst/>
          </a:prstGeom>
          <a:noFill/>
        </p:spPr>
        <p:txBody>
          <a:bodyPr wrap="square" lIns="0" rIns="0" tIns="0" bIns="0" anchor="t">
            <a:noAutofit/>
          </a:bodyPr>
          <a:lstStyle/>
          <a:p>
            <a:pPr algn="l">
              <a:lnSpc>
                <a:spcPct val="100000"/>
              </a:lnSpc>
            </a:pPr>
            <a:r>
              <a:rPr sz="5400" b="1" i="0" spc="-100">
                <a:solidFill>
                  <a:srgbClr val="201914"/>
                </a:solidFill>
                <a:latin typeface="Arial"/>
              </a:rPr>
              <a:t>₹1,824</a:t>
            </a:r>
          </a:p>
        </p:txBody>
      </p:sp>
      <p:sp>
        <p:nvSpPr>
          <p:cNvPr id="18" name="TextBox 17"/>
          <p:cNvSpPr txBox="1"/>
          <p:nvPr/>
        </p:nvSpPr>
        <p:spPr>
          <a:xfrm>
            <a:off x="13896975" y="4629150"/>
            <a:ext cx="2924175" cy="331470"/>
          </a:xfrm>
          <a:prstGeom prst="rect">
            <a:avLst/>
          </a:prstGeom>
          <a:noFill/>
        </p:spPr>
        <p:txBody>
          <a:bodyPr wrap="square" lIns="0" rIns="0" tIns="0" bIns="0" anchor="t">
            <a:noAutofit/>
          </a:bodyPr>
          <a:lstStyle/>
          <a:p>
            <a:pPr algn="l">
              <a:lnSpc>
                <a:spcPct val="105000"/>
              </a:lnSpc>
            </a:pPr>
            <a:r>
              <a:rPr sz="1800" b="1" i="0">
                <a:solidFill>
                  <a:srgbClr val="201914"/>
                </a:solidFill>
                <a:latin typeface="Arial"/>
              </a:rPr>
              <a:t>crore of net profit in FY25</a:t>
            </a:r>
          </a:p>
        </p:txBody>
      </p:sp>
      <p:sp>
        <p:nvSpPr>
          <p:cNvPr id="19" name="TextBox 18"/>
          <p:cNvSpPr txBox="1"/>
          <p:nvPr/>
        </p:nvSpPr>
        <p:spPr>
          <a:xfrm>
            <a:off x="13896975" y="5170170"/>
            <a:ext cx="2924175" cy="243078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Operating margin up from about 36% to about 59%.</a:t>
            </a:r>
          </a:p>
        </p:txBody>
      </p:sp>
      <p:sp>
        <p:nvSpPr>
          <p:cNvPr id="20" name="TextBox 1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These are the population-scale version of the ₹1,500: a real behaviour, a real persistence, and no social pressure anywhere in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WHAT ASKING WOULD HAVE GIVEN YOU IN 2016</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 survey would have found a market of hundreds of millions.</a:t>
            </a:r>
          </a:p>
        </p:txBody>
      </p:sp>
      <p:sp>
        <p:nvSpPr>
          <p:cNvPr id="4" name="Rectangle 3"/>
          <p:cNvSpPr/>
          <p:nvPr/>
        </p:nvSpPr>
        <p:spPr>
          <a:xfrm>
            <a:off x="1047750" y="3409950"/>
            <a:ext cx="7905750" cy="4572000"/>
          </a:xfrm>
          <a:prstGeom prst="rect">
            <a:avLst/>
          </a:prstGeom>
          <a:solidFill>
            <a:srgbClr val="F0EAE1"/>
          </a:solidFill>
          <a:ln>
            <a:noFill/>
          </a:ln>
          <a:effectLst/>
        </p:spPr>
        <p:txBody>
          <a:bodyPr rtlCol="0" anchor="ctr"/>
          <a:lstStyle/>
          <a:p>
            <a:pPr algn="ctr"/>
          </a:p>
        </p:txBody>
      </p:sp>
      <p:sp>
        <p:nvSpPr>
          <p:cNvPr id="5" name="Rectangle 4"/>
          <p:cNvSpPr/>
          <p:nvPr/>
        </p:nvSpPr>
        <p:spPr>
          <a:xfrm>
            <a:off x="9334500" y="3409950"/>
            <a:ext cx="7905750" cy="4572000"/>
          </a:xfrm>
          <a:prstGeom prst="rect">
            <a:avLst/>
          </a:prstGeom>
          <a:solidFill>
            <a:srgbClr val="201914"/>
          </a:solidFill>
          <a:ln>
            <a:noFill/>
          </a:ln>
          <a:effectLst/>
        </p:spPr>
        <p:txBody>
          <a:bodyPr rtlCol="0" anchor="ctr"/>
          <a:lstStyle/>
          <a:p>
            <a:pPr algn="ctr"/>
          </a:p>
        </p:txBody>
      </p:sp>
      <p:sp>
        <p:nvSpPr>
          <p:cNvPr id="6" name="TextBox 5"/>
          <p:cNvSpPr txBox="1"/>
          <p:nvPr/>
        </p:nvSpPr>
        <p:spPr>
          <a:xfrm>
            <a:off x="146685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7B6F66"/>
                </a:solidFill>
                <a:latin typeface="Arial"/>
              </a:rPr>
              <a:t>IF YOU HAD ASKED TEN THOUSAND INDIANS</a:t>
            </a:r>
          </a:p>
        </p:txBody>
      </p:sp>
      <p:sp>
        <p:nvSpPr>
          <p:cNvPr id="7" name="TextBox 6"/>
          <p:cNvSpPr txBox="1"/>
          <p:nvPr/>
        </p:nvSpPr>
        <p:spPr>
          <a:xfrm>
            <a:off x="146685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201914"/>
                </a:solidFill>
                <a:latin typeface="Arial"/>
              </a:rPr>
              <a:t>Would you like to invest? Yes.</a:t>
            </a:r>
          </a:p>
          <a:p>
            <a:pPr algn="l">
              <a:lnSpc>
                <a:spcPct val="112000"/>
              </a:lnSpc>
            </a:pPr>
            <a:r>
              <a:rPr sz="2800" b="0" i="0">
                <a:solidFill>
                  <a:srgbClr val="201914"/>
                </a:solidFill>
                <a:latin typeface="Arial"/>
              </a:rPr>
              <a:t>A market of hundreds of millions, and a completely useless number.</a:t>
            </a:r>
          </a:p>
        </p:txBody>
      </p:sp>
      <p:sp>
        <p:nvSpPr>
          <p:cNvPr id="8" name="TextBox 7"/>
          <p:cNvSpPr txBox="1"/>
          <p:nvPr/>
        </p:nvSpPr>
        <p:spPr>
          <a:xfrm>
            <a:off x="9753600" y="3790950"/>
            <a:ext cx="7067550" cy="323850"/>
          </a:xfrm>
          <a:prstGeom prst="rect">
            <a:avLst/>
          </a:prstGeom>
          <a:noFill/>
        </p:spPr>
        <p:txBody>
          <a:bodyPr wrap="square" lIns="0" rIns="0" tIns="0" bIns="0" anchor="t">
            <a:noAutofit/>
          </a:bodyPr>
          <a:lstStyle/>
          <a:p>
            <a:pPr algn="l">
              <a:lnSpc>
                <a:spcPct val="108000"/>
              </a:lnSpc>
            </a:pPr>
            <a:r>
              <a:rPr sz="2100" b="1" i="0" spc="200">
                <a:solidFill>
                  <a:srgbClr val="EF806F"/>
                </a:solidFill>
                <a:latin typeface="Arial"/>
              </a:rPr>
              <a:t>THE ACTUAL MARKET</a:t>
            </a:r>
          </a:p>
        </p:txBody>
      </p:sp>
      <p:sp>
        <p:nvSpPr>
          <p:cNvPr id="9" name="TextBox 8"/>
          <p:cNvSpPr txBox="1"/>
          <p:nvPr/>
        </p:nvSpPr>
        <p:spPr>
          <a:xfrm>
            <a:off x="9753600" y="4362450"/>
            <a:ext cx="7067550" cy="3333750"/>
          </a:xfrm>
          <a:prstGeom prst="rect">
            <a:avLst/>
          </a:prstGeom>
          <a:noFill/>
        </p:spPr>
        <p:txBody>
          <a:bodyPr wrap="square" lIns="0" rIns="0" tIns="0" bIns="0" anchor="t">
            <a:noAutofit/>
          </a:bodyPr>
          <a:lstStyle/>
          <a:p>
            <a:pPr algn="l">
              <a:lnSpc>
                <a:spcPct val="112000"/>
              </a:lnSpc>
              <a:spcAft>
                <a:spcPts val="1200"/>
              </a:spcAft>
            </a:pPr>
            <a:r>
              <a:rPr sz="2800" b="0" i="0">
                <a:solidFill>
                  <a:srgbClr val="F5F1E9"/>
                </a:solidFill>
                <a:latin typeface="Arial"/>
              </a:rPr>
              <a:t>The much smaller group who would open an app, get through the account-opening flow, put in real money, and come back.</a:t>
            </a:r>
          </a:p>
          <a:p>
            <a:pPr algn="l">
              <a:lnSpc>
                <a:spcPct val="112000"/>
              </a:lnSpc>
            </a:pPr>
            <a:r>
              <a:rPr sz="2800" b="0" i="0">
                <a:solidFill>
                  <a:srgbClr val="F5F1E9"/>
                </a:solidFill>
                <a:latin typeface="Arial"/>
              </a:rPr>
              <a:t>There was no way to size that by asking, because asking is exactly the instrument the politeness trap defeats.</a:t>
            </a:r>
          </a:p>
        </p:txBody>
      </p:sp>
      <p:sp>
        <p:nvSpPr>
          <p:cNvPr id="10" name="TextBox 9"/>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Only behaviour could see the real market.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1 · BLUE, GREEN, AMBER · THREE KINDS OF ANSWER</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Compliment, Fluff and Data</a:t>
            </a:r>
          </a:p>
        </p:txBody>
      </p:sp>
      <p:sp>
        <p:nvSpPr>
          <p:cNvPr id="4" name="TextBox 3"/>
          <p:cNvSpPr txBox="1"/>
          <p:nvPr/>
        </p:nvSpPr>
        <p:spPr>
          <a:xfrm>
            <a:off x="1314450" y="2838450"/>
            <a:ext cx="2095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IS</a:t>
            </a:r>
          </a:p>
        </p:txBody>
      </p:sp>
      <p:sp>
        <p:nvSpPr>
          <p:cNvPr id="5" name="TextBox 4"/>
          <p:cNvSpPr txBox="1"/>
          <p:nvPr/>
        </p:nvSpPr>
        <p:spPr>
          <a:xfrm>
            <a:off x="3600450" y="2838450"/>
            <a:ext cx="4762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SOUNDS LIKE</a:t>
            </a:r>
          </a:p>
        </p:txBody>
      </p:sp>
      <p:sp>
        <p:nvSpPr>
          <p:cNvPr id="6" name="TextBox 5"/>
          <p:cNvSpPr txBox="1"/>
          <p:nvPr/>
        </p:nvSpPr>
        <p:spPr>
          <a:xfrm>
            <a:off x="8553450" y="2838450"/>
            <a:ext cx="40005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ACTUALLY TELLS YOU</a:t>
            </a:r>
          </a:p>
        </p:txBody>
      </p:sp>
      <p:sp>
        <p:nvSpPr>
          <p:cNvPr id="7" name="TextBox 6"/>
          <p:cNvSpPr txBox="1"/>
          <p:nvPr/>
        </p:nvSpPr>
        <p:spPr>
          <a:xfrm>
            <a:off x="12744450" y="2838450"/>
            <a:ext cx="40386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TO DO WITH IT</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TextBox 8"/>
          <p:cNvSpPr txBox="1"/>
          <p:nvPr/>
        </p:nvSpPr>
        <p:spPr>
          <a:xfrm>
            <a:off x="1314450" y="3719512"/>
            <a:ext cx="2000250" cy="1675562"/>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Data (Blue)</a:t>
            </a:r>
          </a:p>
        </p:txBody>
      </p:sp>
      <p:sp>
        <p:nvSpPr>
          <p:cNvPr id="10" name="TextBox 9"/>
          <p:cNvSpPr txBox="1"/>
          <p:nvPr/>
        </p:nvSpPr>
        <p:spPr>
          <a:xfrm>
            <a:off x="3600450" y="3719512"/>
            <a:ext cx="466725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'Last semester I applied to forty places, heard back from three, and paid ₹1,500 to one that turned out to be a scam.'</a:t>
            </a:r>
          </a:p>
        </p:txBody>
      </p:sp>
      <p:sp>
        <p:nvSpPr>
          <p:cNvPr id="11" name="TextBox 10"/>
          <p:cNvSpPr txBox="1"/>
          <p:nvPr/>
        </p:nvSpPr>
        <p:spPr>
          <a:xfrm>
            <a:off x="8553450" y="3719512"/>
            <a:ext cx="390525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What this person actually did, when, and what it cost them.</a:t>
            </a:r>
          </a:p>
        </p:txBody>
      </p:sp>
      <p:sp>
        <p:nvSpPr>
          <p:cNvPr id="12" name="TextBox 11"/>
          <p:cNvSpPr txBox="1"/>
          <p:nvPr/>
        </p:nvSpPr>
        <p:spPr>
          <a:xfrm>
            <a:off x="12744450" y="3719512"/>
            <a:ext cx="394335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Write it down. It is the only category that should change what you believe.</a:t>
            </a:r>
          </a:p>
        </p:txBody>
      </p:sp>
      <p:sp>
        <p:nvSpPr>
          <p:cNvPr id="13" name="Rectangle 12"/>
          <p:cNvSpPr/>
          <p:nvPr/>
        </p:nvSpPr>
        <p:spPr>
          <a:xfrm>
            <a:off x="1047750" y="5237912"/>
            <a:ext cx="16192500" cy="1335253"/>
          </a:xfrm>
          <a:prstGeom prst="rect">
            <a:avLst/>
          </a:prstGeom>
          <a:solidFill>
            <a:srgbClr val="F3EEE6"/>
          </a:solidFill>
          <a:ln>
            <a:noFill/>
          </a:ln>
          <a:effectLst/>
        </p:spPr>
        <p:txBody>
          <a:bodyPr rtlCol="0" anchor="ctr"/>
          <a:lstStyle/>
          <a:p>
            <a:pPr algn="ctr"/>
          </a:p>
        </p:txBody>
      </p:sp>
      <p:sp>
        <p:nvSpPr>
          <p:cNvPr id="14" name="Rectangle 13"/>
          <p:cNvSpPr/>
          <p:nvPr/>
        </p:nvSpPr>
        <p:spPr>
          <a:xfrm>
            <a:off x="1047750" y="5237912"/>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395074"/>
            <a:ext cx="200025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Fluff (Green)</a:t>
            </a:r>
          </a:p>
        </p:txBody>
      </p:sp>
      <p:sp>
        <p:nvSpPr>
          <p:cNvPr id="16" name="TextBox 15"/>
          <p:cNvSpPr txBox="1"/>
          <p:nvPr/>
        </p:nvSpPr>
        <p:spPr>
          <a:xfrm>
            <a:off x="3600450" y="5395074"/>
            <a:ext cx="46672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'I'd definitely use that.' 'That happens to me all the time.' 'I usually do it twice a week.'</a:t>
            </a:r>
          </a:p>
        </p:txBody>
      </p:sp>
      <p:sp>
        <p:nvSpPr>
          <p:cNvPr id="17" name="TextBox 16"/>
          <p:cNvSpPr txBox="1"/>
          <p:nvPr/>
        </p:nvSpPr>
        <p:spPr>
          <a:xfrm>
            <a:off x="8553450" y="5395074"/>
            <a:ext cx="39052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That the person is engaged and being helpful. Nothing about behaviour.</a:t>
            </a:r>
          </a:p>
        </p:txBody>
      </p:sp>
      <p:sp>
        <p:nvSpPr>
          <p:cNvPr id="18" name="TextBox 17"/>
          <p:cNvSpPr txBox="1"/>
          <p:nvPr/>
        </p:nvSpPr>
        <p:spPr>
          <a:xfrm>
            <a:off x="12744450" y="5395074"/>
            <a:ext cx="39433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Convert it: 'When did that last happen?' Fluff is one question away from data.</a:t>
            </a:r>
          </a:p>
        </p:txBody>
      </p:sp>
      <p:sp>
        <p:nvSpPr>
          <p:cNvPr id="19" name="Rectangle 18"/>
          <p:cNvSpPr/>
          <p:nvPr/>
        </p:nvSpPr>
        <p:spPr>
          <a:xfrm>
            <a:off x="1047750" y="6573164"/>
            <a:ext cx="16192500" cy="9525"/>
          </a:xfrm>
          <a:prstGeom prst="rect">
            <a:avLst/>
          </a:prstGeom>
          <a:solidFill>
            <a:srgbClr val="D8CFC7"/>
          </a:solidFill>
          <a:ln>
            <a:noFill/>
          </a:ln>
          <a:effectLst/>
        </p:spPr>
        <p:txBody>
          <a:bodyPr rtlCol="0" anchor="ctr"/>
          <a:lstStyle/>
          <a:p>
            <a:pPr algn="ctr"/>
          </a:p>
        </p:txBody>
      </p:sp>
      <p:sp>
        <p:nvSpPr>
          <p:cNvPr id="20" name="TextBox 19"/>
          <p:cNvSpPr txBox="1"/>
          <p:nvPr/>
        </p:nvSpPr>
        <p:spPr>
          <a:xfrm>
            <a:off x="1314450" y="6730327"/>
            <a:ext cx="200025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Compliment (Amber)</a:t>
            </a:r>
          </a:p>
        </p:txBody>
      </p:sp>
      <p:sp>
        <p:nvSpPr>
          <p:cNvPr id="21" name="TextBox 20"/>
          <p:cNvSpPr txBox="1"/>
          <p:nvPr/>
        </p:nvSpPr>
        <p:spPr>
          <a:xfrm>
            <a:off x="3600450" y="6730327"/>
            <a:ext cx="46672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'That's a great idea.' 'You're really onto something.' 'I love this.'</a:t>
            </a:r>
          </a:p>
        </p:txBody>
      </p:sp>
      <p:sp>
        <p:nvSpPr>
          <p:cNvPr id="22" name="TextBox 21"/>
          <p:cNvSpPr txBox="1"/>
          <p:nvPr/>
        </p:nvSpPr>
        <p:spPr>
          <a:xfrm>
            <a:off x="8553450" y="6730327"/>
            <a:ext cx="39052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That you have made a person feel good. Nothing about the market.</a:t>
            </a:r>
          </a:p>
        </p:txBody>
      </p:sp>
      <p:sp>
        <p:nvSpPr>
          <p:cNvPr id="23" name="TextBox 22"/>
          <p:cNvSpPr txBox="1"/>
          <p:nvPr/>
        </p:nvSpPr>
        <p:spPr>
          <a:xfrm>
            <a:off x="12744450" y="6730327"/>
            <a:ext cx="39433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Thank them, and turn the conversation back to their life.</a:t>
            </a:r>
          </a:p>
        </p:txBody>
      </p:sp>
      <p:sp>
        <p:nvSpPr>
          <p:cNvPr id="24" name="Rectangle 23"/>
          <p:cNvSpPr/>
          <p:nvPr/>
        </p:nvSpPr>
        <p:spPr>
          <a:xfrm>
            <a:off x="1047750" y="7908417"/>
            <a:ext cx="16192500" cy="9525"/>
          </a:xfrm>
          <a:prstGeom prst="rect">
            <a:avLst/>
          </a:prstGeom>
          <a:solidFill>
            <a:srgbClr val="D8CFC7"/>
          </a:solidFill>
          <a:ln>
            <a:noFill/>
          </a:ln>
          <a:effectLst/>
        </p:spPr>
        <p:txBody>
          <a:bodyPr rtlCol="0" anchor="ctr"/>
          <a:lstStyle/>
          <a:p>
            <a:pPr algn="ctr"/>
          </a:p>
        </p:txBody>
      </p:sp>
      <p:sp>
        <p:nvSpPr>
          <p:cNvPr id="25" name="TextBox 24"/>
          <p:cNvSpPr txBox="1"/>
          <p:nvPr/>
        </p:nvSpPr>
        <p:spPr>
          <a:xfrm>
            <a:off x="1047750" y="8194167"/>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Data is a specific thing that already happened, with a time attached. Everything else is the sound of a conversation going well.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RULES FOR SORTING IN THE MOMENT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Most responses contain more than one. Sort by the most foundational.</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Data goes at the top</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It is the only one of the three that rests on something that actually happened. That is why it is the only thing that goes in your notes.</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Warm answers hide facts</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People wrap the useful part in kindness. The common error is not mistaking a compliment for data. It is discarding a warm answer and missing the fact inside it.</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Fluff is unfinished</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'That happens to me all the time' is one question from data. The question is always some version of 'when did that last happen?'</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You are not looking for people who are unkind. You are looking for the one sentence in the middle that is a fact.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TRY THESE YOURSELF · DATA, FLUFF OR COMPLIMENT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Sort these four</a:t>
            </a:r>
          </a:p>
        </p:txBody>
      </p:sp>
      <p:sp>
        <p:nvSpPr>
          <p:cNvPr id="4" name="Rectangle 3"/>
          <p:cNvSpPr/>
          <p:nvPr/>
        </p:nvSpPr>
        <p:spPr>
          <a:xfrm>
            <a:off x="1047750" y="2838450"/>
            <a:ext cx="3762375" cy="59150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'That's such a cool idea, my sister would love this.'</a:t>
            </a:r>
          </a:p>
        </p:txBody>
      </p:sp>
      <p:sp>
        <p:nvSpPr>
          <p:cNvPr id="6" name="TextBox 5"/>
          <p:cNvSpPr txBox="1"/>
          <p:nvPr/>
        </p:nvSpPr>
        <p:spPr>
          <a:xfrm>
            <a:off x="131445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Sort it. Then say what the founder will write in their notes tonight.</a:t>
            </a:r>
          </a:p>
        </p:txBody>
      </p:sp>
      <p:sp>
        <p:nvSpPr>
          <p:cNvPr id="7" name="Rectangle 6"/>
          <p:cNvSpPr/>
          <p:nvPr/>
        </p:nvSpPr>
        <p:spPr>
          <a:xfrm>
            <a:off x="5191125" y="2838450"/>
            <a:ext cx="3762375" cy="5915025"/>
          </a:xfrm>
          <a:prstGeom prst="rect">
            <a:avLst/>
          </a:prstGeom>
          <a:solidFill>
            <a:srgbClr val="F0EAE1"/>
          </a:solidFill>
          <a:ln>
            <a:noFill/>
          </a:ln>
          <a:effectLst/>
        </p:spPr>
        <p:txBody>
          <a:bodyPr rtlCol="0" anchor="ctr"/>
          <a:lstStyle/>
          <a:p>
            <a:pPr algn="ctr"/>
          </a:p>
        </p:txBody>
      </p:sp>
      <p:sp>
        <p:nvSpPr>
          <p:cNvPr id="8" name="TextBox 7"/>
          <p:cNvSpPr txBox="1"/>
          <p:nvPr/>
        </p:nvSpPr>
        <p:spPr>
          <a:xfrm>
            <a:off x="545782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definitely pay for something like that.'</a:t>
            </a:r>
          </a:p>
        </p:txBody>
      </p:sp>
      <p:sp>
        <p:nvSpPr>
          <p:cNvPr id="9" name="TextBox 8"/>
          <p:cNvSpPr txBox="1"/>
          <p:nvPr/>
        </p:nvSpPr>
        <p:spPr>
          <a:xfrm>
            <a:off x="545782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The sentence founders quote most often in pitch decks. Is it worth anything at all?</a:t>
            </a:r>
          </a:p>
        </p:txBody>
      </p:sp>
      <p:sp>
        <p:nvSpPr>
          <p:cNvPr id="10" name="Rectangle 9"/>
          <p:cNvSpPr/>
          <p:nvPr/>
        </p:nvSpPr>
        <p:spPr>
          <a:xfrm>
            <a:off x="9334500" y="2838450"/>
            <a:ext cx="3762375" cy="5915025"/>
          </a:xfrm>
          <a:prstGeom prst="rect">
            <a:avLst/>
          </a:prstGeom>
          <a:solidFill>
            <a:srgbClr val="F0EAE1"/>
          </a:solidFill>
          <a:ln>
            <a:noFill/>
          </a:ln>
          <a:effectLst/>
        </p:spPr>
        <p:txBody>
          <a:bodyPr rtlCol="0" anchor="ctr"/>
          <a:lstStyle/>
          <a:p>
            <a:pPr algn="ctr"/>
          </a:p>
        </p:txBody>
      </p:sp>
      <p:sp>
        <p:nvSpPr>
          <p:cNvPr id="11" name="TextBox 10"/>
          <p:cNvSpPr txBox="1"/>
          <p:nvPr/>
        </p:nvSpPr>
        <p:spPr>
          <a:xfrm>
            <a:off x="960120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'We tried something like that two years ago and stopped.'</a:t>
            </a:r>
          </a:p>
        </p:txBody>
      </p:sp>
      <p:sp>
        <p:nvSpPr>
          <p:cNvPr id="12" name="TextBox 11"/>
          <p:cNvSpPr txBox="1"/>
          <p:nvPr/>
        </p:nvSpPr>
        <p:spPr>
          <a:xfrm>
            <a:off x="960120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Sort it, and notice how a founder is likely to feel when they hear it.</a:t>
            </a:r>
          </a:p>
        </p:txBody>
      </p:sp>
      <p:sp>
        <p:nvSpPr>
          <p:cNvPr id="13" name="Rectangle 12"/>
          <p:cNvSpPr/>
          <p:nvPr/>
        </p:nvSpPr>
        <p:spPr>
          <a:xfrm>
            <a:off x="13477875" y="2838450"/>
            <a:ext cx="3762375" cy="5915025"/>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74457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'Honestly this doesn't really apply to me, but it's a good idea.'</a:t>
            </a:r>
          </a:p>
        </p:txBody>
      </p:sp>
      <p:sp>
        <p:nvSpPr>
          <p:cNvPr id="15" name="TextBox 14"/>
          <p:cNvSpPr txBox="1"/>
          <p:nvPr/>
        </p:nvSpPr>
        <p:spPr>
          <a:xfrm>
            <a:off x="1374457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Sort both halves separately. Then decide what to do next.</a:t>
            </a:r>
          </a:p>
        </p:txBody>
      </p:sp>
      <p:sp>
        <p:nvSpPr>
          <p:cNvPr id="16" name="TextBox 15"/>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Name the bucket, then say what you do next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Sort these four</a:t>
            </a:r>
          </a:p>
        </p:txBody>
      </p:sp>
      <p:sp>
        <p:nvSpPr>
          <p:cNvPr id="4" name="Rectangle 3"/>
          <p:cNvSpPr/>
          <p:nvPr/>
        </p:nvSpPr>
        <p:spPr>
          <a:xfrm>
            <a:off x="1047750" y="2838450"/>
            <a:ext cx="3762375" cy="29146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'That's such a cool idea, my sister would love this.'</a:t>
            </a:r>
          </a:p>
        </p:txBody>
      </p:sp>
      <p:sp>
        <p:nvSpPr>
          <p:cNvPr id="6" name="TextBox 5"/>
          <p:cNvSpPr txBox="1"/>
          <p:nvPr/>
        </p:nvSpPr>
        <p:spPr>
          <a:xfrm>
            <a:off x="131445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compliment with fluff attached.</a:t>
            </a:r>
          </a:p>
        </p:txBody>
      </p:sp>
      <p:sp>
        <p:nvSpPr>
          <p:cNvPr id="7" name="Rectangle 6"/>
          <p:cNvSpPr/>
          <p:nvPr/>
        </p:nvSpPr>
        <p:spPr>
          <a:xfrm>
            <a:off x="1047750" y="5981700"/>
            <a:ext cx="3762375" cy="3657600"/>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COMPLIMENT · amber</a:t>
            </a:r>
          </a:p>
        </p:txBody>
      </p:sp>
      <p:sp>
        <p:nvSpPr>
          <p:cNvPr id="9" name="TextBox 8"/>
          <p:cNvSpPr txBox="1"/>
          <p:nvPr/>
        </p:nvSpPr>
        <p:spPr>
          <a:xfrm>
            <a:off x="1314450"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A third party who is not in the room is the weakest evidence there is. Redirect: 'Does she? When did she last have to deal with that?' If she is real, you have found your next interview.</a:t>
            </a:r>
          </a:p>
        </p:txBody>
      </p:sp>
      <p:sp>
        <p:nvSpPr>
          <p:cNvPr id="10" name="Rectangle 9"/>
          <p:cNvSpPr/>
          <p:nvPr/>
        </p:nvSpPr>
        <p:spPr>
          <a:xfrm>
            <a:off x="5191125" y="2838450"/>
            <a:ext cx="3762375" cy="291465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545782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definitely pay for something like that.'</a:t>
            </a:r>
          </a:p>
        </p:txBody>
      </p:sp>
      <p:sp>
        <p:nvSpPr>
          <p:cNvPr id="12" name="TextBox 11"/>
          <p:cNvSpPr txBox="1"/>
          <p:nvPr/>
        </p:nvSpPr>
        <p:spPr>
          <a:xfrm>
            <a:off x="545782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Nothing has been committed.</a:t>
            </a:r>
          </a:p>
        </p:txBody>
      </p:sp>
      <p:sp>
        <p:nvSpPr>
          <p:cNvPr id="13" name="Rectangle 12"/>
          <p:cNvSpPr/>
          <p:nvPr/>
        </p:nvSpPr>
        <p:spPr>
          <a:xfrm>
            <a:off x="5191125" y="5981700"/>
            <a:ext cx="3762375" cy="365760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545782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FLUFF · green</a:t>
            </a:r>
          </a:p>
        </p:txBody>
      </p:sp>
      <p:sp>
        <p:nvSpPr>
          <p:cNvPr id="15" name="TextBox 14"/>
          <p:cNvSpPr txBox="1"/>
          <p:nvPr/>
        </p:nvSpPr>
        <p:spPr>
          <a:xfrm>
            <a:off x="5457825"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'Pay' does no work: no money moved and none was asked for. Convert it in ten seconds: 'I'm taking ₹500 deposits from the first few people. Can I put you down?'</a:t>
            </a:r>
          </a:p>
        </p:txBody>
      </p:sp>
      <p:sp>
        <p:nvSpPr>
          <p:cNvPr id="16" name="Rectangle 15"/>
          <p:cNvSpPr/>
          <p:nvPr/>
        </p:nvSpPr>
        <p:spPr>
          <a:xfrm>
            <a:off x="9334500" y="2838450"/>
            <a:ext cx="3762375" cy="291465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960120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'We tried something like that two years ago and stopped.'</a:t>
            </a:r>
          </a:p>
        </p:txBody>
      </p:sp>
      <p:sp>
        <p:nvSpPr>
          <p:cNvPr id="18" name="TextBox 17"/>
          <p:cNvSpPr txBox="1"/>
          <p:nvPr/>
        </p:nvSpPr>
        <p:spPr>
          <a:xfrm>
            <a:off x="960120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It feels like bad news.</a:t>
            </a:r>
          </a:p>
        </p:txBody>
      </p:sp>
      <p:sp>
        <p:nvSpPr>
          <p:cNvPr id="19" name="Rectangle 18"/>
          <p:cNvSpPr/>
          <p:nvPr/>
        </p:nvSpPr>
        <p:spPr>
          <a:xfrm>
            <a:off x="9334500" y="5981700"/>
            <a:ext cx="3762375" cy="3657600"/>
          </a:xfrm>
          <a:prstGeom prst="rect">
            <a:avLst/>
          </a:prstGeom>
          <a:solidFill>
            <a:srgbClr val="C35141"/>
          </a:solidFill>
          <a:ln>
            <a:noFill/>
          </a:ln>
          <a:effectLst/>
        </p:spPr>
        <p:txBody>
          <a:bodyPr rtlCol="0" anchor="ctr"/>
          <a:lstStyle/>
          <a:p>
            <a:pPr algn="ctr"/>
          </a:p>
        </p:txBody>
      </p:sp>
      <p:sp>
        <p:nvSpPr>
          <p:cNvPr id="20" name="TextBox 19"/>
          <p:cNvSpPr txBox="1"/>
          <p:nvPr/>
        </p:nvSpPr>
        <p:spPr>
          <a:xfrm>
            <a:off x="960120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DATA · blue. The most valuable here.</a:t>
            </a:r>
          </a:p>
        </p:txBody>
      </p:sp>
      <p:sp>
        <p:nvSpPr>
          <p:cNvPr id="21" name="TextBox 20"/>
          <p:cNvSpPr txBox="1"/>
          <p:nvPr/>
        </p:nvSpPr>
        <p:spPr>
          <a:xfrm>
            <a:off x="9601200" y="7077075"/>
            <a:ext cx="3228975" cy="2476500"/>
          </a:xfrm>
          <a:prstGeom prst="rect">
            <a:avLst/>
          </a:prstGeom>
          <a:noFill/>
        </p:spPr>
        <p:txBody>
          <a:bodyPr wrap="square" lIns="0" rIns="0" tIns="0" bIns="0" anchor="t">
            <a:noAutofit/>
          </a:bodyPr>
          <a:lstStyle/>
          <a:p>
            <a:pPr algn="l">
              <a:lnSpc>
                <a:spcPct val="110000"/>
              </a:lnSpc>
            </a:pPr>
            <a:r>
              <a:rPr sz="1800" b="0" i="0">
                <a:solidFill>
                  <a:srgbClr val="F5F1E9"/>
                </a:solidFill>
                <a:latin typeface="Arial"/>
              </a:rPr>
              <a:t>Somebody has already run the experiment you were about to spend a year on. Do not defend your version. Ask 'what made you stop?' and then say nothing.</a:t>
            </a:r>
          </a:p>
        </p:txBody>
      </p:sp>
      <p:sp>
        <p:nvSpPr>
          <p:cNvPr id="22" name="Rectangle 21"/>
          <p:cNvSpPr/>
          <p:nvPr/>
        </p:nvSpPr>
        <p:spPr>
          <a:xfrm>
            <a:off x="13477875" y="2838450"/>
            <a:ext cx="3762375" cy="291465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1374457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'Honestly this doesn't really apply to me, but it's a good idea.'</a:t>
            </a:r>
          </a:p>
        </p:txBody>
      </p:sp>
      <p:sp>
        <p:nvSpPr>
          <p:cNvPr id="24" name="TextBox 23"/>
          <p:cNvSpPr txBox="1"/>
          <p:nvPr/>
        </p:nvSpPr>
        <p:spPr>
          <a:xfrm>
            <a:off x="1374457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Two halves, two sorts.</a:t>
            </a:r>
          </a:p>
        </p:txBody>
      </p:sp>
      <p:sp>
        <p:nvSpPr>
          <p:cNvPr id="25" name="Rectangle 24"/>
          <p:cNvSpPr/>
          <p:nvPr/>
        </p:nvSpPr>
        <p:spPr>
          <a:xfrm>
            <a:off x="13477875" y="5981700"/>
            <a:ext cx="3762375" cy="3657600"/>
          </a:xfrm>
          <a:prstGeom prst="rect">
            <a:avLst/>
          </a:prstGeom>
          <a:solidFill>
            <a:srgbClr val="201914"/>
          </a:solidFill>
          <a:ln>
            <a:noFill/>
          </a:ln>
          <a:effectLst/>
        </p:spPr>
        <p:txBody>
          <a:bodyPr rtlCol="0" anchor="ctr"/>
          <a:lstStyle/>
          <a:p>
            <a:pPr algn="ctr"/>
          </a:p>
        </p:txBody>
      </p:sp>
      <p:sp>
        <p:nvSpPr>
          <p:cNvPr id="26" name="TextBox 25"/>
          <p:cNvSpPr txBox="1"/>
          <p:nvPr/>
        </p:nvSpPr>
        <p:spPr>
          <a:xfrm>
            <a:off x="1374457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DATA · blue, by the first half</a:t>
            </a:r>
          </a:p>
        </p:txBody>
      </p:sp>
      <p:sp>
        <p:nvSpPr>
          <p:cNvPr id="27" name="TextBox 26"/>
          <p:cNvSpPr txBox="1"/>
          <p:nvPr/>
        </p:nvSpPr>
        <p:spPr>
          <a:xfrm>
            <a:off x="13744575"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'This does not apply to me' costs the speaker something to say, so it is unusually trustworthy. Stop researching and start recruiting: 'Who do you know that it does apply to?'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TRY THESE YOURSELF · A SECOND ROUND</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Sort these four too</a:t>
            </a:r>
          </a:p>
        </p:txBody>
      </p:sp>
      <p:sp>
        <p:nvSpPr>
          <p:cNvPr id="4" name="Rectangle 3"/>
          <p:cNvSpPr/>
          <p:nvPr/>
        </p:nvSpPr>
        <p:spPr>
          <a:xfrm>
            <a:off x="1047750" y="2838450"/>
            <a:ext cx="3762375" cy="5915025"/>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'It's a good direction. Keep me posted.'</a:t>
            </a:r>
          </a:p>
        </p:txBody>
      </p:sp>
      <p:sp>
        <p:nvSpPr>
          <p:cNvPr id="6" name="TextBox 5"/>
          <p:cNvSpPr txBox="1"/>
          <p:nvPr/>
        </p:nvSpPr>
        <p:spPr>
          <a:xfrm>
            <a:off x="131445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professor, at the end of a ten-minute conversation.</a:t>
            </a:r>
          </a:p>
        </p:txBody>
      </p:sp>
      <p:sp>
        <p:nvSpPr>
          <p:cNvPr id="7" name="Rectangle 6"/>
          <p:cNvSpPr/>
          <p:nvPr/>
        </p:nvSpPr>
        <p:spPr>
          <a:xfrm>
            <a:off x="5191125" y="2838450"/>
            <a:ext cx="3762375" cy="5915025"/>
          </a:xfrm>
          <a:prstGeom prst="rect">
            <a:avLst/>
          </a:prstGeom>
          <a:solidFill>
            <a:srgbClr val="F0EAE1"/>
          </a:solidFill>
          <a:ln>
            <a:noFill/>
          </a:ln>
          <a:effectLst/>
        </p:spPr>
        <p:txBody>
          <a:bodyPr rtlCol="0" anchor="ctr"/>
          <a:lstStyle/>
          <a:p>
            <a:pPr algn="ctr"/>
          </a:p>
        </p:txBody>
      </p:sp>
      <p:sp>
        <p:nvSpPr>
          <p:cNvPr id="8" name="TextBox 7"/>
          <p:cNvSpPr txBox="1"/>
          <p:nvPr/>
        </p:nvSpPr>
        <p:spPr>
          <a:xfrm>
            <a:off x="545782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use it if it was free.'</a:t>
            </a:r>
          </a:p>
        </p:txBody>
      </p:sp>
      <p:sp>
        <p:nvSpPr>
          <p:cNvPr id="9" name="TextBox 8"/>
          <p:cNvSpPr txBox="1"/>
          <p:nvPr/>
        </p:nvSpPr>
        <p:spPr>
          <a:xfrm>
            <a:off x="545782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student, after being asked whether they would use the product.</a:t>
            </a:r>
          </a:p>
        </p:txBody>
      </p:sp>
      <p:sp>
        <p:nvSpPr>
          <p:cNvPr id="10" name="Rectangle 9"/>
          <p:cNvSpPr/>
          <p:nvPr/>
        </p:nvSpPr>
        <p:spPr>
          <a:xfrm>
            <a:off x="9334500" y="2838450"/>
            <a:ext cx="3762375" cy="5915025"/>
          </a:xfrm>
          <a:prstGeom prst="rect">
            <a:avLst/>
          </a:prstGeom>
          <a:solidFill>
            <a:srgbClr val="F0EAE1"/>
          </a:solidFill>
          <a:ln>
            <a:noFill/>
          </a:ln>
          <a:effectLst/>
        </p:spPr>
        <p:txBody>
          <a:bodyPr rtlCol="0" anchor="ctr"/>
          <a:lstStyle/>
          <a:p>
            <a:pPr algn="ctr"/>
          </a:p>
        </p:txBody>
      </p:sp>
      <p:sp>
        <p:nvSpPr>
          <p:cNvPr id="11" name="TextBox 10"/>
          <p:cNvSpPr txBox="1"/>
          <p:nvPr/>
        </p:nvSpPr>
        <p:spPr>
          <a:xfrm>
            <a:off x="9601200"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'Sounds useful, send me the link when it's ready.'</a:t>
            </a:r>
          </a:p>
        </p:txBody>
      </p:sp>
      <p:sp>
        <p:nvSpPr>
          <p:cNvPr id="12" name="TextBox 11"/>
          <p:cNvSpPr txBox="1"/>
          <p:nvPr/>
        </p:nvSpPr>
        <p:spPr>
          <a:xfrm>
            <a:off x="9601200"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contact, getting up to leave.</a:t>
            </a:r>
          </a:p>
        </p:txBody>
      </p:sp>
      <p:sp>
        <p:nvSpPr>
          <p:cNvPr id="13" name="Rectangle 12"/>
          <p:cNvSpPr/>
          <p:nvPr/>
        </p:nvSpPr>
        <p:spPr>
          <a:xfrm>
            <a:off x="13477875" y="2838450"/>
            <a:ext cx="3762375" cy="5915025"/>
          </a:xfrm>
          <a:prstGeom prst="rect">
            <a:avLst/>
          </a:prstGeom>
          <a:solidFill>
            <a:srgbClr val="F0EAE1"/>
          </a:solidFill>
          <a:ln>
            <a:noFill/>
          </a:ln>
          <a:effectLst/>
        </p:spPr>
        <p:txBody>
          <a:bodyPr rtlCol="0" anchor="ctr"/>
          <a:lstStyle/>
          <a:p>
            <a:pPr algn="ctr"/>
          </a:p>
        </p:txBody>
      </p:sp>
      <p:sp>
        <p:nvSpPr>
          <p:cNvPr id="14" name="TextBox 13"/>
          <p:cNvSpPr txBox="1"/>
          <p:nvPr/>
        </p:nvSpPr>
        <p:spPr>
          <a:xfrm>
            <a:off x="13744575" y="3143250"/>
            <a:ext cx="3228975" cy="14287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 usually do it about twice a week.'</a:t>
            </a:r>
          </a:p>
        </p:txBody>
      </p:sp>
      <p:sp>
        <p:nvSpPr>
          <p:cNvPr id="15" name="TextBox 14"/>
          <p:cNvSpPr txBox="1"/>
          <p:nvPr/>
        </p:nvSpPr>
        <p:spPr>
          <a:xfrm>
            <a:off x="13744575" y="4648200"/>
            <a:ext cx="3228975" cy="285750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respondent describing their own routine, unprompted.</a:t>
            </a:r>
          </a:p>
        </p:txBody>
      </p:sp>
      <p:sp>
        <p:nvSpPr>
          <p:cNvPr id="16" name="TextBox 15"/>
          <p:cNvSpPr txBox="1"/>
          <p:nvPr/>
        </p:nvSpPr>
        <p:spPr>
          <a:xfrm>
            <a:off x="1047750" y="9039225"/>
            <a:ext cx="16192500" cy="571500"/>
          </a:xfrm>
          <a:prstGeom prst="rect">
            <a:avLst/>
          </a:prstGeom>
          <a:noFill/>
        </p:spPr>
        <p:txBody>
          <a:bodyPr wrap="square" lIns="0" rIns="0" tIns="0" bIns="0" anchor="t">
            <a:noAutofit/>
          </a:bodyPr>
          <a:lstStyle/>
          <a:p>
            <a:pPr algn="l">
              <a:lnSpc>
                <a:spcPct val="108000"/>
              </a:lnSpc>
            </a:pPr>
            <a:r>
              <a:rPr sz="3300" b="0" i="1">
                <a:solidFill>
                  <a:srgbClr val="362C24"/>
                </a:solidFill>
                <a:latin typeface="Georgia"/>
              </a:rPr>
              <a:t>One of these contains a number. That does not make it data.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Sort these four too</a:t>
            </a:r>
          </a:p>
        </p:txBody>
      </p:sp>
      <p:sp>
        <p:nvSpPr>
          <p:cNvPr id="4" name="Rectangle 3"/>
          <p:cNvSpPr/>
          <p:nvPr/>
        </p:nvSpPr>
        <p:spPr>
          <a:xfrm>
            <a:off x="1047750" y="2838450"/>
            <a:ext cx="3762375" cy="2914650"/>
          </a:xfrm>
          <a:prstGeom prst="rect">
            <a:avLst/>
          </a:prstGeom>
          <a:solidFill>
            <a:srgbClr val="F0EAE1"/>
          </a:solidFill>
          <a:ln>
            <a:noFill/>
          </a:ln>
          <a:effectLst/>
        </p:spPr>
        <p:txBody>
          <a:bodyPr rtlCol="0" anchor="ctr"/>
          <a:lstStyle/>
          <a:p>
            <a:pPr algn="ctr"/>
          </a:p>
        </p:txBody>
      </p:sp>
      <p:sp>
        <p:nvSpPr>
          <p:cNvPr id="5" name="TextBox 4"/>
          <p:cNvSpPr txBox="1"/>
          <p:nvPr/>
        </p:nvSpPr>
        <p:spPr>
          <a:xfrm>
            <a:off x="131445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'It's a good direction. Keep me posted.'</a:t>
            </a:r>
          </a:p>
        </p:txBody>
      </p:sp>
      <p:sp>
        <p:nvSpPr>
          <p:cNvPr id="6" name="TextBox 5"/>
          <p:cNvSpPr txBox="1"/>
          <p:nvPr/>
        </p:nvSpPr>
        <p:spPr>
          <a:xfrm>
            <a:off x="131445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professor, ten minutes in.</a:t>
            </a:r>
          </a:p>
        </p:txBody>
      </p:sp>
      <p:sp>
        <p:nvSpPr>
          <p:cNvPr id="7" name="Rectangle 6"/>
          <p:cNvSpPr/>
          <p:nvPr/>
        </p:nvSpPr>
        <p:spPr>
          <a:xfrm>
            <a:off x="1047750" y="5981700"/>
            <a:ext cx="3762375" cy="3657600"/>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COMPLIMENT · amber</a:t>
            </a:r>
          </a:p>
        </p:txBody>
      </p:sp>
      <p:sp>
        <p:nvSpPr>
          <p:cNvPr id="9" name="TextBox 8"/>
          <p:cNvSpPr txBox="1"/>
          <p:nvPr/>
        </p:nvSpPr>
        <p:spPr>
          <a:xfrm>
            <a:off x="1314450"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A polite closing, not interest. Authority makes it more dangerous, not more informative. Test it: 'Would you have twenty minutes in the next fortnight? I'd like to show you what I find.'</a:t>
            </a:r>
          </a:p>
        </p:txBody>
      </p:sp>
      <p:sp>
        <p:nvSpPr>
          <p:cNvPr id="10" name="Rectangle 9"/>
          <p:cNvSpPr/>
          <p:nvPr/>
        </p:nvSpPr>
        <p:spPr>
          <a:xfrm>
            <a:off x="5191125" y="2838450"/>
            <a:ext cx="3762375" cy="2914650"/>
          </a:xfrm>
          <a:prstGeom prst="rect">
            <a:avLst/>
          </a:prstGeom>
          <a:solidFill>
            <a:srgbClr val="F0EAE1"/>
          </a:solidFill>
          <a:ln>
            <a:noFill/>
          </a:ln>
          <a:effectLst/>
        </p:spPr>
        <p:txBody>
          <a:bodyPr rtlCol="0" anchor="ctr"/>
          <a:lstStyle/>
          <a:p>
            <a:pPr algn="ctr"/>
          </a:p>
        </p:txBody>
      </p:sp>
      <p:sp>
        <p:nvSpPr>
          <p:cNvPr id="11" name="TextBox 10"/>
          <p:cNvSpPr txBox="1"/>
          <p:nvPr/>
        </p:nvSpPr>
        <p:spPr>
          <a:xfrm>
            <a:off x="545782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'I'd use it if it was free.'</a:t>
            </a:r>
          </a:p>
        </p:txBody>
      </p:sp>
      <p:sp>
        <p:nvSpPr>
          <p:cNvPr id="12" name="TextBox 11"/>
          <p:cNvSpPr txBox="1"/>
          <p:nvPr/>
        </p:nvSpPr>
        <p:spPr>
          <a:xfrm>
            <a:off x="545782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student, after the pitch.</a:t>
            </a:r>
          </a:p>
        </p:txBody>
      </p:sp>
      <p:sp>
        <p:nvSpPr>
          <p:cNvPr id="13" name="Rectangle 12"/>
          <p:cNvSpPr/>
          <p:nvPr/>
        </p:nvSpPr>
        <p:spPr>
          <a:xfrm>
            <a:off x="5191125" y="5981700"/>
            <a:ext cx="3762375" cy="365760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545782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FLUFF · green. A polite refusal.</a:t>
            </a:r>
          </a:p>
        </p:txBody>
      </p:sp>
      <p:sp>
        <p:nvSpPr>
          <p:cNvPr id="15" name="TextBox 14"/>
          <p:cNvSpPr txBox="1"/>
          <p:nvPr/>
        </p:nvSpPr>
        <p:spPr>
          <a:xfrm>
            <a:off x="5457825"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The conditional is the whole sentence: the value is below the smallest price they can imagine. Ask 'what do you spend on this now?' If nothing, it is not a pricing problem.</a:t>
            </a:r>
          </a:p>
        </p:txBody>
      </p:sp>
      <p:sp>
        <p:nvSpPr>
          <p:cNvPr id="16" name="Rectangle 15"/>
          <p:cNvSpPr/>
          <p:nvPr/>
        </p:nvSpPr>
        <p:spPr>
          <a:xfrm>
            <a:off x="9334500" y="2838450"/>
            <a:ext cx="3762375" cy="2914650"/>
          </a:xfrm>
          <a:prstGeom prst="rect">
            <a:avLst/>
          </a:prstGeom>
          <a:solidFill>
            <a:srgbClr val="F0EAE1"/>
          </a:solidFill>
          <a:ln>
            <a:noFill/>
          </a:ln>
          <a:effectLst/>
        </p:spPr>
        <p:txBody>
          <a:bodyPr rtlCol="0" anchor="ctr"/>
          <a:lstStyle/>
          <a:p>
            <a:pPr algn="ctr"/>
          </a:p>
        </p:txBody>
      </p:sp>
      <p:sp>
        <p:nvSpPr>
          <p:cNvPr id="17" name="TextBox 16"/>
          <p:cNvSpPr txBox="1"/>
          <p:nvPr/>
        </p:nvSpPr>
        <p:spPr>
          <a:xfrm>
            <a:off x="9601200"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'Sounds useful, send me the link when it's ready.'</a:t>
            </a:r>
          </a:p>
        </p:txBody>
      </p:sp>
      <p:sp>
        <p:nvSpPr>
          <p:cNvPr id="18" name="TextBox 17"/>
          <p:cNvSpPr txBox="1"/>
          <p:nvPr/>
        </p:nvSpPr>
        <p:spPr>
          <a:xfrm>
            <a:off x="9601200"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A contact, getting up to leave.</a:t>
            </a:r>
          </a:p>
        </p:txBody>
      </p:sp>
      <p:sp>
        <p:nvSpPr>
          <p:cNvPr id="19" name="Rectangle 18"/>
          <p:cNvSpPr/>
          <p:nvPr/>
        </p:nvSpPr>
        <p:spPr>
          <a:xfrm>
            <a:off x="9334500" y="5981700"/>
            <a:ext cx="3762375" cy="3657600"/>
          </a:xfrm>
          <a:prstGeom prst="rect">
            <a:avLst/>
          </a:prstGeom>
          <a:solidFill>
            <a:srgbClr val="201914"/>
          </a:solidFill>
          <a:ln>
            <a:noFill/>
          </a:ln>
          <a:effectLst/>
        </p:spPr>
        <p:txBody>
          <a:bodyPr rtlCol="0" anchor="ctr"/>
          <a:lstStyle/>
          <a:p>
            <a:pPr algn="ctr"/>
          </a:p>
        </p:txBody>
      </p:sp>
      <p:sp>
        <p:nvSpPr>
          <p:cNvPr id="20" name="TextBox 19"/>
          <p:cNvSpPr txBox="1"/>
          <p:nvPr/>
        </p:nvSpPr>
        <p:spPr>
          <a:xfrm>
            <a:off x="9601200"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FLUFF · green</a:t>
            </a:r>
          </a:p>
        </p:txBody>
      </p:sp>
      <p:sp>
        <p:nvSpPr>
          <p:cNvPr id="21" name="TextBox 20"/>
          <p:cNvSpPr txBox="1"/>
          <p:nvPr/>
        </p:nvSpPr>
        <p:spPr>
          <a:xfrm>
            <a:off x="9601200" y="7077075"/>
            <a:ext cx="3228975" cy="2476500"/>
          </a:xfrm>
          <a:prstGeom prst="rect">
            <a:avLst/>
          </a:prstGeom>
          <a:noFill/>
        </p:spPr>
        <p:txBody>
          <a:bodyPr wrap="square" lIns="0" rIns="0" tIns="0" bIns="0" anchor="t">
            <a:noAutofit/>
          </a:bodyPr>
          <a:lstStyle/>
          <a:p>
            <a:pPr algn="l">
              <a:lnSpc>
                <a:spcPct val="110000"/>
              </a:lnSpc>
            </a:pPr>
            <a:r>
              <a:rPr sz="1800" b="0" i="0">
                <a:solidFill>
                  <a:srgbClr val="C1B5AB"/>
                </a:solidFill>
                <a:latin typeface="Arial"/>
              </a:rPr>
              <a:t>Every cost is deferred to a future where you have done the work. A link is not a commitment. Pull it forward: 'Could I show you what I find in twenty minutes next week?'</a:t>
            </a:r>
          </a:p>
        </p:txBody>
      </p:sp>
      <p:sp>
        <p:nvSpPr>
          <p:cNvPr id="22" name="Rectangle 21"/>
          <p:cNvSpPr/>
          <p:nvPr/>
        </p:nvSpPr>
        <p:spPr>
          <a:xfrm>
            <a:off x="13477875" y="2838450"/>
            <a:ext cx="3762375" cy="2914650"/>
          </a:xfrm>
          <a:prstGeom prst="rect">
            <a:avLst/>
          </a:prstGeom>
          <a:solidFill>
            <a:srgbClr val="F0EAE1"/>
          </a:solidFill>
          <a:ln>
            <a:noFill/>
          </a:ln>
          <a:effectLst/>
        </p:spPr>
        <p:txBody>
          <a:bodyPr rtlCol="0" anchor="ctr"/>
          <a:lstStyle/>
          <a:p>
            <a:pPr algn="ctr"/>
          </a:p>
        </p:txBody>
      </p:sp>
      <p:sp>
        <p:nvSpPr>
          <p:cNvPr id="23" name="TextBox 22"/>
          <p:cNvSpPr txBox="1"/>
          <p:nvPr/>
        </p:nvSpPr>
        <p:spPr>
          <a:xfrm>
            <a:off x="13744575" y="3143250"/>
            <a:ext cx="3228975" cy="123825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'I usually do it about twice a week.'</a:t>
            </a:r>
          </a:p>
        </p:txBody>
      </p:sp>
      <p:sp>
        <p:nvSpPr>
          <p:cNvPr id="24" name="TextBox 23"/>
          <p:cNvSpPr txBox="1"/>
          <p:nvPr/>
        </p:nvSpPr>
        <p:spPr>
          <a:xfrm>
            <a:off x="13744575" y="4572000"/>
            <a:ext cx="3228975" cy="1047750"/>
          </a:xfrm>
          <a:prstGeom prst="rect">
            <a:avLst/>
          </a:prstGeom>
          <a:noFill/>
        </p:spPr>
        <p:txBody>
          <a:bodyPr wrap="square" lIns="0" rIns="0" tIns="0" bIns="0" anchor="t">
            <a:noAutofit/>
          </a:bodyPr>
          <a:lstStyle/>
          <a:p>
            <a:pPr algn="l">
              <a:lnSpc>
                <a:spcPct val="110000"/>
              </a:lnSpc>
            </a:pPr>
            <a:r>
              <a:rPr sz="2100" b="0" i="0">
                <a:solidFill>
                  <a:srgbClr val="665B53"/>
                </a:solidFill>
                <a:latin typeface="Arial"/>
              </a:rPr>
              <a:t>Unprompted, about their own routine.</a:t>
            </a:r>
          </a:p>
        </p:txBody>
      </p:sp>
      <p:sp>
        <p:nvSpPr>
          <p:cNvPr id="25" name="Rectangle 24"/>
          <p:cNvSpPr/>
          <p:nvPr/>
        </p:nvSpPr>
        <p:spPr>
          <a:xfrm>
            <a:off x="13477875" y="5981700"/>
            <a:ext cx="3762375" cy="3657600"/>
          </a:xfrm>
          <a:prstGeom prst="rect">
            <a:avLst/>
          </a:prstGeom>
          <a:solidFill>
            <a:srgbClr val="C35141"/>
          </a:solidFill>
          <a:ln>
            <a:noFill/>
          </a:ln>
          <a:effectLst/>
        </p:spPr>
        <p:txBody>
          <a:bodyPr rtlCol="0" anchor="ctr"/>
          <a:lstStyle/>
          <a:p>
            <a:pPr algn="ctr"/>
          </a:p>
        </p:txBody>
      </p:sp>
      <p:sp>
        <p:nvSpPr>
          <p:cNvPr id="26" name="TextBox 25"/>
          <p:cNvSpPr txBox="1"/>
          <p:nvPr/>
        </p:nvSpPr>
        <p:spPr>
          <a:xfrm>
            <a:off x="13744575" y="6267450"/>
            <a:ext cx="3228975" cy="762000"/>
          </a:xfrm>
          <a:prstGeom prst="rect">
            <a:avLst/>
          </a:prstGeom>
          <a:noFill/>
        </p:spPr>
        <p:txBody>
          <a:bodyPr wrap="square" lIns="0" rIns="0" tIns="0" bIns="0" anchor="t">
            <a:noAutofit/>
          </a:bodyPr>
          <a:lstStyle/>
          <a:p>
            <a:pPr algn="l">
              <a:lnSpc>
                <a:spcPct val="108000"/>
              </a:lnSpc>
            </a:pPr>
            <a:r>
              <a:rPr sz="2100" b="1" i="0">
                <a:solidFill>
                  <a:srgbClr val="F5F1E9"/>
                </a:solidFill>
                <a:latin typeface="Arial"/>
              </a:rPr>
              <a:t>FLUFF · green. Watch 'usually'.</a:t>
            </a:r>
          </a:p>
        </p:txBody>
      </p:sp>
      <p:sp>
        <p:nvSpPr>
          <p:cNvPr id="27" name="TextBox 26"/>
          <p:cNvSpPr txBox="1"/>
          <p:nvPr/>
        </p:nvSpPr>
        <p:spPr>
          <a:xfrm>
            <a:off x="13744575" y="7077075"/>
            <a:ext cx="3228975" cy="2476500"/>
          </a:xfrm>
          <a:prstGeom prst="rect">
            <a:avLst/>
          </a:prstGeom>
          <a:noFill/>
        </p:spPr>
        <p:txBody>
          <a:bodyPr wrap="square" lIns="0" rIns="0" tIns="0" bIns="0" anchor="t">
            <a:noAutofit/>
          </a:bodyPr>
          <a:lstStyle/>
          <a:p>
            <a:pPr algn="l">
              <a:lnSpc>
                <a:spcPct val="110000"/>
              </a:lnSpc>
            </a:pPr>
            <a:r>
              <a:rPr sz="1800" b="0" i="0">
                <a:solidFill>
                  <a:srgbClr val="F5F1E9"/>
                </a:solidFill>
                <a:latin typeface="Arial"/>
              </a:rPr>
              <a:t>Typical weeks are constructed, not remembered, and in a flattering direction. Ask: 'Take me through the last seven days. Which days did you actually do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WRITE THIS DOWN · THE CHEAPEST HABIT IN THIS CLASS</a:t>
            </a:r>
          </a:p>
        </p:txBody>
      </p:sp>
      <p:sp>
        <p:nvSpPr>
          <p:cNvPr id="3" name="TextBox 2"/>
          <p:cNvSpPr txBox="1"/>
          <p:nvPr/>
        </p:nvSpPr>
        <p:spPr>
          <a:xfrm>
            <a:off x="1714500" y="4218127"/>
            <a:ext cx="14859000" cy="2041246"/>
          </a:xfrm>
          <a:prstGeom prst="rect">
            <a:avLst/>
          </a:prstGeom>
          <a:noFill/>
        </p:spPr>
        <p:txBody>
          <a:bodyPr wrap="square" lIns="0" rIns="0" tIns="0" bIns="0" anchor="t">
            <a:noAutofit/>
          </a:bodyPr>
          <a:lstStyle/>
          <a:p>
            <a:pPr algn="l">
              <a:lnSpc>
                <a:spcPct val="105000"/>
              </a:lnSpc>
              <a:spcAft>
                <a:spcPts val="2879"/>
              </a:spcAft>
            </a:pPr>
            <a:r>
              <a:rPr sz="4800" b="1" i="0">
                <a:solidFill>
                  <a:srgbClr val="F5F1E9"/>
                </a:solidFill>
                <a:latin typeface="Arial"/>
              </a:rPr>
              <a:t>In your notes, write down only the blue.</a:t>
            </a:r>
          </a:p>
          <a:p>
            <a:pPr algn="l">
              <a:lnSpc>
                <a:spcPct val="105000"/>
              </a:lnSpc>
            </a:pPr>
            <a:r>
              <a:rPr sz="4800" b="1" i="0">
                <a:solidFill>
                  <a:srgbClr val="F5F1E9"/>
                </a:solidFill>
                <a:latin typeface="Arial"/>
              </a:rPr>
              <a:t>What happened, when, to whom, and what it cost.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2 · FOR EVERY CONVERSATION THAT IS NOT AN INTERVIEW</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Three Mom Test Rules</a:t>
            </a:r>
          </a:p>
        </p:txBody>
      </p:sp>
      <p:sp>
        <p:nvSpPr>
          <p:cNvPr id="4" name="TextBox 3"/>
          <p:cNvSpPr txBox="1"/>
          <p:nvPr/>
        </p:nvSpPr>
        <p:spPr>
          <a:xfrm>
            <a:off x="1314450" y="2838450"/>
            <a:ext cx="4572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RULE</a:t>
            </a:r>
          </a:p>
        </p:txBody>
      </p:sp>
      <p:sp>
        <p:nvSpPr>
          <p:cNvPr id="5" name="TextBox 4"/>
          <p:cNvSpPr txBox="1"/>
          <p:nvPr/>
        </p:nvSpPr>
        <p:spPr>
          <a:xfrm>
            <a:off x="6076950" y="2838450"/>
            <a:ext cx="5715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IT MEANS</a:t>
            </a:r>
          </a:p>
        </p:txBody>
      </p:sp>
      <p:sp>
        <p:nvSpPr>
          <p:cNvPr id="6" name="TextBox 5"/>
          <p:cNvSpPr txBox="1"/>
          <p:nvPr/>
        </p:nvSpPr>
        <p:spPr>
          <a:xfrm>
            <a:off x="11982450" y="2838450"/>
            <a:ext cx="48006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BREAKING IT LOOKS LIKE</a:t>
            </a:r>
          </a:p>
        </p:txBody>
      </p:sp>
      <p:sp>
        <p:nvSpPr>
          <p:cNvPr id="7" name="Rectangle 6"/>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8" name="TextBox 7"/>
          <p:cNvSpPr txBox="1"/>
          <p:nvPr/>
        </p:nvSpPr>
        <p:spPr>
          <a:xfrm>
            <a:off x="1314450" y="3719512"/>
            <a:ext cx="447675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1 · Talk about their life, not your idea</a:t>
            </a:r>
          </a:p>
        </p:txBody>
      </p:sp>
      <p:sp>
        <p:nvSpPr>
          <p:cNvPr id="9" name="TextBox 8"/>
          <p:cNvSpPr txBox="1"/>
          <p:nvPr/>
        </p:nvSpPr>
        <p:spPr>
          <a:xfrm>
            <a:off x="6076950" y="3719512"/>
            <a:ext cx="56197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If your idea is never mentioned, there is nothing for anybody to be kind about.</a:t>
            </a:r>
          </a:p>
        </p:txBody>
      </p:sp>
      <p:sp>
        <p:nvSpPr>
          <p:cNvPr id="10" name="TextBox 9"/>
          <p:cNvSpPr txBox="1"/>
          <p:nvPr/>
        </p:nvSpPr>
        <p:spPr>
          <a:xfrm>
            <a:off x="11982450" y="3719512"/>
            <a:ext cx="47053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'So what I'm building is...' 'Do you ever wish there was an easier way to do that?'</a:t>
            </a:r>
          </a:p>
        </p:txBody>
      </p:sp>
      <p:sp>
        <p:nvSpPr>
          <p:cNvPr id="11" name="Rectangle 10"/>
          <p:cNvSpPr/>
          <p:nvPr/>
        </p:nvSpPr>
        <p:spPr>
          <a:xfrm>
            <a:off x="1047750" y="4897603"/>
            <a:ext cx="16192500" cy="1335253"/>
          </a:xfrm>
          <a:prstGeom prst="rect">
            <a:avLst/>
          </a:prstGeom>
          <a:solidFill>
            <a:srgbClr val="F3EEE6"/>
          </a:solidFill>
          <a:ln>
            <a:noFill/>
          </a:ln>
          <a:effectLst/>
        </p:spPr>
        <p:txBody>
          <a:bodyPr rtlCol="0" anchor="ctr"/>
          <a:lstStyle/>
          <a:p>
            <a:pPr algn="ctr"/>
          </a:p>
        </p:txBody>
      </p:sp>
      <p:sp>
        <p:nvSpPr>
          <p:cNvPr id="12" name="Rectangle 11"/>
          <p:cNvSpPr/>
          <p:nvPr/>
        </p:nvSpPr>
        <p:spPr>
          <a:xfrm>
            <a:off x="1047750" y="4897603"/>
            <a:ext cx="16192500" cy="9525"/>
          </a:xfrm>
          <a:prstGeom prst="rect">
            <a:avLst/>
          </a:prstGeom>
          <a:solidFill>
            <a:srgbClr val="D8CFC7"/>
          </a:solidFill>
          <a:ln>
            <a:noFill/>
          </a:ln>
          <a:effectLst/>
        </p:spPr>
        <p:txBody>
          <a:bodyPr rtlCol="0" anchor="ctr"/>
          <a:lstStyle/>
          <a:p>
            <a:pPr algn="ctr"/>
          </a:p>
        </p:txBody>
      </p:sp>
      <p:sp>
        <p:nvSpPr>
          <p:cNvPr id="13" name="TextBox 12"/>
          <p:cNvSpPr txBox="1"/>
          <p:nvPr/>
        </p:nvSpPr>
        <p:spPr>
          <a:xfrm>
            <a:off x="1314450" y="5054765"/>
            <a:ext cx="447675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2 · Ask about specifics in the past</a:t>
            </a:r>
          </a:p>
        </p:txBody>
      </p:sp>
      <p:sp>
        <p:nvSpPr>
          <p:cNvPr id="14" name="TextBox 13"/>
          <p:cNvSpPr txBox="1"/>
          <p:nvPr/>
        </p:nvSpPr>
        <p:spPr>
          <a:xfrm>
            <a:off x="6076950" y="5054765"/>
            <a:ext cx="56197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Not generics, and not hypotheticals about the future. You already own this from Lectures 19 and 20.</a:t>
            </a:r>
          </a:p>
        </p:txBody>
      </p:sp>
      <p:sp>
        <p:nvSpPr>
          <p:cNvPr id="15" name="TextBox 14"/>
          <p:cNvSpPr txBox="1"/>
          <p:nvPr/>
        </p:nvSpPr>
        <p:spPr>
          <a:xfrm>
            <a:off x="11982450" y="5054765"/>
            <a:ext cx="47053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'Would you...', 'do you usually...', 'what would make you...'</a:t>
            </a:r>
          </a:p>
        </p:txBody>
      </p:sp>
      <p:sp>
        <p:nvSpPr>
          <p:cNvPr id="16" name="Rectangle 15"/>
          <p:cNvSpPr/>
          <p:nvPr/>
        </p:nvSpPr>
        <p:spPr>
          <a:xfrm>
            <a:off x="1047750" y="6232855"/>
            <a:ext cx="16192500" cy="9525"/>
          </a:xfrm>
          <a:prstGeom prst="rect">
            <a:avLst/>
          </a:prstGeom>
          <a:solidFill>
            <a:srgbClr val="D8CFC7"/>
          </a:solidFill>
          <a:ln>
            <a:noFill/>
          </a:ln>
          <a:effectLst/>
        </p:spPr>
        <p:txBody>
          <a:bodyPr rtlCol="0" anchor="ctr"/>
          <a:lstStyle/>
          <a:p>
            <a:pPr algn="ctr"/>
          </a:p>
        </p:txBody>
      </p:sp>
      <p:sp>
        <p:nvSpPr>
          <p:cNvPr id="17" name="TextBox 16"/>
          <p:cNvSpPr txBox="1"/>
          <p:nvPr/>
        </p:nvSpPr>
        <p:spPr>
          <a:xfrm>
            <a:off x="1314450" y="6390018"/>
            <a:ext cx="447675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3 · Talk less than a third of the time</a:t>
            </a:r>
          </a:p>
        </p:txBody>
      </p:sp>
      <p:sp>
        <p:nvSpPr>
          <p:cNvPr id="18" name="TextBox 17"/>
          <p:cNvSpPr txBox="1"/>
          <p:nvPr/>
        </p:nvSpPr>
        <p:spPr>
          <a:xfrm>
            <a:off x="6076950" y="6390018"/>
            <a:ext cx="56197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A testable threshold. Over a third and you have stopped learning and started pitching, whatever you believe you are doing.</a:t>
            </a:r>
          </a:p>
        </p:txBody>
      </p:sp>
      <p:sp>
        <p:nvSpPr>
          <p:cNvPr id="19" name="TextBox 18"/>
          <p:cNvSpPr txBox="1"/>
          <p:nvPr/>
        </p:nvSpPr>
        <p:spPr>
          <a:xfrm>
            <a:off x="11982450" y="6390018"/>
            <a:ext cx="47053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The founder has more words in the transcript than the other person.</a:t>
            </a:r>
          </a:p>
        </p:txBody>
      </p:sp>
      <p:sp>
        <p:nvSpPr>
          <p:cNvPr id="20" name="Rectangle 19"/>
          <p:cNvSpPr/>
          <p:nvPr/>
        </p:nvSpPr>
        <p:spPr>
          <a:xfrm>
            <a:off x="1047750" y="7568108"/>
            <a:ext cx="16192500" cy="9525"/>
          </a:xfrm>
          <a:prstGeom prst="rect">
            <a:avLst/>
          </a:prstGeom>
          <a:solidFill>
            <a:srgbClr val="D8CFC7"/>
          </a:solidFill>
          <a:ln>
            <a:noFill/>
          </a:ln>
          <a:effectLst/>
        </p:spPr>
        <p:txBody>
          <a:bodyPr rtlCol="0" anchor="ctr"/>
          <a:lstStyle/>
          <a:p>
            <a:pPr algn="ctr"/>
          </a:p>
        </p:txBody>
      </p:sp>
      <p:sp>
        <p:nvSpPr>
          <p:cNvPr id="21" name="TextBox 20"/>
          <p:cNvSpPr txBox="1"/>
          <p:nvPr/>
        </p:nvSpPr>
        <p:spPr>
          <a:xfrm>
            <a:off x="1047750" y="8096250"/>
            <a:ext cx="16192500" cy="104775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An interview is a bounded thirty minutes with someone who agreed to be researched. These rules are for every other conversation.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PAUSE AND ANSWER</a:t>
            </a:r>
          </a:p>
        </p:txBody>
      </p:sp>
      <p:sp>
        <p:nvSpPr>
          <p:cNvPr id="3" name="TextBox 2"/>
          <p:cNvSpPr txBox="1"/>
          <p:nvPr/>
        </p:nvSpPr>
        <p:spPr>
          <a:xfrm>
            <a:off x="1714500" y="3782263"/>
            <a:ext cx="14859000" cy="2912974"/>
          </a:xfrm>
          <a:prstGeom prst="rect">
            <a:avLst/>
          </a:prstGeom>
          <a:noFill/>
        </p:spPr>
        <p:txBody>
          <a:bodyPr wrap="square" lIns="0" rIns="0" tIns="0" bIns="0" anchor="t">
            <a:noAutofit/>
          </a:bodyPr>
          <a:lstStyle/>
          <a:p>
            <a:pPr algn="l">
              <a:lnSpc>
                <a:spcPct val="105000"/>
              </a:lnSpc>
            </a:pPr>
            <a:r>
              <a:rPr sz="4400" b="1" i="0">
                <a:solidFill>
                  <a:srgbClr val="F5F1E9"/>
                </a:solidFill>
                <a:latin typeface="Arial"/>
              </a:rPr>
              <a:t>You sort perfectly and avoid every compliment. You still finish twelve conversations where people described real problems and were interested. Do you know whether anybody will do anything?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FRAMEWORK 3 · THE ANSWERS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Four Currencies of Commitment</a:t>
            </a:r>
          </a:p>
        </p:txBody>
      </p:sp>
      <p:sp>
        <p:nvSpPr>
          <p:cNvPr id="4" name="TextBox 3"/>
          <p:cNvSpPr txBox="1"/>
          <p:nvPr/>
        </p:nvSpPr>
        <p:spPr>
          <a:xfrm>
            <a:off x="1314450" y="2838450"/>
            <a:ext cx="21907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CURRENCY</a:t>
            </a:r>
          </a:p>
        </p:txBody>
      </p:sp>
      <p:sp>
        <p:nvSpPr>
          <p:cNvPr id="5" name="TextBox 4"/>
          <p:cNvSpPr txBox="1"/>
          <p:nvPr/>
        </p:nvSpPr>
        <p:spPr>
          <a:xfrm>
            <a:off x="3695700" y="2838450"/>
            <a:ext cx="428625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ASK</a:t>
            </a:r>
          </a:p>
        </p:txBody>
      </p:sp>
      <p:sp>
        <p:nvSpPr>
          <p:cNvPr id="6" name="TextBox 5"/>
          <p:cNvSpPr txBox="1"/>
          <p:nvPr/>
        </p:nvSpPr>
        <p:spPr>
          <a:xfrm>
            <a:off x="8172450" y="2838450"/>
            <a:ext cx="45720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WHAT A YES PROVES</a:t>
            </a:r>
          </a:p>
        </p:txBody>
      </p:sp>
      <p:sp>
        <p:nvSpPr>
          <p:cNvPr id="7" name="TextBox 6"/>
          <p:cNvSpPr txBox="1"/>
          <p:nvPr/>
        </p:nvSpPr>
        <p:spPr>
          <a:xfrm>
            <a:off x="12934950" y="2838450"/>
            <a:ext cx="3848100" cy="30480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FOR THE INTERNSHIP IDEA</a:t>
            </a:r>
          </a:p>
        </p:txBody>
      </p:sp>
      <p:sp>
        <p:nvSpPr>
          <p:cNvPr id="8" name="Rectangle 7"/>
          <p:cNvSpPr/>
          <p:nvPr/>
        </p:nvSpPr>
        <p:spPr>
          <a:xfrm>
            <a:off x="1047750" y="3371850"/>
            <a:ext cx="16192500" cy="28575"/>
          </a:xfrm>
          <a:prstGeom prst="rect">
            <a:avLst/>
          </a:prstGeom>
          <a:solidFill>
            <a:srgbClr val="201914"/>
          </a:solidFill>
          <a:ln>
            <a:noFill/>
          </a:ln>
          <a:effectLst/>
        </p:spPr>
        <p:txBody>
          <a:bodyPr rtlCol="0" anchor="ctr"/>
          <a:lstStyle/>
          <a:p>
            <a:pPr algn="ctr"/>
          </a:p>
        </p:txBody>
      </p:sp>
      <p:sp>
        <p:nvSpPr>
          <p:cNvPr id="9" name="Rectangle 8"/>
          <p:cNvSpPr/>
          <p:nvPr/>
        </p:nvSpPr>
        <p:spPr>
          <a:xfrm>
            <a:off x="1047750" y="3562350"/>
            <a:ext cx="16192500" cy="1335253"/>
          </a:xfrm>
          <a:prstGeom prst="rect">
            <a:avLst/>
          </a:prstGeom>
          <a:solidFill>
            <a:srgbClr val="201914"/>
          </a:solidFill>
          <a:ln>
            <a:noFill/>
          </a:ln>
          <a:effectLst/>
        </p:spPr>
        <p:txBody>
          <a:bodyPr rtlCol="0" anchor="ctr"/>
          <a:lstStyle/>
          <a:p>
            <a:pPr algn="ctr"/>
          </a:p>
        </p:txBody>
      </p:sp>
      <p:sp>
        <p:nvSpPr>
          <p:cNvPr id="10" name="TextBox 9"/>
          <p:cNvSpPr txBox="1"/>
          <p:nvPr/>
        </p:nvSpPr>
        <p:spPr>
          <a:xfrm>
            <a:off x="1314450" y="3719512"/>
            <a:ext cx="2095500" cy="1335253"/>
          </a:xfrm>
          <a:prstGeom prst="rect">
            <a:avLst/>
          </a:prstGeom>
          <a:noFill/>
        </p:spPr>
        <p:txBody>
          <a:bodyPr wrap="square" lIns="0" rIns="0" tIns="0" bIns="0" anchor="t">
            <a:noAutofit/>
          </a:bodyPr>
          <a:lstStyle/>
          <a:p>
            <a:pPr algn="l">
              <a:lnSpc>
                <a:spcPct val="105000"/>
              </a:lnSpc>
            </a:pPr>
            <a:r>
              <a:rPr sz="2200" b="1" i="0">
                <a:solidFill>
                  <a:srgbClr val="F5F1E9"/>
                </a:solidFill>
                <a:latin typeface="Arial"/>
              </a:rPr>
              <a:t>Money</a:t>
            </a:r>
          </a:p>
        </p:txBody>
      </p:sp>
      <p:sp>
        <p:nvSpPr>
          <p:cNvPr id="11" name="TextBox 10"/>
          <p:cNvSpPr txBox="1"/>
          <p:nvPr/>
        </p:nvSpPr>
        <p:spPr>
          <a:xfrm>
            <a:off x="3695700" y="3719512"/>
            <a:ext cx="4191000" cy="1335253"/>
          </a:xfrm>
          <a:prstGeom prst="rect">
            <a:avLst/>
          </a:prstGeom>
          <a:noFill/>
        </p:spPr>
        <p:txBody>
          <a:bodyPr wrap="square" lIns="0" rIns="0" tIns="0" bIns="0" anchor="t">
            <a:noAutofit/>
          </a:bodyPr>
          <a:lstStyle/>
          <a:p>
            <a:pPr algn="l">
              <a:lnSpc>
                <a:spcPct val="105000"/>
              </a:lnSpc>
            </a:pPr>
            <a:r>
              <a:rPr sz="2200" b="0" i="0">
                <a:solidFill>
                  <a:srgbClr val="F5F1E9"/>
                </a:solidFill>
                <a:latin typeface="Arial"/>
              </a:rPr>
              <a:t>A deposit, a pre-order, a first payment, however small.</a:t>
            </a:r>
          </a:p>
        </p:txBody>
      </p:sp>
      <p:sp>
        <p:nvSpPr>
          <p:cNvPr id="12" name="TextBox 11"/>
          <p:cNvSpPr txBox="1"/>
          <p:nvPr/>
        </p:nvSpPr>
        <p:spPr>
          <a:xfrm>
            <a:off x="8172450" y="3719512"/>
            <a:ext cx="4476750" cy="1335253"/>
          </a:xfrm>
          <a:prstGeom prst="rect">
            <a:avLst/>
          </a:prstGeom>
          <a:noFill/>
        </p:spPr>
        <p:txBody>
          <a:bodyPr wrap="square" lIns="0" rIns="0" tIns="0" bIns="0" anchor="t">
            <a:noAutofit/>
          </a:bodyPr>
          <a:lstStyle/>
          <a:p>
            <a:pPr algn="l">
              <a:lnSpc>
                <a:spcPct val="105000"/>
              </a:lnSpc>
            </a:pPr>
            <a:r>
              <a:rPr sz="2200" b="0" i="0">
                <a:solidFill>
                  <a:srgbClr val="F5F1E9"/>
                </a:solidFill>
                <a:latin typeface="Arial"/>
              </a:rPr>
              <a:t>The strongest signal available. Money is the least polite thing in the world.</a:t>
            </a:r>
          </a:p>
        </p:txBody>
      </p:sp>
      <p:sp>
        <p:nvSpPr>
          <p:cNvPr id="13" name="TextBox 12"/>
          <p:cNvSpPr txBox="1"/>
          <p:nvPr/>
        </p:nvSpPr>
        <p:spPr>
          <a:xfrm>
            <a:off x="12934950" y="3719512"/>
            <a:ext cx="3752850" cy="1335253"/>
          </a:xfrm>
          <a:prstGeom prst="rect">
            <a:avLst/>
          </a:prstGeom>
          <a:noFill/>
        </p:spPr>
        <p:txBody>
          <a:bodyPr wrap="square" lIns="0" rIns="0" tIns="0" bIns="0" anchor="t">
            <a:noAutofit/>
          </a:bodyPr>
          <a:lstStyle/>
          <a:p>
            <a:pPr algn="l">
              <a:lnSpc>
                <a:spcPct val="105000"/>
              </a:lnSpc>
            </a:pPr>
            <a:r>
              <a:rPr sz="2200" b="0" i="0">
                <a:solidFill>
                  <a:srgbClr val="F5F1E9"/>
                </a:solidFill>
                <a:latin typeface="Arial"/>
              </a:rPr>
              <a:t>₹500 deposits from the first few students who say they would use it.</a:t>
            </a:r>
          </a:p>
        </p:txBody>
      </p:sp>
      <p:sp>
        <p:nvSpPr>
          <p:cNvPr id="14" name="Rectangle 13"/>
          <p:cNvSpPr/>
          <p:nvPr/>
        </p:nvSpPr>
        <p:spPr>
          <a:xfrm>
            <a:off x="1047750" y="4897603"/>
            <a:ext cx="16192500" cy="1335253"/>
          </a:xfrm>
          <a:prstGeom prst="rect">
            <a:avLst/>
          </a:prstGeom>
          <a:solidFill>
            <a:srgbClr val="F3EEE6"/>
          </a:solidFill>
          <a:ln>
            <a:noFill/>
          </a:ln>
          <a:effectLst/>
        </p:spPr>
        <p:txBody>
          <a:bodyPr rtlCol="0" anchor="ctr"/>
          <a:lstStyle/>
          <a:p>
            <a:pPr algn="ctr"/>
          </a:p>
        </p:txBody>
      </p:sp>
      <p:sp>
        <p:nvSpPr>
          <p:cNvPr id="15" name="Rectangle 14"/>
          <p:cNvSpPr/>
          <p:nvPr/>
        </p:nvSpPr>
        <p:spPr>
          <a:xfrm>
            <a:off x="1047750" y="4897603"/>
            <a:ext cx="16192500" cy="9525"/>
          </a:xfrm>
          <a:prstGeom prst="rect">
            <a:avLst/>
          </a:prstGeom>
          <a:solidFill>
            <a:srgbClr val="D8CFC7"/>
          </a:solidFill>
          <a:ln>
            <a:noFill/>
          </a:ln>
          <a:effectLst/>
        </p:spPr>
        <p:txBody>
          <a:bodyPr rtlCol="0" anchor="ctr"/>
          <a:lstStyle/>
          <a:p>
            <a:pPr algn="ctr"/>
          </a:p>
        </p:txBody>
      </p:sp>
      <p:sp>
        <p:nvSpPr>
          <p:cNvPr id="16" name="TextBox 15"/>
          <p:cNvSpPr txBox="1"/>
          <p:nvPr/>
        </p:nvSpPr>
        <p:spPr>
          <a:xfrm>
            <a:off x="1314450" y="5054765"/>
            <a:ext cx="209550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Time</a:t>
            </a:r>
          </a:p>
        </p:txBody>
      </p:sp>
      <p:sp>
        <p:nvSpPr>
          <p:cNvPr id="17" name="TextBox 16"/>
          <p:cNvSpPr txBox="1"/>
          <p:nvPr/>
        </p:nvSpPr>
        <p:spPr>
          <a:xfrm>
            <a:off x="3695700" y="5054765"/>
            <a:ext cx="419100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An hour next week, a trial, a walkthrough of their current process.</a:t>
            </a:r>
          </a:p>
        </p:txBody>
      </p:sp>
      <p:sp>
        <p:nvSpPr>
          <p:cNvPr id="18" name="TextBox 17"/>
          <p:cNvSpPr txBox="1"/>
          <p:nvPr/>
        </p:nvSpPr>
        <p:spPr>
          <a:xfrm>
            <a:off x="8172450" y="5054765"/>
            <a:ext cx="44767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The problem is worth their calendar, which is scarcer than their opinion.</a:t>
            </a:r>
          </a:p>
        </p:txBody>
      </p:sp>
      <p:sp>
        <p:nvSpPr>
          <p:cNvPr id="19" name="TextBox 18"/>
          <p:cNvSpPr txBox="1"/>
          <p:nvPr/>
        </p:nvSpPr>
        <p:spPr>
          <a:xfrm>
            <a:off x="12934950" y="5054765"/>
            <a:ext cx="37528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Twenty minutes on Thursday to watch you apply on the portals you use now.</a:t>
            </a:r>
          </a:p>
        </p:txBody>
      </p:sp>
      <p:sp>
        <p:nvSpPr>
          <p:cNvPr id="20" name="Rectangle 19"/>
          <p:cNvSpPr/>
          <p:nvPr/>
        </p:nvSpPr>
        <p:spPr>
          <a:xfrm>
            <a:off x="1047750" y="6232855"/>
            <a:ext cx="16192500" cy="9525"/>
          </a:xfrm>
          <a:prstGeom prst="rect">
            <a:avLst/>
          </a:prstGeom>
          <a:solidFill>
            <a:srgbClr val="D8CFC7"/>
          </a:solidFill>
          <a:ln>
            <a:noFill/>
          </a:ln>
          <a:effectLst/>
        </p:spPr>
        <p:txBody>
          <a:bodyPr rtlCol="0" anchor="ctr"/>
          <a:lstStyle/>
          <a:p>
            <a:pPr algn="ctr"/>
          </a:p>
        </p:txBody>
      </p:sp>
      <p:sp>
        <p:nvSpPr>
          <p:cNvPr id="21" name="TextBox 20"/>
          <p:cNvSpPr txBox="1"/>
          <p:nvPr/>
        </p:nvSpPr>
        <p:spPr>
          <a:xfrm>
            <a:off x="1314450" y="6390018"/>
            <a:ext cx="2095500" cy="1675562"/>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Reputation</a:t>
            </a:r>
          </a:p>
        </p:txBody>
      </p:sp>
      <p:sp>
        <p:nvSpPr>
          <p:cNvPr id="22" name="TextBox 21"/>
          <p:cNvSpPr txBox="1"/>
          <p:nvPr/>
        </p:nvSpPr>
        <p:spPr>
          <a:xfrm>
            <a:off x="3695700" y="6390018"/>
            <a:ext cx="419100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An introduction to their boss, their family, their group.</a:t>
            </a:r>
          </a:p>
        </p:txBody>
      </p:sp>
      <p:sp>
        <p:nvSpPr>
          <p:cNvPr id="23" name="TextBox 22"/>
          <p:cNvSpPr txBox="1"/>
          <p:nvPr/>
        </p:nvSpPr>
        <p:spPr>
          <a:xfrm>
            <a:off x="8172450" y="6390018"/>
            <a:ext cx="447675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They will attach their name to it, which nobody does as a favour.</a:t>
            </a:r>
          </a:p>
        </p:txBody>
      </p:sp>
      <p:sp>
        <p:nvSpPr>
          <p:cNvPr id="24" name="TextBox 23"/>
          <p:cNvSpPr txBox="1"/>
          <p:nvPr/>
        </p:nvSpPr>
        <p:spPr>
          <a:xfrm>
            <a:off x="12934950" y="6390018"/>
            <a:ext cx="3752850" cy="1675562"/>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An introduction to your college's placement officer, with your name on the request.</a:t>
            </a:r>
          </a:p>
        </p:txBody>
      </p:sp>
      <p:sp>
        <p:nvSpPr>
          <p:cNvPr id="25" name="Rectangle 24"/>
          <p:cNvSpPr/>
          <p:nvPr/>
        </p:nvSpPr>
        <p:spPr>
          <a:xfrm>
            <a:off x="1047750" y="7908417"/>
            <a:ext cx="16192500" cy="1335253"/>
          </a:xfrm>
          <a:prstGeom prst="rect">
            <a:avLst/>
          </a:prstGeom>
          <a:solidFill>
            <a:srgbClr val="F3EEE6"/>
          </a:solidFill>
          <a:ln>
            <a:noFill/>
          </a:ln>
          <a:effectLst/>
        </p:spPr>
        <p:txBody>
          <a:bodyPr rtlCol="0" anchor="ctr"/>
          <a:lstStyle/>
          <a:p>
            <a:pPr algn="ctr"/>
          </a:p>
        </p:txBody>
      </p:sp>
      <p:sp>
        <p:nvSpPr>
          <p:cNvPr id="26" name="Rectangle 25"/>
          <p:cNvSpPr/>
          <p:nvPr/>
        </p:nvSpPr>
        <p:spPr>
          <a:xfrm>
            <a:off x="1047750" y="7908417"/>
            <a:ext cx="16192500" cy="9525"/>
          </a:xfrm>
          <a:prstGeom prst="rect">
            <a:avLst/>
          </a:prstGeom>
          <a:solidFill>
            <a:srgbClr val="D8CFC7"/>
          </a:solidFill>
          <a:ln>
            <a:noFill/>
          </a:ln>
          <a:effectLst/>
        </p:spPr>
        <p:txBody>
          <a:bodyPr rtlCol="0" anchor="ctr"/>
          <a:lstStyle/>
          <a:p>
            <a:pPr algn="ctr"/>
          </a:p>
        </p:txBody>
      </p:sp>
      <p:sp>
        <p:nvSpPr>
          <p:cNvPr id="27" name="TextBox 26"/>
          <p:cNvSpPr txBox="1"/>
          <p:nvPr/>
        </p:nvSpPr>
        <p:spPr>
          <a:xfrm>
            <a:off x="1314450" y="8065580"/>
            <a:ext cx="2095500" cy="1335253"/>
          </a:xfrm>
          <a:prstGeom prst="rect">
            <a:avLst/>
          </a:prstGeom>
          <a:noFill/>
        </p:spPr>
        <p:txBody>
          <a:bodyPr wrap="square" lIns="0" rIns="0" tIns="0" bIns="0" anchor="t">
            <a:noAutofit/>
          </a:bodyPr>
          <a:lstStyle/>
          <a:p>
            <a:pPr algn="l">
              <a:lnSpc>
                <a:spcPct val="105000"/>
              </a:lnSpc>
            </a:pPr>
            <a:r>
              <a:rPr sz="2200" b="1" i="0">
                <a:solidFill>
                  <a:srgbClr val="201914"/>
                </a:solidFill>
                <a:latin typeface="Arial"/>
              </a:rPr>
              <a:t>Information</a:t>
            </a:r>
          </a:p>
        </p:txBody>
      </p:sp>
      <p:sp>
        <p:nvSpPr>
          <p:cNvPr id="28" name="TextBox 27"/>
          <p:cNvSpPr txBox="1"/>
          <p:nvPr/>
        </p:nvSpPr>
        <p:spPr>
          <a:xfrm>
            <a:off x="3695700" y="8065580"/>
            <a:ext cx="419100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A name and a number for somebody else with the problem.</a:t>
            </a:r>
          </a:p>
        </p:txBody>
      </p:sp>
      <p:sp>
        <p:nvSpPr>
          <p:cNvPr id="29" name="TextBox 28"/>
          <p:cNvSpPr txBox="1"/>
          <p:nvPr/>
        </p:nvSpPr>
        <p:spPr>
          <a:xfrm>
            <a:off x="8172450" y="8065580"/>
            <a:ext cx="44767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The cheapest ask on the list, and the one that compounds.</a:t>
            </a:r>
          </a:p>
        </p:txBody>
      </p:sp>
      <p:sp>
        <p:nvSpPr>
          <p:cNvPr id="30" name="TextBox 29"/>
          <p:cNvSpPr txBox="1"/>
          <p:nvPr/>
        </p:nvSpPr>
        <p:spPr>
          <a:xfrm>
            <a:off x="12934950" y="8065580"/>
            <a:ext cx="3752850" cy="1335253"/>
          </a:xfrm>
          <a:prstGeom prst="rect">
            <a:avLst/>
          </a:prstGeom>
          <a:noFill/>
        </p:spPr>
        <p:txBody>
          <a:bodyPr wrap="square" lIns="0" rIns="0" tIns="0" bIns="0" anchor="t">
            <a:noAutofit/>
          </a:bodyPr>
          <a:lstStyle/>
          <a:p>
            <a:pPr algn="l">
              <a:lnSpc>
                <a:spcPct val="105000"/>
              </a:lnSpc>
            </a:pPr>
            <a:r>
              <a:rPr sz="2200" b="0" i="0">
                <a:solidFill>
                  <a:srgbClr val="665B53"/>
                </a:solidFill>
                <a:latin typeface="Arial"/>
              </a:rPr>
              <a:t>The names and numbers of two batch-mates who applied to forty places.</a:t>
            </a:r>
          </a:p>
        </p:txBody>
      </p:sp>
      <p:sp>
        <p:nvSpPr>
          <p:cNvPr id="31" name="Rectangle 30"/>
          <p:cNvSpPr/>
          <p:nvPr/>
        </p:nvSpPr>
        <p:spPr>
          <a:xfrm>
            <a:off x="1047750" y="9243670"/>
            <a:ext cx="16192500" cy="9525"/>
          </a:xfrm>
          <a:prstGeom prst="rect">
            <a:avLst/>
          </a:prstGeom>
          <a:solidFill>
            <a:srgbClr val="D8CFC7"/>
          </a:solidFill>
          <a:ln>
            <a:noFill/>
          </a:ln>
          <a:effectLst/>
        </p:spPr>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ESCALATE · DO NOT OPEN AT THE TOP</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Ask for a name, then an hour, then money.</a:t>
            </a:r>
          </a:p>
        </p:txBody>
      </p:sp>
      <p:sp>
        <p:nvSpPr>
          <p:cNvPr id="4" name="Rectangle 3"/>
          <p:cNvSpPr/>
          <p:nvPr/>
        </p:nvSpPr>
        <p:spPr>
          <a:xfrm>
            <a:off x="1047750" y="3162300"/>
            <a:ext cx="16192500" cy="19050"/>
          </a:xfrm>
          <a:prstGeom prst="rect">
            <a:avLst/>
          </a:prstGeom>
          <a:solidFill>
            <a:srgbClr val="201914"/>
          </a:solidFill>
          <a:ln>
            <a:noFill/>
          </a:ln>
          <a:effectLst/>
        </p:spPr>
        <p:txBody>
          <a:bodyPr rtlCol="0" anchor="ctr"/>
          <a:lstStyle/>
          <a:p>
            <a:pPr algn="ctr"/>
          </a:p>
        </p:txBody>
      </p:sp>
      <p:sp>
        <p:nvSpPr>
          <p:cNvPr id="5" name="Rectangle 4"/>
          <p:cNvSpPr/>
          <p:nvPr/>
        </p:nvSpPr>
        <p:spPr>
          <a:xfrm>
            <a:off x="1047750" y="3067050"/>
            <a:ext cx="209550" cy="209550"/>
          </a:xfrm>
          <a:prstGeom prst="rect">
            <a:avLst/>
          </a:prstGeom>
          <a:solidFill>
            <a:srgbClr val="201914"/>
          </a:solidFill>
          <a:ln>
            <a:noFill/>
          </a:ln>
          <a:effectLst/>
        </p:spPr>
        <p:txBody>
          <a:bodyPr rtlCol="0" anchor="ctr"/>
          <a:lstStyle/>
          <a:p>
            <a:pPr algn="ctr"/>
          </a:p>
        </p:txBody>
      </p:sp>
      <p:sp>
        <p:nvSpPr>
          <p:cNvPr id="6" name="TextBox 5"/>
          <p:cNvSpPr txBox="1"/>
          <p:nvPr/>
        </p:nvSpPr>
        <p:spPr>
          <a:xfrm>
            <a:off x="1047750" y="3486150"/>
            <a:ext cx="5143500" cy="2857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FIRST</a:t>
            </a:r>
          </a:p>
        </p:txBody>
      </p:sp>
      <p:sp>
        <p:nvSpPr>
          <p:cNvPr id="7" name="TextBox 6"/>
          <p:cNvSpPr txBox="1"/>
          <p:nvPr/>
        </p:nvSpPr>
        <p:spPr>
          <a:xfrm>
            <a:off x="1047750" y="3943350"/>
            <a:ext cx="5143500" cy="857250"/>
          </a:xfrm>
          <a:prstGeom prst="rect">
            <a:avLst/>
          </a:prstGeom>
          <a:noFill/>
        </p:spPr>
        <p:txBody>
          <a:bodyPr wrap="square" lIns="0" rIns="0" tIns="0" bIns="0" anchor="t">
            <a:noAutofit/>
          </a:bodyPr>
          <a:lstStyle/>
          <a:p>
            <a:pPr algn="l">
              <a:lnSpc>
                <a:spcPct val="102000"/>
              </a:lnSpc>
            </a:pPr>
            <a:r>
              <a:rPr sz="3600" b="1" i="0">
                <a:solidFill>
                  <a:srgbClr val="201914"/>
                </a:solidFill>
                <a:latin typeface="Arial"/>
              </a:rPr>
              <a:t>A name and a number</a:t>
            </a:r>
          </a:p>
        </p:txBody>
      </p:sp>
      <p:sp>
        <p:nvSpPr>
          <p:cNvPr id="8" name="TextBox 7"/>
          <p:cNvSpPr txBox="1"/>
          <p:nvPr/>
        </p:nvSpPr>
        <p:spPr>
          <a:xfrm>
            <a:off x="1047750" y="4838700"/>
            <a:ext cx="4953000" cy="209550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The cheapest ask. Somebody else with the problem, and an introduction that compounds.</a:t>
            </a:r>
          </a:p>
        </p:txBody>
      </p:sp>
      <p:sp>
        <p:nvSpPr>
          <p:cNvPr id="9" name="Rectangle 8"/>
          <p:cNvSpPr/>
          <p:nvPr/>
        </p:nvSpPr>
        <p:spPr>
          <a:xfrm>
            <a:off x="6572250" y="3067050"/>
            <a:ext cx="209550" cy="209550"/>
          </a:xfrm>
          <a:prstGeom prst="rect">
            <a:avLst/>
          </a:prstGeom>
          <a:solidFill>
            <a:srgbClr val="201914"/>
          </a:solidFill>
          <a:ln>
            <a:noFill/>
          </a:ln>
          <a:effectLst/>
        </p:spPr>
        <p:txBody>
          <a:bodyPr rtlCol="0" anchor="ctr"/>
          <a:lstStyle/>
          <a:p>
            <a:pPr algn="ctr"/>
          </a:p>
        </p:txBody>
      </p:sp>
      <p:sp>
        <p:nvSpPr>
          <p:cNvPr id="10" name="TextBox 9"/>
          <p:cNvSpPr txBox="1"/>
          <p:nvPr/>
        </p:nvSpPr>
        <p:spPr>
          <a:xfrm>
            <a:off x="6572250" y="3486150"/>
            <a:ext cx="5143500" cy="2857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THEN</a:t>
            </a:r>
          </a:p>
        </p:txBody>
      </p:sp>
      <p:sp>
        <p:nvSpPr>
          <p:cNvPr id="11" name="TextBox 10"/>
          <p:cNvSpPr txBox="1"/>
          <p:nvPr/>
        </p:nvSpPr>
        <p:spPr>
          <a:xfrm>
            <a:off x="6572250" y="3943350"/>
            <a:ext cx="5143500" cy="857250"/>
          </a:xfrm>
          <a:prstGeom prst="rect">
            <a:avLst/>
          </a:prstGeom>
          <a:noFill/>
        </p:spPr>
        <p:txBody>
          <a:bodyPr wrap="square" lIns="0" rIns="0" tIns="0" bIns="0" anchor="t">
            <a:noAutofit/>
          </a:bodyPr>
          <a:lstStyle/>
          <a:p>
            <a:pPr algn="l">
              <a:lnSpc>
                <a:spcPct val="102000"/>
              </a:lnSpc>
            </a:pPr>
            <a:r>
              <a:rPr sz="3600" b="1" i="0">
                <a:solidFill>
                  <a:srgbClr val="201914"/>
                </a:solidFill>
                <a:latin typeface="Arial"/>
              </a:rPr>
              <a:t>An hour</a:t>
            </a:r>
          </a:p>
        </p:txBody>
      </p:sp>
      <p:sp>
        <p:nvSpPr>
          <p:cNvPr id="12" name="TextBox 11"/>
          <p:cNvSpPr txBox="1"/>
          <p:nvPr/>
        </p:nvSpPr>
        <p:spPr>
          <a:xfrm>
            <a:off x="6572250" y="4838700"/>
            <a:ext cx="4953000" cy="209550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 slot in the calendar next week, to watch them do it or to show them what you found.</a:t>
            </a:r>
          </a:p>
        </p:txBody>
      </p:sp>
      <p:sp>
        <p:nvSpPr>
          <p:cNvPr id="13" name="Rectangle 12"/>
          <p:cNvSpPr/>
          <p:nvPr/>
        </p:nvSpPr>
        <p:spPr>
          <a:xfrm>
            <a:off x="12096750" y="3067050"/>
            <a:ext cx="209550" cy="209550"/>
          </a:xfrm>
          <a:prstGeom prst="rect">
            <a:avLst/>
          </a:prstGeom>
          <a:solidFill>
            <a:srgbClr val="C35141"/>
          </a:solidFill>
          <a:ln>
            <a:noFill/>
          </a:ln>
          <a:effectLst/>
        </p:spPr>
        <p:txBody>
          <a:bodyPr rtlCol="0" anchor="ctr"/>
          <a:lstStyle/>
          <a:p>
            <a:pPr algn="ctr"/>
          </a:p>
        </p:txBody>
      </p:sp>
      <p:sp>
        <p:nvSpPr>
          <p:cNvPr id="14" name="TextBox 13"/>
          <p:cNvSpPr txBox="1"/>
          <p:nvPr/>
        </p:nvSpPr>
        <p:spPr>
          <a:xfrm>
            <a:off x="12096750" y="3486150"/>
            <a:ext cx="5143500" cy="285750"/>
          </a:xfrm>
          <a:prstGeom prst="rect">
            <a:avLst/>
          </a:prstGeom>
          <a:noFill/>
        </p:spPr>
        <p:txBody>
          <a:bodyPr wrap="square" lIns="0" rIns="0" tIns="0" bIns="0" anchor="t">
            <a:noAutofit/>
          </a:bodyPr>
          <a:lstStyle/>
          <a:p>
            <a:pPr algn="l">
              <a:lnSpc>
                <a:spcPct val="108000"/>
              </a:lnSpc>
            </a:pPr>
            <a:r>
              <a:rPr sz="1900" b="1" i="0" spc="200">
                <a:solidFill>
                  <a:srgbClr val="7B6F66"/>
                </a:solidFill>
                <a:latin typeface="Arial"/>
              </a:rPr>
              <a:t>THEN</a:t>
            </a:r>
          </a:p>
        </p:txBody>
      </p:sp>
      <p:sp>
        <p:nvSpPr>
          <p:cNvPr id="15" name="TextBox 14"/>
          <p:cNvSpPr txBox="1"/>
          <p:nvPr/>
        </p:nvSpPr>
        <p:spPr>
          <a:xfrm>
            <a:off x="12096750" y="3943350"/>
            <a:ext cx="5143500" cy="857250"/>
          </a:xfrm>
          <a:prstGeom prst="rect">
            <a:avLst/>
          </a:prstGeom>
          <a:noFill/>
        </p:spPr>
        <p:txBody>
          <a:bodyPr wrap="square" lIns="0" rIns="0" tIns="0" bIns="0" anchor="t">
            <a:noAutofit/>
          </a:bodyPr>
          <a:lstStyle/>
          <a:p>
            <a:pPr algn="l">
              <a:lnSpc>
                <a:spcPct val="102000"/>
              </a:lnSpc>
            </a:pPr>
            <a:r>
              <a:rPr sz="3600" b="1" i="0">
                <a:solidFill>
                  <a:srgbClr val="201914"/>
                </a:solidFill>
                <a:latin typeface="Arial"/>
              </a:rPr>
              <a:t>Money</a:t>
            </a:r>
          </a:p>
        </p:txBody>
      </p:sp>
      <p:sp>
        <p:nvSpPr>
          <p:cNvPr id="16" name="TextBox 15"/>
          <p:cNvSpPr txBox="1"/>
          <p:nvPr/>
        </p:nvSpPr>
        <p:spPr>
          <a:xfrm>
            <a:off x="12096750" y="4838700"/>
            <a:ext cx="4953000" cy="2095500"/>
          </a:xfrm>
          <a:prstGeom prst="rect">
            <a:avLst/>
          </a:prstGeom>
          <a:noFill/>
        </p:spPr>
        <p:txBody>
          <a:bodyPr wrap="square" lIns="0" rIns="0" tIns="0" bIns="0" anchor="t">
            <a:noAutofit/>
          </a:bodyPr>
          <a:lstStyle/>
          <a:p>
            <a:pPr algn="l">
              <a:lnSpc>
                <a:spcPct val="110000"/>
              </a:lnSpc>
            </a:pPr>
            <a:r>
              <a:rPr sz="2300" b="0" i="0">
                <a:solidFill>
                  <a:srgbClr val="665B53"/>
                </a:solidFill>
                <a:latin typeface="Arial"/>
              </a:rPr>
              <a:t>A small deposit from the first few people who said yes to the hour.</a:t>
            </a:r>
          </a:p>
        </p:txBody>
      </p:sp>
      <p:sp>
        <p:nvSpPr>
          <p:cNvPr id="17" name="TextBox 16"/>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 refusal is not a failure. It is the result, and it arrived in ten seconds instead of eight months.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PAUSE AND ANSWER</a:t>
            </a:r>
          </a:p>
        </p:txBody>
      </p:sp>
      <p:sp>
        <p:nvSpPr>
          <p:cNvPr id="3" name="TextBox 2"/>
          <p:cNvSpPr txBox="1"/>
          <p:nvPr/>
        </p:nvSpPr>
        <p:spPr>
          <a:xfrm>
            <a:off x="1714500" y="3782263"/>
            <a:ext cx="14859000" cy="2912974"/>
          </a:xfrm>
          <a:prstGeom prst="rect">
            <a:avLst/>
          </a:prstGeom>
          <a:noFill/>
        </p:spPr>
        <p:txBody>
          <a:bodyPr wrap="square" lIns="0" rIns="0" tIns="0" bIns="0" anchor="t">
            <a:noAutofit/>
          </a:bodyPr>
          <a:lstStyle/>
          <a:p>
            <a:pPr algn="l">
              <a:lnSpc>
                <a:spcPct val="105000"/>
              </a:lnSpc>
            </a:pPr>
            <a:r>
              <a:rPr sz="4400" b="1" i="0">
                <a:solidFill>
                  <a:srgbClr val="F5F1E9"/>
                </a:solidFill>
                <a:latin typeface="Arial"/>
              </a:rPr>
              <a:t>Somebody spends twenty minutes telling you this problem ruins their week. You ask for one hour next week to watch them do it. They say they are quite busy at the moment. What have you learned?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WHAT ONE REFUSAL TELLS YOU, AND WHAT EIGHT DO</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A problem people will not spend an hour on is rarely one they will spend money on.</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One refusal</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Proves nothing. People are genuinely busy. Do not read a single no as a verdict.</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Eight in ten</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If eight of ten people who described the problem vividly will not give you an hour, the problem is real and not urgent. That is a completely different business.</a:t>
            </a:r>
          </a:p>
        </p:txBody>
      </p:sp>
      <p:sp>
        <p:nvSpPr>
          <p:cNvPr id="10" name="Rectangle 9"/>
          <p:cNvSpPr/>
          <p:nvPr/>
        </p:nvSpPr>
        <p:spPr>
          <a:xfrm>
            <a:off x="12096750" y="3409950"/>
            <a:ext cx="5143500" cy="3624275"/>
          </a:xfrm>
          <a:prstGeom prst="rect">
            <a:avLst/>
          </a:prstGeom>
          <a:solidFill>
            <a:srgbClr val="C35141"/>
          </a:solidFill>
          <a:ln>
            <a:noFill/>
          </a:ln>
          <a:effectLst/>
        </p:spPr>
        <p:txBody>
          <a:bodyPr rtlCol="0" anchor="ctr"/>
          <a:lstStyle/>
          <a:p>
            <a:pPr algn="ctr"/>
          </a:p>
        </p:txBody>
      </p:sp>
      <p:sp>
        <p:nvSpPr>
          <p:cNvPr id="11" name="TextBox 10"/>
          <p:cNvSpPr txBox="1"/>
          <p:nvPr/>
        </p:nvSpPr>
        <p:spPr>
          <a:xfrm>
            <a:off x="12477750" y="3790950"/>
            <a:ext cx="4381500" cy="507949"/>
          </a:xfrm>
          <a:prstGeom prst="rect">
            <a:avLst/>
          </a:prstGeom>
          <a:noFill/>
        </p:spPr>
        <p:txBody>
          <a:bodyPr wrap="square" lIns="0" rIns="0" tIns="0" bIns="0" anchor="t">
            <a:noAutofit/>
          </a:bodyPr>
          <a:lstStyle/>
          <a:p>
            <a:pPr algn="l">
              <a:lnSpc>
                <a:spcPct val="102000"/>
              </a:lnSpc>
            </a:pPr>
            <a:r>
              <a:rPr sz="3000" b="1" i="0">
                <a:solidFill>
                  <a:srgbClr val="F5F1E9"/>
                </a:solidFill>
                <a:latin typeface="Arial"/>
              </a:rPr>
              <a:t>The calibration</a:t>
            </a:r>
          </a:p>
        </p:txBody>
      </p:sp>
      <p:sp>
        <p:nvSpPr>
          <p:cNvPr id="12" name="TextBox 11"/>
          <p:cNvSpPr txBox="1"/>
          <p:nvPr/>
        </p:nvSpPr>
        <p:spPr>
          <a:xfrm>
            <a:off x="12477750" y="4451299"/>
            <a:ext cx="4381500" cy="3711626"/>
          </a:xfrm>
          <a:prstGeom prst="rect">
            <a:avLst/>
          </a:prstGeom>
          <a:noFill/>
        </p:spPr>
        <p:txBody>
          <a:bodyPr wrap="square" lIns="0" rIns="0" tIns="0" bIns="0" anchor="t">
            <a:noAutofit/>
          </a:bodyPr>
          <a:lstStyle/>
          <a:p>
            <a:pPr algn="l">
              <a:lnSpc>
                <a:spcPct val="110000"/>
              </a:lnSpc>
            </a:pPr>
            <a:r>
              <a:rPr sz="2600" b="0" i="0">
                <a:solidFill>
                  <a:srgbClr val="F5F1E9"/>
                </a:solidFill>
                <a:latin typeface="Arial"/>
              </a:rPr>
              <a:t>A problem people will not spend an hour on is rarely one they will spend money on. The reverse is almost never true.</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So what do you do with a problem everybody agrees is real and nobody will pay to remove?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REAL BUT NOT URGENT · THREE HONEST OUTCOMES</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research worked. It returned a no, which is what research is for.</a:t>
            </a:r>
          </a:p>
        </p:txBody>
      </p:sp>
      <p:sp>
        <p:nvSpPr>
          <p:cNvPr id="4" name="Rectangle 3"/>
          <p:cNvSpPr/>
          <p:nvPr/>
        </p:nvSpPr>
        <p:spPr>
          <a:xfrm>
            <a:off x="1047750" y="340995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Find the sub-segment</a:t>
            </a:r>
          </a:p>
        </p:txBody>
      </p:sp>
      <p:sp>
        <p:nvSpPr>
          <p:cNvPr id="6" name="TextBox 5"/>
          <p:cNvSpPr txBox="1"/>
          <p:nvPr/>
        </p:nvSpPr>
        <p:spPr>
          <a:xfrm>
            <a:off x="1047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For whom is it urgent rather than merely real? Find them, and start there.</a:t>
            </a:r>
          </a:p>
        </p:txBody>
      </p:sp>
      <p:sp>
        <p:nvSpPr>
          <p:cNvPr id="7" name="Rectangle 6"/>
          <p:cNvSpPr/>
          <p:nvPr/>
        </p:nvSpPr>
        <p:spPr>
          <a:xfrm>
            <a:off x="6572250" y="340995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Find the payer</a:t>
            </a:r>
          </a:p>
        </p:txBody>
      </p:sp>
      <p:sp>
        <p:nvSpPr>
          <p:cNvPr id="9" name="TextBox 8"/>
          <p:cNvSpPr txBox="1"/>
          <p:nvPr/>
        </p:nvSpPr>
        <p:spPr>
          <a:xfrm>
            <a:off x="65722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The person for whom the cost is larger. Often a business rather than a consumer.</a:t>
            </a:r>
          </a:p>
        </p:txBody>
      </p:sp>
      <p:sp>
        <p:nvSpPr>
          <p:cNvPr id="10" name="Rectangle 9"/>
          <p:cNvSpPr/>
          <p:nvPr/>
        </p:nvSpPr>
        <p:spPr>
          <a:xfrm>
            <a:off x="12096750" y="340995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724275"/>
            <a:ext cx="5143500" cy="507949"/>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Accept it is a feature</a:t>
            </a:r>
          </a:p>
        </p:txBody>
      </p:sp>
      <p:sp>
        <p:nvSpPr>
          <p:cNvPr id="12" name="TextBox 11"/>
          <p:cNvSpPr txBox="1"/>
          <p:nvPr/>
        </p:nvSpPr>
        <p:spPr>
          <a:xfrm>
            <a:off x="12096750" y="4384624"/>
            <a:ext cx="5143500" cy="3711626"/>
          </a:xfrm>
          <a:prstGeom prst="rect">
            <a:avLst/>
          </a:prstGeom>
          <a:noFill/>
        </p:spPr>
        <p:txBody>
          <a:bodyPr wrap="square" lIns="0" rIns="0" tIns="0" bIns="0" anchor="t">
            <a:noAutofit/>
          </a:bodyPr>
          <a:lstStyle/>
          <a:p>
            <a:pPr algn="l">
              <a:lnSpc>
                <a:spcPct val="110000"/>
              </a:lnSpc>
            </a:pPr>
            <a:r>
              <a:rPr sz="2600" b="0" i="0">
                <a:solidFill>
                  <a:srgbClr val="665B53"/>
                </a:solidFill>
                <a:latin typeface="Arial"/>
              </a:rPr>
              <a:t>Some problems are real and small. A feature rather than a company is a legitimate answer.</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All three are better than building. A non-urgent problem does not mean the research failed.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THE BOUNDARY · WHERE THE MOM TEST MISLEADS</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Three ways this discipline goes wrong</a:t>
            </a:r>
          </a:p>
        </p:txBody>
      </p:sp>
      <p:sp>
        <p:nvSpPr>
          <p:cNvPr id="4" name="Rectangle 3"/>
          <p:cNvSpPr/>
          <p:nvPr/>
        </p:nvSpPr>
        <p:spPr>
          <a:xfrm>
            <a:off x="1047750" y="3124200"/>
            <a:ext cx="302895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Cynicism dressed as rigour</a:t>
            </a:r>
          </a:p>
        </p:txBody>
      </p:sp>
      <p:sp>
        <p:nvSpPr>
          <p:cNvPr id="6" name="TextBox 5"/>
          <p:cNvSpPr txBox="1"/>
          <p:nvPr/>
        </p:nvSpPr>
        <p:spPr>
          <a:xfrm>
            <a:off x="1047750" y="4549673"/>
            <a:ext cx="5143500" cy="3546577"/>
          </a:xfrm>
          <a:prstGeom prst="rect">
            <a:avLst/>
          </a:prstGeom>
          <a:noFill/>
        </p:spPr>
        <p:txBody>
          <a:bodyPr wrap="square" lIns="0" rIns="0" tIns="0" bIns="0" anchor="t">
            <a:noAutofit/>
          </a:bodyPr>
          <a:lstStyle/>
          <a:p>
            <a:pPr algn="l">
              <a:lnSpc>
                <a:spcPct val="110000"/>
              </a:lnSpc>
            </a:pPr>
            <a:r>
              <a:rPr sz="2500" b="0" i="0">
                <a:solidFill>
                  <a:srgbClr val="665B53"/>
                </a:solidFill>
                <a:latin typeface="Arial"/>
              </a:rPr>
              <a:t>Leaving here believing everybody flatters you and nothing can be trusted feels like sophistication. It is a way of not listening. Nobody here is lying, and the people who care about you are often also your customers.</a:t>
            </a:r>
          </a:p>
        </p:txBody>
      </p:sp>
      <p:sp>
        <p:nvSpPr>
          <p:cNvPr id="7" name="Rectangle 6"/>
          <p:cNvSpPr/>
          <p:nvPr/>
        </p:nvSpPr>
        <p:spPr>
          <a:xfrm>
            <a:off x="6572250" y="3124200"/>
            <a:ext cx="3028950" cy="57150"/>
          </a:xfrm>
          <a:prstGeom prst="rect">
            <a:avLst/>
          </a:prstGeom>
          <a:solidFill>
            <a:srgbClr val="201914"/>
          </a:solidFill>
          <a:ln>
            <a:noFill/>
          </a:ln>
          <a:effectLst/>
        </p:spPr>
        <p:txBody>
          <a:bodyPr rtlCol="0" anchor="ctr"/>
          <a:lstStyle/>
          <a:p>
            <a:pPr algn="ctr"/>
          </a:p>
        </p:txBody>
      </p:sp>
      <p:sp>
        <p:nvSpPr>
          <p:cNvPr id="8" name="TextBox 7"/>
          <p:cNvSpPr txBox="1"/>
          <p:nvPr/>
        </p:nvSpPr>
        <p:spPr>
          <a:xfrm>
            <a:off x="65722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The problem nobody will describe</a:t>
            </a:r>
          </a:p>
        </p:txBody>
      </p:sp>
      <p:sp>
        <p:nvSpPr>
          <p:cNvPr id="9" name="TextBox 8"/>
          <p:cNvSpPr txBox="1"/>
          <p:nvPr/>
        </p:nvSpPr>
        <p:spPr>
          <a:xfrm>
            <a:off x="6572250" y="4549673"/>
            <a:ext cx="5143500" cy="3546577"/>
          </a:xfrm>
          <a:prstGeom prst="rect">
            <a:avLst/>
          </a:prstGeom>
          <a:noFill/>
        </p:spPr>
        <p:txBody>
          <a:bodyPr wrap="square" lIns="0" rIns="0" tIns="0" bIns="0" anchor="t">
            <a:noAutofit/>
          </a:bodyPr>
          <a:lstStyle/>
          <a:p>
            <a:pPr algn="l">
              <a:lnSpc>
                <a:spcPct val="110000"/>
              </a:lnSpc>
            </a:pPr>
            <a:r>
              <a:rPr sz="2500" b="0" i="0">
                <a:solidFill>
                  <a:srgbClr val="665B53"/>
                </a:solidFill>
                <a:latin typeface="Arial"/>
              </a:rPr>
              <a:t>Money they do not have, family conflict, being cheated, a failure they are embarrassed by. Often the most valuable problems, and they arrive late, sideways and after a silence. The ₹1,500 came out only because the founder said nothing.</a:t>
            </a:r>
          </a:p>
        </p:txBody>
      </p:sp>
      <p:sp>
        <p:nvSpPr>
          <p:cNvPr id="10" name="Rectangle 9"/>
          <p:cNvSpPr/>
          <p:nvPr/>
        </p:nvSpPr>
        <p:spPr>
          <a:xfrm>
            <a:off x="12096750" y="3124200"/>
            <a:ext cx="3028950" cy="57150"/>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2096750" y="3438525"/>
            <a:ext cx="5143500" cy="958748"/>
          </a:xfrm>
          <a:prstGeom prst="rect">
            <a:avLst/>
          </a:prstGeom>
          <a:noFill/>
        </p:spPr>
        <p:txBody>
          <a:bodyPr wrap="square" lIns="0" rIns="0" tIns="0" bIns="0" anchor="t">
            <a:noAutofit/>
          </a:bodyPr>
          <a:lstStyle/>
          <a:p>
            <a:pPr algn="l">
              <a:lnSpc>
                <a:spcPct val="102000"/>
              </a:lnSpc>
            </a:pPr>
            <a:r>
              <a:rPr sz="3000" b="1" i="0">
                <a:solidFill>
                  <a:srgbClr val="201914"/>
                </a:solidFill>
                <a:latin typeface="Arial"/>
              </a:rPr>
              <a:t>Validation that never becomes a decision</a:t>
            </a:r>
          </a:p>
        </p:txBody>
      </p:sp>
      <p:sp>
        <p:nvSpPr>
          <p:cNvPr id="12" name="TextBox 11"/>
          <p:cNvSpPr txBox="1"/>
          <p:nvPr/>
        </p:nvSpPr>
        <p:spPr>
          <a:xfrm>
            <a:off x="12096750" y="4549673"/>
            <a:ext cx="5143500" cy="3546577"/>
          </a:xfrm>
          <a:prstGeom prst="rect">
            <a:avLst/>
          </a:prstGeom>
          <a:noFill/>
        </p:spPr>
        <p:txBody>
          <a:bodyPr wrap="square" lIns="0" rIns="0" tIns="0" bIns="0" anchor="t">
            <a:noAutofit/>
          </a:bodyPr>
          <a:lstStyle/>
          <a:p>
            <a:pPr algn="l">
              <a:lnSpc>
                <a:spcPct val="110000"/>
              </a:lnSpc>
            </a:pPr>
            <a:r>
              <a:rPr sz="2500" b="0" i="0">
                <a:solidFill>
                  <a:srgbClr val="665B53"/>
                </a:solidFill>
                <a:latin typeface="Arial"/>
              </a:rPr>
              <a:t>You can run this method for months, with dozens of conversations and careful notes, and never decide anything. It wears the costume of research. Decide in advance how many conversations you will have and what result makes you stop.</a:t>
            </a:r>
          </a:p>
        </p:txBody>
      </p:sp>
      <p:sp>
        <p:nvSpPr>
          <p:cNvPr id="13" name="TextBox 12"/>
          <p:cNvSpPr txBox="1"/>
          <p:nvPr/>
        </p:nvSpPr>
        <p:spPr>
          <a:xfrm>
            <a:off x="1047750" y="8439150"/>
            <a:ext cx="16192500" cy="952500"/>
          </a:xfrm>
          <a:prstGeom prst="rect">
            <a:avLst/>
          </a:prstGeom>
          <a:noFill/>
        </p:spPr>
        <p:txBody>
          <a:bodyPr wrap="square" lIns="0" rIns="0" tIns="0" bIns="0" anchor="t">
            <a:noAutofit/>
          </a:bodyPr>
          <a:lstStyle/>
          <a:p>
            <a:pPr algn="l">
              <a:lnSpc>
                <a:spcPct val="108000"/>
              </a:lnSpc>
            </a:pPr>
            <a:r>
              <a:rPr sz="3000" b="0" i="1">
                <a:solidFill>
                  <a:srgbClr val="362C24"/>
                </a:solidFill>
                <a:latin typeface="Georgia"/>
              </a:rPr>
              <a:t>Research is a way of being wrong cheaply. It is not a way of never being wrong.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PAUSE AND ANSWER</a:t>
            </a:r>
          </a:p>
        </p:txBody>
      </p:sp>
      <p:sp>
        <p:nvSpPr>
          <p:cNvPr id="3" name="TextBox 2"/>
          <p:cNvSpPr txBox="1"/>
          <p:nvPr/>
        </p:nvSpPr>
        <p:spPr>
          <a:xfrm>
            <a:off x="1714500" y="3782263"/>
            <a:ext cx="14859000" cy="2912974"/>
          </a:xfrm>
          <a:prstGeom prst="rect">
            <a:avLst/>
          </a:prstGeom>
          <a:noFill/>
        </p:spPr>
        <p:txBody>
          <a:bodyPr wrap="square" lIns="0" rIns="0" tIns="0" bIns="0" anchor="t">
            <a:noAutofit/>
          </a:bodyPr>
          <a:lstStyle/>
          <a:p>
            <a:pPr algn="l">
              <a:lnSpc>
                <a:spcPct val="105000"/>
              </a:lnSpc>
            </a:pPr>
            <a:r>
              <a:rPr sz="4400" b="1" i="0">
                <a:solidFill>
                  <a:srgbClr val="F5F1E9"/>
                </a:solidFill>
                <a:latin typeface="Arial"/>
              </a:rPr>
              <a:t>You have run twenty Mom Test conversations. Fourteen people described a real problem with specifics. Eleven refused a small commitment. What do you do on Monday?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BEFORE YOU START · THE FAILURE MODE</a:t>
            </a:r>
          </a:p>
        </p:txBody>
      </p:sp>
      <p:sp>
        <p:nvSpPr>
          <p:cNvPr id="3" name="TextBox 2"/>
          <p:cNvSpPr txBox="1"/>
          <p:nvPr/>
        </p:nvSpPr>
        <p:spPr>
          <a:xfrm>
            <a:off x="1714500" y="3954932"/>
            <a:ext cx="14859000" cy="2567635"/>
          </a:xfrm>
          <a:prstGeom prst="rect">
            <a:avLst/>
          </a:prstGeom>
          <a:noFill/>
        </p:spPr>
        <p:txBody>
          <a:bodyPr wrap="square" lIns="0" rIns="0" tIns="0" bIns="0" anchor="t">
            <a:noAutofit/>
          </a:bodyPr>
          <a:lstStyle/>
          <a:p>
            <a:pPr algn="l">
              <a:lnSpc>
                <a:spcPct val="105000"/>
              </a:lnSpc>
              <a:spcAft>
                <a:spcPts val="2640"/>
              </a:spcAft>
            </a:pPr>
            <a:r>
              <a:rPr sz="4400" b="1" i="0">
                <a:solidFill>
                  <a:srgbClr val="F5F1E9"/>
                </a:solidFill>
                <a:latin typeface="Arial"/>
              </a:rPr>
              <a:t>Nobody says 'so my app does X'.</a:t>
            </a:r>
          </a:p>
          <a:p>
            <a:pPr algn="l">
              <a:lnSpc>
                <a:spcPct val="105000"/>
              </a:lnSpc>
            </a:pPr>
            <a:r>
              <a:rPr sz="4400" b="1" i="0">
                <a:solidFill>
                  <a:srgbClr val="F5F1E9"/>
                </a:solidFill>
                <a:latin typeface="Arial"/>
              </a:rPr>
              <a:t>They say 'do you ever wish there was an easier way to do that?' That is a pitch wearing a question mark.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ACTIVITY · IN PAIRS · SETUP, CONVERSATION, VERDICT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Validate it without mentioning it</a:t>
            </a:r>
          </a:p>
        </p:txBody>
      </p:sp>
      <p:sp>
        <p:nvSpPr>
          <p:cNvPr id="4" name="TextBox 3"/>
          <p:cNvSpPr txBox="1"/>
          <p:nvPr/>
        </p:nvSpPr>
        <p:spPr>
          <a:xfrm>
            <a:off x="1047750" y="2838450"/>
            <a:ext cx="16192500" cy="1809750"/>
          </a:xfrm>
          <a:prstGeom prst="rect">
            <a:avLst/>
          </a:prstGeom>
          <a:noFill/>
        </p:spPr>
        <p:txBody>
          <a:bodyPr wrap="square" lIns="0" rIns="0" tIns="0" bIns="0" anchor="t">
            <a:noAutofit/>
          </a:bodyPr>
          <a:lstStyle/>
          <a:p>
            <a:pPr algn="l">
              <a:lnSpc>
                <a:spcPct val="110000"/>
              </a:lnSpc>
            </a:pPr>
            <a:r>
              <a:rPr sz="2850" b="1" i="0">
                <a:solidFill>
                  <a:srgbClr val="201914"/>
                </a:solidFill>
                <a:latin typeface="Arial"/>
              </a:rPr>
              <a:t>You have an idea. The person opposite may or may not have the problem it solves. In five minutes you must find out which. You may not describe the idea, name a product, propose a solution or ask what they think of anything. You may ask about their life. That is all.</a:t>
            </a:r>
          </a:p>
        </p:txBody>
      </p:sp>
      <p:sp>
        <p:nvSpPr>
          <p:cNvPr id="5" name="TextBox 4"/>
          <p:cNvSpPr txBox="1"/>
          <p:nvPr/>
        </p:nvSpPr>
        <p:spPr>
          <a:xfrm>
            <a:off x="1047750" y="4604995"/>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1</a:t>
            </a:r>
          </a:p>
        </p:txBody>
      </p:sp>
      <p:sp>
        <p:nvSpPr>
          <p:cNvPr id="6" name="TextBox 5"/>
          <p:cNvSpPr txBox="1"/>
          <p:nvPr/>
        </p:nvSpPr>
        <p:spPr>
          <a:xfrm>
            <a:off x="1485900" y="4604995"/>
            <a:ext cx="6953250" cy="705358"/>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Fold the paper so your idea is hidden. You may not look at it again until the five minutes are up.</a:t>
            </a:r>
          </a:p>
        </p:txBody>
      </p:sp>
      <p:sp>
        <p:nvSpPr>
          <p:cNvPr id="7" name="TextBox 6"/>
          <p:cNvSpPr txBox="1"/>
          <p:nvPr/>
        </p:nvSpPr>
        <p:spPr>
          <a:xfrm>
            <a:off x="1047750" y="5538953"/>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2</a:t>
            </a:r>
          </a:p>
        </p:txBody>
      </p:sp>
      <p:sp>
        <p:nvSpPr>
          <p:cNvPr id="8" name="TextBox 7"/>
          <p:cNvSpPr txBox="1"/>
          <p:nvPr/>
        </p:nvSpPr>
        <p:spPr>
          <a:xfrm>
            <a:off x="1485900" y="5538953"/>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Write the one behaviour that must be true for your idea to matter: the specific thing a person must be doing, or failing to do.</a:t>
            </a:r>
          </a:p>
        </p:txBody>
      </p:sp>
      <p:sp>
        <p:nvSpPr>
          <p:cNvPr id="9" name="TextBox 8"/>
          <p:cNvSpPr txBox="1"/>
          <p:nvPr/>
        </p:nvSpPr>
        <p:spPr>
          <a:xfrm>
            <a:off x="1047750" y="6797015"/>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3</a:t>
            </a:r>
          </a:p>
        </p:txBody>
      </p:sp>
      <p:sp>
        <p:nvSpPr>
          <p:cNvPr id="10" name="TextBox 9"/>
          <p:cNvSpPr txBox="1"/>
          <p:nvPr/>
        </p:nvSpPr>
        <p:spPr>
          <a:xfrm>
            <a:off x="1485900" y="6797015"/>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Open with a context question about their life that has nothing obviously to do with your idea. If it makes the topic obvious, it is too narrow.</a:t>
            </a:r>
          </a:p>
        </p:txBody>
      </p:sp>
      <p:sp>
        <p:nvSpPr>
          <p:cNvPr id="11" name="TextBox 10"/>
          <p:cNvSpPr txBox="1"/>
          <p:nvPr/>
        </p:nvSpPr>
        <p:spPr>
          <a:xfrm>
            <a:off x="1047750" y="8055077"/>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4</a:t>
            </a:r>
          </a:p>
        </p:txBody>
      </p:sp>
      <p:sp>
        <p:nvSpPr>
          <p:cNvPr id="12" name="TextBox 11"/>
          <p:cNvSpPr txBox="1"/>
          <p:nvPr/>
        </p:nvSpPr>
        <p:spPr>
          <a:xfrm>
            <a:off x="1485900" y="8055077"/>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Get one specific past event with a ground question, then stay on it: 'walk me through', 'and then what happened', silence. Speak for well under a third of the time.</a:t>
            </a:r>
          </a:p>
        </p:txBody>
      </p:sp>
      <p:sp>
        <p:nvSpPr>
          <p:cNvPr id="13" name="TextBox 12"/>
          <p:cNvSpPr txBox="1"/>
          <p:nvPr/>
        </p:nvSpPr>
        <p:spPr>
          <a:xfrm>
            <a:off x="9429750" y="4604995"/>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5</a:t>
            </a:r>
          </a:p>
        </p:txBody>
      </p:sp>
      <p:sp>
        <p:nvSpPr>
          <p:cNvPr id="14" name="TextBox 13"/>
          <p:cNvSpPr txBox="1"/>
          <p:nvPr/>
        </p:nvSpPr>
        <p:spPr>
          <a:xfrm>
            <a:off x="9867900" y="4604995"/>
            <a:ext cx="6953250" cy="705358"/>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Before time runs out, ask one implication question: how often, how long, or what did it cost.</a:t>
            </a:r>
          </a:p>
        </p:txBody>
      </p:sp>
      <p:sp>
        <p:nvSpPr>
          <p:cNvPr id="15" name="TextBox 14"/>
          <p:cNvSpPr txBox="1"/>
          <p:nvPr/>
        </p:nvSpPr>
        <p:spPr>
          <a:xfrm>
            <a:off x="9429750" y="5538953"/>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6</a:t>
            </a:r>
          </a:p>
        </p:txBody>
      </p:sp>
      <p:sp>
        <p:nvSpPr>
          <p:cNvPr id="16" name="TextBox 15"/>
          <p:cNvSpPr txBox="1"/>
          <p:nvPr/>
        </p:nvSpPr>
        <p:spPr>
          <a:xfrm>
            <a:off x="9867900" y="5538953"/>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Write three pieces of data about the other person's life, each a specific thing that happened with a time attached. If you cannot write three, write however many you have.</a:t>
            </a:r>
          </a:p>
        </p:txBody>
      </p:sp>
      <p:sp>
        <p:nvSpPr>
          <p:cNvPr id="17" name="TextBox 16"/>
          <p:cNvSpPr txBox="1"/>
          <p:nvPr/>
        </p:nvSpPr>
        <p:spPr>
          <a:xfrm>
            <a:off x="9429750" y="6797015"/>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7</a:t>
            </a:r>
          </a:p>
        </p:txBody>
      </p:sp>
      <p:sp>
        <p:nvSpPr>
          <p:cNvPr id="18" name="TextBox 17"/>
          <p:cNvSpPr txBox="1"/>
          <p:nvPr/>
        </p:nvSpPr>
        <p:spPr>
          <a:xfrm>
            <a:off x="9867900" y="6797015"/>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The listener says two things: whether they actually have the problem, and whether it felt like a pitch in disguise. If pitch, at which question did they first know?</a:t>
            </a:r>
          </a:p>
        </p:txBody>
      </p:sp>
      <p:sp>
        <p:nvSpPr>
          <p:cNvPr id="19" name="TextBox 18"/>
          <p:cNvSpPr txBox="1"/>
          <p:nvPr/>
        </p:nvSpPr>
        <p:spPr>
          <a:xfrm>
            <a:off x="9429750" y="8055077"/>
            <a:ext cx="381000" cy="419100"/>
          </a:xfrm>
          <a:prstGeom prst="rect">
            <a:avLst/>
          </a:prstGeom>
          <a:noFill/>
        </p:spPr>
        <p:txBody>
          <a:bodyPr wrap="square" lIns="0" rIns="0" tIns="0" bIns="0" anchor="t">
            <a:noAutofit/>
          </a:bodyPr>
          <a:lstStyle/>
          <a:p>
            <a:pPr algn="l">
              <a:lnSpc>
                <a:spcPct val="108000"/>
              </a:lnSpc>
            </a:pPr>
            <a:r>
              <a:rPr sz="2000" b="1" i="0">
                <a:solidFill>
                  <a:srgbClr val="C35141"/>
                </a:solidFill>
                <a:latin typeface="Arial"/>
              </a:rPr>
              <a:t>8</a:t>
            </a:r>
          </a:p>
        </p:txBody>
      </p:sp>
      <p:sp>
        <p:nvSpPr>
          <p:cNvPr id="20" name="TextBox 19"/>
          <p:cNvSpPr txBox="1"/>
          <p:nvPr/>
        </p:nvSpPr>
        <p:spPr>
          <a:xfrm>
            <a:off x="9867900" y="8055077"/>
            <a:ext cx="6953250" cy="1029462"/>
          </a:xfrm>
          <a:prstGeom prst="rect">
            <a:avLst/>
          </a:prstGeom>
          <a:noFill/>
        </p:spPr>
        <p:txBody>
          <a:bodyPr wrap="square" lIns="0" rIns="0" tIns="0" bIns="0" anchor="t">
            <a:noAutofit/>
          </a:bodyPr>
          <a:lstStyle/>
          <a:p>
            <a:pPr algn="l">
              <a:lnSpc>
                <a:spcPct val="110000"/>
              </a:lnSpc>
            </a:pPr>
            <a:r>
              <a:rPr sz="2000" b="0" i="0">
                <a:solidFill>
                  <a:srgbClr val="201914"/>
                </a:solidFill>
                <a:latin typeface="Arial"/>
              </a:rPr>
              <a:t>Overnight: run the same five minutes on somebody who is not a student, ending with one commitment ask from the four currencies. Bring what you asked for and what happened.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YOUR TEMPLATE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Three pieces of data, or as many as you have.</a:t>
            </a:r>
          </a:p>
        </p:txBody>
      </p:sp>
      <p:sp>
        <p:nvSpPr>
          <p:cNvPr id="4" name="TextBox 3"/>
          <p:cNvSpPr txBox="1"/>
          <p:nvPr/>
        </p:nvSpPr>
        <p:spPr>
          <a:xfrm>
            <a:off x="1314450" y="2838450"/>
            <a:ext cx="47625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a:t>
            </a:r>
          </a:p>
        </p:txBody>
      </p:sp>
      <p:sp>
        <p:nvSpPr>
          <p:cNvPr id="5" name="TextBox 4"/>
          <p:cNvSpPr txBox="1"/>
          <p:nvPr/>
        </p:nvSpPr>
        <p:spPr>
          <a:xfrm>
            <a:off x="1981200" y="2838450"/>
            <a:ext cx="36195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THE BEHAVIOUR THAT MUST BE TRUE</a:t>
            </a:r>
          </a:p>
        </p:txBody>
      </p:sp>
      <p:sp>
        <p:nvSpPr>
          <p:cNvPr id="6" name="TextBox 5"/>
          <p:cNvSpPr txBox="1"/>
          <p:nvPr/>
        </p:nvSpPr>
        <p:spPr>
          <a:xfrm>
            <a:off x="5791200" y="2838450"/>
            <a:ext cx="3048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DATA POINT 1 (WHAT + WHEN)</a:t>
            </a:r>
          </a:p>
        </p:txBody>
      </p:sp>
      <p:sp>
        <p:nvSpPr>
          <p:cNvPr id="7" name="TextBox 6"/>
          <p:cNvSpPr txBox="1"/>
          <p:nvPr/>
        </p:nvSpPr>
        <p:spPr>
          <a:xfrm>
            <a:off x="9029700" y="2838450"/>
            <a:ext cx="2286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DATA POINT 2</a:t>
            </a:r>
          </a:p>
        </p:txBody>
      </p:sp>
      <p:sp>
        <p:nvSpPr>
          <p:cNvPr id="8" name="TextBox 7"/>
          <p:cNvSpPr txBox="1"/>
          <p:nvPr/>
        </p:nvSpPr>
        <p:spPr>
          <a:xfrm>
            <a:off x="11506200" y="2838450"/>
            <a:ext cx="228600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DATA POINT 3</a:t>
            </a:r>
          </a:p>
        </p:txBody>
      </p:sp>
      <p:sp>
        <p:nvSpPr>
          <p:cNvPr id="9" name="TextBox 8"/>
          <p:cNvSpPr txBox="1"/>
          <p:nvPr/>
        </p:nvSpPr>
        <p:spPr>
          <a:xfrm>
            <a:off x="13982700" y="2838450"/>
            <a:ext cx="2800350" cy="552450"/>
          </a:xfrm>
          <a:prstGeom prst="rect">
            <a:avLst/>
          </a:prstGeom>
          <a:noFill/>
        </p:spPr>
        <p:txBody>
          <a:bodyPr wrap="square" lIns="0" rIns="0" tIns="0" bIns="0" anchor="t">
            <a:noAutofit/>
          </a:bodyPr>
          <a:lstStyle/>
          <a:p>
            <a:pPr algn="l">
              <a:lnSpc>
                <a:spcPct val="105000"/>
              </a:lnSpc>
            </a:pPr>
            <a:r>
              <a:rPr sz="1800" b="1" i="0" spc="120">
                <a:solidFill>
                  <a:srgbClr val="7B6F66"/>
                </a:solidFill>
                <a:latin typeface="Arial"/>
              </a:rPr>
              <a:t>LISTENER'S VERDICT: PITCH OR NOT?</a:t>
            </a:r>
          </a:p>
        </p:txBody>
      </p:sp>
      <p:sp>
        <p:nvSpPr>
          <p:cNvPr id="10" name="Rectangle 9"/>
          <p:cNvSpPr/>
          <p:nvPr/>
        </p:nvSpPr>
        <p:spPr>
          <a:xfrm>
            <a:off x="1047750" y="3619500"/>
            <a:ext cx="16192500" cy="28575"/>
          </a:xfrm>
          <a:prstGeom prst="rect">
            <a:avLst/>
          </a:prstGeom>
          <a:solidFill>
            <a:srgbClr val="201914"/>
          </a:solidFill>
          <a:ln>
            <a:noFill/>
          </a:ln>
          <a:effectLst/>
        </p:spPr>
        <p:txBody>
          <a:bodyPr rtlCol="0" anchor="ctr"/>
          <a:lstStyle/>
          <a:p>
            <a:pPr algn="ctr"/>
          </a:p>
        </p:txBody>
      </p:sp>
      <p:sp>
        <p:nvSpPr>
          <p:cNvPr id="11" name="TextBox 10"/>
          <p:cNvSpPr txBox="1"/>
          <p:nvPr/>
        </p:nvSpPr>
        <p:spPr>
          <a:xfrm>
            <a:off x="1314450" y="3943350"/>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1</a:t>
            </a:r>
          </a:p>
        </p:txBody>
      </p:sp>
      <p:sp>
        <p:nvSpPr>
          <p:cNvPr id="12" name="Rectangle 11"/>
          <p:cNvSpPr/>
          <p:nvPr/>
        </p:nvSpPr>
        <p:spPr>
          <a:xfrm>
            <a:off x="1047750" y="4610100"/>
            <a:ext cx="16192500" cy="952500"/>
          </a:xfrm>
          <a:prstGeom prst="rect">
            <a:avLst/>
          </a:prstGeom>
          <a:solidFill>
            <a:srgbClr val="F3EEE6"/>
          </a:solidFill>
          <a:ln>
            <a:noFill/>
          </a:ln>
          <a:effectLst/>
        </p:spPr>
        <p:txBody>
          <a:bodyPr rtlCol="0" anchor="ctr"/>
          <a:lstStyle/>
          <a:p>
            <a:pPr algn="ctr"/>
          </a:p>
        </p:txBody>
      </p:sp>
      <p:sp>
        <p:nvSpPr>
          <p:cNvPr id="13" name="TextBox 12"/>
          <p:cNvSpPr txBox="1"/>
          <p:nvPr/>
        </p:nvSpPr>
        <p:spPr>
          <a:xfrm>
            <a:off x="1314450" y="4895850"/>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2</a:t>
            </a:r>
          </a:p>
        </p:txBody>
      </p:sp>
      <p:sp>
        <p:nvSpPr>
          <p:cNvPr id="14" name="Rectangle 13"/>
          <p:cNvSpPr/>
          <p:nvPr/>
        </p:nvSpPr>
        <p:spPr>
          <a:xfrm>
            <a:off x="1047750" y="5562600"/>
            <a:ext cx="16192500" cy="9525"/>
          </a:xfrm>
          <a:prstGeom prst="rect">
            <a:avLst/>
          </a:prstGeom>
          <a:solidFill>
            <a:srgbClr val="D8CFC7"/>
          </a:solidFill>
          <a:ln>
            <a:noFill/>
          </a:ln>
          <a:effectLst/>
        </p:spPr>
        <p:txBody>
          <a:bodyPr rtlCol="0" anchor="ctr"/>
          <a:lstStyle/>
          <a:p>
            <a:pPr algn="ctr"/>
          </a:p>
        </p:txBody>
      </p:sp>
      <p:sp>
        <p:nvSpPr>
          <p:cNvPr id="15" name="TextBox 14"/>
          <p:cNvSpPr txBox="1"/>
          <p:nvPr/>
        </p:nvSpPr>
        <p:spPr>
          <a:xfrm>
            <a:off x="1314450" y="5848350"/>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3</a:t>
            </a:r>
          </a:p>
        </p:txBody>
      </p:sp>
      <p:sp>
        <p:nvSpPr>
          <p:cNvPr id="16" name="Rectangle 15"/>
          <p:cNvSpPr/>
          <p:nvPr/>
        </p:nvSpPr>
        <p:spPr>
          <a:xfrm>
            <a:off x="1047750" y="6515100"/>
            <a:ext cx="16192500" cy="952500"/>
          </a:xfrm>
          <a:prstGeom prst="rect">
            <a:avLst/>
          </a:prstGeom>
          <a:solidFill>
            <a:srgbClr val="F3EEE6"/>
          </a:solidFill>
          <a:ln>
            <a:noFill/>
          </a:ln>
          <a:effectLst/>
        </p:spPr>
        <p:txBody>
          <a:bodyPr rtlCol="0" anchor="ctr"/>
          <a:lstStyle/>
          <a:p>
            <a:pPr algn="ctr"/>
          </a:p>
        </p:txBody>
      </p:sp>
      <p:sp>
        <p:nvSpPr>
          <p:cNvPr id="17" name="TextBox 16"/>
          <p:cNvSpPr txBox="1"/>
          <p:nvPr/>
        </p:nvSpPr>
        <p:spPr>
          <a:xfrm>
            <a:off x="1314450" y="6800850"/>
            <a:ext cx="571500" cy="381000"/>
          </a:xfrm>
          <a:prstGeom prst="rect">
            <a:avLst/>
          </a:prstGeom>
          <a:noFill/>
        </p:spPr>
        <p:txBody>
          <a:bodyPr wrap="square" lIns="0" rIns="0" tIns="0" bIns="0" anchor="t">
            <a:noAutofit/>
          </a:bodyPr>
          <a:lstStyle/>
          <a:p>
            <a:pPr algn="l">
              <a:lnSpc>
                <a:spcPct val="108000"/>
              </a:lnSpc>
            </a:pPr>
            <a:r>
              <a:rPr sz="2100" b="1" i="0">
                <a:solidFill>
                  <a:srgbClr val="201914"/>
                </a:solidFill>
                <a:latin typeface="Arial"/>
              </a:rPr>
              <a:t>4</a:t>
            </a:r>
          </a:p>
        </p:txBody>
      </p:sp>
      <p:sp>
        <p:nvSpPr>
          <p:cNvPr id="18" name="Rectangle 17"/>
          <p:cNvSpPr/>
          <p:nvPr/>
        </p:nvSpPr>
        <p:spPr>
          <a:xfrm>
            <a:off x="1047750" y="7467600"/>
            <a:ext cx="16192500" cy="9525"/>
          </a:xfrm>
          <a:prstGeom prst="rect">
            <a:avLst/>
          </a:prstGeom>
          <a:solidFill>
            <a:srgbClr val="D8CFC7"/>
          </a:solidFill>
          <a:ln>
            <a:noFill/>
          </a:ln>
          <a:effectLst/>
        </p:spPr>
        <p:txBody>
          <a:bodyPr rtlCol="0" anchor="ctr"/>
          <a:lstStyle/>
          <a:p>
            <a:pPr algn="ct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DEBRIEF · BE HONEST</a:t>
            </a:r>
          </a:p>
        </p:txBody>
      </p:sp>
      <p:sp>
        <p:nvSpPr>
          <p:cNvPr id="3" name="TextBox 2"/>
          <p:cNvSpPr txBox="1"/>
          <p:nvPr/>
        </p:nvSpPr>
        <p:spPr>
          <a:xfrm>
            <a:off x="1714500" y="4401007"/>
            <a:ext cx="14859000" cy="1675486"/>
          </a:xfrm>
          <a:prstGeom prst="rect">
            <a:avLst/>
          </a:prstGeom>
          <a:noFill/>
        </p:spPr>
        <p:txBody>
          <a:bodyPr wrap="square" lIns="0" rIns="0" tIns="0" bIns="0" anchor="t">
            <a:noAutofit/>
          </a:bodyPr>
          <a:lstStyle/>
          <a:p>
            <a:pPr algn="l">
              <a:lnSpc>
                <a:spcPct val="105000"/>
              </a:lnSpc>
            </a:pPr>
            <a:r>
              <a:rPr sz="4800" b="1" i="0">
                <a:solidFill>
                  <a:srgbClr val="F5F1E9"/>
                </a:solidFill>
                <a:latin typeface="Arial"/>
              </a:rPr>
              <a:t>Did you come away with three genuine data points about the other person's life?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WORKED EXAMPLES · SAID, WORTH, NEXT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What they said, what it is worth, what to do next</a:t>
            </a:r>
          </a:p>
        </p:txBody>
      </p:sp>
      <p:sp>
        <p:nvSpPr>
          <p:cNvPr id="4" name="Rectangle 3"/>
          <p:cNvSpPr/>
          <p:nvPr/>
        </p:nvSpPr>
        <p:spPr>
          <a:xfrm>
            <a:off x="1047750" y="2838450"/>
            <a:ext cx="514350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'That's a wonderful idea, beta. I'm proud of you.'</a:t>
            </a:r>
          </a:p>
        </p:txBody>
      </p:sp>
      <p:sp>
        <p:nvSpPr>
          <p:cNvPr id="6" name="TextBox 5"/>
          <p:cNvSpPr txBox="1"/>
          <p:nvPr/>
        </p:nvSpPr>
        <p:spPr>
          <a:xfrm>
            <a:off x="1047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7" name="TextBox 6"/>
          <p:cNvSpPr txBox="1"/>
          <p:nvPr/>
        </p:nvSpPr>
        <p:spPr>
          <a:xfrm>
            <a:off x="1047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mother, at the dinner table. Compliment, amber.</a:t>
            </a:r>
          </a:p>
        </p:txBody>
      </p:sp>
      <p:sp>
        <p:nvSpPr>
          <p:cNvPr id="8" name="TextBox 7"/>
          <p:cNvSpPr txBox="1"/>
          <p:nvPr/>
        </p:nvSpPr>
        <p:spPr>
          <a:xfrm>
            <a:off x="1047750" y="51873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9" name="TextBox 8"/>
          <p:cNvSpPr txBox="1"/>
          <p:nvPr/>
        </p:nvSpPr>
        <p:spPr>
          <a:xfrm>
            <a:off x="1047750" y="54540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'Validated.' Eight months later: everybody I spoke to was encouraging.</a:t>
            </a:r>
          </a:p>
        </p:txBody>
      </p:sp>
      <p:sp>
        <p:nvSpPr>
          <p:cNvPr id="10" name="TextBox 9"/>
          <p:cNvSpPr txBox="1"/>
          <p:nvPr/>
        </p:nvSpPr>
        <p:spPr>
          <a:xfrm>
            <a:off x="1047750" y="627470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11" name="TextBox 10"/>
          <p:cNvSpPr txBox="1"/>
          <p:nvPr/>
        </p:nvSpPr>
        <p:spPr>
          <a:xfrm>
            <a:off x="1047750" y="654140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Thank her, then ask about her own life: 'When did you last have to deal with something like this?'</a:t>
            </a:r>
          </a:p>
        </p:txBody>
      </p:sp>
      <p:sp>
        <p:nvSpPr>
          <p:cNvPr id="12" name="TextBox 11"/>
          <p:cNvSpPr txBox="1"/>
          <p:nvPr/>
        </p:nvSpPr>
        <p:spPr>
          <a:xfrm>
            <a:off x="1047750" y="7753320"/>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She is answering honestly, but a different question.</a:t>
            </a:r>
          </a:p>
        </p:txBody>
      </p:sp>
      <p:sp>
        <p:nvSpPr>
          <p:cNvPr id="13" name="Rectangle 12"/>
          <p:cNvSpPr/>
          <p:nvPr/>
        </p:nvSpPr>
        <p:spPr>
          <a:xfrm>
            <a:off x="6572250" y="2838450"/>
            <a:ext cx="514350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65722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'It's a good direction. Keep me posted.'</a:t>
            </a:r>
          </a:p>
        </p:txBody>
      </p:sp>
      <p:sp>
        <p:nvSpPr>
          <p:cNvPr id="15" name="TextBox 14"/>
          <p:cNvSpPr txBox="1"/>
          <p:nvPr/>
        </p:nvSpPr>
        <p:spPr>
          <a:xfrm>
            <a:off x="65722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16" name="TextBox 15"/>
          <p:cNvSpPr txBox="1"/>
          <p:nvPr/>
        </p:nvSpPr>
        <p:spPr>
          <a:xfrm>
            <a:off x="65722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professor, ten minutes in. Compliment, amber.</a:t>
            </a:r>
          </a:p>
        </p:txBody>
      </p:sp>
      <p:sp>
        <p:nvSpPr>
          <p:cNvPr id="17" name="TextBox 16"/>
          <p:cNvSpPr txBox="1"/>
          <p:nvPr/>
        </p:nvSpPr>
        <p:spPr>
          <a:xfrm>
            <a:off x="6572250" y="51873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18" name="TextBox 17"/>
          <p:cNvSpPr txBox="1"/>
          <p:nvPr/>
        </p:nvSpPr>
        <p:spPr>
          <a:xfrm>
            <a:off x="6572250" y="54540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Somebody senior has assessed the idea and approved it.</a:t>
            </a:r>
          </a:p>
        </p:txBody>
      </p:sp>
      <p:sp>
        <p:nvSpPr>
          <p:cNvPr id="19" name="TextBox 18"/>
          <p:cNvSpPr txBox="1"/>
          <p:nvPr/>
        </p:nvSpPr>
        <p:spPr>
          <a:xfrm>
            <a:off x="6572250" y="627470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0" name="TextBox 19"/>
          <p:cNvSpPr txBox="1"/>
          <p:nvPr/>
        </p:nvSpPr>
        <p:spPr>
          <a:xfrm>
            <a:off x="6572250" y="654140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Test it: 'Would you have twenty minutes in the next fortnight?' A yes with a date is real.</a:t>
            </a:r>
          </a:p>
        </p:txBody>
      </p:sp>
      <p:sp>
        <p:nvSpPr>
          <p:cNvPr id="21" name="TextBox 20"/>
          <p:cNvSpPr txBox="1"/>
          <p:nvPr/>
        </p:nvSpPr>
        <p:spPr>
          <a:xfrm>
            <a:off x="6572250" y="7753320"/>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Authority makes a compliment more dangerous, not more informative.</a:t>
            </a:r>
          </a:p>
        </p:txBody>
      </p:sp>
      <p:sp>
        <p:nvSpPr>
          <p:cNvPr id="22" name="Rectangle 21"/>
          <p:cNvSpPr/>
          <p:nvPr/>
        </p:nvSpPr>
        <p:spPr>
          <a:xfrm>
            <a:off x="12096750" y="2838450"/>
            <a:ext cx="5143500" cy="57150"/>
          </a:xfrm>
          <a:prstGeom prst="rect">
            <a:avLst/>
          </a:prstGeom>
          <a:solidFill>
            <a:srgbClr val="201914"/>
          </a:solidFill>
          <a:ln>
            <a:noFill/>
          </a:ln>
          <a:effectLst/>
        </p:spPr>
        <p:txBody>
          <a:bodyPr rtlCol="0" anchor="ctr"/>
          <a:lstStyle/>
          <a:p>
            <a:pPr algn="ctr"/>
          </a:p>
        </p:txBody>
      </p:sp>
      <p:sp>
        <p:nvSpPr>
          <p:cNvPr id="23" name="TextBox 22"/>
          <p:cNvSpPr txBox="1"/>
          <p:nvPr/>
        </p:nvSpPr>
        <p:spPr>
          <a:xfrm>
            <a:off x="12096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'I paid ₹1,500 and my father still doesn't know.'</a:t>
            </a:r>
          </a:p>
        </p:txBody>
      </p:sp>
      <p:sp>
        <p:nvSpPr>
          <p:cNvPr id="24" name="TextBox 23"/>
          <p:cNvSpPr txBox="1"/>
          <p:nvPr/>
        </p:nvSpPr>
        <p:spPr>
          <a:xfrm>
            <a:off x="12096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25" name="TextBox 24"/>
          <p:cNvSpPr txBox="1"/>
          <p:nvPr/>
        </p:nvSpPr>
        <p:spPr>
          <a:xfrm>
            <a:off x="12096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final-year student, after a silence. Data, blue.</a:t>
            </a:r>
          </a:p>
        </p:txBody>
      </p:sp>
      <p:sp>
        <p:nvSpPr>
          <p:cNvPr id="26" name="TextBox 25"/>
          <p:cNvSpPr txBox="1"/>
          <p:nvPr/>
        </p:nvSpPr>
        <p:spPr>
          <a:xfrm>
            <a:off x="12096750" y="51873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27" name="TextBox 26"/>
          <p:cNvSpPr txBox="1"/>
          <p:nvPr/>
        </p:nvSpPr>
        <p:spPr>
          <a:xfrm>
            <a:off x="12096750" y="54540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Nothing dangerous. Many founders rush past it because it is uncomfortable.</a:t>
            </a:r>
          </a:p>
        </p:txBody>
      </p:sp>
      <p:sp>
        <p:nvSpPr>
          <p:cNvPr id="28" name="TextBox 27"/>
          <p:cNvSpPr txBox="1"/>
          <p:nvPr/>
        </p:nvSpPr>
        <p:spPr>
          <a:xfrm>
            <a:off x="12096750" y="627470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9" name="TextBox 28"/>
          <p:cNvSpPr txBox="1"/>
          <p:nvPr/>
        </p:nvSpPr>
        <p:spPr>
          <a:xfrm>
            <a:off x="12096750" y="654140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Say nothing for five seconds. Then: 'What did you do after that?'</a:t>
            </a:r>
          </a:p>
        </p:txBody>
      </p:sp>
      <p:sp>
        <p:nvSpPr>
          <p:cNvPr id="30" name="TextBox 29"/>
          <p:cNvSpPr txBox="1"/>
          <p:nvPr/>
        </p:nvSpPr>
        <p:spPr>
          <a:xfrm>
            <a:off x="12096750" y="741919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The most valuable facts arrive late, sideways, after a silence.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MORE · FLUFF, AND THE MOVE THAT CONVERTS IT</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Each one is one question away from data</a:t>
            </a:r>
          </a:p>
        </p:txBody>
      </p:sp>
      <p:sp>
        <p:nvSpPr>
          <p:cNvPr id="4" name="Rectangle 3"/>
          <p:cNvSpPr/>
          <p:nvPr/>
        </p:nvSpPr>
        <p:spPr>
          <a:xfrm>
            <a:off x="1047750" y="2838450"/>
            <a:ext cx="514350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'I'd definitely pay for something like that.'</a:t>
            </a:r>
          </a:p>
        </p:txBody>
      </p:sp>
      <p:sp>
        <p:nvSpPr>
          <p:cNvPr id="6" name="TextBox 5"/>
          <p:cNvSpPr txBox="1"/>
          <p:nvPr/>
        </p:nvSpPr>
        <p:spPr>
          <a:xfrm>
            <a:off x="1047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7" name="TextBox 6"/>
          <p:cNvSpPr txBox="1"/>
          <p:nvPr/>
        </p:nvSpPr>
        <p:spPr>
          <a:xfrm>
            <a:off x="1047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potential customer, at the end. Fluff, green.</a:t>
            </a:r>
          </a:p>
        </p:txBody>
      </p:sp>
      <p:sp>
        <p:nvSpPr>
          <p:cNvPr id="8" name="TextBox 7"/>
          <p:cNvSpPr txBox="1"/>
          <p:nvPr/>
        </p:nvSpPr>
        <p:spPr>
          <a:xfrm>
            <a:off x="1047750" y="51873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9" name="TextBox 8"/>
          <p:cNvSpPr txBox="1"/>
          <p:nvPr/>
        </p:nvSpPr>
        <p:spPr>
          <a:xfrm>
            <a:off x="1047750" y="54540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Demand, and often a price point.</a:t>
            </a:r>
          </a:p>
        </p:txBody>
      </p:sp>
      <p:sp>
        <p:nvSpPr>
          <p:cNvPr id="10" name="TextBox 9"/>
          <p:cNvSpPr txBox="1"/>
          <p:nvPr/>
        </p:nvSpPr>
        <p:spPr>
          <a:xfrm>
            <a:off x="1047750" y="59405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11" name="TextBox 10"/>
          <p:cNvSpPr txBox="1"/>
          <p:nvPr/>
        </p:nvSpPr>
        <p:spPr>
          <a:xfrm>
            <a:off x="1047750" y="62072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Apply the commitment test while it is warm: 'I'm taking ₹500 deposits from the first few people. Can I put you down?'</a:t>
            </a:r>
          </a:p>
        </p:txBody>
      </p:sp>
      <p:sp>
        <p:nvSpPr>
          <p:cNvPr id="12" name="TextBox 11"/>
          <p:cNvSpPr txBox="1"/>
          <p:nvPr/>
        </p:nvSpPr>
        <p:spPr>
          <a:xfrm>
            <a:off x="1047750" y="741919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'Pay' where no money moved is doing no work.</a:t>
            </a:r>
          </a:p>
        </p:txBody>
      </p:sp>
      <p:sp>
        <p:nvSpPr>
          <p:cNvPr id="13" name="Rectangle 12"/>
          <p:cNvSpPr/>
          <p:nvPr/>
        </p:nvSpPr>
        <p:spPr>
          <a:xfrm>
            <a:off x="6572250" y="2838450"/>
            <a:ext cx="514350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65722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'That happens to me all the time.'</a:t>
            </a:r>
          </a:p>
        </p:txBody>
      </p:sp>
      <p:sp>
        <p:nvSpPr>
          <p:cNvPr id="15" name="TextBox 14"/>
          <p:cNvSpPr txBox="1"/>
          <p:nvPr/>
        </p:nvSpPr>
        <p:spPr>
          <a:xfrm>
            <a:off x="65722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16" name="TextBox 15"/>
          <p:cNvSpPr txBox="1"/>
          <p:nvPr/>
        </p:nvSpPr>
        <p:spPr>
          <a:xfrm>
            <a:off x="65722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respondent, right after the problem was described. Fluff, green.</a:t>
            </a:r>
          </a:p>
        </p:txBody>
      </p:sp>
      <p:sp>
        <p:nvSpPr>
          <p:cNvPr id="17" name="TextBox 16"/>
          <p:cNvSpPr txBox="1"/>
          <p:nvPr/>
        </p:nvSpPr>
        <p:spPr>
          <a:xfrm>
            <a:off x="6572250" y="51873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18" name="TextBox 17"/>
          <p:cNvSpPr txBox="1"/>
          <p:nvPr/>
        </p:nvSpPr>
        <p:spPr>
          <a:xfrm>
            <a:off x="6572250" y="54540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High frequency, and therefore urgency.</a:t>
            </a:r>
          </a:p>
        </p:txBody>
      </p:sp>
      <p:sp>
        <p:nvSpPr>
          <p:cNvPr id="19" name="TextBox 18"/>
          <p:cNvSpPr txBox="1"/>
          <p:nvPr/>
        </p:nvSpPr>
        <p:spPr>
          <a:xfrm>
            <a:off x="6572250" y="59405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0" name="TextBox 19"/>
          <p:cNvSpPr txBox="1"/>
          <p:nvPr/>
        </p:nvSpPr>
        <p:spPr>
          <a:xfrm>
            <a:off x="6572250" y="62072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Make them count: 'When was the last time? And before that?' Two dated occasions give a real interval.</a:t>
            </a:r>
          </a:p>
        </p:txBody>
      </p:sp>
      <p:sp>
        <p:nvSpPr>
          <p:cNvPr id="21" name="TextBox 20"/>
          <p:cNvSpPr txBox="1"/>
          <p:nvPr/>
        </p:nvSpPr>
        <p:spPr>
          <a:xfrm>
            <a:off x="6572250" y="7419198"/>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Frequency words describe annoyance, not arithmetic.</a:t>
            </a:r>
          </a:p>
        </p:txBody>
      </p:sp>
      <p:sp>
        <p:nvSpPr>
          <p:cNvPr id="22" name="Rectangle 21"/>
          <p:cNvSpPr/>
          <p:nvPr/>
        </p:nvSpPr>
        <p:spPr>
          <a:xfrm>
            <a:off x="12096750" y="2838450"/>
            <a:ext cx="5143500" cy="57150"/>
          </a:xfrm>
          <a:prstGeom prst="rect">
            <a:avLst/>
          </a:prstGeom>
          <a:solidFill>
            <a:srgbClr val="201914"/>
          </a:solidFill>
          <a:ln>
            <a:noFill/>
          </a:ln>
          <a:effectLst/>
        </p:spPr>
        <p:txBody>
          <a:bodyPr rtlCol="0" anchor="ctr"/>
          <a:lstStyle/>
          <a:p>
            <a:pPr algn="ctr"/>
          </a:p>
        </p:txBody>
      </p:sp>
      <p:sp>
        <p:nvSpPr>
          <p:cNvPr id="23" name="TextBox 22"/>
          <p:cNvSpPr txBox="1"/>
          <p:nvPr/>
        </p:nvSpPr>
        <p:spPr>
          <a:xfrm>
            <a:off x="12096750" y="30861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'Sounds useful, send me the link when it's ready.'</a:t>
            </a:r>
          </a:p>
        </p:txBody>
      </p:sp>
      <p:sp>
        <p:nvSpPr>
          <p:cNvPr id="24" name="TextBox 23"/>
          <p:cNvSpPr txBox="1"/>
          <p:nvPr/>
        </p:nvSpPr>
        <p:spPr>
          <a:xfrm>
            <a:off x="12096750" y="41000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25" name="TextBox 24"/>
          <p:cNvSpPr txBox="1"/>
          <p:nvPr/>
        </p:nvSpPr>
        <p:spPr>
          <a:xfrm>
            <a:off x="12096750" y="43667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contact, getting up to leave. Fluff, green.</a:t>
            </a:r>
          </a:p>
        </p:txBody>
      </p:sp>
      <p:sp>
        <p:nvSpPr>
          <p:cNvPr id="26" name="TextBox 25"/>
          <p:cNvSpPr txBox="1"/>
          <p:nvPr/>
        </p:nvSpPr>
        <p:spPr>
          <a:xfrm>
            <a:off x="12096750" y="4853239"/>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27" name="TextBox 26"/>
          <p:cNvSpPr txBox="1"/>
          <p:nvPr/>
        </p:nvSpPr>
        <p:spPr>
          <a:xfrm>
            <a:off x="12096750" y="5119939"/>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waiting list. Founders keep these, and they convert at close to nothing.</a:t>
            </a:r>
          </a:p>
        </p:txBody>
      </p:sp>
      <p:sp>
        <p:nvSpPr>
          <p:cNvPr id="28" name="TextBox 27"/>
          <p:cNvSpPr txBox="1"/>
          <p:nvPr/>
        </p:nvSpPr>
        <p:spPr>
          <a:xfrm>
            <a:off x="12096750" y="59405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9" name="TextBox 28"/>
          <p:cNvSpPr txBox="1"/>
          <p:nvPr/>
        </p:nvSpPr>
        <p:spPr>
          <a:xfrm>
            <a:off x="12096750" y="62072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Pull it forward: 'I'd rather show you what I've found first. Twenty minutes next week?'</a:t>
            </a:r>
          </a:p>
        </p:txBody>
      </p:sp>
      <p:sp>
        <p:nvSpPr>
          <p:cNvPr id="30" name="TextBox 29"/>
          <p:cNvSpPr txBox="1"/>
          <p:nvPr/>
        </p:nvSpPr>
        <p:spPr>
          <a:xfrm>
            <a:off x="12096750" y="7085076"/>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Enthusiasm that costs nothing until you have built the thing is not about the thing.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THREE MORE · DATA, AND WHAT TO DO WITH IT</a:t>
            </a:r>
          </a:p>
        </p:txBody>
      </p:sp>
      <p:sp>
        <p:nvSpPr>
          <p:cNvPr id="3" name="TextBox 2"/>
          <p:cNvSpPr txBox="1"/>
          <p:nvPr/>
        </p:nvSpPr>
        <p:spPr>
          <a:xfrm>
            <a:off x="1047750" y="1504950"/>
            <a:ext cx="16192500" cy="146685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The responses that feel worst are the most useful</a:t>
            </a:r>
          </a:p>
        </p:txBody>
      </p:sp>
      <p:sp>
        <p:nvSpPr>
          <p:cNvPr id="4" name="Rectangle 3"/>
          <p:cNvSpPr/>
          <p:nvPr/>
        </p:nvSpPr>
        <p:spPr>
          <a:xfrm>
            <a:off x="1047750" y="3409950"/>
            <a:ext cx="5143500" cy="57150"/>
          </a:xfrm>
          <a:prstGeom prst="rect">
            <a:avLst/>
          </a:prstGeom>
          <a:solidFill>
            <a:srgbClr val="201914"/>
          </a:solidFill>
          <a:ln>
            <a:noFill/>
          </a:ln>
          <a:effectLst/>
        </p:spPr>
        <p:txBody>
          <a:bodyPr rtlCol="0" anchor="ctr"/>
          <a:lstStyle/>
          <a:p>
            <a:pPr algn="ctr"/>
          </a:p>
        </p:txBody>
      </p:sp>
      <p:sp>
        <p:nvSpPr>
          <p:cNvPr id="5" name="TextBox 4"/>
          <p:cNvSpPr txBox="1"/>
          <p:nvPr/>
        </p:nvSpPr>
        <p:spPr>
          <a:xfrm>
            <a:off x="10477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'We tried something like that two years ago and stopped.'</a:t>
            </a:r>
          </a:p>
        </p:txBody>
      </p:sp>
      <p:sp>
        <p:nvSpPr>
          <p:cNvPr id="6" name="TextBox 5"/>
          <p:cNvSpPr txBox="1"/>
          <p:nvPr/>
        </p:nvSpPr>
        <p:spPr>
          <a:xfrm>
            <a:off x="1047750" y="46715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7" name="TextBox 6"/>
          <p:cNvSpPr txBox="1"/>
          <p:nvPr/>
        </p:nvSpPr>
        <p:spPr>
          <a:xfrm>
            <a:off x="1047750" y="49382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small business owner, ten minutes in. Data, blue.</a:t>
            </a:r>
          </a:p>
        </p:txBody>
      </p:sp>
      <p:sp>
        <p:nvSpPr>
          <p:cNvPr id="8" name="TextBox 7"/>
          <p:cNvSpPr txBox="1"/>
          <p:nvPr/>
        </p:nvSpPr>
        <p:spPr>
          <a:xfrm>
            <a:off x="1047750" y="57588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9" name="TextBox 8"/>
          <p:cNvSpPr txBox="1"/>
          <p:nvPr/>
        </p:nvSpPr>
        <p:spPr>
          <a:xfrm>
            <a:off x="1047750" y="60255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'They did it wrong and I will do it right.'</a:t>
            </a:r>
          </a:p>
        </p:txBody>
      </p:sp>
      <p:sp>
        <p:nvSpPr>
          <p:cNvPr id="10" name="TextBox 9"/>
          <p:cNvSpPr txBox="1"/>
          <p:nvPr/>
        </p:nvSpPr>
        <p:spPr>
          <a:xfrm>
            <a:off x="1047750" y="6512082"/>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11" name="TextBox 10"/>
          <p:cNvSpPr txBox="1"/>
          <p:nvPr/>
        </p:nvSpPr>
        <p:spPr>
          <a:xfrm>
            <a:off x="1047750" y="6778782"/>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'What made you stop?' Then silence. Do not defend your version.</a:t>
            </a:r>
          </a:p>
        </p:txBody>
      </p:sp>
      <p:sp>
        <p:nvSpPr>
          <p:cNvPr id="12" name="TextBox 11"/>
          <p:cNvSpPr txBox="1"/>
          <p:nvPr/>
        </p:nvSpPr>
        <p:spPr>
          <a:xfrm>
            <a:off x="1047750" y="7656576"/>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A failed attempt is the cheapest research you will ever get.</a:t>
            </a:r>
          </a:p>
        </p:txBody>
      </p:sp>
      <p:sp>
        <p:nvSpPr>
          <p:cNvPr id="13" name="Rectangle 12"/>
          <p:cNvSpPr/>
          <p:nvPr/>
        </p:nvSpPr>
        <p:spPr>
          <a:xfrm>
            <a:off x="6572250" y="3409950"/>
            <a:ext cx="5143500" cy="57150"/>
          </a:xfrm>
          <a:prstGeom prst="rect">
            <a:avLst/>
          </a:prstGeom>
          <a:solidFill>
            <a:srgbClr val="201914"/>
          </a:solidFill>
          <a:ln>
            <a:noFill/>
          </a:ln>
          <a:effectLst/>
        </p:spPr>
        <p:txBody>
          <a:bodyPr rtlCol="0" anchor="ctr"/>
          <a:lstStyle/>
          <a:p>
            <a:pPr algn="ctr"/>
          </a:p>
        </p:txBody>
      </p:sp>
      <p:sp>
        <p:nvSpPr>
          <p:cNvPr id="14" name="TextBox 13"/>
          <p:cNvSpPr txBox="1"/>
          <p:nvPr/>
        </p:nvSpPr>
        <p:spPr>
          <a:xfrm>
            <a:off x="65722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'Honestly this doesn't really apply to me, but it's a good idea.'</a:t>
            </a:r>
          </a:p>
        </p:txBody>
      </p:sp>
      <p:sp>
        <p:nvSpPr>
          <p:cNvPr id="15" name="TextBox 14"/>
          <p:cNvSpPr txBox="1"/>
          <p:nvPr/>
        </p:nvSpPr>
        <p:spPr>
          <a:xfrm>
            <a:off x="6572250" y="507370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16" name="TextBox 15"/>
          <p:cNvSpPr txBox="1"/>
          <p:nvPr/>
        </p:nvSpPr>
        <p:spPr>
          <a:xfrm>
            <a:off x="6572250" y="534040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respondent, halfway through. Data, blue, by the first half.</a:t>
            </a:r>
          </a:p>
        </p:txBody>
      </p:sp>
      <p:sp>
        <p:nvSpPr>
          <p:cNvPr id="17" name="TextBox 16"/>
          <p:cNvSpPr txBox="1"/>
          <p:nvPr/>
        </p:nvSpPr>
        <p:spPr>
          <a:xfrm>
            <a:off x="6572250" y="616104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18" name="TextBox 17"/>
          <p:cNvSpPr txBox="1"/>
          <p:nvPr/>
        </p:nvSpPr>
        <p:spPr>
          <a:xfrm>
            <a:off x="6572250" y="642774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The second half. The first is forgotten.</a:t>
            </a:r>
          </a:p>
        </p:txBody>
      </p:sp>
      <p:sp>
        <p:nvSpPr>
          <p:cNvPr id="19" name="TextBox 18"/>
          <p:cNvSpPr txBox="1"/>
          <p:nvPr/>
        </p:nvSpPr>
        <p:spPr>
          <a:xfrm>
            <a:off x="6572250" y="6914266"/>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0" name="TextBox 19"/>
          <p:cNvSpPr txBox="1"/>
          <p:nvPr/>
        </p:nvSpPr>
        <p:spPr>
          <a:xfrm>
            <a:off x="6572250" y="7180966"/>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Stop researching and start recruiting: 'Who do you know that it does apply to?'</a:t>
            </a:r>
          </a:p>
        </p:txBody>
      </p:sp>
      <p:sp>
        <p:nvSpPr>
          <p:cNvPr id="21" name="TextBox 20"/>
          <p:cNvSpPr txBox="1"/>
          <p:nvPr/>
        </p:nvSpPr>
        <p:spPr>
          <a:xfrm>
            <a:off x="6572250" y="8058760"/>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Classify a mixed response by the fact, not the tone.</a:t>
            </a:r>
          </a:p>
        </p:txBody>
      </p:sp>
      <p:sp>
        <p:nvSpPr>
          <p:cNvPr id="22" name="Rectangle 21"/>
          <p:cNvSpPr/>
          <p:nvPr/>
        </p:nvSpPr>
        <p:spPr>
          <a:xfrm>
            <a:off x="12096750" y="3409950"/>
            <a:ext cx="5143500" cy="57150"/>
          </a:xfrm>
          <a:prstGeom prst="rect">
            <a:avLst/>
          </a:prstGeom>
          <a:solidFill>
            <a:srgbClr val="201914"/>
          </a:solidFill>
          <a:ln>
            <a:noFill/>
          </a:ln>
          <a:effectLst/>
        </p:spPr>
        <p:txBody>
          <a:bodyPr rtlCol="0" anchor="ctr"/>
          <a:lstStyle/>
          <a:p>
            <a:pPr algn="ctr"/>
          </a:p>
        </p:txBody>
      </p:sp>
      <p:sp>
        <p:nvSpPr>
          <p:cNvPr id="23" name="TextBox 22"/>
          <p:cNvSpPr txBox="1"/>
          <p:nvPr/>
        </p:nvSpPr>
        <p:spPr>
          <a:xfrm>
            <a:off x="12096750" y="3657600"/>
            <a:ext cx="5143500" cy="1238250"/>
          </a:xfrm>
          <a:prstGeom prst="rect">
            <a:avLst/>
          </a:prstGeom>
          <a:noFill/>
        </p:spPr>
        <p:txBody>
          <a:bodyPr wrap="square" lIns="0" rIns="0" tIns="0" bIns="0" anchor="t">
            <a:noAutofit/>
          </a:bodyPr>
          <a:lstStyle/>
          <a:p>
            <a:pPr algn="l">
              <a:lnSpc>
                <a:spcPct val="105000"/>
              </a:lnSpc>
            </a:pPr>
            <a:r>
              <a:rPr sz="2600" b="1" i="0">
                <a:solidFill>
                  <a:srgbClr val="201914"/>
                </a:solidFill>
                <a:latin typeface="Arial"/>
              </a:rPr>
              <a:t>'Yes, I can do twenty minutes on Thursday. Come at four.'</a:t>
            </a:r>
          </a:p>
        </p:txBody>
      </p:sp>
      <p:sp>
        <p:nvSpPr>
          <p:cNvPr id="24" name="TextBox 23"/>
          <p:cNvSpPr txBox="1"/>
          <p:nvPr/>
        </p:nvSpPr>
        <p:spPr>
          <a:xfrm>
            <a:off x="12096750" y="4671517"/>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WHO SAID IT AND WHAT IT IS</a:t>
            </a:r>
          </a:p>
        </p:txBody>
      </p:sp>
      <p:sp>
        <p:nvSpPr>
          <p:cNvPr id="25" name="TextBox 24"/>
          <p:cNvSpPr txBox="1"/>
          <p:nvPr/>
        </p:nvSpPr>
        <p:spPr>
          <a:xfrm>
            <a:off x="12096750" y="4938217"/>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A respondent, answering a commitment ask. Data, blue.</a:t>
            </a:r>
          </a:p>
        </p:txBody>
      </p:sp>
      <p:sp>
        <p:nvSpPr>
          <p:cNvPr id="26" name="TextBox 25"/>
          <p:cNvSpPr txBox="1"/>
          <p:nvPr/>
        </p:nvSpPr>
        <p:spPr>
          <a:xfrm>
            <a:off x="12096750" y="5758861"/>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A FOUNDER HEARS INSTEAD</a:t>
            </a:r>
          </a:p>
        </p:txBody>
      </p:sp>
      <p:sp>
        <p:nvSpPr>
          <p:cNvPr id="27" name="TextBox 26"/>
          <p:cNvSpPr txBox="1"/>
          <p:nvPr/>
        </p:nvSpPr>
        <p:spPr>
          <a:xfrm>
            <a:off x="12096750" y="6025561"/>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Founders underweight it because it sounds flat.</a:t>
            </a:r>
          </a:p>
        </p:txBody>
      </p:sp>
      <p:sp>
        <p:nvSpPr>
          <p:cNvPr id="28" name="TextBox 27"/>
          <p:cNvSpPr txBox="1"/>
          <p:nvPr/>
        </p:nvSpPr>
        <p:spPr>
          <a:xfrm>
            <a:off x="12096750" y="6846204"/>
            <a:ext cx="5143500" cy="247650"/>
          </a:xfrm>
          <a:prstGeom prst="rect">
            <a:avLst/>
          </a:prstGeom>
          <a:noFill/>
        </p:spPr>
        <p:txBody>
          <a:bodyPr wrap="square" lIns="0" rIns="0" tIns="0" bIns="0" anchor="t">
            <a:noAutofit/>
          </a:bodyPr>
          <a:lstStyle/>
          <a:p>
            <a:pPr algn="l">
              <a:lnSpc>
                <a:spcPct val="100000"/>
              </a:lnSpc>
            </a:pPr>
            <a:r>
              <a:rPr sz="1600" b="1" i="0" spc="80">
                <a:solidFill>
                  <a:srgbClr val="7B6F66"/>
                </a:solidFill>
                <a:latin typeface="Arial"/>
              </a:rPr>
              <a:t>WHAT TO DO NEXT</a:t>
            </a:r>
          </a:p>
        </p:txBody>
      </p:sp>
      <p:sp>
        <p:nvSpPr>
          <p:cNvPr id="29" name="TextBox 28"/>
          <p:cNvSpPr txBox="1"/>
          <p:nvPr/>
        </p:nvSpPr>
        <p:spPr>
          <a:xfrm>
            <a:off x="12096750" y="7112904"/>
            <a:ext cx="5143500" cy="2476500"/>
          </a:xfrm>
          <a:prstGeom prst="rect">
            <a:avLst/>
          </a:prstGeom>
          <a:noFill/>
        </p:spPr>
        <p:txBody>
          <a:bodyPr wrap="square" lIns="0" rIns="0" tIns="0" bIns="0" anchor="t">
            <a:noAutofit/>
          </a:bodyPr>
          <a:lstStyle/>
          <a:p>
            <a:pPr algn="l">
              <a:lnSpc>
                <a:spcPct val="108000"/>
              </a:lnSpc>
            </a:pPr>
            <a:r>
              <a:rPr sz="2100" b="0" i="0">
                <a:solidFill>
                  <a:srgbClr val="665B53"/>
                </a:solidFill>
                <a:latin typeface="Arial"/>
              </a:rPr>
              <a:t>Confirm the specifics, turn up early, and at the end of that meeting ask for the next currency.</a:t>
            </a:r>
          </a:p>
        </p:txBody>
      </p:sp>
      <p:sp>
        <p:nvSpPr>
          <p:cNvPr id="30" name="TextBox 29"/>
          <p:cNvSpPr txBox="1"/>
          <p:nvPr/>
        </p:nvSpPr>
        <p:spPr>
          <a:xfrm>
            <a:off x="12096750" y="8324820"/>
            <a:ext cx="5143500" cy="1428750"/>
          </a:xfrm>
          <a:prstGeom prst="rect">
            <a:avLst/>
          </a:prstGeom>
          <a:noFill/>
        </p:spPr>
        <p:txBody>
          <a:bodyPr wrap="square" lIns="0" rIns="0" tIns="0" bIns="0" anchor="t">
            <a:noAutofit/>
          </a:bodyPr>
          <a:lstStyle/>
          <a:p>
            <a:pPr algn="l">
              <a:lnSpc>
                <a:spcPct val="105000"/>
              </a:lnSpc>
            </a:pPr>
            <a:r>
              <a:rPr sz="2400" b="1" i="0">
                <a:solidFill>
                  <a:srgbClr val="C35141"/>
                </a:solidFill>
                <a:latin typeface="Arial"/>
              </a:rPr>
              <a:t>Commitment sounds flat and compliments sound warm.</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5ED"/>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C35141"/>
                </a:solidFill>
                <a:latin typeface="Arial"/>
              </a:rPr>
              <a:t>READ AFTER CLASS · DO NOT MEMORISE</a:t>
            </a:r>
          </a:p>
        </p:txBody>
      </p:sp>
      <p:sp>
        <p:nvSpPr>
          <p:cNvPr id="3" name="TextBox 2"/>
          <p:cNvSpPr txBox="1"/>
          <p:nvPr/>
        </p:nvSpPr>
        <p:spPr>
          <a:xfrm>
            <a:off x="1047750" y="1504950"/>
            <a:ext cx="16192500" cy="762000"/>
          </a:xfrm>
          <a:prstGeom prst="rect">
            <a:avLst/>
          </a:prstGeom>
          <a:noFill/>
        </p:spPr>
        <p:txBody>
          <a:bodyPr wrap="square" lIns="0" rIns="0" tIns="0" bIns="0" anchor="t">
            <a:noAutofit/>
          </a:bodyPr>
          <a:lstStyle/>
          <a:p>
            <a:pPr algn="l">
              <a:lnSpc>
                <a:spcPct val="98000"/>
              </a:lnSpc>
            </a:pPr>
            <a:r>
              <a:rPr sz="5700" b="1" i="0" spc="-120">
                <a:solidFill>
                  <a:srgbClr val="201914"/>
                </a:solidFill>
                <a:latin typeface="Arial"/>
              </a:rPr>
              <a:t>Six terms, in plain English</a:t>
            </a:r>
          </a:p>
        </p:txBody>
      </p:sp>
      <p:sp>
        <p:nvSpPr>
          <p:cNvPr id="4" name="TextBox 3"/>
          <p:cNvSpPr txBox="1"/>
          <p:nvPr/>
        </p:nvSpPr>
        <p:spPr>
          <a:xfrm>
            <a:off x="10477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politeness trap</a:t>
            </a:r>
          </a:p>
        </p:txBody>
      </p:sp>
      <p:sp>
        <p:nvSpPr>
          <p:cNvPr id="5" name="Rectangle 4"/>
          <p:cNvSpPr/>
          <p:nvPr/>
        </p:nvSpPr>
        <p:spPr>
          <a:xfrm>
            <a:off x="1047750" y="3429000"/>
            <a:ext cx="3771900" cy="28575"/>
          </a:xfrm>
          <a:prstGeom prst="rect">
            <a:avLst/>
          </a:prstGeom>
          <a:solidFill>
            <a:srgbClr val="C35141"/>
          </a:solidFill>
          <a:ln>
            <a:noFill/>
          </a:ln>
          <a:effectLst/>
        </p:spPr>
        <p:txBody>
          <a:bodyPr rtlCol="0" anchor="ctr"/>
          <a:lstStyle/>
          <a:p>
            <a:pPr algn="ctr"/>
          </a:p>
        </p:txBody>
      </p:sp>
      <p:sp>
        <p:nvSpPr>
          <p:cNvPr id="6" name="TextBox 5"/>
          <p:cNvSpPr txBox="1"/>
          <p:nvPr/>
        </p:nvSpPr>
        <p:spPr>
          <a:xfrm>
            <a:off x="10477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Asking 'what do you think of my idea' makes anything but encouragement uncomfortable, and the more they care about you the more reliably it happens. Nobody is lying.</a:t>
            </a:r>
          </a:p>
        </p:txBody>
      </p:sp>
      <p:sp>
        <p:nvSpPr>
          <p:cNvPr id="7" name="TextBox 6"/>
          <p:cNvSpPr txBox="1"/>
          <p:nvPr/>
        </p:nvSpPr>
        <p:spPr>
          <a:xfrm>
            <a:off x="65722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Compliment, fluff and data</a:t>
            </a:r>
          </a:p>
        </p:txBody>
      </p:sp>
      <p:sp>
        <p:nvSpPr>
          <p:cNvPr id="8" name="Rectangle 7"/>
          <p:cNvSpPr/>
          <p:nvPr/>
        </p:nvSpPr>
        <p:spPr>
          <a:xfrm>
            <a:off x="6572250" y="3429000"/>
            <a:ext cx="3771900" cy="28575"/>
          </a:xfrm>
          <a:prstGeom prst="rect">
            <a:avLst/>
          </a:prstGeom>
          <a:solidFill>
            <a:srgbClr val="C35141"/>
          </a:solidFill>
          <a:ln>
            <a:noFill/>
          </a:ln>
          <a:effectLst/>
        </p:spPr>
        <p:txBody>
          <a:bodyPr rtlCol="0" anchor="ctr"/>
          <a:lstStyle/>
          <a:p>
            <a:pPr algn="ctr"/>
          </a:p>
        </p:txBody>
      </p:sp>
      <p:sp>
        <p:nvSpPr>
          <p:cNvPr id="9" name="TextBox 8"/>
          <p:cNvSpPr txBox="1"/>
          <p:nvPr/>
        </p:nvSpPr>
        <p:spPr>
          <a:xfrm>
            <a:off x="65722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Praise, a generic or future statement, or a specific past event. Only the third should change what you believe.</a:t>
            </a:r>
          </a:p>
        </p:txBody>
      </p:sp>
      <p:sp>
        <p:nvSpPr>
          <p:cNvPr id="10" name="TextBox 9"/>
          <p:cNvSpPr txBox="1"/>
          <p:nvPr/>
        </p:nvSpPr>
        <p:spPr>
          <a:xfrm>
            <a:off x="12096750" y="2838450"/>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three Mom Test rules</a:t>
            </a:r>
          </a:p>
        </p:txBody>
      </p:sp>
      <p:sp>
        <p:nvSpPr>
          <p:cNvPr id="11" name="Rectangle 10"/>
          <p:cNvSpPr/>
          <p:nvPr/>
        </p:nvSpPr>
        <p:spPr>
          <a:xfrm>
            <a:off x="12096750" y="3429000"/>
            <a:ext cx="3771900" cy="28575"/>
          </a:xfrm>
          <a:prstGeom prst="rect">
            <a:avLst/>
          </a:prstGeom>
          <a:solidFill>
            <a:srgbClr val="C35141"/>
          </a:solidFill>
          <a:ln>
            <a:noFill/>
          </a:ln>
          <a:effectLst/>
        </p:spPr>
        <p:txBody>
          <a:bodyPr rtlCol="0" anchor="ctr"/>
          <a:lstStyle/>
          <a:p>
            <a:pPr algn="ctr"/>
          </a:p>
        </p:txBody>
      </p:sp>
      <p:sp>
        <p:nvSpPr>
          <p:cNvPr id="12" name="TextBox 11"/>
          <p:cNvSpPr txBox="1"/>
          <p:nvPr/>
        </p:nvSpPr>
        <p:spPr>
          <a:xfrm>
            <a:off x="12096750" y="371475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Talk about their life. Ask about specifics in the past. Speak for less than a third of the time.</a:t>
            </a:r>
          </a:p>
        </p:txBody>
      </p:sp>
      <p:sp>
        <p:nvSpPr>
          <p:cNvPr id="13" name="TextBox 12"/>
          <p:cNvSpPr txBox="1"/>
          <p:nvPr/>
        </p:nvSpPr>
        <p:spPr>
          <a:xfrm>
            <a:off x="10477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The commitment test</a:t>
            </a:r>
          </a:p>
        </p:txBody>
      </p:sp>
      <p:sp>
        <p:nvSpPr>
          <p:cNvPr id="14" name="Rectangle 13"/>
          <p:cNvSpPr/>
          <p:nvPr/>
        </p:nvSpPr>
        <p:spPr>
          <a:xfrm>
            <a:off x="1047750" y="6829425"/>
            <a:ext cx="3771900" cy="28575"/>
          </a:xfrm>
          <a:prstGeom prst="rect">
            <a:avLst/>
          </a:prstGeom>
          <a:solidFill>
            <a:srgbClr val="C35141"/>
          </a:solidFill>
          <a:ln>
            <a:noFill/>
          </a:ln>
          <a:effectLst/>
        </p:spPr>
        <p:txBody>
          <a:bodyPr rtlCol="0" anchor="ctr"/>
          <a:lstStyle/>
          <a:p>
            <a:pPr algn="ctr"/>
          </a:p>
        </p:txBody>
      </p:sp>
      <p:sp>
        <p:nvSpPr>
          <p:cNvPr id="15" name="TextBox 14"/>
          <p:cNvSpPr txBox="1"/>
          <p:nvPr/>
        </p:nvSpPr>
        <p:spPr>
          <a:xfrm>
            <a:off x="1047750" y="7115175"/>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Talk is free, so ask for money, time, reputation or information. 'Can I put you down for ₹500?'</a:t>
            </a:r>
          </a:p>
        </p:txBody>
      </p:sp>
      <p:sp>
        <p:nvSpPr>
          <p:cNvPr id="16" name="TextBox 15"/>
          <p:cNvSpPr txBox="1"/>
          <p:nvPr/>
        </p:nvSpPr>
        <p:spPr>
          <a:xfrm>
            <a:off x="65722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Stated intent versus behaviour</a:t>
            </a:r>
          </a:p>
        </p:txBody>
      </p:sp>
      <p:sp>
        <p:nvSpPr>
          <p:cNvPr id="17" name="Rectangle 16"/>
          <p:cNvSpPr/>
          <p:nvPr/>
        </p:nvSpPr>
        <p:spPr>
          <a:xfrm>
            <a:off x="6572250" y="7219950"/>
            <a:ext cx="3771900" cy="28575"/>
          </a:xfrm>
          <a:prstGeom prst="rect">
            <a:avLst/>
          </a:prstGeom>
          <a:solidFill>
            <a:srgbClr val="C35141"/>
          </a:solidFill>
          <a:ln>
            <a:noFill/>
          </a:ln>
          <a:effectLst/>
        </p:spPr>
        <p:txBody>
          <a:bodyPr rtlCol="0" anchor="ctr"/>
          <a:lstStyle/>
          <a:p>
            <a:pPr algn="ctr"/>
          </a:p>
        </p:txBody>
      </p:sp>
      <p:sp>
        <p:nvSpPr>
          <p:cNvPr id="18" name="TextBox 17"/>
          <p:cNvSpPr txBox="1"/>
          <p:nvPr/>
        </p:nvSpPr>
        <p:spPr>
          <a:xfrm>
            <a:off x="6572250" y="7505700"/>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Everybody says they want to invest. Far fewer opened a demat account. Trust what people did.</a:t>
            </a:r>
          </a:p>
        </p:txBody>
      </p:sp>
      <p:sp>
        <p:nvSpPr>
          <p:cNvPr id="19" name="TextBox 18"/>
          <p:cNvSpPr txBox="1"/>
          <p:nvPr/>
        </p:nvSpPr>
        <p:spPr>
          <a:xfrm>
            <a:off x="12096750" y="6238875"/>
            <a:ext cx="5143500" cy="847725"/>
          </a:xfrm>
          <a:prstGeom prst="rect">
            <a:avLst/>
          </a:prstGeom>
          <a:noFill/>
        </p:spPr>
        <p:txBody>
          <a:bodyPr wrap="square" lIns="0" rIns="0" tIns="0" bIns="0" anchor="t">
            <a:noAutofit/>
          </a:bodyPr>
          <a:lstStyle/>
          <a:p>
            <a:pPr algn="l">
              <a:lnSpc>
                <a:spcPct val="102000"/>
              </a:lnSpc>
            </a:pPr>
            <a:r>
              <a:rPr sz="2800" b="1" i="0">
                <a:solidFill>
                  <a:srgbClr val="201914"/>
                </a:solidFill>
                <a:latin typeface="Arial"/>
              </a:rPr>
              <a:t>Organic acquisition</a:t>
            </a:r>
          </a:p>
        </p:txBody>
      </p:sp>
      <p:sp>
        <p:nvSpPr>
          <p:cNvPr id="20" name="Rectangle 19"/>
          <p:cNvSpPr/>
          <p:nvPr/>
        </p:nvSpPr>
        <p:spPr>
          <a:xfrm>
            <a:off x="12096750" y="6829425"/>
            <a:ext cx="3771900" cy="28575"/>
          </a:xfrm>
          <a:prstGeom prst="rect">
            <a:avLst/>
          </a:prstGeom>
          <a:solidFill>
            <a:srgbClr val="C35141"/>
          </a:solidFill>
          <a:ln>
            <a:noFill/>
          </a:ln>
          <a:effectLst/>
        </p:spPr>
        <p:txBody>
          <a:bodyPr rtlCol="0" anchor="ctr"/>
          <a:lstStyle/>
          <a:p>
            <a:pPr algn="ctr"/>
          </a:p>
        </p:txBody>
      </p:sp>
      <p:sp>
        <p:nvSpPr>
          <p:cNvPr id="21" name="TextBox 20"/>
          <p:cNvSpPr txBox="1"/>
          <p:nvPr/>
        </p:nvSpPr>
        <p:spPr>
          <a:xfrm>
            <a:off x="12096750" y="7115175"/>
            <a:ext cx="5143500" cy="1905000"/>
          </a:xfrm>
          <a:prstGeom prst="rect">
            <a:avLst/>
          </a:prstGeom>
          <a:noFill/>
        </p:spPr>
        <p:txBody>
          <a:bodyPr wrap="square" lIns="0" rIns="0" tIns="0" bIns="0" anchor="t">
            <a:noAutofit/>
          </a:bodyPr>
          <a:lstStyle/>
          <a:p>
            <a:pPr algn="l">
              <a:lnSpc>
                <a:spcPct val="110000"/>
              </a:lnSpc>
            </a:pPr>
            <a:r>
              <a:rPr sz="2100" b="0" i="0">
                <a:solidFill>
                  <a:srgbClr val="201914"/>
                </a:solidFill>
                <a:latin typeface="Arial"/>
              </a:rPr>
              <a:t>A customer who arrived without you paying for them. About 83% of Groww's, the closest number to real demand.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01914"/>
        </a:solidFill>
        <a:effectLst/>
      </p:bgPr>
    </p:bg>
    <p:spTree>
      <p:nvGrpSpPr>
        <p:cNvPr id="1" name=""/>
        <p:cNvGrpSpPr/>
        <p:nvPr/>
      </p:nvGrpSpPr>
      <p:grpSpPr/>
      <p:sp>
        <p:nvSpPr>
          <p:cNvPr id="2" name="TextBox 1"/>
          <p:cNvSpPr txBox="1"/>
          <p:nvPr/>
        </p:nvSpPr>
        <p:spPr>
          <a:xfrm>
            <a:off x="1047750" y="952500"/>
            <a:ext cx="16192500" cy="323850"/>
          </a:xfrm>
          <a:prstGeom prst="rect">
            <a:avLst/>
          </a:prstGeom>
          <a:noFill/>
        </p:spPr>
        <p:txBody>
          <a:bodyPr wrap="square" lIns="0" rIns="0" tIns="0" bIns="0" anchor="t">
            <a:noAutofit/>
          </a:bodyPr>
          <a:lstStyle/>
          <a:p>
            <a:pPr algn="l">
              <a:lnSpc>
                <a:spcPct val="108000"/>
              </a:lnSpc>
            </a:pPr>
            <a:r>
              <a:rPr sz="1950" b="1" i="0" spc="312">
                <a:solidFill>
                  <a:srgbClr val="EF806F"/>
                </a:solidFill>
                <a:latin typeface="Arial"/>
              </a:rPr>
              <a:t>NEXT SESSION · THE OTHER HALF</a:t>
            </a:r>
          </a:p>
        </p:txBody>
      </p:sp>
      <p:sp>
        <p:nvSpPr>
          <p:cNvPr id="3" name="TextBox 2"/>
          <p:cNvSpPr txBox="1"/>
          <p:nvPr/>
        </p:nvSpPr>
        <p:spPr>
          <a:xfrm>
            <a:off x="1714500" y="3274314"/>
            <a:ext cx="14859000" cy="3928872"/>
          </a:xfrm>
          <a:prstGeom prst="rect">
            <a:avLst/>
          </a:prstGeom>
          <a:noFill/>
        </p:spPr>
        <p:txBody>
          <a:bodyPr wrap="square" lIns="0" rIns="0" tIns="0" bIns="0" anchor="t">
            <a:noAutofit/>
          </a:bodyPr>
          <a:lstStyle/>
          <a:p>
            <a:pPr algn="l">
              <a:lnSpc>
                <a:spcPct val="105000"/>
              </a:lnSpc>
              <a:spcAft>
                <a:spcPts val="2640"/>
              </a:spcAft>
            </a:pPr>
            <a:r>
              <a:rPr sz="4400" b="1" i="0">
                <a:solidFill>
                  <a:srgbClr val="F5F1E9"/>
                </a:solidFill>
                <a:latin typeface="Arial"/>
              </a:rPr>
              <a:t>Everything so far was one person at a time.</a:t>
            </a:r>
          </a:p>
          <a:p>
            <a:pPr algn="l">
              <a:lnSpc>
                <a:spcPct val="105000"/>
              </a:lnSpc>
            </a:pPr>
            <a:r>
              <a:rPr sz="4400" b="1" i="0">
                <a:solidFill>
                  <a:srgbClr val="F5F1E9"/>
                </a:solidFill>
                <a:latin typeface="Arial"/>
              </a:rPr>
              <a:t>Next session: what happens when you want an answer from four thousand people instead of twelve. And the specific ways a survey can be honest, well run and completely wrong.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Zenith School of AI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