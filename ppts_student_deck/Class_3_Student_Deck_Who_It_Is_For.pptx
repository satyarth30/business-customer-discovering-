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ZENITH SCHOOL OF AI · CUSTOMER DISCOVERY · CLASS 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2859881"/>
            <a:ext cx="16678275" cy="289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705"/>
              </a:lnSpc>
              <a:buNone/>
            </a:pPr>
            <a:r>
              <a:rPr lang="en-US" sz="11250" b="1" spc="-225" kern="0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Customer Is the Business</a:t>
            </a:r>
            <a:endParaRPr lang="en-US" sz="11250" dirty="0"/>
          </a:p>
        </p:txBody>
      </p:sp>
      <p:sp>
        <p:nvSpPr>
          <p:cNvPr id="4" name="Text 2"/>
          <p:cNvSpPr/>
          <p:nvPr/>
        </p:nvSpPr>
        <p:spPr>
          <a:xfrm>
            <a:off x="1047750" y="6136481"/>
            <a:ext cx="16678275" cy="1162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i="1" dirty="0">
                <a:solidFill>
                  <a:srgbClr val="C8BB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feature is a fact about somebody's life — and choosing whose life is the whole job.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8882063"/>
            <a:ext cx="16192500" cy="9525"/>
          </a:xfrm>
          <a:prstGeom prst="rect">
            <a:avLst/>
          </a:prstGeom>
          <a:solidFill>
            <a:srgbClr val="564B4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47750" y="9215438"/>
            <a:ext cx="342393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Customer Truth Stack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770016" y="9215438"/>
            <a:ext cx="259784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Feature-Truth Trace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741295" y="9215438"/>
            <a:ext cx="221779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Lenses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367070" y="9215438"/>
            <a:ext cx="290234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Customer Profile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615169" y="9215438"/>
            <a:ext cx="207151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Beachhead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LEFT OFF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lectures, three tools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2988915"/>
            <a:ext cx="5143500" cy="3026866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428750" y="3331815"/>
            <a:ext cx="48196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1 · THE GAP MODEL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28750" y="3765203"/>
            <a:ext cx="4512945" cy="1683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pays for a product. They pay for the distance between where they are and where they want to be.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72250" y="2988915"/>
            <a:ext cx="5143500" cy="3026866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953250" y="3331815"/>
            <a:ext cx="4512945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 · WILLINGNESS TO PAY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53250" y="4027140"/>
            <a:ext cx="4512945" cy="127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price somebody has actually paid is evidence. Everything else is an opinion about a price.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096750" y="2988915"/>
            <a:ext cx="5143500" cy="3026866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477750" y="3331815"/>
            <a:ext cx="4512945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3 · VITAMIN OR PAINKILLER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477750" y="4027140"/>
            <a:ext cx="4512945" cy="1683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problem shows up as a workaround somebody is already paying for in money or in time.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47750" y="832485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47750" y="8658225"/>
            <a:ext cx="16678275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Last week we asked whether the problem was real. Today, twice — real for whom, and which of them do you choose.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0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AND ANSWER · ONE WORD · BE HONEST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3998640"/>
            <a:ext cx="14716125" cy="2804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842"/>
              </a:lnSpc>
              <a:buNone/>
            </a:pPr>
            <a:r>
              <a:rPr lang="en-US" sz="66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to start a business. Now what — what do you actually think about first?</a:t>
            </a:r>
            <a:endParaRPr lang="en-US" sz="6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MOST PEOPLE SAY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one answer names a person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2988915"/>
            <a:ext cx="2933700" cy="2331690"/>
          </a:xfrm>
          <a:prstGeom prst="rect">
            <a:avLst/>
          </a:prstGeom>
          <a:solidFill>
            <a:srgbClr val="F9F5E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33500" y="3293715"/>
            <a:ext cx="259842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33500" y="3884265"/>
            <a:ext cx="2438400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a guess until somebody pays.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362450" y="2988915"/>
            <a:ext cx="2933700" cy="2331690"/>
          </a:xfrm>
          <a:prstGeom prst="rect">
            <a:avLst/>
          </a:prstGeom>
          <a:solidFill>
            <a:srgbClr val="F9F5E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648200" y="3293715"/>
            <a:ext cx="259842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648200" y="3884265"/>
            <a:ext cx="2438400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the packaging.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677150" y="2988915"/>
            <a:ext cx="2933700" cy="2331690"/>
          </a:xfrm>
          <a:prstGeom prst="rect">
            <a:avLst/>
          </a:prstGeom>
          <a:solidFill>
            <a:srgbClr val="F9F5ED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962900" y="3293715"/>
            <a:ext cx="259842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money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962900" y="3884265"/>
            <a:ext cx="2438400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the outcome.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0991850" y="2988915"/>
            <a:ext cx="2933700" cy="2331690"/>
          </a:xfrm>
          <a:prstGeom prst="rect">
            <a:avLst/>
          </a:prstGeom>
          <a:solidFill>
            <a:srgbClr val="F9F5ED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277600" y="3293715"/>
            <a:ext cx="24384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name and logo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1277600" y="4322415"/>
            <a:ext cx="2438400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a side effect.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4306550" y="2988915"/>
            <a:ext cx="2933700" cy="2331690"/>
          </a:xfrm>
          <a:prstGeom prst="rect">
            <a:avLst/>
          </a:prstGeom>
          <a:solidFill>
            <a:srgbClr val="F9F5E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4592300" y="3293715"/>
            <a:ext cx="259842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4592300" y="3884265"/>
            <a:ext cx="2438400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serve whom?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047750" y="832485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47750" y="8658225"/>
            <a:ext cx="16678275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answer is something you would make, buy, hire or spend. Not one is a human being with a problem.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0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· 2015 TO 2024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4052888"/>
            <a:ext cx="17811750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975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Meesho</a:t>
            </a:r>
            <a:endParaRPr lang="en-US" sz="9750" dirty="0"/>
          </a:p>
        </p:txBody>
      </p:sp>
      <p:sp>
        <p:nvSpPr>
          <p:cNvPr id="4" name="Text 2"/>
          <p:cNvSpPr/>
          <p:nvPr/>
        </p:nvSpPr>
        <p:spPr>
          <a:xfrm>
            <a:off x="1047750" y="5672138"/>
            <a:ext cx="13735050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i="1" dirty="0">
                <a:solidFill>
                  <a:srgbClr val="C8BB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companies chased the same Indian shopper. One found a different one — thirteen million of her.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E-COMMERCE · 2015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funded companies, one shopper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047750" y="3065115"/>
            <a:ext cx="3314082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90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40mn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047750" y="4341465"/>
            <a:ext cx="331408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SHOPPERS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4717703"/>
            <a:ext cx="3103186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1.3 billion people — under four percent of the country.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4441552" y="3065115"/>
            <a:ext cx="4368053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90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$10bn+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4441552" y="4341465"/>
            <a:ext cx="436805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FUNDING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441552" y="4717703"/>
            <a:ext cx="4090086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Flipkart, Amazon India, Snapdeal, Paytm Mall — all chasing the same person.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793510" y="3065115"/>
            <a:ext cx="5030428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90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₹5,200cr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8793510" y="4341465"/>
            <a:ext cx="503042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FLIPKART'S FY16 LOSS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793510" y="4717703"/>
            <a:ext cx="471031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all of it discounts and delivery.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3747626" y="3065115"/>
            <a:ext cx="3841886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90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₹2,000</a:t>
            </a:r>
            <a:endParaRPr lang="en-US" sz="9000" dirty="0"/>
          </a:p>
        </p:txBody>
      </p:sp>
      <p:sp>
        <p:nvSpPr>
          <p:cNvPr id="14" name="Text 12"/>
          <p:cNvSpPr/>
          <p:nvPr/>
        </p:nvSpPr>
        <p:spPr>
          <a:xfrm>
            <a:off x="13747626" y="4341465"/>
            <a:ext cx="384188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BUY ONE CUSTOMER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47626" y="4717703"/>
            <a:ext cx="359740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then orders four times a year at ₹800.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47750" y="832485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47750" y="8658225"/>
            <a:ext cx="16678275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four funded companies build for one person, competition stops being about product and becomes about price.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CUSTOMERS · SAME COUNTRY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Rohit is easy to serve. Sunita is impossible.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2988915"/>
            <a:ext cx="7905750" cy="4746129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428750" y="3369915"/>
            <a:ext cx="785812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CUSTOMER EVERYONE COULD SEE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28750" y="3860453"/>
            <a:ext cx="785812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Rohit, 27, Bengaluru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28750" y="4527203"/>
            <a:ext cx="7358063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 lakh a year at an IT services firm — English all day, at work and at home.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28750" y="5513933"/>
            <a:ext cx="7358063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Debit card and credit card that arrived with the salary account.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28750" y="6500664"/>
            <a:ext cx="7358063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delivery address a courier has already found eleven times this year.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334500" y="2988915"/>
            <a:ext cx="7905750" cy="4746129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715500" y="3369915"/>
            <a:ext cx="785812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CUSTOMER NOBODY COULD SEE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715500" y="3860453"/>
            <a:ext cx="785812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Sunita, 28, Kanpur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715500" y="4527203"/>
            <a:ext cx="7358063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 earns ₹15,000 a month and saves ₹2,000 in a good month.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715500" y="5513933"/>
            <a:ext cx="7358063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₹7,000 second-hand Android, three hours a day, almost all WhatsApp and YouTube.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715500" y="6500664"/>
            <a:ext cx="7358063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card. No online payment, ever. Reads Hindi comfortably, English slowly.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047750" y="8758238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47750" y="9091613"/>
            <a:ext cx="1781175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decided to exclude her. An English label and a card field did it automatically.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CONSTRAINT SET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6678275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sentences eliminate every product in India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3748980"/>
            <a:ext cx="3762375" cy="2428875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71600" y="4091880"/>
            <a:ext cx="342614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capital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371600" y="4672905"/>
            <a:ext cx="320811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anything that asks her to buy stock is dead.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5191125" y="3748980"/>
            <a:ext cx="3762375" cy="2428875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514975" y="4091880"/>
            <a:ext cx="342614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card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514975" y="4672905"/>
            <a:ext cx="3208115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anything with an online payment step is dead.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334500" y="3748980"/>
            <a:ext cx="3762375" cy="2428875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58350" y="4091880"/>
            <a:ext cx="3208115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leave 7am to 4pm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658350" y="5063430"/>
            <a:ext cx="320811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anything with a shop or fixed hours is dead.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3477875" y="3748980"/>
            <a:ext cx="3762375" cy="2428875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3801725" y="4091880"/>
            <a:ext cx="3208115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not read English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3801725" y="5063430"/>
            <a:ext cx="320811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every English-only interface is dead.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47750" y="8758238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47750" y="9091613"/>
            <a:ext cx="1781175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demographic describes her. A constraint set tells you what you are not allowed to build.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SIXTH FACT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6678275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was already running a business she did not call one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3825180"/>
            <a:ext cx="5143500" cy="2764929"/>
          </a:xfrm>
          <a:prstGeom prst="rect">
            <a:avLst/>
          </a:prstGeom>
          <a:solidFill>
            <a:srgbClr val="F9F5E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71600" y="4168080"/>
            <a:ext cx="49453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SHE DID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4601468"/>
            <a:ext cx="4630674" cy="127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Photographed a good kurta at a good price and forwarded it into nine WhatsApp groups.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72250" y="3825180"/>
            <a:ext cx="5143500" cy="2764929"/>
          </a:xfrm>
          <a:prstGeom prst="rect">
            <a:avLst/>
          </a:prstGeom>
          <a:solidFill>
            <a:srgbClr val="F9F5E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96100" y="4168080"/>
            <a:ext cx="49453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96100" y="4601468"/>
            <a:ext cx="4630674" cy="1683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or four women asked where. Twice she bought extra pieces with money paid in advance and delivered them.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096750" y="3825180"/>
            <a:ext cx="5143500" cy="2764929"/>
          </a:xfrm>
          <a:prstGeom prst="rect">
            <a:avLst/>
          </a:prstGeom>
          <a:solidFill>
            <a:srgbClr val="C3514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420600" y="4168080"/>
            <a:ext cx="49453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FFA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SHE OWNED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420600" y="4601468"/>
            <a:ext cx="4630674" cy="1683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distribution channel, a customer base and a trust relationship — all three given away free.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47750" y="8758238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47750" y="9091613"/>
            <a:ext cx="1781175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 did not think of it as a business. She thought of it as being helpful.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2015 · BENGALURU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6678275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FashNear failed, so the founders went and asked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047750" y="3748980"/>
            <a:ext cx="413861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4182368"/>
            <a:ext cx="3875246" cy="1683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Vidit Aatrey and Sanjeev Barnwal quit InMobi and Sony to build hyperlocal fashion delivery.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91125" y="3748980"/>
            <a:ext cx="413861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MONTHS 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191125" y="4182368"/>
            <a:ext cx="3875246" cy="1683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volumes, poor repeat. The idea was fashionable and it was not working.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334500" y="3748980"/>
            <a:ext cx="3875246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THEY ASKED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34500" y="4444305"/>
            <a:ext cx="3875246" cy="1683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Sitting with boutique owners in HSR Layout: where does your business actually come from?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477875" y="3748980"/>
            <a:ext cx="413861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477875" y="4182368"/>
            <a:ext cx="3875246" cy="2095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— and not only shopkeepers. Ordinary women were reselling to their own groups at a markup.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047750" y="832485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47750" y="8658225"/>
            <a:ext cx="16678275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2016 they shut FashNear and rebuilt around her. The new name was Meesho — Meri Shop, my shop.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· THE FEATURE-TRUTH TRACE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feature is a fact about her life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047750" y="2817465"/>
            <a:ext cx="16678275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[FEATURE] exists because [CUSTOMER] [TRUTH]. Without that truth, this feature would be a mistake.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47750" y="4393853"/>
            <a:ext cx="16192500" cy="19050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47750" y="3979515"/>
            <a:ext cx="869632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34500" y="3979515"/>
            <a:ext cx="869632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CUSTOMER TRUTH BEHIND IT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750" y="5374928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47750" y="4565303"/>
            <a:ext cx="8142923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reseller never buys stock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334500" y="4565303"/>
            <a:ext cx="8142923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has zero capital and cannot risk ₹2,500 on ten kurtas that may not sell.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047750" y="5384453"/>
            <a:ext cx="16192500" cy="971550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047750" y="6346478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47750" y="5536853"/>
            <a:ext cx="8142923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button is SHARE, not BUY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334500" y="5536853"/>
            <a:ext cx="8142923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audience already lives in nine WhatsApp groups, not on Meesho.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047750" y="7318028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47750" y="6508403"/>
            <a:ext cx="8142923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on delivery is the default, not a fallback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334500" y="6508403"/>
            <a:ext cx="8142923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she nor her buyers hold cards or trust prepaying a stranger.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047750" y="7327553"/>
            <a:ext cx="16192500" cy="666750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47750" y="7984778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47750" y="7479953"/>
            <a:ext cx="86963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sets her own markup on every product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334500" y="7479953"/>
            <a:ext cx="86963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pricing power comes from knowing her buyers personally.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047750" y="8956328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47750" y="8146703"/>
            <a:ext cx="8142923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 is named Meri Shop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334500" y="8146703"/>
            <a:ext cx="8142923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wants to be a person who runs something of her own more than she wants ₹70.</a:t>
            </a:r>
            <a:endParaRPr lang="en-US" sz="2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DRILL · 90 SECONDS, WRITTEN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6678275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company refuses to build tells you more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3825180"/>
            <a:ext cx="5143500" cy="2814638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71600" y="4168080"/>
            <a:ext cx="494538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dark store shelf display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371600" y="4749105"/>
            <a:ext cx="4630674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never walks in, so aisle layout, lighting and street frontage are pure waste. Deleting them pays for ten minutes.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6572250" y="3825180"/>
            <a:ext cx="5143500" cy="2814638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96100" y="4168080"/>
            <a:ext cx="4630674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loyalty programme of consequence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896100" y="5139630"/>
            <a:ext cx="4630674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is not shopping. She is replacing something she ran out of, usually annoyed.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2096750" y="3825180"/>
            <a:ext cx="5143500" cy="2814638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420600" y="4168080"/>
            <a:ext cx="4630674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catalogue beyond 2,000 items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2420600" y="5139630"/>
            <a:ext cx="4630674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is a cost here, not a feature. Every extra choice sits between her and checkout.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047750" y="8758238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47750" y="9091613"/>
            <a:ext cx="1781175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feature that would be right for everybody tells you nothing about anybody.</a:t>
            </a:r>
            <a:endParaRPr lang="en-US" sz="3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2021 · SHOPSY LAUNCHES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6678275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feature copies in a quarter. An operating system does not.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3748980"/>
            <a:ext cx="5143500" cy="3176364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71600" y="4091880"/>
            <a:ext cx="49453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4525268"/>
            <a:ext cx="4630674" cy="1683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Flipkart's supplier operation was built for Samsung and Levi's. Meesho's was built for a man with a phone and 400 sarees.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72250" y="3748980"/>
            <a:ext cx="5143500" cy="3176364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96100" y="4091880"/>
            <a:ext cx="49453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ARCHITECTURE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96100" y="4525268"/>
            <a:ext cx="4630674" cy="1683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₹149 order to Gorakhpur, cash at the door. You cannot bolt a ₹149 business onto a ₹2,000 business.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096750" y="3748980"/>
            <a:ext cx="5143500" cy="3176364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420600" y="4091880"/>
            <a:ext cx="49453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COMMISSION, 2021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420600" y="4525268"/>
            <a:ext cx="4630674" cy="2095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cut of the sale at all — revenue from advertising and logistics instead. For an incumbent the commission line is the revenue line.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47750" y="832485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47750" y="8658225"/>
            <a:ext cx="16678275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customer insight does not protect you because it is secret. It protects you because acting on it fully means becoming a different company.</a:t>
            </a:r>
            <a:endParaRPr lang="en-US" sz="3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ORDER · AND THIRTEEN MILLION RESELLERS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₹280 becomes ₹350, and ₹70 is hers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047750" y="3065115"/>
            <a:ext cx="3841313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90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₹70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047750" y="4341465"/>
            <a:ext cx="384131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GROSS MARGIN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4717703"/>
            <a:ext cx="3596866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₹280, buyer pays ₹350 in cash at the door. Twenty percent, on zero invested capital.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4920853" y="3065115"/>
            <a:ext cx="3841313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90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₹4-6k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4920853" y="4341465"/>
            <a:ext cx="384131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COMMITTED MONTH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20853" y="4717703"/>
            <a:ext cx="3596866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to 100 orders at ₹60 average. Casual resellers earn ₹200 to ₹400; the top tier reports ₹20,000 plus.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793956" y="3065115"/>
            <a:ext cx="3841313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90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13mn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8793956" y="4341465"/>
            <a:ext cx="384131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RESELLERS, 2021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793956" y="4717703"/>
            <a:ext cx="3596866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Roughly 80% of them women, recruiting buyers inside groups Meesho does not pay for.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667059" y="3065115"/>
            <a:ext cx="5030428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90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₹7,615cr</a:t>
            </a:r>
            <a:endParaRPr lang="en-US" sz="9000" dirty="0"/>
          </a:p>
        </p:txBody>
      </p:sp>
      <p:sp>
        <p:nvSpPr>
          <p:cNvPr id="14" name="Text 12"/>
          <p:cNvSpPr/>
          <p:nvPr/>
        </p:nvSpPr>
        <p:spPr>
          <a:xfrm>
            <a:off x="12667059" y="4341465"/>
            <a:ext cx="503042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FY24 REVENUE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667059" y="4717703"/>
            <a:ext cx="471031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down to about ₹305 crore, from ₹1,675 crore the year before.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47750" y="8758238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47750" y="9091613"/>
            <a:ext cx="1781175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your customer's own network is your distribution, acquisition cost falls towards zero.</a:t>
            </a:r>
            <a:endParaRPr lang="en-US" sz="3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0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COUNTER-CASE · 2008 TO 2020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4052888"/>
            <a:ext cx="17811750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975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Tata Nano</a:t>
            </a:r>
            <a:endParaRPr lang="en-US" sz="9750" dirty="0"/>
          </a:p>
        </p:txBody>
      </p:sp>
      <p:sp>
        <p:nvSpPr>
          <p:cNvPr id="4" name="Text 2"/>
          <p:cNvSpPr/>
          <p:nvPr/>
        </p:nvSpPr>
        <p:spPr>
          <a:xfrm>
            <a:off x="1047750" y="5672138"/>
            <a:ext cx="13735050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i="1" dirty="0">
                <a:solidFill>
                  <a:srgbClr val="C8BB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family of four on a scooter in the rain. The observation was right, and the car still failed.</a:t>
            </a:r>
            <a:endParaRPr lang="en-US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MOTORS · SANAND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engineering worked. The car did not sell.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047750" y="3065115"/>
            <a:ext cx="3748396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90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 lakh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047750" y="5484465"/>
            <a:ext cx="400314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PRICE, MET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5860703"/>
            <a:ext cx="3748396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car, meeting safety and emissions rules, at scooter-adjacent money.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5067970" y="3065115"/>
            <a:ext cx="4544861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90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250,000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5067970" y="4341465"/>
            <a:ext cx="454486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CARS OF ANNUAL CAPACITY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67970" y="4717703"/>
            <a:ext cx="425564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dedicated plant reported at around ₹2,000 crore.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580662" y="3065115"/>
            <a:ext cx="4003224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90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74,500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9580662" y="4341465"/>
            <a:ext cx="400322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YEAR, FY2012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80662" y="4717703"/>
            <a:ext cx="3748473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than a third of the plant, in the best year it ever had.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3600956" y="3065115"/>
            <a:ext cx="4003224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90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7,591</a:t>
            </a:r>
            <a:endParaRPr lang="en-US" sz="9000" dirty="0"/>
          </a:p>
        </p:txBody>
      </p:sp>
      <p:sp>
        <p:nvSpPr>
          <p:cNvPr id="14" name="Text 12"/>
          <p:cNvSpPr/>
          <p:nvPr/>
        </p:nvSpPr>
        <p:spPr>
          <a:xfrm>
            <a:off x="13600956" y="4341465"/>
            <a:ext cx="400322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FY2017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600956" y="4717703"/>
            <a:ext cx="3748473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a trickle, and production ended around 2018-2020.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47750" y="832485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47750" y="8658225"/>
            <a:ext cx="16678275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Maruti sold the Alto, at two to three times the price, to broadly the same upgrading families, for years.</a:t>
            </a:r>
            <a:endParaRPr lang="en-US" sz="3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METHOD · OPPOSITE OUTCOME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6678275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Meesho named her ambition. The Nano named her budget.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3748980"/>
            <a:ext cx="7905750" cy="2471738"/>
          </a:xfrm>
          <a:prstGeom prst="rect">
            <a:avLst/>
          </a:prstGeom>
          <a:solidFill>
            <a:srgbClr val="C3514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428750" y="4168080"/>
            <a:ext cx="785812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FFA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PRODUCT SAID TO HER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28750" y="4658618"/>
            <a:ext cx="7358063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36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now a businesswoman with a shop of your own.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9334500" y="3748980"/>
            <a:ext cx="7905750" cy="2471738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715500" y="4168080"/>
            <a:ext cx="785812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MARKETING SAID TO HIM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715500" y="4658618"/>
            <a:ext cx="7358063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36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the person who could only afford this.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1047750" y="8758238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47750" y="9091613"/>
            <a:ext cx="1781175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 for a first car was enormous. The market for the cheapest car was almost empty.</a:t>
            </a:r>
            <a:endParaRPr lang="en-US" sz="3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Customer Truth Stack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3403253"/>
            <a:ext cx="16192500" cy="19050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47750" y="2988915"/>
            <a:ext cx="357430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640014" y="2988915"/>
            <a:ext cx="436862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 QUESTION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54393" y="2988915"/>
            <a:ext cx="436862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SUNITA'S VERSION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68771" y="2988915"/>
            <a:ext cx="436862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GET IT WRONG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47750" y="5108228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47750" y="3712815"/>
            <a:ext cx="234352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Constraints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047750" y="4174778"/>
            <a:ext cx="35743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limits of a life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640014" y="3708053"/>
            <a:ext cx="4090623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this person not do, however much they want to?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8954393" y="3708053"/>
            <a:ext cx="4090623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capital, no card, cannot leave home 7am to 4pm, reads Hindi.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3268771" y="3708053"/>
            <a:ext cx="4090623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Unusable, and no marketing fixes it. They never even start.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047750" y="5117753"/>
            <a:ext cx="16192500" cy="1695450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047750" y="6803678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47750" y="5408265"/>
            <a:ext cx="230795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Behaviours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047750" y="5870228"/>
            <a:ext cx="35743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already do, unpaid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4640014" y="5403503"/>
            <a:ext cx="4090623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they already doing manually that I could equip?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8954393" y="5403503"/>
            <a:ext cx="4090623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photographs products and forwards them into nine groups.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3268771" y="5403503"/>
            <a:ext cx="4090623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must build a habit from scratch — slower, harder, usually fatal.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047750" y="8499128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47750" y="7103715"/>
            <a:ext cx="231360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Aspirations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047750" y="7565678"/>
            <a:ext cx="334684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they are trying to become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4640014" y="7098953"/>
            <a:ext cx="4090623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does this person become when they use my product?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8954393" y="7098953"/>
            <a:ext cx="4090623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who earns and is consulted, with a shop of her own.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3268771" y="7098953"/>
            <a:ext cx="4090623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works, and nobody wants to be seen using it. The Nano, exactly.</a:t>
            </a:r>
            <a:endParaRPr lang="en-US" sz="2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0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THIS DOWN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3099495"/>
            <a:ext cx="17811750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490"/>
              </a:lnSpc>
              <a:buNone/>
            </a:pPr>
            <a:r>
              <a:rPr lang="en-US" sz="48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decide whether they </a:t>
            </a:r>
            <a:pPr algn="l" indent="0" marL="0">
              <a:lnSpc>
                <a:spcPct val="104490"/>
              </a:lnSpc>
              <a:buNone/>
            </a:pPr>
            <a:r>
              <a:rPr lang="en-US" sz="4800" b="1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</a:t>
            </a:r>
            <a:pPr algn="l" indent="0" marL="0">
              <a:lnSpc>
                <a:spcPct val="104490"/>
              </a:lnSpc>
              <a:buNone/>
            </a:pPr>
            <a:r>
              <a:rPr lang="en-US" sz="48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47750" y="4154835"/>
            <a:ext cx="17811750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490"/>
              </a:lnSpc>
              <a:buNone/>
            </a:pPr>
            <a:r>
              <a:rPr lang="en-US" sz="48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Behaviours decide whether they </a:t>
            </a:r>
            <a:pPr algn="l" indent="0" marL="0">
              <a:lnSpc>
                <a:spcPct val="104490"/>
              </a:lnSpc>
              <a:buNone/>
            </a:pPr>
            <a:r>
              <a:rPr lang="en-US" sz="4800" b="1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</a:t>
            </a:r>
            <a:pPr algn="l" indent="0" marL="0">
              <a:lnSpc>
                <a:spcPct val="104490"/>
              </a:lnSpc>
              <a:buNone/>
            </a:pPr>
            <a:r>
              <a:rPr lang="en-US" sz="48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5210175"/>
            <a:ext cx="16678275" cy="1501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490"/>
              </a:lnSpc>
              <a:buNone/>
            </a:pPr>
            <a:r>
              <a:rPr lang="en-US" sz="48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Aspirations decide whether they </a:t>
            </a:r>
            <a:pPr algn="l" indent="0" marL="0">
              <a:lnSpc>
                <a:spcPct val="104490"/>
              </a:lnSpc>
              <a:buNone/>
            </a:pPr>
            <a:r>
              <a:rPr lang="en-US" sz="4800" b="1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someone </a:t>
            </a:r>
            <a:pPr algn="l" indent="0" marL="0">
              <a:lnSpc>
                <a:spcPct val="104490"/>
              </a:lnSpc>
              <a:buNone/>
            </a:pPr>
            <a:r>
              <a:rPr lang="en-US" sz="48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bought.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47750" y="7187505"/>
            <a:ext cx="178117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i="1" dirty="0">
                <a:solidFill>
                  <a:srgbClr val="C8BB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need all three, in that order.</a:t>
            </a:r>
            <a:endParaRPr lang="en-US" sz="3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THESE YOURSELF · 1, 2, 3 OR ALL THREE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level is this company reading?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2988915"/>
            <a:ext cx="3762375" cy="3219450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52550" y="3331815"/>
            <a:ext cx="3468053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Zerodha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352550" y="3936653"/>
            <a:ext cx="3247358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Charges ₹0 to buy a share and gives you no advisor at all.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5191125" y="2988915"/>
            <a:ext cx="3762375" cy="3219450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95925" y="3331815"/>
            <a:ext cx="3468053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5495925" y="3936653"/>
            <a:ext cx="3247358" cy="1966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Pays your card bill, which your bank app already does free — and refuses you below a 750 score.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334500" y="2988915"/>
            <a:ext cx="3762375" cy="3219450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39300" y="3331815"/>
            <a:ext cx="3468053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Rapido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639300" y="3936653"/>
            <a:ext cx="3247358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stranger's motorcycle at ₹30 to ₹60, where a cab is ₹150 to ₹250.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3477875" y="2988915"/>
            <a:ext cx="3762375" cy="3219450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3782675" y="3331815"/>
            <a:ext cx="3468053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Nykaa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3782675" y="3936653"/>
            <a:ext cx="3247358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Sold the same lipstick that was already on Amazon, at a similar price, and listed in 2021.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47750" y="8758238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47750" y="9091613"/>
            <a:ext cx="1781175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 each one before the next slide. Name the person, not the price.</a:t>
            </a:r>
            <a:endParaRPr lang="en-US" sz="3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THESE YOURSELF · THE ANSWERS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level is this company reading?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2988915"/>
            <a:ext cx="3762375" cy="4110038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52550" y="3331815"/>
            <a:ext cx="3468053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Zerodha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352550" y="3936653"/>
            <a:ext cx="346805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Levels 1 + 2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52550" y="4441478"/>
            <a:ext cx="3247358" cy="1966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₹20,000 account cannot survive percentage brokerage — and he was already researching for himself.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5191125" y="2988915"/>
            <a:ext cx="3762375" cy="4110038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95925" y="3331815"/>
            <a:ext cx="3468053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5495925" y="3936653"/>
            <a:ext cx="3247358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3, almost purely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95925" y="4793903"/>
            <a:ext cx="3247358" cy="1966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constraint relieved, no behaviour changed. It sells membership — invisible discipline made visible.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334500" y="2988915"/>
            <a:ext cx="3762375" cy="4110038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639300" y="3331815"/>
            <a:ext cx="3468053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Rapido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9639300" y="3936653"/>
            <a:ext cx="346805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Levels 1 + 2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639300" y="4441478"/>
            <a:ext cx="3247358" cy="1966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₹200 a day against ₹18,000 a month is not expensive, it is impossible. He already walked or shared autos.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3477875" y="2988915"/>
            <a:ext cx="3762375" cy="4110038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3782675" y="3331815"/>
            <a:ext cx="3468053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Nykaa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13782675" y="3936653"/>
            <a:ext cx="346805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782675" y="4441478"/>
            <a:ext cx="3247358" cy="2352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and authenticity, not price. She was already watching tutorials — and a curated store beats a bazaar.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1047750" y="832485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47750" y="8658225"/>
            <a:ext cx="16678275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pure aspiration business out of four. In this country the unclaimed opportunities sit at Level 1.</a:t>
            </a:r>
            <a:endParaRPr lang="en-US" sz="3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0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TWO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3571875"/>
            <a:ext cx="16678275" cy="2238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304"/>
              </a:lnSpc>
              <a:buNone/>
            </a:pPr>
            <a:r>
              <a:rPr lang="en-US" sz="825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All Customers Are Created Equal</a:t>
            </a:r>
            <a:endParaRPr lang="en-US" sz="8250" dirty="0"/>
          </a:p>
        </p:txBody>
      </p:sp>
      <p:sp>
        <p:nvSpPr>
          <p:cNvPr id="4" name="Text 2"/>
          <p:cNvSpPr/>
          <p:nvPr/>
        </p:nvSpPr>
        <p:spPr>
          <a:xfrm>
            <a:off x="1047750" y="6153150"/>
            <a:ext cx="13735050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i="1" dirty="0">
                <a:solidFill>
                  <a:srgbClr val="C8BB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one customer nobody serves is a search. Choosing between five real ones is a decision.</a:t>
            </a:r>
            <a:endParaRPr lang="en-US" sz="3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0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PHONES OUT · BE HONEST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4333875"/>
            <a:ext cx="14716125" cy="213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75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person. Same city. Same hunger. Two apps. Why?</a:t>
            </a:r>
            <a:endParaRPr lang="en-US" sz="7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MOST PEOPLE PRODUCE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sorted them into two piles in four seconds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2988915"/>
            <a:ext cx="7905750" cy="2879229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428750" y="3369915"/>
            <a:ext cx="785812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PILE ONE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28750" y="3860453"/>
            <a:ext cx="78581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Friends were coming over.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428750" y="4447133"/>
            <a:ext cx="78581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Wanted to try a new place.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428750" y="5033814"/>
            <a:ext cx="78581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 lunch with the family.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334500" y="2988915"/>
            <a:ext cx="7905750" cy="2879229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715500" y="3369915"/>
            <a:ext cx="785812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PILE TWO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715500" y="3860453"/>
            <a:ext cx="78581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was 11pm and I was in the hostel.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715500" y="4447133"/>
            <a:ext cx="78581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Reordered the same thing again.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715500" y="5033814"/>
            <a:ext cx="78581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Meetings since four, nothing in the fridge.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047750" y="832485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47750" y="8658225"/>
            <a:ext cx="16678275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 by age, income and city and the two piles vanish. They only appear when you sort by what somebody is doing.</a:t>
            </a:r>
            <a:endParaRPr lang="en-US" sz="3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 · BAIN &amp; COMPANY, DELHI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6678275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was built out of a queue at a photocopier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3748980"/>
            <a:ext cx="5143500" cy="2764929"/>
          </a:xfrm>
          <a:prstGeom prst="rect">
            <a:avLst/>
          </a:prstGeom>
          <a:solidFill>
            <a:srgbClr val="F9F5E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71600" y="4091880"/>
            <a:ext cx="49453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HE SAW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4525268"/>
            <a:ext cx="4630674" cy="1683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Forty people waiting to photocopy one paper menu card. Nobody in that queue was hungry. They were choosing.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72250" y="3748980"/>
            <a:ext cx="5143500" cy="2764929"/>
          </a:xfrm>
          <a:prstGeom prst="rect">
            <a:avLst/>
          </a:prstGeom>
          <a:solidFill>
            <a:srgbClr val="F9F5E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96100" y="4091880"/>
            <a:ext cx="49453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HE BUILT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96100" y="4525268"/>
            <a:ext cx="4630674" cy="1683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Menus, photographs, reviews, opening hours, parking, whether it takes cards — field teams verifying it city by city.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096750" y="3748980"/>
            <a:ext cx="5143500" cy="2764929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420600" y="4091880"/>
            <a:ext cx="49453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EARNED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420600" y="4525268"/>
            <a:ext cx="4630674" cy="1683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Restaurants paying to be visible inside a decision-making tool. High margin, no cost per extra user.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47750" y="8758238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47750" y="9091613"/>
            <a:ext cx="1781175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years of building, and not one rupee of it was delivery infrastructure.</a:t>
            </a:r>
            <a:endParaRPr lang="en-US" sz="3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 · KORAMANGALA, BENGALURU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Swiggy bought a logistics problem on purpose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2988915"/>
            <a:ext cx="5143500" cy="3026866"/>
          </a:xfrm>
          <a:prstGeom prst="rect">
            <a:avLst/>
          </a:prstGeom>
          <a:solidFill>
            <a:srgbClr val="F9F5E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71600" y="3331815"/>
            <a:ext cx="49453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THEY CAME FROM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3765203"/>
            <a:ext cx="4630674" cy="1683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Bundl, a courier aggregator, failed first. What survived was an obsession with moving a small parcel across a city reliably.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72250" y="2988915"/>
            <a:ext cx="5143500" cy="3026866"/>
          </a:xfrm>
          <a:prstGeom prst="rect">
            <a:avLst/>
          </a:prstGeom>
          <a:solidFill>
            <a:srgbClr val="F9F5E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96100" y="3331815"/>
            <a:ext cx="49453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THEY PICTURED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96100" y="3765203"/>
            <a:ext cx="4630674" cy="1683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Somebody already hungry, already not cooking, who wants the decision to be over in ninety seconds.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096750" y="2988915"/>
            <a:ext cx="5143500" cy="3026866"/>
          </a:xfrm>
          <a:prstGeom prst="rect">
            <a:avLst/>
          </a:prstGeom>
          <a:solidFill>
            <a:srgbClr val="C3514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420600" y="3331815"/>
            <a:ext cx="4630674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FFA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EVERYONE QUESTIONED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420600" y="4027140"/>
            <a:ext cx="4630674" cy="1683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own fleet on the payroll. If the promise is thirty-five minutes, you cannot outsource the thirty-five minutes.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47750" y="832485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47750" y="8658225"/>
            <a:ext cx="16678275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minimum order, a prominent real-time ETA, one-tap reorder — and deliberately fewer reviews and no collections.</a:t>
            </a:r>
            <a:endParaRPr lang="en-US" sz="3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CUSTOMERS · ONE CITY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6678275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Ananya browses for nine minutes. Rohan orders in ninety seconds.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3748980"/>
            <a:ext cx="7905750" cy="4682282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428750" y="4129980"/>
            <a:ext cx="785812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Ananya, 29, Mumbai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428750" y="4796730"/>
            <a:ext cx="7358063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orders a month, half of them occasions — a birthday, a first date, a team dinner she was asked to organise.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28750" y="6210151"/>
            <a:ext cx="7358063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reviews, looks at photographs of the interior, has opinions about which places are overrated.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28750" y="7196882"/>
            <a:ext cx="7358063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Enjoys the choosing. Eight or nine minutes in the app before ordering.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334500" y="3748980"/>
            <a:ext cx="7905750" cy="4682282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715500" y="4129980"/>
            <a:ext cx="785812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Rohan, 26, Bengaluru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715500" y="4796730"/>
            <a:ext cx="7358063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 or twelve orders a month, almost none of them occasions. It is 9:40pm and the fridge has two eggs in it.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715500" y="6210151"/>
            <a:ext cx="7358063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restaurants in rotation. Read the reviews once, two years ago.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715500" y="7196882"/>
            <a:ext cx="7358063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Notices exactly one thing every time — the ETA, and whether it was honest.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047750" y="8758238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47750" y="9091613"/>
            <a:ext cx="1781175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age, same income, same city. There is no design that is optimal for both.</a:t>
            </a:r>
            <a:endParaRPr lang="en-US" sz="3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FY2024 · BOTH LISTED, NEITHER WRONG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portraits, two financial machines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047750" y="3065115"/>
            <a:ext cx="5252256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82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₹12,100cr</a:t>
            </a:r>
            <a:endParaRPr lang="en-US" sz="8250" dirty="0"/>
          </a:p>
        </p:txBody>
      </p:sp>
      <p:sp>
        <p:nvSpPr>
          <p:cNvPr id="5" name="Text 3"/>
          <p:cNvSpPr/>
          <p:nvPr/>
        </p:nvSpPr>
        <p:spPr>
          <a:xfrm>
            <a:off x="1047750" y="4246215"/>
            <a:ext cx="525225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REVENUE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4622453"/>
            <a:ext cx="4918022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Delivery, plus the dining-out and advertising business that traces back to the menu-card page.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6203528" y="3065115"/>
            <a:ext cx="3417743" cy="213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825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+₹350cr</a:t>
            </a:r>
            <a:endParaRPr lang="en-US" sz="8250" dirty="0"/>
          </a:p>
        </p:txBody>
      </p:sp>
      <p:sp>
        <p:nvSpPr>
          <p:cNvPr id="8" name="Text 6"/>
          <p:cNvSpPr/>
          <p:nvPr/>
        </p:nvSpPr>
        <p:spPr>
          <a:xfrm>
            <a:off x="6203528" y="5293965"/>
            <a:ext cx="3417743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FULL-YEAR PROFIT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03528" y="5932140"/>
            <a:ext cx="3417743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against that revenue, and a large signal.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902726" y="3065115"/>
            <a:ext cx="5188654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82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₹11,200cr</a:t>
            </a:r>
            <a:endParaRPr lang="en-US" sz="8250" dirty="0"/>
          </a:p>
        </p:txBody>
      </p:sp>
      <p:sp>
        <p:nvSpPr>
          <p:cNvPr id="11" name="Text 9"/>
          <p:cNvSpPr/>
          <p:nvPr/>
        </p:nvSpPr>
        <p:spPr>
          <a:xfrm>
            <a:off x="9902726" y="4246215"/>
            <a:ext cx="518865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SWIGGY REVENUE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902726" y="4622453"/>
            <a:ext cx="4858467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towards delivery and Instamart — and it pays for every order it fulfils.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5000684" y="3065115"/>
            <a:ext cx="4317803" cy="213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82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−₹2,350cr</a:t>
            </a:r>
            <a:endParaRPr lang="en-US" sz="8250" dirty="0"/>
          </a:p>
        </p:txBody>
      </p:sp>
      <p:sp>
        <p:nvSpPr>
          <p:cNvPr id="14" name="Text 12"/>
          <p:cNvSpPr/>
          <p:nvPr/>
        </p:nvSpPr>
        <p:spPr>
          <a:xfrm>
            <a:off x="15000684" y="5293965"/>
            <a:ext cx="461124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SWIGGY LOSS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00684" y="5670203"/>
            <a:ext cx="431780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better delivery machine, and the more expensive one to run.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47750" y="8758238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47750" y="9091613"/>
            <a:ext cx="1781175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 years on, you can still read the original customer choice off the home screen.</a:t>
            </a:r>
            <a:endParaRPr lang="en-US" sz="3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COUNTER-CASE · 2017 TO JANUARY 2020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UberEats had everything except a customer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2988915"/>
            <a:ext cx="5143500" cy="2764929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71600" y="3331815"/>
            <a:ext cx="49453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HAD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3765203"/>
            <a:ext cx="4630674" cy="1683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rider network, millions of Indian app users, a payments relationship, and a global food product already running.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72250" y="2988915"/>
            <a:ext cx="5143500" cy="2764929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96100" y="3331815"/>
            <a:ext cx="49453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OFFERED INSTEAD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96100" y="3765203"/>
            <a:ext cx="4630674" cy="1683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coupon. For two years the honest answer to why order here was: this week the discount is bigger.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096750" y="2988915"/>
            <a:ext cx="5143500" cy="2764929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420600" y="3331815"/>
            <a:ext cx="49453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ENDED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420600" y="3765203"/>
            <a:ext cx="4630674" cy="1683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Sold to Zomato in January 2020, all stock, around $350 million. Foodpanda India followed a similar arc.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47750" y="832485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47750" y="8658225"/>
            <a:ext cx="16678275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Swiggy could settle any roadmap argument in one sentence — our customer is already hungry, so riders.</a:t>
            </a:r>
            <a:endParaRPr lang="en-US" sz="3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6678275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cut a market. Three of them predict anything.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4068068"/>
            <a:ext cx="16192500" cy="19050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47750" y="3672780"/>
            <a:ext cx="355784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606007" y="3672780"/>
            <a:ext cx="418576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ASKS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5095" y="3672780"/>
            <a:ext cx="460437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ANANYA VS ROHAN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44736" y="3672780"/>
            <a:ext cx="439506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MISLEADS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47750" y="5085308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47750" y="4239518"/>
            <a:ext cx="3331439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06007" y="4239518"/>
            <a:ext cx="3919395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are they? Age, income, city, occupation.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735095" y="4239518"/>
            <a:ext cx="4311365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Identical. Late twenties, metro, around ₹15 lakh.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244736" y="4239518"/>
            <a:ext cx="4115380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cannot separate the two customers this session is about.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47750" y="5094833"/>
            <a:ext cx="16192500" cy="1354410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47750" y="6439719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47750" y="5247233"/>
            <a:ext cx="3331439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06007" y="5247233"/>
            <a:ext cx="3919395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they actually do, how often, at what hour?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735095" y="5247233"/>
            <a:ext cx="4311365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orders with nine minutes of browsing, versus twelve from four restaurants with none.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244736" y="5247233"/>
            <a:ext cx="4115380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 under a bad product can look like a preference.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047750" y="7794129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47750" y="6601644"/>
            <a:ext cx="3331439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/ job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606007" y="6601644"/>
            <a:ext cx="3919395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they hiring the product to do in that moment?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8735095" y="6601644"/>
            <a:ext cx="4311365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hires it to make a choice she will not regret. He hires it to end the hunger problem.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3244736" y="6601644"/>
            <a:ext cx="4115380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person hires a different job on a different evening.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047750" y="7803654"/>
            <a:ext cx="16192500" cy="1354410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7750" y="9148539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47750" y="7956054"/>
            <a:ext cx="3331439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Psychographic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606007" y="7956054"/>
            <a:ext cx="3919395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they believe about themselves?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8735095" y="7956054"/>
            <a:ext cx="4311365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likes being the friend who knows where to eat. He takes pride in never overpaying.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3244736" y="7956054"/>
            <a:ext cx="4115380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Unobservable, and easy to invent. Most of them are the founder's imagination.</a:t>
            </a:r>
            <a:endParaRPr lang="en-US" sz="2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0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THIS DOWN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3198614"/>
            <a:ext cx="1781175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81"/>
              </a:lnSpc>
              <a:buNone/>
            </a:pPr>
            <a:r>
              <a:rPr lang="en-US" sz="435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 tell you who </a:t>
            </a:r>
            <a:pPr algn="l" indent="0" marL="0">
              <a:lnSpc>
                <a:spcPct val="103881"/>
              </a:lnSpc>
              <a:buNone/>
            </a:pPr>
            <a:r>
              <a:rPr lang="en-US" sz="4350" b="1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</a:t>
            </a:r>
            <a:pPr algn="l" indent="0" marL="0">
              <a:lnSpc>
                <a:spcPct val="103881"/>
              </a:lnSpc>
              <a:buNone/>
            </a:pPr>
            <a:r>
              <a:rPr lang="en-US" sz="435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buy.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4128195"/>
            <a:ext cx="1781175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81"/>
              </a:lnSpc>
              <a:buNone/>
            </a:pPr>
            <a:r>
              <a:rPr lang="en-US" sz="435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 tells you who </a:t>
            </a:r>
            <a:pPr algn="l" indent="0" marL="0">
              <a:lnSpc>
                <a:spcPct val="103881"/>
              </a:lnSpc>
              <a:buNone/>
            </a:pPr>
            <a:r>
              <a:rPr lang="en-US" sz="4350" b="1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</a:t>
            </a:r>
            <a:pPr algn="l" indent="0" marL="0">
              <a:lnSpc>
                <a:spcPct val="103881"/>
              </a:lnSpc>
              <a:buNone/>
            </a:pPr>
            <a:r>
              <a:rPr lang="en-US" sz="435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buy.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047750" y="5057775"/>
            <a:ext cx="1781175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81"/>
              </a:lnSpc>
              <a:buNone/>
            </a:pPr>
            <a:r>
              <a:rPr lang="en-US" sz="435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job tells you what to </a:t>
            </a:r>
            <a:pPr algn="l" indent="0" marL="0">
              <a:lnSpc>
                <a:spcPct val="103881"/>
              </a:lnSpc>
              <a:buNone/>
            </a:pPr>
            <a:r>
              <a:rPr lang="en-US" sz="4350" b="1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pPr algn="l" indent="0" marL="0">
              <a:lnSpc>
                <a:spcPct val="103881"/>
              </a:lnSpc>
              <a:buNone/>
            </a:pPr>
            <a:r>
              <a:rPr lang="en-US" sz="435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1047750" y="5987355"/>
            <a:ext cx="1781175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81"/>
              </a:lnSpc>
              <a:buNone/>
            </a:pPr>
            <a:r>
              <a:rPr lang="en-US" sz="435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Psychographics tell you what you can </a:t>
            </a:r>
            <a:pPr algn="l" indent="0" marL="0">
              <a:lnSpc>
                <a:spcPct val="103881"/>
              </a:lnSpc>
              <a:buNone/>
            </a:pPr>
            <a:r>
              <a:rPr lang="en-US" sz="4350" b="1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</a:t>
            </a:r>
            <a:pPr algn="l" indent="0" marL="0">
              <a:lnSpc>
                <a:spcPct val="103881"/>
              </a:lnSpc>
              <a:buNone/>
            </a:pPr>
            <a:r>
              <a:rPr lang="en-US" sz="435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1047750" y="7088386"/>
            <a:ext cx="178117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i="1" dirty="0">
                <a:solidFill>
                  <a:srgbClr val="C8BB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with the middle two. Reach with the first.</a:t>
            </a:r>
            <a:endParaRPr lang="en-US" sz="3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THESE YOURSELF · NAME THE LENS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lens actually separates these two?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2988915"/>
            <a:ext cx="3762375" cy="3200400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52550" y="3331815"/>
            <a:ext cx="3247358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Zepto vs BigBasket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352550" y="4303365"/>
            <a:ext cx="3247358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atta, same city, similar price. Ten minutes against a slot tomorrow morning.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5191125" y="2988915"/>
            <a:ext cx="3762375" cy="3200400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95925" y="3331815"/>
            <a:ext cx="346805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IndiGo vs Vistara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495925" y="3912840"/>
            <a:ext cx="3247358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route, same hour, same terminal. One charged noticeably more and both flew full.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334500" y="2988915"/>
            <a:ext cx="3762375" cy="3200400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39300" y="3331815"/>
            <a:ext cx="3247358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₹649 Netflix vs ₹149 cricket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639300" y="4312890"/>
            <a:ext cx="3247358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times the price, and plenty of households pay for both.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3477875" y="2988915"/>
            <a:ext cx="3762375" cy="3200400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3782675" y="3331815"/>
            <a:ext cx="3247358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Tanishq vs the family jeweller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3782675" y="4303365"/>
            <a:ext cx="3247358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is gold and its price is public. One charges more and grew enormous.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47750" y="8758238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47750" y="9091613"/>
            <a:ext cx="1781175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Demographic, behavioural, needs, or psychographic. Decide each one before the next slide.</a:t>
            </a:r>
            <a:endParaRPr lang="en-US" sz="3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THESE YOURSELF · THE ANSWERS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lens actually separates these two?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2988915"/>
            <a:ext cx="3762375" cy="4438650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52550" y="3331815"/>
            <a:ext cx="3247358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Zepto vs BigBasket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352550" y="4265265"/>
            <a:ext cx="346805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52550" y="4770090"/>
            <a:ext cx="3247358" cy="1966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Basket size and time of day. Four annoyed items now, versus forty planned ones. The same household does both.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5191125" y="2988915"/>
            <a:ext cx="3762375" cy="4438650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95925" y="3331815"/>
            <a:ext cx="346805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IndiGo vs Vistara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495925" y="3874740"/>
            <a:ext cx="3247358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Needs, then psychographic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95925" y="4731990"/>
            <a:ext cx="3247358" cy="1966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time above everything, because a delay costs a meeting — versus how the trip feels and what it says.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334500" y="2988915"/>
            <a:ext cx="3762375" cy="4438650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639300" y="3331815"/>
            <a:ext cx="3247358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₹649 Netflix vs ₹149 cricket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639300" y="4274790"/>
            <a:ext cx="346805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Needs, not income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639300" y="4779615"/>
            <a:ext cx="3247358" cy="1966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time-bound job that is worthless the day after the final, versus filling an unstructured evening indefinitely.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3477875" y="2988915"/>
            <a:ext cx="3762375" cy="4438650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3782675" y="3331815"/>
            <a:ext cx="3247358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Tanishq vs the family jeweller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3782675" y="4265265"/>
            <a:ext cx="346805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· verification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782675" y="4770090"/>
            <a:ext cx="3247358" cy="2352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karat meter and written buy-back only make sense for a customer who cannot verify and will not rely on trust.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1047750" y="832485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47750" y="8658225"/>
            <a:ext cx="16678275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one of the four came out demographic — and every business plan in the world opens with that lens.</a:t>
            </a:r>
            <a:endParaRPr lang="en-US" sz="3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3 · THE ICP SENTENCE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ICP that has never said no is a description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3065115"/>
            <a:ext cx="16192500" cy="2404021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524000" y="3598515"/>
            <a:ext cx="15697200" cy="1375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83"/>
              </a:lnSpc>
              <a:buNone/>
            </a:pPr>
            <a:r>
              <a:rPr lang="en-US" sz="39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customer is </a:t>
            </a:r>
            <a:pPr algn="l" indent="0" marL="0">
              <a:lnSpc>
                <a:spcPct val="117983"/>
              </a:lnSpc>
              <a:buNone/>
            </a:pPr>
            <a:r>
              <a:rPr lang="en-US" sz="3900" b="1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[who] </a:t>
            </a:r>
            <a:pPr algn="l" indent="0" marL="0">
              <a:lnSpc>
                <a:spcPct val="117983"/>
              </a:lnSpc>
              <a:buNone/>
            </a:pPr>
            <a:r>
              <a:rPr lang="en-US" sz="39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</a:t>
            </a:r>
            <a:pPr algn="l" indent="0" marL="0">
              <a:lnSpc>
                <a:spcPct val="117983"/>
              </a:lnSpc>
              <a:buNone/>
            </a:pPr>
            <a:r>
              <a:rPr lang="en-US" sz="3900" b="1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[behaviour, with a number] </a:t>
            </a:r>
            <a:pPr algn="l" indent="0" marL="0">
              <a:lnSpc>
                <a:spcPct val="117983"/>
              </a:lnSpc>
              <a:buNone/>
            </a:pPr>
            <a:r>
              <a:rPr lang="en-US" sz="39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</a:t>
            </a:r>
            <a:pPr algn="l" indent="0" marL="0">
              <a:lnSpc>
                <a:spcPct val="117983"/>
              </a:lnSpc>
              <a:buNone/>
            </a:pPr>
            <a:r>
              <a:rPr lang="en-US" sz="3900" b="1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[job]</a:t>
            </a:r>
            <a:pPr algn="l" indent="0" marL="0">
              <a:lnSpc>
                <a:spcPct val="117983"/>
              </a:lnSpc>
              <a:buNone/>
            </a:pPr>
            <a:r>
              <a:rPr lang="en-US" sz="39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They will pay for </a:t>
            </a:r>
            <a:pPr algn="l" indent="0" marL="0">
              <a:lnSpc>
                <a:spcPct val="117983"/>
              </a:lnSpc>
              <a:buNone/>
            </a:pPr>
            <a:r>
              <a:rPr lang="en-US" sz="3900" b="1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</a:t>
            </a:r>
            <a:pPr algn="l" indent="0" marL="0">
              <a:lnSpc>
                <a:spcPct val="117983"/>
              </a:lnSpc>
              <a:buNone/>
            </a:pPr>
            <a:r>
              <a:rPr lang="en-US" sz="39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We will be bad at </a:t>
            </a:r>
            <a:pPr algn="l" indent="0" marL="0">
              <a:lnSpc>
                <a:spcPct val="117983"/>
              </a:lnSpc>
              <a:buNone/>
            </a:pPr>
            <a:r>
              <a:rPr lang="en-US" sz="3900" b="1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[y]</a:t>
            </a:r>
            <a:pPr algn="l" indent="0" marL="0">
              <a:lnSpc>
                <a:spcPct val="117983"/>
              </a:lnSpc>
              <a:buNone/>
            </a:pPr>
            <a:r>
              <a:rPr lang="en-US" sz="39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1047750" y="832485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47750" y="8658225"/>
            <a:ext cx="16678275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will be bad at monthly grocery shopping, and we will lose that customer to BigBasket. That is a refusal. Hear the difference.</a:t>
            </a:r>
            <a:endParaRPr lang="en-US" sz="3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ICPS FROM ONE MARKET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market, same year, three sentences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3646140"/>
            <a:ext cx="16192500" cy="19050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47750" y="2988915"/>
            <a:ext cx="2317552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574852" y="2988915"/>
            <a:ext cx="3957718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BEHAVIOUR, WITH A NUMBER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03046" y="2988915"/>
            <a:ext cx="3298098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190833" y="2988915"/>
            <a:ext cx="2968288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PAY FOR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358417" y="2988915"/>
            <a:ext cx="2968212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BE BAD AT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47750" y="5238676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47750" y="3931890"/>
            <a:ext cx="2317552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Swiggy 2015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74852" y="3931890"/>
            <a:ext cx="3957718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8+ times a month, opens the app already hungry, four regular restaurants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703046" y="3931890"/>
            <a:ext cx="3298098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the hunger problem in under forty minutes with no thinking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1190833" y="3931890"/>
            <a:ext cx="2968288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delivery fee, for reliability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4358417" y="3931890"/>
            <a:ext cx="2968212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Discovery, reviews, editorial, eating out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047750" y="5248201"/>
            <a:ext cx="16192500" cy="1583010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047750" y="6821686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47750" y="5514901"/>
            <a:ext cx="2317552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2015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574852" y="5514901"/>
            <a:ext cx="3957718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Eats out or orders 5-6 times a month, browses eight to nine minutes before choosing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703046" y="5514901"/>
            <a:ext cx="3298098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a choice I will not regret in front of other people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1190833" y="5514901"/>
            <a:ext cx="2968288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directly — restaurants pay to be found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4358417" y="5514901"/>
            <a:ext cx="2968212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Speed, delivery reliability, the 9:40pm reorder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047750" y="6831211"/>
            <a:ext cx="16192500" cy="1226790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47750" y="7097911"/>
            <a:ext cx="2317552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UberEats India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574852" y="7097911"/>
            <a:ext cx="3957718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answer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7703046" y="7097911"/>
            <a:ext cx="3298098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answer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1190833" y="7097911"/>
            <a:ext cx="2968288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FFA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— it bought orders with coupons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4358417" y="7097911"/>
            <a:ext cx="2968212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FFA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was ever ruled out</a:t>
            </a:r>
            <a:endParaRPr lang="en-US" sz="2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CONDITIONS · PART ONE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customer centricity goes wrong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2988915"/>
            <a:ext cx="5143500" cy="4005262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71600" y="3331815"/>
            <a:ext cx="463067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They cannot tell you the truth that matters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71600" y="4265265"/>
            <a:ext cx="4630674" cy="1966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describe constraints accurately and aspirations badly. Nobody says: I want the neighbours to see that we own a car.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71600" y="6365528"/>
            <a:ext cx="49453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· TATA NANO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572250" y="2988915"/>
            <a:ext cx="5143500" cy="4005262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96100" y="3331815"/>
            <a:ext cx="463067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Underserved does not mean profitable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6896100" y="4265265"/>
            <a:ext cx="4630674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constraint that makes a segment underserved is often the one that makes the economics impossible.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896100" y="5979765"/>
            <a:ext cx="463067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· THE 2015 HYPERLOCAL WAVE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096750" y="2988915"/>
            <a:ext cx="5143500" cy="4005262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2420600" y="3331815"/>
            <a:ext cx="494538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Customer truths expire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2420600" y="3893790"/>
            <a:ext cx="4630674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buyers learned to order directly, the reseller — the founding insight — became less central. Meesho noticed.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2420600" y="5608290"/>
            <a:ext cx="463067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HAPPENED TO · MEESHO ITSELF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47750" y="832485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47750" y="8658225"/>
            <a:ext cx="16678275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the arithmetic before falling in love — what does it cost to serve one, and what can one pay?</a:t>
            </a:r>
            <a:endParaRPr lang="en-US" sz="3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CONDITIONS · PART TWO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segmentation goes wrong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2988915"/>
            <a:ext cx="5143500" cy="4305300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71600" y="3331815"/>
            <a:ext cx="494538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Over-segmentation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71600" y="3893790"/>
            <a:ext cx="4630674" cy="1966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segments become eighteen, each needing its own messaging and none paying for the work. The tell: more customer descriptions than engineers.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71600" y="5994053"/>
            <a:ext cx="463067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· NO PRODUCT DECISION, NO CUT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572250" y="2988915"/>
            <a:ext cx="5143500" cy="4305300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96100" y="3331815"/>
            <a:ext cx="463067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The segment that exists only in the deck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6896100" y="4265265"/>
            <a:ext cx="4630674" cy="1966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conscious millennial. The aspirational value-seeker. They sound insightful and cannot be observed, so nobody can prove them wrong.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896100" y="6365528"/>
            <a:ext cx="463067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· NAME THREE REAL PEOPLE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096750" y="2988915"/>
            <a:ext cx="5143500" cy="4305300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2420600" y="3331815"/>
            <a:ext cx="494538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Segments migrate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2420600" y="3893790"/>
            <a:ext cx="4630674" cy="2352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Zomato's discovery customer became a delivery customer, so it built the fleet it had spent seven years not building. Swiggy's fleet turned out to be exactly right for groceries.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2420600" y="6379815"/>
            <a:ext cx="463067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EVENT · TWO AMOUNTS OF PAIN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47750" y="8758238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47750" y="9091613"/>
            <a:ext cx="1781175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segment lasts forever. The skill is noticing early that yours is moving.</a:t>
            </a:r>
            <a:endParaRPr lang="en-US" sz="3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· BUILD ONE PORTRAIT, THEN CHOOSE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one portrait, then choose between five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047750" y="2912715"/>
            <a:ext cx="8044815" cy="127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</a:t>
            </a:r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Indian company whose customer is clearly not you — different age, income, town size, language or occupation.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429750" y="2912715"/>
            <a:ext cx="8044815" cy="127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</a:t>
            </a:r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one product decision that only makes sense for this customer, and would be a mistake for anyone else.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47750" y="4528021"/>
            <a:ext cx="8044815" cy="127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</a:t>
            </a:r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that person in five specifics — age, town type, monthly income, device, and one fact about how their day is structured.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429750" y="4528021"/>
            <a:ext cx="8044815" cy="127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</a:t>
            </a:r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cut their market into four segments by occasion and behaviour, not by budget. Give each a name a human would use.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47750" y="6143327"/>
            <a:ext cx="8044815" cy="127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</a:t>
            </a:r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their hardest constraint, what they did before the product existed, and which levels of the stack the company reads.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429750" y="6143327"/>
            <a:ext cx="8044815" cy="127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</a:t>
            </a:r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one segment as your beachhead — then write the refusal. Which segment will you serve badly, and what will they do about it?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47750" y="8505825"/>
            <a:ext cx="16192500" cy="1019175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371600" y="8753475"/>
            <a:ext cx="2428875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NAME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010025" y="8753475"/>
            <a:ext cx="2428875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SPECIFICS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48450" y="8753475"/>
            <a:ext cx="2428875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OBSERVABLY DO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286875" y="8753475"/>
            <a:ext cx="2428875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925300" y="8753475"/>
            <a:ext cx="2428875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DECISION FOR THEM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563725" y="8753475"/>
            <a:ext cx="2428875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REFUSAL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EXAMPLES · THREE PORTRAITS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that proves the insight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2912715"/>
            <a:ext cx="5143500" cy="5432971"/>
          </a:xfrm>
          <a:prstGeom prst="rect">
            <a:avLst/>
          </a:prstGeom>
          <a:solidFill>
            <a:srgbClr val="F9F5E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52550" y="3236565"/>
            <a:ext cx="498729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BharatPe · the shopkeeper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352550" y="3836640"/>
            <a:ext cx="498729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HARDEST CONSTRAINT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52550" y="4193828"/>
            <a:ext cx="4669917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 on an ₹80 bill is ₹1.60 out of a margin of ₹8 — a fifth of his profit, plus paperwork.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5424413"/>
            <a:ext cx="498729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52550" y="5781601"/>
            <a:ext cx="4669917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free paper QR sticker and a small speaker announcing each payment aloud in Hindi.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2550" y="7012186"/>
            <a:ext cx="4669917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cannot watch a screen while serving customers.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572250" y="2912715"/>
            <a:ext cx="5143500" cy="5432971"/>
          </a:xfrm>
          <a:prstGeom prst="rect">
            <a:avLst/>
          </a:prstGeom>
          <a:solidFill>
            <a:srgbClr val="F9F5ED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877050" y="3236565"/>
            <a:ext cx="4669917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ShareChat · the repair counter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877050" y="4227165"/>
            <a:ext cx="498729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HARDEST CONSTRAINT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77050" y="4584353"/>
            <a:ext cx="4669917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Posting in English would publicly expose that he cannot write it. So he consumed and never posted.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877050" y="5814938"/>
            <a:ext cx="498729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77050" y="6172126"/>
            <a:ext cx="4669917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Fifteen Indian languages and no English option at all, with sharing as the central action.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877050" y="7402711"/>
            <a:ext cx="4669917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English removed the thing keeping him silent.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2096750" y="2912715"/>
            <a:ext cx="5143500" cy="5432971"/>
          </a:xfrm>
          <a:prstGeom prst="rect">
            <a:avLst/>
          </a:prstGeom>
          <a:solidFill>
            <a:srgbClr val="F9F5ED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2401550" y="3236565"/>
            <a:ext cx="4987290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boAt · the ₹1,500 ceiling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2401550" y="3841403"/>
            <a:ext cx="498729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HARDEST CONSTRAINT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401550" y="4198590"/>
            <a:ext cx="4669917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₹18,000 earphones are a different universe — and the ₹300 wired pair is not what he wants either.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401550" y="5429176"/>
            <a:ext cx="498729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401550" y="5786363"/>
            <a:ext cx="4669917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Spending on colour, naming and cricket sponsorship while keeping specifications merely adequate.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401550" y="7016948"/>
            <a:ext cx="4669917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is buying visible belonging at a price he can reach.</a:t>
            </a:r>
            <a:endParaRPr lang="en-US" sz="2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EXAMPLES · THREE SEGMENTS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real segments and one that is not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2912715"/>
            <a:ext cx="5143500" cy="5389141"/>
          </a:xfrm>
          <a:prstGeom prst="rect">
            <a:avLst/>
          </a:prstGeom>
          <a:solidFill>
            <a:srgbClr val="F9F5E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52550" y="3236565"/>
            <a:ext cx="498729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9:40pm reorder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352550" y="3836640"/>
            <a:ext cx="498729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52550" y="4193828"/>
            <a:ext cx="4669917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10-14 orders a month, almost all between 9 and 11pm, four restaurants, ordered inside ninety seconds.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5771108"/>
            <a:ext cx="498729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NOT PAY FOR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52550" y="6128296"/>
            <a:ext cx="4669917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Curation, ratings, loyalty tiers. Pays a ₹35 fee without blinking and leaves over a ten-minute ETA slip.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2550" y="7358881"/>
            <a:ext cx="4669917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highest-frequency segment wants the fewest features.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572250" y="2912715"/>
            <a:ext cx="5143500" cy="5389141"/>
          </a:xfrm>
          <a:prstGeom prst="rect">
            <a:avLst/>
          </a:prstGeom>
          <a:solidFill>
            <a:srgbClr val="F9F5ED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877050" y="3236565"/>
            <a:ext cx="498729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Sunday family feast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877050" y="3836640"/>
            <a:ext cx="498729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77050" y="4193828"/>
            <a:ext cx="4669917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three orders a month, Sunday afternoons, ₹1,200 to ₹2,500, fifteen minutes and a consultation mid-order.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877050" y="5424413"/>
            <a:ext cx="498729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NOT PAY FOR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77050" y="5781601"/>
            <a:ext cx="4669917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Speed. Forty-five minutes is fine; a wrong item in a ₹2,000 order is a disaster.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877050" y="7012186"/>
            <a:ext cx="4669917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somebody buys for a group, the product is the absence of blame.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2096750" y="2912715"/>
            <a:ext cx="5143500" cy="5389141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2401550" y="3236565"/>
            <a:ext cx="498729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millennials, 18-35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2401550" y="3836640"/>
            <a:ext cx="498729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401550" y="4193828"/>
            <a:ext cx="4669917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that can be stated. Every behaviour in the group contradicts another one.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401550" y="5424413"/>
            <a:ext cx="498729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NOT PAY FOR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401550" y="5781601"/>
            <a:ext cx="4669917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Unknowable — and that is the tell. A hundred and fifty million people, and no refusal available.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401550" y="7012186"/>
            <a:ext cx="4669917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common segment in Indian startup decks, and not a segment at all.</a:t>
            </a:r>
            <a:endParaRPr lang="en-US" sz="2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AFTER CLASS · DO NOT MEMORISE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terms from today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4189065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47750" y="3217515"/>
            <a:ext cx="423824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centricity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5543550" y="3217515"/>
            <a:ext cx="635736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traceable to a fact about one specific person's life.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096750" y="3217515"/>
            <a:ext cx="529780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customer service, and not asking people what they want.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047750" y="539874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47750" y="4427190"/>
            <a:ext cx="423824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constraint set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5543550" y="4427190"/>
            <a:ext cx="635736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person cannot do, however much they want your product.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096750" y="4427190"/>
            <a:ext cx="529780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capital, no card, no English, no hours between 7 and 4.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047750" y="6608415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47750" y="5636865"/>
            <a:ext cx="423824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underserved customer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5543550" y="5636865"/>
            <a:ext cx="635736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 by accident, not by decision — and not automatically profitable.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2096750" y="5636865"/>
            <a:ext cx="529780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workaround she already runs is the proof of demand.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47750" y="781809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47750" y="6846540"/>
            <a:ext cx="423824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customer profile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5543550" y="6846540"/>
            <a:ext cx="635736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parts, a number in the behaviour clause, and a real refusal at the end.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096750" y="6846540"/>
            <a:ext cx="529780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has never caused a no, it is a description.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1047750" y="9027765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47750" y="8056215"/>
            <a:ext cx="423824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beachhead segment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5543550" y="8056215"/>
            <a:ext cx="635736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you win completely first, because winning it leaves you holding an asset.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2096750" y="8056215"/>
            <a:ext cx="529780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Swiggy's was one neighbourhood in Bengaluru.</a:t>
            </a:r>
            <a:endParaRPr lang="en-US" sz="22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0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SESSION · BRING A PEN AND PAPER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3081338"/>
            <a:ext cx="15206662" cy="3181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75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chosen your customer. Now — how many of her are there?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1047750" y="6643688"/>
            <a:ext cx="16678275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i="1" dirty="0">
                <a:solidFill>
                  <a:srgbClr val="C8BB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₹40 you hand the auto driver. In 2016, three men left the best job in Indian e-commerce to count it.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2026-08-22T12:25:02Z</dcterms:created>
  <dcterms:modified xsi:type="dcterms:W3CDTF">2026-08-22T12:25:02Z</dcterms:modified>
</cp:coreProperties>
</file>