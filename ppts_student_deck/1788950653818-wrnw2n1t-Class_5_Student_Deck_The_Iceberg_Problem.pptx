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838"/>
  </p:normalViewPr>
  <p:slideViewPr>
    <p:cSldViewPr snapToGrid="0" snapToObjects="1">
      <p:cViewPr varScale="1">
        <p:scale>
          <a:sx n="50" d="100"/>
          <a:sy n="50" d="100"/>
        </p:scale>
        <p:origin x="1864"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34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33350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ZENITH SCHOOL OF AI · CUSTOMER DISCOVERY · CLASS 5</a:t>
            </a:r>
          </a:p>
        </p:txBody>
      </p:sp>
      <p:sp>
        <p:nvSpPr>
          <p:cNvPr id="3" name="TextBox 2"/>
          <p:cNvSpPr txBox="1"/>
          <p:nvPr/>
        </p:nvSpPr>
        <p:spPr>
          <a:xfrm>
            <a:off x="1047750" y="3406140"/>
            <a:ext cx="15716250" cy="1508760"/>
          </a:xfrm>
          <a:prstGeom prst="rect">
            <a:avLst/>
          </a:prstGeom>
          <a:noFill/>
        </p:spPr>
        <p:txBody>
          <a:bodyPr wrap="square" lIns="0" tIns="0" rIns="0" bIns="0" anchor="t">
            <a:spAutoFit/>
          </a:bodyPr>
          <a:lstStyle/>
          <a:p>
            <a:pPr algn="l"/>
            <a:r>
              <a:rPr sz="9900" b="1" i="0" kern="0" spc="-346">
                <a:solidFill>
                  <a:srgbClr val="F5F1E9"/>
                </a:solidFill>
                <a:latin typeface="Arial"/>
                <a:ea typeface="Arial"/>
                <a:cs typeface="Arial"/>
              </a:rPr>
              <a:t>The Iceberg Problem</a:t>
            </a:r>
          </a:p>
        </p:txBody>
      </p:sp>
      <p:sp>
        <p:nvSpPr>
          <p:cNvPr id="4" name="TextBox 3"/>
          <p:cNvSpPr txBox="1"/>
          <p:nvPr/>
        </p:nvSpPr>
        <p:spPr>
          <a:xfrm>
            <a:off x="1047750" y="5334000"/>
            <a:ext cx="13811250" cy="1228725"/>
          </a:xfrm>
          <a:prstGeom prst="rect">
            <a:avLst/>
          </a:prstGeom>
          <a:noFill/>
        </p:spPr>
        <p:txBody>
          <a:bodyPr wrap="square" lIns="0" tIns="0" rIns="0" bIns="0" anchor="t">
            <a:spAutoFit/>
          </a:bodyPr>
          <a:lstStyle/>
          <a:p>
            <a:pPr algn="l"/>
            <a:r>
              <a:rPr sz="3900" b="0" i="1" kern="0">
                <a:solidFill>
                  <a:srgbClr val="C1B5AB"/>
                </a:solidFill>
                <a:latin typeface="Georgia"/>
                <a:ea typeface="Georgia"/>
                <a:cs typeface="Georgia"/>
              </a:rPr>
              <a:t>What a customer says is the visible tenth. The other ninety per cent is where the businesses got built.</a:t>
            </a:r>
          </a:p>
        </p:txBody>
      </p:sp>
      <p:sp>
        <p:nvSpPr>
          <p:cNvPr id="5" name="Rectangle 4"/>
          <p:cNvSpPr/>
          <p:nvPr/>
        </p:nvSpPr>
        <p:spPr>
          <a:xfrm>
            <a:off x="1047750" y="8867775"/>
            <a:ext cx="16192500" cy="19050"/>
          </a:xfrm>
          <a:prstGeom prst="rect">
            <a:avLst/>
          </a:prstGeom>
          <a:solidFill>
            <a:srgbClr val="4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9229725"/>
            <a:ext cx="2942481"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Stated vs. Latent Needs</a:t>
            </a:r>
          </a:p>
        </p:txBody>
      </p:sp>
      <p:sp>
        <p:nvSpPr>
          <p:cNvPr id="7" name="TextBox 6"/>
          <p:cNvSpPr txBox="1"/>
          <p:nvPr/>
        </p:nvSpPr>
        <p:spPr>
          <a:xfrm>
            <a:off x="4352181" y="9229725"/>
            <a:ext cx="2319635"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The Iceberg Model</a:t>
            </a:r>
          </a:p>
        </p:txBody>
      </p:sp>
      <p:sp>
        <p:nvSpPr>
          <p:cNvPr id="8" name="TextBox 7"/>
          <p:cNvSpPr txBox="1"/>
          <p:nvPr/>
        </p:nvSpPr>
        <p:spPr>
          <a:xfrm>
            <a:off x="7033766" y="9229725"/>
            <a:ext cx="1282005"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Laddering</a:t>
            </a:r>
          </a:p>
        </p:txBody>
      </p:sp>
      <p:sp>
        <p:nvSpPr>
          <p:cNvPr id="9" name="TextBox 8"/>
          <p:cNvSpPr txBox="1"/>
          <p:nvPr/>
        </p:nvSpPr>
        <p:spPr>
          <a:xfrm>
            <a:off x="8677721" y="9229725"/>
            <a:ext cx="2601218"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Observational Insight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WHERE WE LEFT OFF</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Module 1 measured the market from the outside</a:t>
            </a:r>
          </a:p>
        </p:txBody>
      </p:sp>
      <p:sp>
        <p:nvSpPr>
          <p:cNvPr id="4" name="Rectangle 3"/>
          <p:cNvSpPr/>
          <p:nvPr/>
        </p:nvSpPr>
        <p:spPr>
          <a:xfrm>
            <a:off x="1047750" y="2857500"/>
            <a:ext cx="5143500"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gap</a:t>
            </a:r>
          </a:p>
        </p:txBody>
      </p:sp>
      <p:sp>
        <p:nvSpPr>
          <p:cNvPr id="6" name="TextBox 5"/>
          <p:cNvSpPr txBox="1"/>
          <p:nvPr/>
        </p:nvSpPr>
        <p:spPr>
          <a:xfrm>
            <a:off x="13906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business exists to close the distance between a current state and a desired one.</a:t>
            </a:r>
          </a:p>
        </p:txBody>
      </p:sp>
      <p:sp>
        <p:nvSpPr>
          <p:cNvPr id="7" name="Rectangle 6"/>
          <p:cNvSpPr/>
          <p:nvPr/>
        </p:nvSpPr>
        <p:spPr>
          <a:xfrm>
            <a:off x="6572250" y="2857500"/>
            <a:ext cx="5143500"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Real problems</a:t>
            </a:r>
          </a:p>
        </p:txBody>
      </p:sp>
      <p:sp>
        <p:nvSpPr>
          <p:cNvPr id="9" name="TextBox 8"/>
          <p:cNvSpPr txBox="1"/>
          <p:nvPr/>
        </p:nvSpPr>
        <p:spPr>
          <a:xfrm>
            <a:off x="69151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workaround test, frequency and severity, payment evidence, why now.</a:t>
            </a:r>
          </a:p>
        </p:txBody>
      </p:sp>
      <p:sp>
        <p:nvSpPr>
          <p:cNvPr id="10" name="Rectangle 9"/>
          <p:cNvSpPr/>
          <p:nvPr/>
        </p:nvSpPr>
        <p:spPr>
          <a:xfrm>
            <a:off x="12096750" y="2857500"/>
            <a:ext cx="5143500"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Market sizing</a:t>
            </a:r>
          </a:p>
        </p:txBody>
      </p:sp>
      <p:sp>
        <p:nvSpPr>
          <p:cNvPr id="12" name="TextBox 11"/>
          <p:cNvSpPr txBox="1"/>
          <p:nvPr/>
        </p:nvSpPr>
        <p:spPr>
          <a:xfrm>
            <a:off x="124396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TAM, SAM, SOM — built bottom-up from a number you can defend.</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Every one of those numbers rests on an assumption about what a customer wants. Today we go and check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PAUSE AND ANSWER · NO THINKING TIME</a:t>
            </a:r>
          </a:p>
        </p:txBody>
      </p:sp>
      <p:sp>
        <p:nvSpPr>
          <p:cNvPr id="3" name="TextBox 2"/>
          <p:cNvSpPr txBox="1"/>
          <p:nvPr/>
        </p:nvSpPr>
        <p:spPr>
          <a:xfrm>
            <a:off x="1047750" y="3810000"/>
            <a:ext cx="15430500" cy="1905000"/>
          </a:xfrm>
          <a:prstGeom prst="rect">
            <a:avLst/>
          </a:prstGeom>
          <a:noFill/>
        </p:spPr>
        <p:txBody>
          <a:bodyPr wrap="square" lIns="0" tIns="0" rIns="0" bIns="0" anchor="t">
            <a:spAutoFit/>
          </a:bodyPr>
          <a:lstStyle/>
          <a:p>
            <a:pPr algn="l"/>
            <a:r>
              <a:rPr sz="6300" b="1" i="0" kern="0" spc="-200">
                <a:solidFill>
                  <a:srgbClr val="F5F1E9"/>
                </a:solidFill>
                <a:latin typeface="Arial"/>
                <a:ea typeface="Arial"/>
                <a:cs typeface="Arial"/>
              </a:rPr>
              <a:t>What do you want from a 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ALMOST EVERYONE SAYS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Every answer is a feature of a phone that already exists</a:t>
            </a:r>
          </a:p>
        </p:txBody>
      </p:sp>
      <p:sp>
        <p:nvSpPr>
          <p:cNvPr id="4" name="Rectangle 3"/>
          <p:cNvSpPr/>
          <p:nvPr/>
        </p:nvSpPr>
        <p:spPr>
          <a:xfrm>
            <a:off x="1047750" y="2857500"/>
            <a:ext cx="3762375"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Better camera</a:t>
            </a:r>
          </a:p>
        </p:txBody>
      </p:sp>
      <p:sp>
        <p:nvSpPr>
          <p:cNvPr id="6" name="TextBox 5"/>
          <p:cNvSpPr txBox="1"/>
          <p:nvPr/>
        </p:nvSpPr>
        <p:spPr>
          <a:xfrm>
            <a:off x="1390650" y="3867150"/>
            <a:ext cx="3076575"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a spec sheet.</a:t>
            </a:r>
          </a:p>
        </p:txBody>
      </p:sp>
      <p:sp>
        <p:nvSpPr>
          <p:cNvPr id="7" name="Rectangle 6"/>
          <p:cNvSpPr/>
          <p:nvPr/>
        </p:nvSpPr>
        <p:spPr>
          <a:xfrm>
            <a:off x="5191125" y="2857500"/>
            <a:ext cx="3762375"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More battery</a:t>
            </a:r>
          </a:p>
        </p:txBody>
      </p:sp>
      <p:sp>
        <p:nvSpPr>
          <p:cNvPr id="9" name="TextBox 8"/>
          <p:cNvSpPr txBox="1"/>
          <p:nvPr/>
        </p:nvSpPr>
        <p:spPr>
          <a:xfrm>
            <a:off x="5534025" y="3867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a complaint about a product.</a:t>
            </a:r>
          </a:p>
        </p:txBody>
      </p:sp>
      <p:sp>
        <p:nvSpPr>
          <p:cNvPr id="10" name="Rectangle 9"/>
          <p:cNvSpPr/>
          <p:nvPr/>
        </p:nvSpPr>
        <p:spPr>
          <a:xfrm>
            <a:off x="9334500" y="2857500"/>
            <a:ext cx="3762375"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Bigger screen</a:t>
            </a:r>
          </a:p>
        </p:txBody>
      </p:sp>
      <p:sp>
        <p:nvSpPr>
          <p:cNvPr id="12" name="TextBox 11"/>
          <p:cNvSpPr txBox="1"/>
          <p:nvPr/>
        </p:nvSpPr>
        <p:spPr>
          <a:xfrm>
            <a:off x="9677400" y="3867150"/>
            <a:ext cx="3076575"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a shape.</a:t>
            </a:r>
          </a:p>
        </p:txBody>
      </p:sp>
      <p:sp>
        <p:nvSpPr>
          <p:cNvPr id="13" name="Rectangle 12"/>
          <p:cNvSpPr/>
          <p:nvPr/>
        </p:nvSpPr>
        <p:spPr>
          <a:xfrm>
            <a:off x="13477875" y="2857500"/>
            <a:ext cx="3762375" cy="4000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Cheaper</a:t>
            </a:r>
          </a:p>
        </p:txBody>
      </p:sp>
      <p:sp>
        <p:nvSpPr>
          <p:cNvPr id="15" name="TextBox 14"/>
          <p:cNvSpPr txBox="1"/>
          <p:nvPr/>
        </p:nvSpPr>
        <p:spPr>
          <a:xfrm>
            <a:off x="13820775" y="3867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a price, not a reason.</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Nobody said one thing about their life — and a phone company that built from this list would build the same phone as everyone else.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Faster Horses</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The most quoted sentence in business is fake — and the lesson everyone draws from it is backwards.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THE MOST QUOTED SENTENCE IN BUSINESS</a:t>
            </a:r>
          </a:p>
        </p:txBody>
      </p:sp>
      <p:sp>
        <p:nvSpPr>
          <p:cNvPr id="3" name="TextBox 2"/>
          <p:cNvSpPr txBox="1"/>
          <p:nvPr/>
        </p:nvSpPr>
        <p:spPr>
          <a:xfrm>
            <a:off x="1047750" y="3429000"/>
            <a:ext cx="15430500" cy="1905000"/>
          </a:xfrm>
          <a:prstGeom prst="rect">
            <a:avLst/>
          </a:prstGeom>
          <a:noFill/>
        </p:spPr>
        <p:txBody>
          <a:bodyPr wrap="square" lIns="0" tIns="0" rIns="0" bIns="0" anchor="t">
            <a:spAutoFit/>
          </a:bodyPr>
          <a:lstStyle/>
          <a:p>
            <a:pPr algn="l"/>
            <a:r>
              <a:rPr sz="5400" b="0" i="1" kern="0">
                <a:solidFill>
                  <a:srgbClr val="F5F1E9"/>
                </a:solidFill>
                <a:latin typeface="Georgia"/>
                <a:ea typeface="Georgia"/>
                <a:cs typeface="Georgia"/>
              </a:rPr>
              <a:t>“If I had asked people what they wanted, they would have said faster horses.”</a:t>
            </a:r>
          </a:p>
        </p:txBody>
      </p:sp>
      <p:sp>
        <p:nvSpPr>
          <p:cNvPr id="4" name="TextBox 3"/>
          <p:cNvSpPr txBox="1"/>
          <p:nvPr/>
        </p:nvSpPr>
        <p:spPr>
          <a:xfrm>
            <a:off x="1047750" y="5772150"/>
            <a:ext cx="15430500" cy="419100"/>
          </a:xfrm>
          <a:prstGeom prst="rect">
            <a:avLst/>
          </a:prstGeom>
          <a:noFill/>
        </p:spPr>
        <p:txBody>
          <a:bodyPr wrap="square" lIns="0" tIns="0" rIns="0" bIns="0" anchor="t">
            <a:spAutoFit/>
          </a:bodyPr>
          <a:lstStyle/>
          <a:p>
            <a:pPr algn="l"/>
            <a:r>
              <a:rPr sz="2550" b="1" i="0" kern="0">
                <a:solidFill>
                  <a:srgbClr val="EF806F"/>
                </a:solidFill>
                <a:latin typeface="Arial"/>
                <a:ea typeface="Arial"/>
                <a:cs typeface="Arial"/>
              </a:rPr>
              <a:t>— HENRY FORD, WHO ALMOST CERTAINLY NEVER SAID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MYTH — VS — THE RECORD</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Ford is two case studies at once</a:t>
            </a:r>
          </a:p>
        </p:txBody>
      </p:sp>
      <p:sp>
        <p:nvSpPr>
          <p:cNvPr id="4" name="TextBox 3"/>
          <p:cNvSpPr txBox="1"/>
          <p:nvPr/>
        </p:nvSpPr>
        <p:spPr>
          <a:xfrm>
            <a:off x="1276350" y="2857500"/>
            <a:ext cx="510844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MYTH</a:t>
            </a:r>
          </a:p>
        </p:txBody>
      </p:sp>
      <p:sp>
        <p:nvSpPr>
          <p:cNvPr id="5" name="TextBox 4"/>
          <p:cNvSpPr txBox="1"/>
          <p:nvPr/>
        </p:nvSpPr>
        <p:spPr>
          <a:xfrm>
            <a:off x="6384798" y="2857500"/>
            <a:ext cx="1085545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RECORD</a:t>
            </a:r>
          </a:p>
        </p:txBody>
      </p:sp>
      <p:sp>
        <p:nvSpPr>
          <p:cNvPr id="6" name="Rectangle 5"/>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6350" y="3429000"/>
            <a:ext cx="4879848" cy="10287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Ford said it</a:t>
            </a:r>
          </a:p>
        </p:txBody>
      </p:sp>
      <p:sp>
        <p:nvSpPr>
          <p:cNvPr id="8" name="TextBox 7"/>
          <p:cNvSpPr txBox="1"/>
          <p:nvPr/>
        </p:nvSpPr>
        <p:spPr>
          <a:xfrm>
            <a:off x="6384798" y="3429000"/>
            <a:ext cx="10855452"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No primary source. Not in 'My Life and Work' (1922), not in 'Today and Tomorrow' (1926), not in his interviews or the company archives. It appears in print decades after his death in 1947.</a:t>
            </a:r>
          </a:p>
        </p:txBody>
      </p:sp>
      <p:sp>
        <p:nvSpPr>
          <p:cNvPr id="9" name="Rectangle 8"/>
          <p:cNvSpPr/>
          <p:nvPr/>
        </p:nvSpPr>
        <p:spPr>
          <a:xfrm>
            <a:off x="1047750" y="4676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47750" y="4667250"/>
            <a:ext cx="16192500" cy="14478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6350" y="4876800"/>
            <a:ext cx="4879848" cy="10287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Customers are useless, so ignore them</a:t>
            </a:r>
          </a:p>
        </p:txBody>
      </p:sp>
      <p:sp>
        <p:nvSpPr>
          <p:cNvPr id="12" name="TextBox 11"/>
          <p:cNvSpPr txBox="1"/>
          <p:nvPr/>
        </p:nvSpPr>
        <p:spPr>
          <a:xfrm>
            <a:off x="6384798" y="4876800"/>
            <a:ext cx="10855452"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He built for one customer obsessively — the American farmer. High ground clearance for rutted dirt tracks. Repairable with the toolkit that came in the boot. The engine belted to a saw when parked.</a:t>
            </a:r>
          </a:p>
        </p:txBody>
      </p:sp>
      <p:sp>
        <p:nvSpPr>
          <p:cNvPr id="13" name="Rectangle 12"/>
          <p:cNvSpPr/>
          <p:nvPr/>
        </p:nvSpPr>
        <p:spPr>
          <a:xfrm>
            <a:off x="1047750" y="61245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76350" y="6324600"/>
            <a:ext cx="4879848" cy="10287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Visionaries do not care about price</a:t>
            </a:r>
          </a:p>
        </p:txBody>
      </p:sp>
      <p:sp>
        <p:nvSpPr>
          <p:cNvPr id="15" name="TextBox 14"/>
          <p:cNvSpPr txBox="1"/>
          <p:nvPr/>
        </p:nvSpPr>
        <p:spPr>
          <a:xfrm>
            <a:off x="6384798" y="6324600"/>
            <a:ext cx="10855452"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$850 in 1908 — two years of an average worker's income — cut to roughly $260 by the mid-1920s. In 1914 he doubled the factory wage to $5 a day so the men building the cars could buy them.</a:t>
            </a:r>
          </a:p>
        </p:txBody>
      </p:sp>
      <p:sp>
        <p:nvSpPr>
          <p:cNvPr id="16" name="Rectangle 15"/>
          <p:cNvSpPr/>
          <p:nvPr/>
        </p:nvSpPr>
        <p:spPr>
          <a:xfrm>
            <a:off x="1047750" y="8382000"/>
            <a:ext cx="16192500" cy="9906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28750" y="8648700"/>
            <a:ext cx="15430500" cy="41148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The man used to justify not talking to customers spent sixteen years building for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1908 – 1927</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Sixteen years of attacking one number</a:t>
            </a:r>
          </a:p>
        </p:txBody>
      </p:sp>
      <p:sp>
        <p:nvSpPr>
          <p:cNvPr id="4" name="Rectangle 3"/>
          <p:cNvSpPr/>
          <p:nvPr/>
        </p:nvSpPr>
        <p:spPr>
          <a:xfrm>
            <a:off x="1047750"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$850</a:t>
            </a:r>
          </a:p>
        </p:txBody>
      </p:sp>
      <p:sp>
        <p:nvSpPr>
          <p:cNvPr id="6" name="TextBox 5"/>
          <p:cNvSpPr txBox="1"/>
          <p:nvPr/>
        </p:nvSpPr>
        <p:spPr>
          <a:xfrm>
            <a:off x="1371600"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at launch, 1908</a:t>
            </a:r>
          </a:p>
        </p:txBody>
      </p:sp>
      <p:sp>
        <p:nvSpPr>
          <p:cNvPr id="7" name="TextBox 6"/>
          <p:cNvSpPr txBox="1"/>
          <p:nvPr/>
        </p:nvSpPr>
        <p:spPr>
          <a:xfrm>
            <a:off x="1371600" y="4659630"/>
            <a:ext cx="3114675"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About two years of an average worker's income.</a:t>
            </a:r>
          </a:p>
        </p:txBody>
      </p:sp>
      <p:sp>
        <p:nvSpPr>
          <p:cNvPr id="8" name="Rectangle 7"/>
          <p:cNvSpPr/>
          <p:nvPr/>
        </p:nvSpPr>
        <p:spPr>
          <a:xfrm>
            <a:off x="5191125"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14975"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$260</a:t>
            </a:r>
          </a:p>
        </p:txBody>
      </p:sp>
      <p:sp>
        <p:nvSpPr>
          <p:cNvPr id="10" name="TextBox 9"/>
          <p:cNvSpPr txBox="1"/>
          <p:nvPr/>
        </p:nvSpPr>
        <p:spPr>
          <a:xfrm>
            <a:off x="5514975"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by the mid-1920s</a:t>
            </a:r>
          </a:p>
        </p:txBody>
      </p:sp>
      <p:sp>
        <p:nvSpPr>
          <p:cNvPr id="11" name="TextBox 10"/>
          <p:cNvSpPr txBox="1"/>
          <p:nvPr/>
        </p:nvSpPr>
        <p:spPr>
          <a:xfrm>
            <a:off x="5514975" y="4659630"/>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Same car, a third of the price, sixteen years of work.</a:t>
            </a:r>
          </a:p>
        </p:txBody>
      </p:sp>
      <p:sp>
        <p:nvSpPr>
          <p:cNvPr id="12" name="Rectangle 11"/>
          <p:cNvSpPr/>
          <p:nvPr/>
        </p:nvSpPr>
        <p:spPr>
          <a:xfrm>
            <a:off x="9334500"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8350"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15m</a:t>
            </a:r>
          </a:p>
        </p:txBody>
      </p:sp>
      <p:sp>
        <p:nvSpPr>
          <p:cNvPr id="14" name="TextBox 13"/>
          <p:cNvSpPr txBox="1"/>
          <p:nvPr/>
        </p:nvSpPr>
        <p:spPr>
          <a:xfrm>
            <a:off x="9658350"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Model Ts sold</a:t>
            </a:r>
          </a:p>
        </p:txBody>
      </p:sp>
      <p:sp>
        <p:nvSpPr>
          <p:cNvPr id="15" name="TextBox 14"/>
          <p:cNvSpPr txBox="1"/>
          <p:nvPr/>
        </p:nvSpPr>
        <p:spPr>
          <a:xfrm>
            <a:off x="9658350" y="4659630"/>
            <a:ext cx="3114675"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At the peak, more than half the cars on earth.</a:t>
            </a:r>
          </a:p>
        </p:txBody>
      </p:sp>
      <p:sp>
        <p:nvSpPr>
          <p:cNvPr id="16" name="Rectangle 15"/>
          <p:cNvSpPr/>
          <p:nvPr/>
        </p:nvSpPr>
        <p:spPr>
          <a:xfrm>
            <a:off x="13477875" y="2857500"/>
            <a:ext cx="3762375"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01725" y="3124200"/>
            <a:ext cx="3114675" cy="1066800"/>
          </a:xfrm>
          <a:prstGeom prst="rect">
            <a:avLst/>
          </a:prstGeom>
          <a:noFill/>
        </p:spPr>
        <p:txBody>
          <a:bodyPr wrap="square" lIns="0" tIns="0" rIns="0" bIns="0" anchor="t">
            <a:spAutoFit/>
          </a:bodyPr>
          <a:lstStyle/>
          <a:p>
            <a:pPr algn="l"/>
            <a:r>
              <a:rPr sz="8000" b="1" i="0" kern="0" spc="-200">
                <a:solidFill>
                  <a:srgbClr val="F5F1E9"/>
                </a:solidFill>
                <a:latin typeface="Arial"/>
                <a:ea typeface="Arial"/>
                <a:cs typeface="Arial"/>
              </a:rPr>
              <a:t>$5</a:t>
            </a:r>
          </a:p>
        </p:txBody>
      </p:sp>
      <p:sp>
        <p:nvSpPr>
          <p:cNvPr id="18" name="TextBox 17"/>
          <p:cNvSpPr txBox="1"/>
          <p:nvPr/>
        </p:nvSpPr>
        <p:spPr>
          <a:xfrm>
            <a:off x="13801725" y="4202430"/>
            <a:ext cx="3114675"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a day, from 1914</a:t>
            </a:r>
          </a:p>
        </p:txBody>
      </p:sp>
      <p:sp>
        <p:nvSpPr>
          <p:cNvPr id="19" name="TextBox 18"/>
          <p:cNvSpPr txBox="1"/>
          <p:nvPr/>
        </p:nvSpPr>
        <p:spPr>
          <a:xfrm>
            <a:off x="13801725" y="4659630"/>
            <a:ext cx="3114675"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Double the going wage, so his workers could buy one.</a:t>
            </a:r>
          </a:p>
        </p:txBody>
      </p:sp>
      <p:sp>
        <p:nvSpPr>
          <p:cNvPr id="20" name="Rectangle 19"/>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That is not the record of a man who thought his customer was irrelevant.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HALF NOBODY QUOTES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800" b="1" i="0" kern="0" spc="-142">
                <a:solidFill>
                  <a:srgbClr val="201914"/>
                </a:solidFill>
                <a:latin typeface="Arial"/>
                <a:ea typeface="Arial"/>
                <a:cs typeface="Arial"/>
              </a:rPr>
              <a:t>He won by hearing a need, and nearly lost by refusing one</a:t>
            </a:r>
          </a:p>
        </p:txBody>
      </p:sp>
      <p:sp>
        <p:nvSpPr>
          <p:cNvPr id="4" name="Rectangle 3"/>
          <p:cNvSpPr/>
          <p:nvPr/>
        </p:nvSpPr>
        <p:spPr>
          <a:xfrm>
            <a:off x="1047750" y="2857500"/>
            <a:ext cx="7810500" cy="4476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1908 – 1917 · LISTENING</a:t>
            </a:r>
          </a:p>
        </p:txBody>
      </p:sp>
      <p:sp>
        <p:nvSpPr>
          <p:cNvPr id="6" name="TextBox 5"/>
          <p:cNvSpPr txBox="1"/>
          <p:nvPr/>
        </p:nvSpPr>
        <p:spPr>
          <a:xfrm>
            <a:off x="1428750" y="37909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farmer could not ask for a car</a:t>
            </a:r>
          </a:p>
        </p:txBody>
      </p:sp>
      <p:sp>
        <p:nvSpPr>
          <p:cNvPr id="7" name="TextBox 6"/>
          <p:cNvSpPr txBox="1"/>
          <p:nvPr/>
        </p:nvSpPr>
        <p:spPr>
          <a:xfrm>
            <a:off x="1428750" y="441198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He had no vocabulary for one, so he described a better horse.</a:t>
            </a:r>
          </a:p>
        </p:txBody>
      </p:sp>
      <p:sp>
        <p:nvSpPr>
          <p:cNvPr id="8" name="TextBox 7"/>
          <p:cNvSpPr txBox="1"/>
          <p:nvPr/>
        </p:nvSpPr>
        <p:spPr>
          <a:xfrm>
            <a:off x="1428750" y="5398770"/>
            <a:ext cx="7048500" cy="116586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Ford translated it: move me and my goods further, faster, more reliably, without an animal that gets sick.</a:t>
            </a:r>
          </a:p>
        </p:txBody>
      </p:sp>
      <p:sp>
        <p:nvSpPr>
          <p:cNvPr id="9" name="Rectangle 8"/>
          <p:cNvSpPr/>
          <p:nvPr/>
        </p:nvSpPr>
        <p:spPr>
          <a:xfrm>
            <a:off x="9429750" y="2857500"/>
            <a:ext cx="7810500" cy="44767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EARLY 1920S · NOT LISTENING</a:t>
            </a:r>
          </a:p>
        </p:txBody>
      </p:sp>
      <p:sp>
        <p:nvSpPr>
          <p:cNvPr id="11" name="TextBox 10"/>
          <p:cNvSpPr txBox="1"/>
          <p:nvPr/>
        </p:nvSpPr>
        <p:spPr>
          <a:xfrm>
            <a:off x="9810750" y="3790950"/>
            <a:ext cx="704850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Customers asked out loud</a:t>
            </a:r>
          </a:p>
        </p:txBody>
      </p:sp>
      <p:sp>
        <p:nvSpPr>
          <p:cNvPr id="12" name="TextBox 11"/>
          <p:cNvSpPr txBox="1"/>
          <p:nvPr/>
        </p:nvSpPr>
        <p:spPr>
          <a:xfrm>
            <a:off x="9810750" y="441198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Colours. Closed cabins. A new model every year.</a:t>
            </a:r>
          </a:p>
        </p:txBody>
      </p:sp>
      <p:sp>
        <p:nvSpPr>
          <p:cNvPr id="13" name="TextBox 12"/>
          <p:cNvSpPr txBox="1"/>
          <p:nvPr/>
        </p:nvSpPr>
        <p:spPr>
          <a:xfrm>
            <a:off x="9810750" y="5372100"/>
            <a:ext cx="7048500" cy="388620"/>
          </a:xfrm>
          <a:prstGeom prst="rect">
            <a:avLst/>
          </a:prstGeom>
          <a:noFill/>
        </p:spPr>
        <p:txBody>
          <a:bodyPr wrap="square" lIns="0" tIns="0" rIns="0" bIns="0" anchor="t">
            <a:spAutoFit/>
          </a:bodyPr>
          <a:lstStyle/>
          <a:p>
            <a:pPr algn="l"/>
            <a:r>
              <a:rPr sz="2550" b="0" i="0" kern="0" dirty="0">
                <a:solidFill>
                  <a:srgbClr val="CEC1B8"/>
                </a:solidFill>
                <a:latin typeface="Arial"/>
                <a:ea typeface="Arial"/>
                <a:cs typeface="Arial"/>
              </a:rPr>
              <a:t>He refused for years. Chevrolet took the market.</a:t>
            </a:r>
          </a:p>
        </p:txBody>
      </p:sp>
      <p:sp>
        <p:nvSpPr>
          <p:cNvPr id="14" name="Rectangle 13"/>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Having been right once, he stopped treating his belief about the customer as a claim that needed re-checking.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MOVE THE WHOLE COURSE RESTS ON</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Ford did not ignore the answer. He translated it.</a:t>
            </a:r>
          </a:p>
        </p:txBody>
      </p:sp>
      <p:sp>
        <p:nvSpPr>
          <p:cNvPr id="4" name="Rectangle 3"/>
          <p:cNvSpPr/>
          <p:nvPr/>
        </p:nvSpPr>
        <p:spPr>
          <a:xfrm>
            <a:off x="1047750" y="2857500"/>
            <a:ext cx="7810500" cy="4476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THE FARMER SAID</a:t>
            </a:r>
          </a:p>
        </p:txBody>
      </p:sp>
      <p:sp>
        <p:nvSpPr>
          <p:cNvPr id="6" name="TextBox 5"/>
          <p:cNvSpPr txBox="1"/>
          <p:nvPr/>
        </p:nvSpPr>
        <p:spPr>
          <a:xfrm>
            <a:off x="1428750" y="379095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 stronger horse.”</a:t>
            </a:r>
          </a:p>
        </p:txBody>
      </p:sp>
      <p:sp>
        <p:nvSpPr>
          <p:cNvPr id="7" name="TextBox 6"/>
          <p:cNvSpPr txBox="1"/>
          <p:nvPr/>
        </p:nvSpPr>
        <p:spPr>
          <a:xfrm>
            <a:off x="1428750" y="438912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 cheaper one.”</a:t>
            </a:r>
          </a:p>
        </p:txBody>
      </p:sp>
      <p:sp>
        <p:nvSpPr>
          <p:cNvPr id="8" name="TextBox 7"/>
          <p:cNvSpPr txBox="1"/>
          <p:nvPr/>
        </p:nvSpPr>
        <p:spPr>
          <a:xfrm>
            <a:off x="1428750" y="498729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“One that eats less and does not go lame in winter.”</a:t>
            </a:r>
          </a:p>
        </p:txBody>
      </p:sp>
      <p:sp>
        <p:nvSpPr>
          <p:cNvPr id="9" name="TextBox 8"/>
          <p:cNvSpPr txBox="1"/>
          <p:nvPr/>
        </p:nvSpPr>
        <p:spPr>
          <a:xfrm>
            <a:off x="1428750" y="597408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Useless as a product specification.</a:t>
            </a:r>
          </a:p>
        </p:txBody>
      </p:sp>
      <p:sp>
        <p:nvSpPr>
          <p:cNvPr id="10" name="Rectangle 9"/>
          <p:cNvSpPr/>
          <p:nvPr/>
        </p:nvSpPr>
        <p:spPr>
          <a:xfrm>
            <a:off x="9429750" y="2857500"/>
            <a:ext cx="7810500" cy="4476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SITS UNDERNEATH IT</a:t>
            </a:r>
          </a:p>
        </p:txBody>
      </p:sp>
      <p:sp>
        <p:nvSpPr>
          <p:cNvPr id="12" name="TextBox 11"/>
          <p:cNvSpPr txBox="1"/>
          <p:nvPr/>
        </p:nvSpPr>
        <p:spPr>
          <a:xfrm>
            <a:off x="9810750" y="379095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Move me and my goods further, faster, more reliably.</a:t>
            </a:r>
          </a:p>
        </p:txBody>
      </p:sp>
      <p:sp>
        <p:nvSpPr>
          <p:cNvPr id="13" name="TextBox 12"/>
          <p:cNvSpPr txBox="1"/>
          <p:nvPr/>
        </p:nvSpPr>
        <p:spPr>
          <a:xfrm>
            <a:off x="9810750" y="477774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At a cost I can bear.</a:t>
            </a:r>
          </a:p>
        </p:txBody>
      </p:sp>
      <p:sp>
        <p:nvSpPr>
          <p:cNvPr id="14" name="TextBox 13"/>
          <p:cNvSpPr txBox="1"/>
          <p:nvPr/>
        </p:nvSpPr>
        <p:spPr>
          <a:xfrm>
            <a:off x="9810750" y="537591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Without an animal that gets sick, needs feeding when idle, and cannot work at night.</a:t>
            </a:r>
          </a:p>
        </p:txBody>
      </p:sp>
      <p:sp>
        <p:nvSpPr>
          <p:cNvPr id="15" name="TextBox 14"/>
          <p:cNvSpPr txBox="1"/>
          <p:nvPr/>
        </p:nvSpPr>
        <p:spPr>
          <a:xfrm>
            <a:off x="9810750" y="636270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Completely reliable as evidence.</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That sentence is true, permanent and horse-free — and the farmer could never have said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FRAMEWORK 1</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The Iceberg</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What the customer says is ten per cent. What drives the customer is ninety.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1 · BUILD IT TOP DOWN</a:t>
            </a:r>
          </a:p>
        </p:txBody>
      </p:sp>
      <p:sp>
        <p:nvSpPr>
          <p:cNvPr id="3" name="TextBox 2"/>
          <p:cNvSpPr txBox="1"/>
          <p:nvPr/>
        </p:nvSpPr>
        <p:spPr>
          <a:xfrm>
            <a:off x="1047750" y="1504950"/>
            <a:ext cx="16192500" cy="800100"/>
          </a:xfrm>
          <a:prstGeom prst="rect">
            <a:avLst/>
          </a:prstGeom>
          <a:noFill/>
        </p:spPr>
        <p:txBody>
          <a:bodyPr wrap="square" lIns="0" tIns="0" rIns="0" bIns="0" anchor="t">
            <a:spAutoFit/>
          </a:bodyPr>
          <a:lstStyle/>
          <a:p>
            <a:pPr algn="l"/>
            <a:r>
              <a:rPr sz="5250" b="1" i="0" kern="0" spc="-142">
                <a:solidFill>
                  <a:srgbClr val="201914"/>
                </a:solidFill>
                <a:latin typeface="Arial"/>
                <a:ea typeface="Arial"/>
                <a:cs typeface="Arial"/>
              </a:rPr>
              <a:t>Three levels, and only one of them answers a survey</a:t>
            </a:r>
          </a:p>
        </p:txBody>
      </p:sp>
      <p:sp>
        <p:nvSpPr>
          <p:cNvPr id="4" name="Rectangle 3"/>
          <p:cNvSpPr/>
          <p:nvPr/>
        </p:nvSpPr>
        <p:spPr>
          <a:xfrm>
            <a:off x="1047750" y="2857500"/>
            <a:ext cx="16192500" cy="762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47750" y="2933700"/>
            <a:ext cx="16192500" cy="1733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90650" y="3238500"/>
            <a:ext cx="4762500" cy="323850"/>
          </a:xfrm>
          <a:prstGeom prst="rect">
            <a:avLst/>
          </a:prstGeom>
          <a:noFill/>
        </p:spPr>
        <p:txBody>
          <a:bodyPr wrap="square" lIns="0" tIns="0" rIns="0" bIns="0" anchor="t">
            <a:spAutoFit/>
          </a:bodyPr>
          <a:lstStyle/>
          <a:p>
            <a:pPr algn="l"/>
            <a:r>
              <a:rPr sz="1950" b="1" i="0" kern="0" spc="220">
                <a:solidFill>
                  <a:srgbClr val="6C6158"/>
                </a:solidFill>
                <a:latin typeface="Arial"/>
                <a:ea typeface="Arial"/>
                <a:cs typeface="Arial"/>
              </a:rPr>
              <a:t>LEVEL 1 · STATED NEED</a:t>
            </a:r>
          </a:p>
        </p:txBody>
      </p:sp>
      <p:sp>
        <p:nvSpPr>
          <p:cNvPr id="7" name="TextBox 6"/>
          <p:cNvSpPr txBox="1"/>
          <p:nvPr/>
        </p:nvSpPr>
        <p:spPr>
          <a:xfrm>
            <a:off x="1390650" y="3733800"/>
            <a:ext cx="4762500" cy="5715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What they say when asked</a:t>
            </a:r>
          </a:p>
        </p:txBody>
      </p:sp>
      <p:sp>
        <p:nvSpPr>
          <p:cNvPr id="8" name="TextBox 7"/>
          <p:cNvSpPr txBox="1"/>
          <p:nvPr/>
        </p:nvSpPr>
        <p:spPr>
          <a:xfrm>
            <a:off x="6667500" y="3276600"/>
            <a:ext cx="1022985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Concrete, shaped like a feature of something that already exists, and always socially acceptable. The only level a survey reliably reaches.</a:t>
            </a:r>
          </a:p>
        </p:txBody>
      </p:sp>
      <p:sp>
        <p:nvSpPr>
          <p:cNvPr id="9" name="Rectangle 8"/>
          <p:cNvSpPr/>
          <p:nvPr/>
        </p:nvSpPr>
        <p:spPr>
          <a:xfrm>
            <a:off x="1047750" y="5505450"/>
            <a:ext cx="16192500" cy="18097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90650" y="5886450"/>
            <a:ext cx="4762500" cy="323850"/>
          </a:xfrm>
          <a:prstGeom prst="rect">
            <a:avLst/>
          </a:prstGeom>
          <a:noFill/>
        </p:spPr>
        <p:txBody>
          <a:bodyPr wrap="square" lIns="0" tIns="0" rIns="0" bIns="0" anchor="t">
            <a:spAutoFit/>
          </a:bodyPr>
          <a:lstStyle/>
          <a:p>
            <a:pPr algn="l"/>
            <a:r>
              <a:rPr sz="1950" b="1" i="0" kern="0" spc="220">
                <a:solidFill>
                  <a:srgbClr val="EF806F"/>
                </a:solidFill>
                <a:latin typeface="Arial"/>
                <a:ea typeface="Arial"/>
                <a:cs typeface="Arial"/>
              </a:rPr>
              <a:t>LEVEL 2 · LATENT NEED</a:t>
            </a:r>
          </a:p>
        </p:txBody>
      </p:sp>
      <p:sp>
        <p:nvSpPr>
          <p:cNvPr id="11" name="TextBox 10"/>
          <p:cNvSpPr txBox="1"/>
          <p:nvPr/>
        </p:nvSpPr>
        <p:spPr>
          <a:xfrm>
            <a:off x="1390650" y="6381750"/>
            <a:ext cx="4762500" cy="5715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What they actually want</a:t>
            </a:r>
          </a:p>
        </p:txBody>
      </p:sp>
      <p:sp>
        <p:nvSpPr>
          <p:cNvPr id="12" name="TextBox 11"/>
          <p:cNvSpPr txBox="1"/>
          <p:nvPr/>
        </p:nvSpPr>
        <p:spPr>
          <a:xfrm>
            <a:off x="6667500" y="5924550"/>
            <a:ext cx="10229850" cy="1028700"/>
          </a:xfrm>
          <a:prstGeom prst="rect">
            <a:avLst/>
          </a:prstGeom>
          <a:noFill/>
        </p:spPr>
        <p:txBody>
          <a:bodyPr wrap="square" lIns="0" tIns="0" rIns="0" bIns="0" anchor="t">
            <a:spAutoFit/>
          </a:bodyPr>
          <a:lstStyle/>
          <a:p>
            <a:pPr algn="l"/>
            <a:r>
              <a:rPr sz="2250" b="0" i="0" kern="0">
                <a:solidFill>
                  <a:srgbClr val="CEC1B8"/>
                </a:solidFill>
                <a:latin typeface="Arial"/>
                <a:ea typeface="Arial"/>
                <a:cs typeface="Arial"/>
              </a:rPr>
              <a:t>The practical outcome they have never put into words. Not hidden — just never said. Invisible in a survey, and completely visible in behaviour: workarounds, substitutions, repeat spending.</a:t>
            </a:r>
          </a:p>
        </p:txBody>
      </p:sp>
      <p:sp>
        <p:nvSpPr>
          <p:cNvPr id="13" name="Rectangle 12"/>
          <p:cNvSpPr/>
          <p:nvPr/>
        </p:nvSpPr>
        <p:spPr>
          <a:xfrm>
            <a:off x="1047750" y="7524750"/>
            <a:ext cx="16192500" cy="18097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90650" y="7905750"/>
            <a:ext cx="4762500" cy="323850"/>
          </a:xfrm>
          <a:prstGeom prst="rect">
            <a:avLst/>
          </a:prstGeom>
          <a:noFill/>
        </p:spPr>
        <p:txBody>
          <a:bodyPr wrap="square" lIns="0" tIns="0" rIns="0" bIns="0" anchor="t">
            <a:spAutoFit/>
          </a:bodyPr>
          <a:lstStyle/>
          <a:p>
            <a:pPr algn="l"/>
            <a:r>
              <a:rPr sz="1950" b="1" i="0" kern="0" spc="220">
                <a:solidFill>
                  <a:srgbClr val="FFE6DF"/>
                </a:solidFill>
                <a:latin typeface="Arial"/>
                <a:ea typeface="Arial"/>
                <a:cs typeface="Arial"/>
              </a:rPr>
              <a:t>LEVEL 3 · EMOTIONAL DRIVER</a:t>
            </a:r>
          </a:p>
        </p:txBody>
      </p:sp>
      <p:sp>
        <p:nvSpPr>
          <p:cNvPr id="15" name="TextBox 14"/>
          <p:cNvSpPr txBox="1"/>
          <p:nvPr/>
        </p:nvSpPr>
        <p:spPr>
          <a:xfrm>
            <a:off x="1390650" y="8401050"/>
            <a:ext cx="4762500" cy="5715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What makes it urgent</a:t>
            </a:r>
          </a:p>
        </p:txBody>
      </p:sp>
      <p:sp>
        <p:nvSpPr>
          <p:cNvPr id="16" name="TextBox 15"/>
          <p:cNvSpPr txBox="1"/>
          <p:nvPr/>
        </p:nvSpPr>
        <p:spPr>
          <a:xfrm>
            <a:off x="6667500" y="7943850"/>
            <a:ext cx="10229850" cy="10287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The fear, guilt, pride or aspiration that turns a preference into urgency. Nobody says this to a stranger with a notebook, and some will deny it if you name it for them.</a:t>
            </a:r>
          </a:p>
        </p:txBody>
      </p:sp>
      <p:sp>
        <p:nvSpPr>
          <p:cNvPr id="17" name="Rectangle 16"/>
          <p:cNvSpPr/>
          <p:nvPr/>
        </p:nvSpPr>
        <p:spPr>
          <a:xfrm>
            <a:off x="1047750" y="4876800"/>
            <a:ext cx="16192500"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7750" y="5029200"/>
            <a:ext cx="16192500" cy="323850"/>
          </a:xfrm>
          <a:prstGeom prst="rect">
            <a:avLst/>
          </a:prstGeom>
          <a:noFill/>
        </p:spPr>
        <p:txBody>
          <a:bodyPr wrap="square" lIns="0" tIns="0" rIns="0" bIns="0" anchor="t">
            <a:spAutoFit/>
          </a:bodyPr>
          <a:lstStyle/>
          <a:p>
            <a:pPr algn="l"/>
            <a:r>
              <a:rPr sz="1950" b="1" i="0" kern="0" spc="273">
                <a:solidFill>
                  <a:srgbClr val="C35141"/>
                </a:solidFill>
                <a:latin typeface="Arial"/>
                <a:ea typeface="Arial"/>
                <a:cs typeface="Arial"/>
              </a:rPr>
              <a:t>THE WATERLINE · EVERYTHING BELOW THIS IS INVISIBLE TO A QUESTIONNAIRE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1 · THE TEST FOR EACH LEVEL</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650" b="1" i="0" kern="0" spc="-142">
                <a:solidFill>
                  <a:srgbClr val="201914"/>
                </a:solidFill>
                <a:latin typeface="Arial"/>
                <a:ea typeface="Arial"/>
                <a:cs typeface="Arial"/>
              </a:rPr>
              <a:t>How you get at each level, and how you know you are there</a:t>
            </a:r>
          </a:p>
        </p:txBody>
      </p:sp>
      <p:sp>
        <p:nvSpPr>
          <p:cNvPr id="4" name="TextBox 3"/>
          <p:cNvSpPr txBox="1"/>
          <p:nvPr/>
        </p:nvSpPr>
        <p:spPr>
          <a:xfrm>
            <a:off x="1276350" y="2857500"/>
            <a:ext cx="2636139"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LEVEL</a:t>
            </a:r>
          </a:p>
        </p:txBody>
      </p:sp>
      <p:sp>
        <p:nvSpPr>
          <p:cNvPr id="5" name="TextBox 4"/>
          <p:cNvSpPr txBox="1"/>
          <p:nvPr/>
        </p:nvSpPr>
        <p:spPr>
          <a:xfrm>
            <a:off x="3912489" y="2857500"/>
            <a:ext cx="4807077"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IS</a:t>
            </a:r>
          </a:p>
        </p:txBody>
      </p:sp>
      <p:sp>
        <p:nvSpPr>
          <p:cNvPr id="6" name="TextBox 5"/>
          <p:cNvSpPr txBox="1"/>
          <p:nvPr/>
        </p:nvSpPr>
        <p:spPr>
          <a:xfrm>
            <a:off x="8948166" y="2857500"/>
            <a:ext cx="4496943"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HOW YOU GET AT IT</a:t>
            </a:r>
          </a:p>
        </p:txBody>
      </p:sp>
      <p:sp>
        <p:nvSpPr>
          <p:cNvPr id="7" name="TextBox 6"/>
          <p:cNvSpPr txBox="1"/>
          <p:nvPr/>
        </p:nvSpPr>
        <p:spPr>
          <a:xfrm>
            <a:off x="13673709" y="2857500"/>
            <a:ext cx="3566541"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TEST</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2407539"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1 · Stated need</a:t>
            </a:r>
          </a:p>
        </p:txBody>
      </p:sp>
      <p:sp>
        <p:nvSpPr>
          <p:cNvPr id="10" name="TextBox 9"/>
          <p:cNvSpPr txBox="1"/>
          <p:nvPr/>
        </p:nvSpPr>
        <p:spPr>
          <a:xfrm>
            <a:off x="3912489" y="3429000"/>
            <a:ext cx="4807077"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What the customer says when asked directly. Concrete, feature-shaped, socially acceptable — and genuinely true.</a:t>
            </a:r>
          </a:p>
        </p:txBody>
      </p:sp>
      <p:sp>
        <p:nvSpPr>
          <p:cNvPr id="11" name="TextBox 10"/>
          <p:cNvSpPr txBox="1"/>
          <p:nvPr/>
        </p:nvSpPr>
        <p:spPr>
          <a:xfrm>
            <a:off x="8948166" y="3429000"/>
            <a:ext cx="4496943"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Ask. The only level a survey reliably reaches.</a:t>
            </a:r>
          </a:p>
        </p:txBody>
      </p:sp>
      <p:sp>
        <p:nvSpPr>
          <p:cNvPr id="12" name="TextBox 11"/>
          <p:cNvSpPr txBox="1"/>
          <p:nvPr/>
        </p:nvSpPr>
        <p:spPr>
          <a:xfrm>
            <a:off x="13673709" y="3429000"/>
            <a:ext cx="3566541" cy="1280160"/>
          </a:xfrm>
          <a:prstGeom prst="rect">
            <a:avLst/>
          </a:prstGeom>
          <a:noFill/>
        </p:spPr>
        <p:txBody>
          <a:bodyPr wrap="square" lIns="0" tIns="0" rIns="0" bIns="0" anchor="t">
            <a:spAutoFit/>
          </a:bodyPr>
          <a:lstStyle/>
          <a:p>
            <a:pPr algn="l"/>
            <a:r>
              <a:rPr sz="2100" b="1" i="0" kern="0">
                <a:solidFill>
                  <a:srgbClr val="C35141"/>
                </a:solidFill>
                <a:latin typeface="Arial"/>
                <a:ea typeface="Arial"/>
                <a:cs typeface="Arial"/>
              </a:rPr>
              <a:t>‘Would they say this to a stranger?’</a:t>
            </a:r>
          </a:p>
        </p:txBody>
      </p:sp>
      <p:sp>
        <p:nvSpPr>
          <p:cNvPr id="13" name="Rectangle 12"/>
          <p:cNvSpPr/>
          <p:nvPr/>
        </p:nvSpPr>
        <p:spPr>
          <a:xfrm>
            <a:off x="1047750" y="49282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918710"/>
            <a:ext cx="16192500" cy="13792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5128260"/>
            <a:ext cx="2407539"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2 · Latent need</a:t>
            </a:r>
          </a:p>
        </p:txBody>
      </p:sp>
      <p:sp>
        <p:nvSpPr>
          <p:cNvPr id="16" name="TextBox 15"/>
          <p:cNvSpPr txBox="1"/>
          <p:nvPr/>
        </p:nvSpPr>
        <p:spPr>
          <a:xfrm>
            <a:off x="3912489" y="5128260"/>
            <a:ext cx="4807077"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practical outcome they actually want but have not articulated. Not hidden — just never said.</a:t>
            </a:r>
          </a:p>
        </p:txBody>
      </p:sp>
      <p:sp>
        <p:nvSpPr>
          <p:cNvPr id="17" name="TextBox 16"/>
          <p:cNvSpPr txBox="1"/>
          <p:nvPr/>
        </p:nvSpPr>
        <p:spPr>
          <a:xfrm>
            <a:off x="8948166" y="5128260"/>
            <a:ext cx="4496943"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Watch behaviour: workarounds, substitutions, repeat spending, the moments they avoid.</a:t>
            </a:r>
          </a:p>
        </p:txBody>
      </p:sp>
      <p:sp>
        <p:nvSpPr>
          <p:cNvPr id="18" name="TextBox 17"/>
          <p:cNvSpPr txBox="1"/>
          <p:nvPr/>
        </p:nvSpPr>
        <p:spPr>
          <a:xfrm>
            <a:off x="13673709" y="5128260"/>
            <a:ext cx="3566541" cy="960120"/>
          </a:xfrm>
          <a:prstGeom prst="rect">
            <a:avLst/>
          </a:prstGeom>
          <a:noFill/>
        </p:spPr>
        <p:txBody>
          <a:bodyPr wrap="square" lIns="0" tIns="0" rIns="0" bIns="0" anchor="t">
            <a:spAutoFit/>
          </a:bodyPr>
          <a:lstStyle/>
          <a:p>
            <a:pPr algn="l"/>
            <a:r>
              <a:rPr sz="2100" b="1" i="0" kern="0">
                <a:solidFill>
                  <a:srgbClr val="C35141"/>
                </a:solidFill>
                <a:latin typeface="Arial"/>
                <a:ea typeface="Arial"/>
                <a:cs typeface="Arial"/>
              </a:rPr>
              <a:t>‘Can I point at something they DO?’</a:t>
            </a:r>
          </a:p>
        </p:txBody>
      </p:sp>
      <p:sp>
        <p:nvSpPr>
          <p:cNvPr id="19" name="Rectangle 18"/>
          <p:cNvSpPr/>
          <p:nvPr/>
        </p:nvSpPr>
        <p:spPr>
          <a:xfrm>
            <a:off x="1047750" y="630745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6507480"/>
            <a:ext cx="2407539"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3 · Emotional driver</a:t>
            </a:r>
          </a:p>
        </p:txBody>
      </p:sp>
      <p:sp>
        <p:nvSpPr>
          <p:cNvPr id="21" name="TextBox 20"/>
          <p:cNvSpPr txBox="1"/>
          <p:nvPr/>
        </p:nvSpPr>
        <p:spPr>
          <a:xfrm>
            <a:off x="3912489" y="6507480"/>
            <a:ext cx="4807077"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fear, guilt, pride or aspiration that makes the need urgent rather than merely desirable.</a:t>
            </a:r>
          </a:p>
        </p:txBody>
      </p:sp>
      <p:sp>
        <p:nvSpPr>
          <p:cNvPr id="22" name="TextBox 21"/>
          <p:cNvSpPr txBox="1"/>
          <p:nvPr/>
        </p:nvSpPr>
        <p:spPr>
          <a:xfrm>
            <a:off x="8948166" y="6507480"/>
            <a:ext cx="4496943"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Laddering, and behaviour that only anxiety explains. Never by asking directly.</a:t>
            </a:r>
          </a:p>
        </p:txBody>
      </p:sp>
      <p:sp>
        <p:nvSpPr>
          <p:cNvPr id="23" name="TextBox 22"/>
          <p:cNvSpPr txBox="1"/>
          <p:nvPr/>
        </p:nvSpPr>
        <p:spPr>
          <a:xfrm>
            <a:off x="13673709" y="6507480"/>
            <a:ext cx="3566541" cy="960120"/>
          </a:xfrm>
          <a:prstGeom prst="rect">
            <a:avLst/>
          </a:prstGeom>
          <a:noFill/>
        </p:spPr>
        <p:txBody>
          <a:bodyPr wrap="square" lIns="0" tIns="0" rIns="0" bIns="0" anchor="t">
            <a:spAutoFit/>
          </a:bodyPr>
          <a:lstStyle/>
          <a:p>
            <a:pPr algn="l"/>
            <a:r>
              <a:rPr sz="2100" b="1" i="0" kern="0">
                <a:solidFill>
                  <a:srgbClr val="C35141"/>
                </a:solidFill>
                <a:latin typeface="Arial"/>
                <a:ea typeface="Arial"/>
                <a:cs typeface="Arial"/>
              </a:rPr>
              <a:t>‘Would they deny this to my face?’</a:t>
            </a:r>
          </a:p>
        </p:txBody>
      </p:sp>
      <p:sp>
        <p:nvSpPr>
          <p:cNvPr id="24" name="Rectangle 23"/>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Level 1 is where everybody competes. Level 2 is where products get built. Level 3 is where brands get built — but you only keep Level 3 for as long as Level 1 keeps working.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WHY THE BOTTOM STAYS HIDDEN</a:t>
            </a:r>
          </a:p>
        </p:txBody>
      </p:sp>
      <p:sp>
        <p:nvSpPr>
          <p:cNvPr id="3" name="TextBox 2"/>
          <p:cNvSpPr txBox="1"/>
          <p:nvPr/>
        </p:nvSpPr>
        <p:spPr>
          <a:xfrm>
            <a:off x="1047750" y="1504950"/>
            <a:ext cx="16192500" cy="800100"/>
          </a:xfrm>
          <a:prstGeom prst="rect">
            <a:avLst/>
          </a:prstGeom>
          <a:noFill/>
        </p:spPr>
        <p:txBody>
          <a:bodyPr wrap="square" lIns="0" tIns="0" rIns="0" bIns="0" anchor="t">
            <a:spAutoFit/>
          </a:bodyPr>
          <a:lstStyle/>
          <a:p>
            <a:pPr algn="l"/>
            <a:r>
              <a:rPr sz="5250" b="1" i="0" kern="0" spc="-142">
                <a:solidFill>
                  <a:srgbClr val="201914"/>
                </a:solidFill>
                <a:latin typeface="Arial"/>
                <a:ea typeface="Arial"/>
                <a:cs typeface="Arial"/>
              </a:rPr>
              <a:t>Four reasons, and you cause the fourth one yourself</a:t>
            </a:r>
          </a:p>
        </p:txBody>
      </p:sp>
      <p:sp>
        <p:nvSpPr>
          <p:cNvPr id="4" name="Rectangle 3"/>
          <p:cNvSpPr/>
          <p:nvPr/>
        </p:nvSpPr>
        <p:spPr>
          <a:xfrm>
            <a:off x="1047750"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They do not know</a:t>
            </a:r>
          </a:p>
        </p:txBody>
      </p:sp>
      <p:sp>
        <p:nvSpPr>
          <p:cNvPr id="6" name="TextBox 5"/>
          <p:cNvSpPr txBox="1"/>
          <p:nvPr/>
        </p:nvSpPr>
        <p:spPr>
          <a:xfrm>
            <a:off x="1390650"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Ask and they invent a reason on the spot — then believe it.</a:t>
            </a:r>
          </a:p>
        </p:txBody>
      </p:sp>
      <p:sp>
        <p:nvSpPr>
          <p:cNvPr id="7" name="Rectangle 6"/>
          <p:cNvSpPr/>
          <p:nvPr/>
        </p:nvSpPr>
        <p:spPr>
          <a:xfrm>
            <a:off x="5191125"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They cannot word it</a:t>
            </a:r>
          </a:p>
        </p:txBody>
      </p:sp>
      <p:sp>
        <p:nvSpPr>
          <p:cNvPr id="9" name="TextBox 8"/>
          <p:cNvSpPr txBox="1"/>
          <p:nvPr/>
        </p:nvSpPr>
        <p:spPr>
          <a:xfrm>
            <a:off x="5534025"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No vocabulary for an outcome, so they reach for product words.</a:t>
            </a:r>
          </a:p>
        </p:txBody>
      </p:sp>
      <p:sp>
        <p:nvSpPr>
          <p:cNvPr id="10" name="Rectangle 9"/>
          <p:cNvSpPr/>
          <p:nvPr/>
        </p:nvSpPr>
        <p:spPr>
          <a:xfrm>
            <a:off x="9334500"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They will not tell you</a:t>
            </a:r>
          </a:p>
        </p:txBody>
      </p:sp>
      <p:sp>
        <p:nvSpPr>
          <p:cNvPr id="12" name="TextBox 11"/>
          <p:cNvSpPr txBox="1"/>
          <p:nvPr/>
        </p:nvSpPr>
        <p:spPr>
          <a:xfrm>
            <a:off x="9677400"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honest answer makes them look vain, anxious or poor.</a:t>
            </a:r>
          </a:p>
        </p:txBody>
      </p:sp>
      <p:sp>
        <p:nvSpPr>
          <p:cNvPr id="13" name="Rectangle 12"/>
          <p:cNvSpPr/>
          <p:nvPr/>
        </p:nvSpPr>
        <p:spPr>
          <a:xfrm>
            <a:off x="13477875" y="2857500"/>
            <a:ext cx="3762375"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4572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You asked badly</a:t>
            </a:r>
          </a:p>
        </p:txBody>
      </p:sp>
      <p:sp>
        <p:nvSpPr>
          <p:cNvPr id="15" name="TextBox 14"/>
          <p:cNvSpPr txBox="1"/>
          <p:nvPr/>
        </p:nvSpPr>
        <p:spPr>
          <a:xfrm>
            <a:off x="13820775" y="3867150"/>
            <a:ext cx="3076575" cy="17145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‘Would you like a healthier version?’ Ninety-five say yes. That is politeness, not demand.</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Only the fourth one is your fault — which makes it the only one you can fix today.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 · NESTLÉ INDIA, 1983</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Maggi</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A wheat noodle launched into a country with no noodle habit, no category on the shelf and no reference price.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RESEARCH THAT WENT NOWHERE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Every mother gave a version of the same answer</a:t>
            </a:r>
          </a:p>
        </p:txBody>
      </p:sp>
      <p:sp>
        <p:nvSpPr>
          <p:cNvPr id="4" name="Rectangle 3"/>
          <p:cNvSpPr/>
          <p:nvPr/>
        </p:nvSpPr>
        <p:spPr>
          <a:xfrm>
            <a:off x="1047750" y="2857500"/>
            <a:ext cx="7810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THEY ASKED</a:t>
            </a:r>
          </a:p>
        </p:txBody>
      </p:sp>
      <p:sp>
        <p:nvSpPr>
          <p:cNvPr id="6" name="TextBox 5"/>
          <p:cNvSpPr txBox="1"/>
          <p:nvPr/>
        </p:nvSpPr>
        <p:spPr>
          <a:xfrm>
            <a:off x="1428750" y="379095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‘What do you want to feed your child?’</a:t>
            </a:r>
          </a:p>
        </p:txBody>
      </p:sp>
      <p:sp>
        <p:nvSpPr>
          <p:cNvPr id="7" name="TextBox 6"/>
          <p:cNvSpPr txBox="1"/>
          <p:nvPr/>
        </p:nvSpPr>
        <p:spPr>
          <a:xfrm>
            <a:off x="1428750" y="4389120"/>
            <a:ext cx="704850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Nutritious. Healthy. Home-cooked. Balanced.</a:t>
            </a:r>
          </a:p>
        </p:txBody>
      </p:sp>
      <p:sp>
        <p:nvSpPr>
          <p:cNvPr id="8" name="TextBox 7"/>
          <p:cNvSpPr txBox="1"/>
          <p:nvPr/>
        </p:nvSpPr>
        <p:spPr>
          <a:xfrm>
            <a:off x="1428750" y="5421630"/>
            <a:ext cx="7048500" cy="116586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True as a statement of values. Socially unimpeachable. Almost worthless as a product brief.</a:t>
            </a:r>
          </a:p>
        </p:txBody>
      </p:sp>
      <p:sp>
        <p:nvSpPr>
          <p:cNvPr id="9" name="Rectangle 8"/>
          <p:cNvSpPr/>
          <p:nvPr/>
        </p:nvSpPr>
        <p:spPr>
          <a:xfrm>
            <a:off x="9429750" y="2857500"/>
            <a:ext cx="7810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THEY BUILT FIRST</a:t>
            </a:r>
          </a:p>
        </p:txBody>
      </p:sp>
      <p:sp>
        <p:nvSpPr>
          <p:cNvPr id="11" name="TextBox 10"/>
          <p:cNvSpPr txBox="1"/>
          <p:nvPr/>
        </p:nvSpPr>
        <p:spPr>
          <a:xfrm>
            <a:off x="9810750" y="379095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Convenience, for the busy working mother.</a:t>
            </a:r>
          </a:p>
        </p:txBody>
      </p:sp>
      <p:sp>
        <p:nvSpPr>
          <p:cNvPr id="12" name="TextBox 11"/>
          <p:cNvSpPr txBox="1"/>
          <p:nvPr/>
        </p:nvSpPr>
        <p:spPr>
          <a:xfrm>
            <a:off x="9810750" y="438912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It performed. It did not explode.</a:t>
            </a:r>
          </a:p>
        </p:txBody>
      </p:sp>
      <p:sp>
        <p:nvSpPr>
          <p:cNvPr id="13" name="TextBox 12"/>
          <p:cNvSpPr txBox="1"/>
          <p:nvPr/>
        </p:nvSpPr>
        <p:spPr>
          <a:xfrm>
            <a:off x="9810750" y="501015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An adjacent insight is not the same as the real one.</a:t>
            </a:r>
          </a:p>
        </p:txBody>
      </p:sp>
      <p:sp>
        <p:nvSpPr>
          <p:cNvPr id="14" name="Rectangle 13"/>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 Level 1 answer given in unison by an entire market tells you what everyone will compete on — nothing more.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4PM TO 7PM · ONE WINDOW IN AN INDIAN HOUSEHOLD</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200" b="1" i="0" kern="0" spc="-142">
                <a:solidFill>
                  <a:srgbClr val="201914"/>
                </a:solidFill>
                <a:latin typeface="Arial"/>
                <a:ea typeface="Arial"/>
                <a:cs typeface="Arial"/>
              </a:rPr>
              <a:t>Nestlé stopped collecting opinions and watched a moment instead</a:t>
            </a:r>
          </a:p>
        </p:txBody>
      </p:sp>
      <p:sp>
        <p:nvSpPr>
          <p:cNvPr id="4" name="Rectangle 3"/>
          <p:cNvSpPr/>
          <p:nvPr/>
        </p:nvSpPr>
        <p:spPr>
          <a:xfrm>
            <a:off x="1047750" y="2857500"/>
            <a:ext cx="5143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School is over</a:t>
            </a:r>
          </a:p>
        </p:txBody>
      </p:sp>
      <p:sp>
        <p:nvSpPr>
          <p:cNvPr id="6" name="TextBox 5"/>
          <p:cNvSpPr txBox="1"/>
          <p:nvPr/>
        </p:nvSpPr>
        <p:spPr>
          <a:xfrm>
            <a:off x="13906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child is hungry, loud, and specific about it. Dinner is hours away.</a:t>
            </a:r>
          </a:p>
        </p:txBody>
      </p:sp>
      <p:sp>
        <p:nvSpPr>
          <p:cNvPr id="7" name="Rectangle 6"/>
          <p:cNvSpPr/>
          <p:nvPr/>
        </p:nvSpPr>
        <p:spPr>
          <a:xfrm>
            <a:off x="6572250" y="2857500"/>
            <a:ext cx="5143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It must arrive fast</a:t>
            </a:r>
          </a:p>
        </p:txBody>
      </p:sp>
      <p:sp>
        <p:nvSpPr>
          <p:cNvPr id="9" name="TextBox 8"/>
          <p:cNvSpPr txBox="1"/>
          <p:nvPr/>
        </p:nvSpPr>
        <p:spPr>
          <a:xfrm>
            <a:off x="6915150" y="3867150"/>
            <a:ext cx="445770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mother is mid-way through the evening meal, or has not started.</a:t>
            </a:r>
          </a:p>
        </p:txBody>
      </p:sp>
      <p:sp>
        <p:nvSpPr>
          <p:cNvPr id="10" name="Rectangle 9"/>
          <p:cNvSpPr/>
          <p:nvPr/>
        </p:nvSpPr>
        <p:spPr>
          <a:xfrm>
            <a:off x="12096750" y="2857500"/>
            <a:ext cx="5143500"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It must be eaten without a fight</a:t>
            </a:r>
          </a:p>
        </p:txBody>
      </p:sp>
      <p:sp>
        <p:nvSpPr>
          <p:cNvPr id="12" name="TextBox 11"/>
          <p:cNvSpPr txBox="1"/>
          <p:nvPr/>
        </p:nvSpPr>
        <p:spPr>
          <a:xfrm>
            <a:off x="12439650" y="4324350"/>
            <a:ext cx="4457700" cy="20574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A plate of fruit is nutritionally superior and gets refused — and refusal means wasted food, a child hungry again in an hour, and a mother who has failed at the one task she cannot delegate.</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The two-minute promise was never a claim about kitchen efficiency. It was a promise about that window.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MAGGI IN THREE LEVELS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350" b="1" i="0" kern="0" spc="-142">
                <a:solidFill>
                  <a:srgbClr val="201914"/>
                </a:solidFill>
                <a:latin typeface="Arial"/>
                <a:ea typeface="Arial"/>
                <a:cs typeface="Arial"/>
              </a:rPr>
              <a:t>What she said, what she needed, and what she would never say</a:t>
            </a:r>
          </a:p>
        </p:txBody>
      </p:sp>
      <p:sp>
        <p:nvSpPr>
          <p:cNvPr id="4" name="Rectangle 3"/>
          <p:cNvSpPr/>
          <p:nvPr/>
        </p:nvSpPr>
        <p:spPr>
          <a:xfrm>
            <a:off x="1047750" y="2857500"/>
            <a:ext cx="5143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‘I want to give my child healthy food.’</a:t>
            </a:r>
          </a:p>
        </p:txBody>
      </p:sp>
      <p:sp>
        <p:nvSpPr>
          <p:cNvPr id="6" name="TextBox 5"/>
          <p:cNvSpPr txBox="1"/>
          <p:nvPr/>
        </p:nvSpPr>
        <p:spPr>
          <a:xfrm>
            <a:off x="1390650" y="423291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Level 1 · stated. True, unanimous, and the same answer for thirty years.</a:t>
            </a:r>
          </a:p>
        </p:txBody>
      </p:sp>
      <p:sp>
        <p:nvSpPr>
          <p:cNvPr id="7" name="Rectangle 6"/>
          <p:cNvSpPr/>
          <p:nvPr/>
        </p:nvSpPr>
        <p:spPr>
          <a:xfrm>
            <a:off x="6572250" y="2857500"/>
            <a:ext cx="5143500" cy="41910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164592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Something hot on a plate in under five minutes, at 5pm, that my child finishes without an argument.</a:t>
            </a:r>
          </a:p>
        </p:txBody>
      </p:sp>
      <p:sp>
        <p:nvSpPr>
          <p:cNvPr id="9" name="TextBox 8"/>
          <p:cNvSpPr txBox="1"/>
          <p:nvPr/>
        </p:nvSpPr>
        <p:spPr>
          <a:xfrm>
            <a:off x="6915150" y="5055870"/>
            <a:ext cx="4457700" cy="1028700"/>
          </a:xfrm>
          <a:prstGeom prst="rect">
            <a:avLst/>
          </a:prstGeom>
          <a:noFill/>
        </p:spPr>
        <p:txBody>
          <a:bodyPr wrap="square" lIns="0" tIns="0" rIns="0" bIns="0" anchor="t">
            <a:spAutoFit/>
          </a:bodyPr>
          <a:lstStyle/>
          <a:p>
            <a:pPr algn="l"/>
            <a:r>
              <a:rPr sz="2250" b="0" i="0" kern="0">
                <a:solidFill>
                  <a:srgbClr val="C8BBB1"/>
                </a:solidFill>
                <a:latin typeface="Arial"/>
                <a:ea typeface="Arial"/>
                <a:cs typeface="Arial"/>
              </a:rPr>
              <a:t>Level 2 · latent. Never stated to anyone, and visible in the kitchen every single evening.</a:t>
            </a:r>
          </a:p>
        </p:txBody>
      </p:sp>
      <p:sp>
        <p:nvSpPr>
          <p:cNvPr id="10" name="Rectangle 9"/>
          <p:cNvSpPr/>
          <p:nvPr/>
        </p:nvSpPr>
        <p:spPr>
          <a:xfrm>
            <a:off x="12096750" y="2857500"/>
            <a:ext cx="5143500"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205740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I will not be the mother whose child went hungry because she was busy — and I cannot face that fight every evening.</a:t>
            </a:r>
          </a:p>
        </p:txBody>
      </p:sp>
      <p:sp>
        <p:nvSpPr>
          <p:cNvPr id="12" name="TextBox 11"/>
          <p:cNvSpPr txBox="1"/>
          <p:nvPr/>
        </p:nvSpPr>
        <p:spPr>
          <a:xfrm>
            <a:off x="12439650" y="5467350"/>
            <a:ext cx="4457700" cy="10287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Level 3 · emotional. Never said to a researcher, and it is the reason the brand survived 2015.</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The advertising was aimed at children, not mothers. That sounds like a media-buying choice and is a customer-discovery choice.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JUNE 2015 · THE BAN</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650" b="1" i="0" kern="0" spc="-142">
                <a:solidFill>
                  <a:srgbClr val="201914"/>
                </a:solidFill>
                <a:latin typeface="Arial"/>
                <a:ea typeface="Arial"/>
                <a:cs typeface="Arial"/>
              </a:rPr>
              <a:t>A nutrition brand could not survive a scandal about nutrition</a:t>
            </a:r>
          </a:p>
        </p:txBody>
      </p:sp>
      <p:sp>
        <p:nvSpPr>
          <p:cNvPr id="4" name="Rectangle 3"/>
          <p:cNvSpPr/>
          <p:nvPr/>
        </p:nvSpPr>
        <p:spPr>
          <a:xfrm>
            <a:off x="10477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₹450cr</a:t>
            </a:r>
          </a:p>
        </p:txBody>
      </p:sp>
      <p:sp>
        <p:nvSpPr>
          <p:cNvPr id="6" name="TextBox 5"/>
          <p:cNvSpPr txBox="1"/>
          <p:nvPr/>
        </p:nvSpPr>
        <p:spPr>
          <a:xfrm>
            <a:off x="13716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of stock destroyed</a:t>
            </a:r>
          </a:p>
        </p:txBody>
      </p:sp>
      <p:sp>
        <p:nvSpPr>
          <p:cNvPr id="7" name="TextBox 6"/>
          <p:cNvSpPr txBox="1"/>
          <p:nvPr/>
        </p:nvSpPr>
        <p:spPr>
          <a:xfrm>
            <a:off x="1371600" y="4659630"/>
            <a:ext cx="449580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Nestlé India posted its first quarterly loss in about three decades.</a:t>
            </a:r>
          </a:p>
        </p:txBody>
      </p:sp>
      <p:sp>
        <p:nvSpPr>
          <p:cNvPr id="8" name="Rectangle 7"/>
          <p:cNvSpPr/>
          <p:nvPr/>
        </p:nvSpPr>
        <p:spPr>
          <a:xfrm>
            <a:off x="65722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961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0</a:t>
            </a:r>
          </a:p>
        </p:txBody>
      </p:sp>
      <p:sp>
        <p:nvSpPr>
          <p:cNvPr id="10" name="TextBox 9"/>
          <p:cNvSpPr txBox="1"/>
          <p:nvPr/>
        </p:nvSpPr>
        <p:spPr>
          <a:xfrm>
            <a:off x="68961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national sales, in weeks</a:t>
            </a:r>
          </a:p>
        </p:txBody>
      </p:sp>
      <p:sp>
        <p:nvSpPr>
          <p:cNvPr id="11" name="TextBox 10"/>
          <p:cNvSpPr txBox="1"/>
          <p:nvPr/>
        </p:nvSpPr>
        <p:spPr>
          <a:xfrm>
            <a:off x="6896100" y="4659630"/>
            <a:ext cx="449580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 brand with roughly three-quarters of the category went to nothing.</a:t>
            </a:r>
          </a:p>
        </p:txBody>
      </p:sp>
      <p:sp>
        <p:nvSpPr>
          <p:cNvPr id="12" name="Rectangle 11"/>
          <p:cNvSpPr/>
          <p:nvPr/>
        </p:nvSpPr>
        <p:spPr>
          <a:xfrm>
            <a:off x="12096750" y="2857500"/>
            <a:ext cx="5143500"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420600" y="3124200"/>
            <a:ext cx="4495800" cy="1066800"/>
          </a:xfrm>
          <a:prstGeom prst="rect">
            <a:avLst/>
          </a:prstGeom>
          <a:noFill/>
        </p:spPr>
        <p:txBody>
          <a:bodyPr wrap="square" lIns="0" tIns="0" rIns="0" bIns="0" anchor="t">
            <a:spAutoFit/>
          </a:bodyPr>
          <a:lstStyle/>
          <a:p>
            <a:pPr algn="l"/>
            <a:r>
              <a:rPr sz="8000" b="1" i="0" kern="0" spc="-200">
                <a:solidFill>
                  <a:srgbClr val="F5F1E9"/>
                </a:solidFill>
                <a:latin typeface="Arial"/>
                <a:ea typeface="Arial"/>
                <a:cs typeface="Arial"/>
              </a:rPr>
              <a:t>18</a:t>
            </a:r>
          </a:p>
        </p:txBody>
      </p:sp>
      <p:sp>
        <p:nvSpPr>
          <p:cNvPr id="14" name="TextBox 13"/>
          <p:cNvSpPr txBox="1"/>
          <p:nvPr/>
        </p:nvSpPr>
        <p:spPr>
          <a:xfrm>
            <a:off x="12420600" y="4202430"/>
            <a:ext cx="4495800"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months to majority share</a:t>
            </a:r>
          </a:p>
        </p:txBody>
      </p:sp>
      <p:sp>
        <p:nvSpPr>
          <p:cNvPr id="15" name="TextBox 14"/>
          <p:cNvSpPr txBox="1"/>
          <p:nvPr/>
        </p:nvSpPr>
        <p:spPr>
          <a:xfrm>
            <a:off x="12420600" y="4659630"/>
            <a:ext cx="4495800"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Cleared by the courts, back on shelves by late 2015, back on top by 2017.</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Ask what brought it back. Not a nutrition argument — millions of households had a Maggi-shaped hole at 5pm, and at midnight in hostel rooms.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 · VINI COSMETICS, 2011</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Fogg</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Axe, Wild Stone, Set Wet, Park Avenue, Denver — a dozen brands spending heavily to make the same two claims.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BEHAVIOUR THE WHOLE INDUSTRY LOOKED PAST</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People shake the can</a:t>
            </a:r>
          </a:p>
        </p:txBody>
      </p:sp>
      <p:sp>
        <p:nvSpPr>
          <p:cNvPr id="4" name="TextBox 3"/>
          <p:cNvSpPr txBox="1"/>
          <p:nvPr/>
        </p:nvSpPr>
        <p:spPr>
          <a:xfrm>
            <a:off x="1047750" y="3429000"/>
            <a:ext cx="15430500" cy="2194560"/>
          </a:xfrm>
          <a:prstGeom prst="rect">
            <a:avLst/>
          </a:prstGeom>
          <a:noFill/>
        </p:spPr>
        <p:txBody>
          <a:bodyPr wrap="square" lIns="0" tIns="0" rIns="0" bIns="0" anchor="t">
            <a:spAutoFit/>
          </a:bodyPr>
          <a:lstStyle/>
          <a:p>
            <a:pPr algn="l"/>
            <a:r>
              <a:rPr sz="3600" b="1" i="0" kern="0">
                <a:solidFill>
                  <a:srgbClr val="201914"/>
                </a:solidFill>
                <a:latin typeface="Arial"/>
                <a:ea typeface="Arial"/>
                <a:cs typeface="Arial"/>
              </a:rPr>
              <a:t>They shake it next to the ear, judge the sloshing, and decide it is almost finished — often weeks after buying it. That is not curiosity. It is an anxiety check, performed millions of times a day, in full public view.</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Nobody had labelled it a problem, because it was not a problem with the fragrance — which was the only thing anybody was measuring.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FOGG IN THREE LEVELS</a:t>
            </a:r>
          </a:p>
        </p:txBody>
      </p:sp>
      <p:sp>
        <p:nvSpPr>
          <p:cNvPr id="3" name="TextBox 2"/>
          <p:cNvSpPr txBox="1"/>
          <p:nvPr/>
        </p:nvSpPr>
        <p:spPr>
          <a:xfrm>
            <a:off x="1047750" y="1504950"/>
            <a:ext cx="16192500" cy="822960"/>
          </a:xfrm>
          <a:prstGeom prst="rect">
            <a:avLst/>
          </a:prstGeom>
          <a:noFill/>
        </p:spPr>
        <p:txBody>
          <a:bodyPr wrap="square" lIns="0" tIns="0" rIns="0" bIns="0" anchor="t">
            <a:spAutoFit/>
          </a:bodyPr>
          <a:lstStyle/>
          <a:p>
            <a:pPr algn="l"/>
            <a:r>
              <a:rPr sz="5400" b="1" i="0" kern="0" spc="-142">
                <a:solidFill>
                  <a:srgbClr val="201914"/>
                </a:solidFill>
                <a:latin typeface="Arial"/>
                <a:ea typeface="Arial"/>
                <a:cs typeface="Arial"/>
              </a:rPr>
              <a:t>An answer to a question nobody had asked out loud</a:t>
            </a:r>
          </a:p>
        </p:txBody>
      </p:sp>
      <p:sp>
        <p:nvSpPr>
          <p:cNvPr id="4" name="Rectangle 3"/>
          <p:cNvSpPr/>
          <p:nvPr/>
        </p:nvSpPr>
        <p:spPr>
          <a:xfrm>
            <a:off x="1047750" y="2857500"/>
            <a:ext cx="5143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‘I want a long-lasting fragrance.’</a:t>
            </a:r>
          </a:p>
        </p:txBody>
      </p:sp>
      <p:sp>
        <p:nvSpPr>
          <p:cNvPr id="6" name="TextBox 5"/>
          <p:cNvSpPr txBox="1"/>
          <p:nvPr/>
        </p:nvSpPr>
        <p:spPr>
          <a:xfrm>
            <a:off x="1390650" y="423291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Level 1 · stated. What every consumer told every researcher in the category.</a:t>
            </a:r>
          </a:p>
        </p:txBody>
      </p:sp>
      <p:sp>
        <p:nvSpPr>
          <p:cNvPr id="7" name="Rectangle 6"/>
          <p:cNvSpPr/>
          <p:nvPr/>
        </p:nvSpPr>
        <p:spPr>
          <a:xfrm>
            <a:off x="6572250" y="2857500"/>
            <a:ext cx="5143500" cy="41910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205740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I want to stop feeling I paid ₹200 for a can that is mostly propellant and mostly empty in three weeks.</a:t>
            </a:r>
          </a:p>
        </p:txBody>
      </p:sp>
      <p:sp>
        <p:nvSpPr>
          <p:cNvPr id="9" name="TextBox 8"/>
          <p:cNvSpPr txBox="1"/>
          <p:nvPr/>
        </p:nvSpPr>
        <p:spPr>
          <a:xfrm>
            <a:off x="6915150" y="5467350"/>
            <a:ext cx="4457700" cy="1028700"/>
          </a:xfrm>
          <a:prstGeom prst="rect">
            <a:avLst/>
          </a:prstGeom>
          <a:noFill/>
        </p:spPr>
        <p:txBody>
          <a:bodyPr wrap="square" lIns="0" tIns="0" rIns="0" bIns="0" anchor="t">
            <a:spAutoFit/>
          </a:bodyPr>
          <a:lstStyle/>
          <a:p>
            <a:pPr algn="l"/>
            <a:r>
              <a:rPr sz="2250" b="0" i="0" kern="0">
                <a:solidFill>
                  <a:srgbClr val="C8BBB1"/>
                </a:solidFill>
                <a:latin typeface="Arial"/>
                <a:ea typeface="Arial"/>
                <a:cs typeface="Arial"/>
              </a:rPr>
              <a:t>Level 2 · latent. Visible every time a man shakes a can — and in the repeat purchase.</a:t>
            </a:r>
          </a:p>
        </p:txBody>
      </p:sp>
      <p:sp>
        <p:nvSpPr>
          <p:cNvPr id="10" name="Rectangle 9"/>
          <p:cNvSpPr/>
          <p:nvPr/>
        </p:nvSpPr>
        <p:spPr>
          <a:xfrm>
            <a:off x="12096750" y="2857500"/>
            <a:ext cx="5143500"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164592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I am afraid of smelling bad in a crowded bus, a packed metro, a shared classroom, a job interview.</a:t>
            </a:r>
          </a:p>
        </p:txBody>
      </p:sp>
      <p:sp>
        <p:nvSpPr>
          <p:cNvPr id="12" name="TextBox 11"/>
          <p:cNvSpPr txBox="1"/>
          <p:nvPr/>
        </p:nvSpPr>
        <p:spPr>
          <a:xfrm>
            <a:off x="12439650" y="5055870"/>
            <a:ext cx="4457700" cy="6858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Level 3 · emotional. That fear is why the shaking happens at all.</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‘Kya chal raha hai? Fogg chal raha hai.’ Not a fragrance claim — a claim that the can is still working.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THE NOTICING WAS WORTH</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A company that did not exist in 2009</a:t>
            </a:r>
          </a:p>
        </p:txBody>
      </p:sp>
      <p:sp>
        <p:nvSpPr>
          <p:cNvPr id="4" name="Rectangle 3"/>
          <p:cNvSpPr/>
          <p:nvPr/>
        </p:nvSpPr>
        <p:spPr>
          <a:xfrm>
            <a:off x="10477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800</a:t>
            </a:r>
          </a:p>
        </p:txBody>
      </p:sp>
      <p:sp>
        <p:nvSpPr>
          <p:cNvPr id="6" name="TextBox 5"/>
          <p:cNvSpPr txBox="1"/>
          <p:nvPr/>
        </p:nvSpPr>
        <p:spPr>
          <a:xfrm>
            <a:off x="13716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sprays a can</a:t>
            </a:r>
          </a:p>
        </p:txBody>
      </p:sp>
      <p:sp>
        <p:nvSpPr>
          <p:cNvPr id="7" name="TextBox 6"/>
          <p:cNvSpPr txBox="1"/>
          <p:nvPr/>
        </p:nvSpPr>
        <p:spPr>
          <a:xfrm>
            <a:off x="1371600" y="4659630"/>
            <a:ext cx="449580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Advertised as a specification, because the specification was the reassurance.</a:t>
            </a:r>
          </a:p>
        </p:txBody>
      </p:sp>
      <p:sp>
        <p:nvSpPr>
          <p:cNvPr id="8" name="Rectangle 7"/>
          <p:cNvSpPr/>
          <p:nvPr/>
        </p:nvSpPr>
        <p:spPr>
          <a:xfrm>
            <a:off x="65722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961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4-5</a:t>
            </a:r>
          </a:p>
        </p:txBody>
      </p:sp>
      <p:sp>
        <p:nvSpPr>
          <p:cNvPr id="10" name="TextBox 9"/>
          <p:cNvSpPr txBox="1"/>
          <p:nvPr/>
        </p:nvSpPr>
        <p:spPr>
          <a:xfrm>
            <a:off x="68961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years to number one</a:t>
            </a:r>
          </a:p>
        </p:txBody>
      </p:sp>
      <p:sp>
        <p:nvSpPr>
          <p:cNvPr id="11" name="TextBox 10"/>
          <p:cNvSpPr txBox="1"/>
          <p:nvPr/>
        </p:nvSpPr>
        <p:spPr>
          <a:xfrm>
            <a:off x="6896100" y="4659630"/>
            <a:ext cx="449580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Displaced far better-funded multinational brands to lead Indian deodorant.</a:t>
            </a:r>
          </a:p>
        </p:txBody>
      </p:sp>
      <p:sp>
        <p:nvSpPr>
          <p:cNvPr id="12" name="Rectangle 11"/>
          <p:cNvSpPr/>
          <p:nvPr/>
        </p:nvSpPr>
        <p:spPr>
          <a:xfrm>
            <a:off x="12096750" y="2857500"/>
            <a:ext cx="5143500"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420600" y="3124200"/>
            <a:ext cx="4495800" cy="1066800"/>
          </a:xfrm>
          <a:prstGeom prst="rect">
            <a:avLst/>
          </a:prstGeom>
          <a:noFill/>
        </p:spPr>
        <p:txBody>
          <a:bodyPr wrap="square" lIns="0" tIns="0" rIns="0" bIns="0" anchor="t">
            <a:spAutoFit/>
          </a:bodyPr>
          <a:lstStyle/>
          <a:p>
            <a:pPr algn="l"/>
            <a:r>
              <a:rPr sz="8000" b="1" i="0" kern="0" spc="-200">
                <a:solidFill>
                  <a:srgbClr val="F5F1E9"/>
                </a:solidFill>
                <a:latin typeface="Arial"/>
                <a:ea typeface="Arial"/>
                <a:cs typeface="Arial"/>
              </a:rPr>
              <a:t>₹9,000cr</a:t>
            </a:r>
          </a:p>
        </p:txBody>
      </p:sp>
      <p:sp>
        <p:nvSpPr>
          <p:cNvPr id="14" name="TextBox 13"/>
          <p:cNvSpPr txBox="1"/>
          <p:nvPr/>
        </p:nvSpPr>
        <p:spPr>
          <a:xfrm>
            <a:off x="12420600" y="4202430"/>
            <a:ext cx="4495800"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implied valuation</a:t>
            </a:r>
          </a:p>
        </p:txBody>
      </p:sp>
      <p:sp>
        <p:nvSpPr>
          <p:cNvPr id="15" name="TextBox 14"/>
          <p:cNvSpPr txBox="1"/>
          <p:nvPr/>
        </p:nvSpPr>
        <p:spPr>
          <a:xfrm>
            <a:off x="12420600" y="4659630"/>
            <a:ext cx="4495800"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Advent International bought a large minority stake in 2020 at a reported ₹2,675 crore.</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Everyone in the category ran a 60-70% gross margin. The insight bought no cost advantage — it bought the right to charge a normal price without a price war.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 · HUL, 2005</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Daag Achhe Hain</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A detergent brand publicly announced that the thing it is hired to destroy is desirable.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INSIGHT WAS NOT ABOUT CLOTH</a:t>
            </a:r>
          </a:p>
        </p:txBody>
      </p:sp>
      <p:sp>
        <p:nvSpPr>
          <p:cNvPr id="3" name="TextBox 2"/>
          <p:cNvSpPr txBox="1"/>
          <p:nvPr/>
        </p:nvSpPr>
        <p:spPr>
          <a:xfrm>
            <a:off x="1047750" y="1504950"/>
            <a:ext cx="16192500" cy="845820"/>
          </a:xfrm>
          <a:prstGeom prst="rect">
            <a:avLst/>
          </a:prstGeom>
          <a:noFill/>
        </p:spPr>
        <p:txBody>
          <a:bodyPr wrap="square" lIns="0" tIns="0" rIns="0" bIns="0" anchor="t">
            <a:spAutoFit/>
          </a:bodyPr>
          <a:lstStyle/>
          <a:p>
            <a:pPr algn="l"/>
            <a:r>
              <a:rPr sz="5550" b="1" i="0" kern="0" spc="-142">
                <a:solidFill>
                  <a:srgbClr val="201914"/>
                </a:solidFill>
                <a:latin typeface="Arial"/>
                <a:ea typeface="Arial"/>
                <a:cs typeface="Arial"/>
              </a:rPr>
              <a:t>A small, daily, invisible conflict in one person's day</a:t>
            </a:r>
          </a:p>
        </p:txBody>
      </p:sp>
      <p:sp>
        <p:nvSpPr>
          <p:cNvPr id="4" name="Rectangle 3"/>
          <p:cNvSpPr/>
          <p:nvPr/>
        </p:nvSpPr>
        <p:spPr>
          <a:xfrm>
            <a:off x="1047750" y="3314700"/>
            <a:ext cx="7810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6957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SHE WANTS</a:t>
            </a:r>
          </a:p>
        </p:txBody>
      </p:sp>
      <p:sp>
        <p:nvSpPr>
          <p:cNvPr id="6" name="TextBox 5"/>
          <p:cNvSpPr txBox="1"/>
          <p:nvPr/>
        </p:nvSpPr>
        <p:spPr>
          <a:xfrm>
            <a:off x="1428750" y="42481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child who plays freely</a:t>
            </a:r>
          </a:p>
        </p:txBody>
      </p:sp>
      <p:sp>
        <p:nvSpPr>
          <p:cNvPr id="7" name="TextBox 6"/>
          <p:cNvSpPr txBox="1"/>
          <p:nvPr/>
        </p:nvSpPr>
        <p:spPr>
          <a:xfrm>
            <a:off x="1428750" y="486918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Out of the puddle, into the cricket match, helping someone, getting filthy doing it.</a:t>
            </a:r>
          </a:p>
        </p:txBody>
      </p:sp>
      <p:sp>
        <p:nvSpPr>
          <p:cNvPr id="8" name="Rectangle 7"/>
          <p:cNvSpPr/>
          <p:nvPr/>
        </p:nvSpPr>
        <p:spPr>
          <a:xfrm>
            <a:off x="9429750" y="3314700"/>
            <a:ext cx="7810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10750" y="36957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SHE ALSO WANTS</a:t>
            </a:r>
          </a:p>
        </p:txBody>
      </p:sp>
      <p:sp>
        <p:nvSpPr>
          <p:cNvPr id="10" name="TextBox 9"/>
          <p:cNvSpPr txBox="1"/>
          <p:nvPr/>
        </p:nvSpPr>
        <p:spPr>
          <a:xfrm>
            <a:off x="9810750" y="42481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Clothes that are not ruined</a:t>
            </a:r>
          </a:p>
        </p:txBody>
      </p:sp>
      <p:sp>
        <p:nvSpPr>
          <p:cNvPr id="11" name="TextBox 10"/>
          <p:cNvSpPr txBox="1"/>
          <p:nvPr/>
        </p:nvSpPr>
        <p:spPr>
          <a:xfrm>
            <a:off x="9810750" y="486918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Because she is the person who will do the washing, and her immediate reaction is to scold.</a:t>
            </a:r>
          </a:p>
        </p:txBody>
      </p:sp>
      <p:sp>
        <p:nvSpPr>
          <p:cNvPr id="12" name="Rectangle 11"/>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Then she feels bad about scolding — because she knows the mud came from her child being a child. Every detergent in India sold to the second want. None had noticed the first.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SURF EXCEL IN THREE LEVELS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It gave her permission, which no functional claim can do</a:t>
            </a:r>
          </a:p>
        </p:txBody>
      </p:sp>
      <p:sp>
        <p:nvSpPr>
          <p:cNvPr id="4" name="Rectangle 3"/>
          <p:cNvSpPr/>
          <p:nvPr/>
        </p:nvSpPr>
        <p:spPr>
          <a:xfrm>
            <a:off x="1047750" y="2857500"/>
            <a:ext cx="5143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‘It should remove tough stains.’</a:t>
            </a:r>
          </a:p>
        </p:txBody>
      </p:sp>
      <p:sp>
        <p:nvSpPr>
          <p:cNvPr id="6" name="TextBox 5"/>
          <p:cNvSpPr txBox="1"/>
          <p:nvPr/>
        </p:nvSpPr>
        <p:spPr>
          <a:xfrm>
            <a:off x="1390650" y="4232910"/>
            <a:ext cx="445770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Level 1 · stated. In unison, across an entire market, for decades.</a:t>
            </a:r>
          </a:p>
        </p:txBody>
      </p:sp>
      <p:sp>
        <p:nvSpPr>
          <p:cNvPr id="7" name="Rectangle 6"/>
          <p:cNvSpPr/>
          <p:nvPr/>
        </p:nvSpPr>
        <p:spPr>
          <a:xfrm>
            <a:off x="6572250" y="2857500"/>
            <a:ext cx="5143500" cy="41910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205740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I want stains to stop being a reason for conflict in my house. I want to stop policing my child's clothes.</a:t>
            </a:r>
          </a:p>
        </p:txBody>
      </p:sp>
      <p:sp>
        <p:nvSpPr>
          <p:cNvPr id="9" name="TextBox 8"/>
          <p:cNvSpPr txBox="1"/>
          <p:nvPr/>
        </p:nvSpPr>
        <p:spPr>
          <a:xfrm>
            <a:off x="6915150" y="5467350"/>
            <a:ext cx="4457700" cy="685800"/>
          </a:xfrm>
          <a:prstGeom prst="rect">
            <a:avLst/>
          </a:prstGeom>
          <a:noFill/>
        </p:spPr>
        <p:txBody>
          <a:bodyPr wrap="square" lIns="0" tIns="0" rIns="0" bIns="0" anchor="t">
            <a:spAutoFit/>
          </a:bodyPr>
          <a:lstStyle/>
          <a:p>
            <a:pPr algn="l"/>
            <a:r>
              <a:rPr sz="2250" b="0" i="0" kern="0">
                <a:solidFill>
                  <a:srgbClr val="C8BBB1"/>
                </a:solidFill>
                <a:latin typeface="Arial"/>
                <a:ea typeface="Arial"/>
                <a:cs typeface="Arial"/>
              </a:rPr>
              <a:t>Level 2 · latent, and thin — the powder itself is unremarkable.</a:t>
            </a:r>
          </a:p>
        </p:txBody>
      </p:sp>
      <p:sp>
        <p:nvSpPr>
          <p:cNvPr id="10" name="Rectangle 9"/>
          <p:cNvSpPr/>
          <p:nvPr/>
        </p:nvSpPr>
        <p:spPr>
          <a:xfrm>
            <a:off x="12096750" y="2857500"/>
            <a:ext cx="5143500"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123444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I feel guilty about scolding my child for being a child, and I would like to stop.</a:t>
            </a:r>
          </a:p>
        </p:txBody>
      </p:sp>
      <p:sp>
        <p:nvSpPr>
          <p:cNvPr id="12" name="TextBox 11"/>
          <p:cNvSpPr txBox="1"/>
          <p:nvPr/>
        </p:nvSpPr>
        <p:spPr>
          <a:xfrm>
            <a:off x="12439650" y="4644390"/>
            <a:ext cx="4457700" cy="6858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Level 3 · emotional, and this is where the entire business stands.</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If dirt is evidence that your child did something worth doing, the stain is not a failure of supervision.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A LEVEL 3 INSIGHT IS WORTH IN RUPEES</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All of them remove stains</a:t>
            </a:r>
          </a:p>
        </p:txBody>
      </p:sp>
      <p:sp>
        <p:nvSpPr>
          <p:cNvPr id="4" name="Rectangle 3"/>
          <p:cNvSpPr/>
          <p:nvPr/>
        </p:nvSpPr>
        <p:spPr>
          <a:xfrm>
            <a:off x="10477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₹40-60</a:t>
            </a:r>
          </a:p>
        </p:txBody>
      </p:sp>
      <p:sp>
        <p:nvSpPr>
          <p:cNvPr id="6" name="TextBox 5"/>
          <p:cNvSpPr txBox="1"/>
          <p:nvPr/>
        </p:nvSpPr>
        <p:spPr>
          <a:xfrm>
            <a:off x="13716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a kilo · Nirma</a:t>
            </a:r>
          </a:p>
        </p:txBody>
      </p:sp>
      <p:sp>
        <p:nvSpPr>
          <p:cNvPr id="7" name="TextBox 6"/>
          <p:cNvSpPr txBox="1"/>
          <p:nvPr/>
        </p:nvSpPr>
        <p:spPr>
          <a:xfrm>
            <a:off x="1371600" y="4659630"/>
            <a:ext cx="449580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Economy powder. Competes on price, and only on price.</a:t>
            </a:r>
          </a:p>
        </p:txBody>
      </p:sp>
      <p:sp>
        <p:nvSpPr>
          <p:cNvPr id="8" name="Rectangle 7"/>
          <p:cNvSpPr/>
          <p:nvPr/>
        </p:nvSpPr>
        <p:spPr>
          <a:xfrm>
            <a:off x="65722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961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₹60-80</a:t>
            </a:r>
          </a:p>
        </p:txBody>
      </p:sp>
      <p:sp>
        <p:nvSpPr>
          <p:cNvPr id="10" name="TextBox 9"/>
          <p:cNvSpPr txBox="1"/>
          <p:nvPr/>
        </p:nvSpPr>
        <p:spPr>
          <a:xfrm>
            <a:off x="68961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a kilo · Wheel</a:t>
            </a:r>
          </a:p>
        </p:txBody>
      </p:sp>
      <p:sp>
        <p:nvSpPr>
          <p:cNvPr id="11" name="TextBox 10"/>
          <p:cNvSpPr txBox="1"/>
          <p:nvPr/>
        </p:nvSpPr>
        <p:spPr>
          <a:xfrm>
            <a:off x="6896100" y="4659630"/>
            <a:ext cx="449580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 mass brand competing on performance.</a:t>
            </a:r>
          </a:p>
        </p:txBody>
      </p:sp>
      <p:sp>
        <p:nvSpPr>
          <p:cNvPr id="12" name="Rectangle 11"/>
          <p:cNvSpPr/>
          <p:nvPr/>
        </p:nvSpPr>
        <p:spPr>
          <a:xfrm>
            <a:off x="12096750" y="2857500"/>
            <a:ext cx="5143500"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420600" y="3124200"/>
            <a:ext cx="4495800" cy="1013460"/>
          </a:xfrm>
          <a:prstGeom prst="rect">
            <a:avLst/>
          </a:prstGeom>
          <a:noFill/>
        </p:spPr>
        <p:txBody>
          <a:bodyPr wrap="square" lIns="0" tIns="0" rIns="0" bIns="0" anchor="t">
            <a:spAutoFit/>
          </a:bodyPr>
          <a:lstStyle/>
          <a:p>
            <a:pPr algn="l"/>
            <a:r>
              <a:rPr sz="7600" b="1" i="0" kern="0" spc="-200">
                <a:solidFill>
                  <a:srgbClr val="F5F1E9"/>
                </a:solidFill>
                <a:latin typeface="Arial"/>
                <a:ea typeface="Arial"/>
                <a:cs typeface="Arial"/>
              </a:rPr>
              <a:t>₹120-250</a:t>
            </a:r>
          </a:p>
        </p:txBody>
      </p:sp>
      <p:sp>
        <p:nvSpPr>
          <p:cNvPr id="14" name="TextBox 13"/>
          <p:cNvSpPr txBox="1"/>
          <p:nvPr/>
        </p:nvSpPr>
        <p:spPr>
          <a:xfrm>
            <a:off x="12420600" y="4151376"/>
            <a:ext cx="4495800"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a kilo · Surf Excel</a:t>
            </a:r>
          </a:p>
        </p:txBody>
      </p:sp>
      <p:sp>
        <p:nvSpPr>
          <p:cNvPr id="15" name="TextBox 14"/>
          <p:cNvSpPr txBox="1"/>
          <p:nvPr/>
        </p:nvSpPr>
        <p:spPr>
          <a:xfrm>
            <a:off x="12420600" y="4608576"/>
            <a:ext cx="4495800"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A meaningful part of that gap is one brand operating on the emotional layer.</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Campaigns built on Level 1 get replaced every two years, because a competitor makes a bigger claim. Campaigns built on Level 3 can run for twenty, because nobody can out-claim a feeling.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84404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NUMBERS · READ AS APPROXIMATE AND DIRECTIONAL</a:t>
            </a:r>
          </a:p>
        </p:txBody>
      </p:sp>
      <p:sp>
        <p:nvSpPr>
          <p:cNvPr id="3" name="TextBox 2"/>
          <p:cNvSpPr txBox="1"/>
          <p:nvPr/>
        </p:nvSpPr>
        <p:spPr>
          <a:xfrm>
            <a:off x="762000" y="1047750"/>
            <a:ext cx="16764000" cy="77724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Three markets, one repeating pattern</a:t>
            </a:r>
          </a:p>
        </p:txBody>
      </p:sp>
      <p:sp>
        <p:nvSpPr>
          <p:cNvPr id="4" name="TextBox 3"/>
          <p:cNvSpPr txBox="1"/>
          <p:nvPr/>
        </p:nvSpPr>
        <p:spPr>
          <a:xfrm>
            <a:off x="4045458"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MAGGI · NESTLÉ</a:t>
            </a:r>
          </a:p>
        </p:txBody>
      </p:sp>
      <p:sp>
        <p:nvSpPr>
          <p:cNvPr id="5" name="TextBox 4"/>
          <p:cNvSpPr txBox="1"/>
          <p:nvPr/>
        </p:nvSpPr>
        <p:spPr>
          <a:xfrm>
            <a:off x="8615172"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FOGG · VINI</a:t>
            </a:r>
          </a:p>
        </p:txBody>
      </p:sp>
      <p:sp>
        <p:nvSpPr>
          <p:cNvPr id="6" name="TextBox 5"/>
          <p:cNvSpPr txBox="1"/>
          <p:nvPr/>
        </p:nvSpPr>
        <p:spPr>
          <a:xfrm>
            <a:off x="13184886"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SURF EXCEL · HUL</a:t>
            </a:r>
          </a:p>
        </p:txBody>
      </p:sp>
      <p:sp>
        <p:nvSpPr>
          <p:cNvPr id="7" name="Rectangle 6"/>
          <p:cNvSpPr/>
          <p:nvPr/>
        </p:nvSpPr>
        <p:spPr>
          <a:xfrm>
            <a:off x="762000" y="2390775"/>
            <a:ext cx="167640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0600" y="2590800"/>
            <a:ext cx="2826258" cy="29718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Stated need (L1)</a:t>
            </a:r>
          </a:p>
        </p:txBody>
      </p:sp>
      <p:sp>
        <p:nvSpPr>
          <p:cNvPr id="9" name="TextBox 8"/>
          <p:cNvSpPr txBox="1"/>
          <p:nvPr/>
        </p:nvSpPr>
        <p:spPr>
          <a:xfrm>
            <a:off x="4045458" y="259080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Nutritious food for my child</a:t>
            </a:r>
          </a:p>
        </p:txBody>
      </p:sp>
      <p:sp>
        <p:nvSpPr>
          <p:cNvPr id="10" name="TextBox 9"/>
          <p:cNvSpPr txBox="1"/>
          <p:nvPr/>
        </p:nvSpPr>
        <p:spPr>
          <a:xfrm>
            <a:off x="8615172" y="259080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Long-lasting fragrance</a:t>
            </a:r>
          </a:p>
        </p:txBody>
      </p:sp>
      <p:sp>
        <p:nvSpPr>
          <p:cNvPr id="11" name="TextBox 10"/>
          <p:cNvSpPr txBox="1"/>
          <p:nvPr/>
        </p:nvSpPr>
        <p:spPr>
          <a:xfrm>
            <a:off x="13184886" y="259080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Removes the toughest stains</a:t>
            </a:r>
          </a:p>
        </p:txBody>
      </p:sp>
      <p:sp>
        <p:nvSpPr>
          <p:cNvPr id="12" name="Rectangle 11"/>
          <p:cNvSpPr/>
          <p:nvPr/>
        </p:nvSpPr>
        <p:spPr>
          <a:xfrm>
            <a:off x="762000" y="303085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2000" y="3021330"/>
            <a:ext cx="16764000" cy="86106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0600" y="3154680"/>
            <a:ext cx="2826258" cy="59436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Latent need (L2)</a:t>
            </a:r>
          </a:p>
        </p:txBody>
      </p:sp>
      <p:sp>
        <p:nvSpPr>
          <p:cNvPr id="15" name="TextBox 14"/>
          <p:cNvSpPr txBox="1"/>
          <p:nvPr/>
        </p:nvSpPr>
        <p:spPr>
          <a:xfrm>
            <a:off x="4045458" y="31546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Hot food on a plate in five minutes at 5pm, finished without a fight</a:t>
            </a:r>
          </a:p>
        </p:txBody>
      </p:sp>
      <p:sp>
        <p:nvSpPr>
          <p:cNvPr id="16" name="TextBox 15"/>
          <p:cNvSpPr txBox="1"/>
          <p:nvPr/>
        </p:nvSpPr>
        <p:spPr>
          <a:xfrm>
            <a:off x="8615172" y="31546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can that does not empty in three weeks — I am not paying for gas</a:t>
            </a:r>
          </a:p>
        </p:txBody>
      </p:sp>
      <p:sp>
        <p:nvSpPr>
          <p:cNvPr id="17" name="TextBox 16"/>
          <p:cNvSpPr txBox="1"/>
          <p:nvPr/>
        </p:nvSpPr>
        <p:spPr>
          <a:xfrm>
            <a:off x="13184886" y="31546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Stop stains being a daily source of conflict at home</a:t>
            </a:r>
          </a:p>
        </p:txBody>
      </p:sp>
      <p:sp>
        <p:nvSpPr>
          <p:cNvPr id="18" name="Rectangle 17"/>
          <p:cNvSpPr/>
          <p:nvPr/>
        </p:nvSpPr>
        <p:spPr>
          <a:xfrm>
            <a:off x="762000" y="389191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0600" y="4015740"/>
            <a:ext cx="2826258" cy="59436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Emotional driver (L3)</a:t>
            </a:r>
          </a:p>
        </p:txBody>
      </p:sp>
      <p:sp>
        <p:nvSpPr>
          <p:cNvPr id="20" name="TextBox 19"/>
          <p:cNvSpPr txBox="1"/>
          <p:nvPr/>
        </p:nvSpPr>
        <p:spPr>
          <a:xfrm>
            <a:off x="4045458" y="40157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I will not be the mother whose child went hungry</a:t>
            </a:r>
          </a:p>
        </p:txBody>
      </p:sp>
      <p:sp>
        <p:nvSpPr>
          <p:cNvPr id="21" name="TextBox 20"/>
          <p:cNvSpPr txBox="1"/>
          <p:nvPr/>
        </p:nvSpPr>
        <p:spPr>
          <a:xfrm>
            <a:off x="8615172" y="40157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I am afraid of smelling bad in a crowded bus or an interview</a:t>
            </a:r>
          </a:p>
        </p:txBody>
      </p:sp>
      <p:sp>
        <p:nvSpPr>
          <p:cNvPr id="22" name="TextBox 21"/>
          <p:cNvSpPr txBox="1"/>
          <p:nvPr/>
        </p:nvSpPr>
        <p:spPr>
          <a:xfrm>
            <a:off x="13184886" y="40157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Guilt about scolding my child for behaving like a child</a:t>
            </a:r>
          </a:p>
        </p:txBody>
      </p:sp>
      <p:sp>
        <p:nvSpPr>
          <p:cNvPr id="23" name="Rectangle 22"/>
          <p:cNvSpPr/>
          <p:nvPr/>
        </p:nvSpPr>
        <p:spPr>
          <a:xfrm>
            <a:off x="762000" y="475297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62000" y="4743450"/>
            <a:ext cx="16764000" cy="5638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0600" y="4876800"/>
            <a:ext cx="2826258" cy="29718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Level built for</a:t>
            </a:r>
          </a:p>
        </p:txBody>
      </p:sp>
      <p:sp>
        <p:nvSpPr>
          <p:cNvPr id="26" name="TextBox 25"/>
          <p:cNvSpPr txBox="1"/>
          <p:nvPr/>
        </p:nvSpPr>
        <p:spPr>
          <a:xfrm>
            <a:off x="4045458" y="487680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2 + 3</a:t>
            </a:r>
          </a:p>
        </p:txBody>
      </p:sp>
      <p:sp>
        <p:nvSpPr>
          <p:cNvPr id="27" name="TextBox 26"/>
          <p:cNvSpPr txBox="1"/>
          <p:nvPr/>
        </p:nvSpPr>
        <p:spPr>
          <a:xfrm>
            <a:off x="8615172" y="487680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2 + 3</a:t>
            </a:r>
          </a:p>
        </p:txBody>
      </p:sp>
      <p:sp>
        <p:nvSpPr>
          <p:cNvPr id="28" name="TextBox 27"/>
          <p:cNvSpPr txBox="1"/>
          <p:nvPr/>
        </p:nvSpPr>
        <p:spPr>
          <a:xfrm>
            <a:off x="13184886" y="487680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3</a:t>
            </a:r>
          </a:p>
        </p:txBody>
      </p:sp>
      <p:sp>
        <p:nvSpPr>
          <p:cNvPr id="29" name="Rectangle 28"/>
          <p:cNvSpPr/>
          <p:nvPr/>
        </p:nvSpPr>
        <p:spPr>
          <a:xfrm>
            <a:off x="762000" y="531685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0600" y="5440680"/>
            <a:ext cx="2826258" cy="29718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Typical price</a:t>
            </a:r>
          </a:p>
        </p:txBody>
      </p:sp>
      <p:sp>
        <p:nvSpPr>
          <p:cNvPr id="31" name="TextBox 30"/>
          <p:cNvSpPr txBox="1"/>
          <p:nvPr/>
        </p:nvSpPr>
        <p:spPr>
          <a:xfrm>
            <a:off x="4045458" y="544068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About ₹14 for a 70g cake</a:t>
            </a:r>
          </a:p>
        </p:txBody>
      </p:sp>
      <p:sp>
        <p:nvSpPr>
          <p:cNvPr id="32" name="TextBox 31"/>
          <p:cNvSpPr txBox="1"/>
          <p:nvPr/>
        </p:nvSpPr>
        <p:spPr>
          <a:xfrm>
            <a:off x="8615172" y="544068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About ₹220-250 a can</a:t>
            </a:r>
          </a:p>
        </p:txBody>
      </p:sp>
      <p:sp>
        <p:nvSpPr>
          <p:cNvPr id="33" name="TextBox 32"/>
          <p:cNvSpPr txBox="1"/>
          <p:nvPr/>
        </p:nvSpPr>
        <p:spPr>
          <a:xfrm>
            <a:off x="13184886" y="544068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About ₹120-250 a kilo</a:t>
            </a:r>
          </a:p>
        </p:txBody>
      </p:sp>
      <p:sp>
        <p:nvSpPr>
          <p:cNvPr id="34" name="Rectangle 33"/>
          <p:cNvSpPr/>
          <p:nvPr/>
        </p:nvSpPr>
        <p:spPr>
          <a:xfrm>
            <a:off x="762000" y="588073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62000" y="5871210"/>
            <a:ext cx="16764000" cy="5638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0600" y="6004560"/>
            <a:ext cx="2826258" cy="29718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Approx. gross margin</a:t>
            </a:r>
          </a:p>
        </p:txBody>
      </p:sp>
      <p:sp>
        <p:nvSpPr>
          <p:cNvPr id="37" name="TextBox 36"/>
          <p:cNvSpPr txBox="1"/>
          <p:nvPr/>
        </p:nvSpPr>
        <p:spPr>
          <a:xfrm>
            <a:off x="4045458" y="600456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Around 50%</a:t>
            </a:r>
          </a:p>
        </p:txBody>
      </p:sp>
      <p:sp>
        <p:nvSpPr>
          <p:cNvPr id="38" name="TextBox 37"/>
          <p:cNvSpPr txBox="1"/>
          <p:nvPr/>
        </p:nvSpPr>
        <p:spPr>
          <a:xfrm>
            <a:off x="8615172" y="600456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Around 60-70%</a:t>
            </a:r>
          </a:p>
        </p:txBody>
      </p:sp>
      <p:sp>
        <p:nvSpPr>
          <p:cNvPr id="39" name="TextBox 38"/>
          <p:cNvSpPr txBox="1"/>
          <p:nvPr/>
        </p:nvSpPr>
        <p:spPr>
          <a:xfrm>
            <a:off x="13184886" y="6004560"/>
            <a:ext cx="4341114" cy="29718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Around 45-55%</a:t>
            </a:r>
          </a:p>
        </p:txBody>
      </p:sp>
      <p:sp>
        <p:nvSpPr>
          <p:cNvPr id="40" name="Rectangle 39"/>
          <p:cNvSpPr/>
          <p:nvPr/>
        </p:nvSpPr>
        <p:spPr>
          <a:xfrm>
            <a:off x="762000" y="8382000"/>
            <a:ext cx="167640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43000" y="8648700"/>
            <a:ext cx="160020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The margins are broadly the same, so the insight bought no cost advantage. What it bought was the right to charge a normal-to-premium price where the alternative was a price war — and to hold it for years.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RULE THAT KEEPS YOU HONEST</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650" b="1" i="0" kern="0" spc="-142">
                <a:solidFill>
                  <a:srgbClr val="201914"/>
                </a:solidFill>
                <a:latin typeface="Arial"/>
                <a:ea typeface="Arial"/>
                <a:cs typeface="Arial"/>
              </a:rPr>
              <a:t>Name a business by the shallowest level it still has to deliver</a:t>
            </a:r>
          </a:p>
        </p:txBody>
      </p:sp>
      <p:sp>
        <p:nvSpPr>
          <p:cNvPr id="4" name="TextBox 3"/>
          <p:cNvSpPr txBox="1"/>
          <p:nvPr/>
        </p:nvSpPr>
        <p:spPr>
          <a:xfrm>
            <a:off x="1047750" y="3429000"/>
            <a:ext cx="15430500" cy="2011680"/>
          </a:xfrm>
          <a:prstGeom prst="rect">
            <a:avLst/>
          </a:prstGeom>
          <a:noFill/>
        </p:spPr>
        <p:txBody>
          <a:bodyPr wrap="square" lIns="0" tIns="0" rIns="0" bIns="0" anchor="t">
            <a:spAutoFit/>
          </a:bodyPr>
          <a:lstStyle/>
          <a:p>
            <a:pPr algn="l"/>
            <a:r>
              <a:rPr sz="3300" b="1" i="0" kern="0">
                <a:solidFill>
                  <a:srgbClr val="201914"/>
                </a:solidFill>
                <a:latin typeface="Arial"/>
                <a:ea typeface="Arial"/>
                <a:cs typeface="Arial"/>
              </a:rPr>
              <a:t>Maggi has to cook in two minutes and it has to end the 5pm fight, so it is 2 + 3. Surf Excel's powder is unremarkable and its case is the reframe, so it is 3. Why the shallowest? Because when Level 1 visibly fails, every rupee of Level 3 value evaporates in a week.</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Level 1 is where everybody competes. Level 2 is where products get built. Level 3 is where brands get built.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TRY THESE YOURSELF · 1, 2 OR 3</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Four purchases. Which level is each one really built on?</a:t>
            </a:r>
          </a:p>
        </p:txBody>
      </p:sp>
      <p:sp>
        <p:nvSpPr>
          <p:cNvPr id="4" name="Rectangle 3"/>
          <p:cNvSpPr/>
          <p:nvPr/>
        </p:nvSpPr>
        <p:spPr>
          <a:xfrm>
            <a:off x="1047750"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Bisleri at a railway station</a:t>
            </a:r>
          </a:p>
        </p:txBody>
      </p:sp>
      <p:sp>
        <p:nvSpPr>
          <p:cNvPr id="6" name="TextBox 5"/>
          <p:cNvSpPr txBox="1"/>
          <p:nvPr/>
        </p:nvSpPr>
        <p:spPr>
          <a:xfrm>
            <a:off x="1390650"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₹20 for a litre. A working tap is forty feet away, free. You buy the sealed bottle.</a:t>
            </a:r>
          </a:p>
        </p:txBody>
      </p:sp>
      <p:sp>
        <p:nvSpPr>
          <p:cNvPr id="7" name="Rectangle 6"/>
          <p:cNvSpPr/>
          <p:nvPr/>
        </p:nvSpPr>
        <p:spPr>
          <a:xfrm>
            <a:off x="5191125"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₹3 shampoo sachet</a:t>
            </a:r>
          </a:p>
        </p:txBody>
      </p:sp>
      <p:sp>
        <p:nvSpPr>
          <p:cNvPr id="9" name="TextBox 8"/>
          <p:cNvSpPr txBox="1"/>
          <p:nvPr/>
        </p:nvSpPr>
        <p:spPr>
          <a:xfrm>
            <a:off x="5534025" y="44386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Per millilitre it is worse value than the ₹180 bottle. Indians buy billions a year. She says ‘I only need a little.’</a:t>
            </a:r>
          </a:p>
        </p:txBody>
      </p:sp>
      <p:sp>
        <p:nvSpPr>
          <p:cNvPr id="10" name="Rectangle 9"/>
          <p:cNvSpPr/>
          <p:nvPr/>
        </p:nvSpPr>
        <p:spPr>
          <a:xfrm>
            <a:off x="9334500"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₹4,000 Fastrack watch</a:t>
            </a:r>
          </a:p>
        </p:txBody>
      </p:sp>
      <p:sp>
        <p:nvSpPr>
          <p:cNvPr id="12" name="TextBox 11"/>
          <p:cNvSpPr txBox="1"/>
          <p:nvPr/>
        </p:nvSpPr>
        <p:spPr>
          <a:xfrm>
            <a:off x="9677400" y="44386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Nobody under 25 needs a watch to know the time. Sales in that age group are healthy. He says ‘it looks good.’</a:t>
            </a:r>
          </a:p>
        </p:txBody>
      </p:sp>
      <p:sp>
        <p:nvSpPr>
          <p:cNvPr id="13" name="Rectangle 12"/>
          <p:cNvSpPr/>
          <p:nvPr/>
        </p:nvSpPr>
        <p:spPr>
          <a:xfrm>
            <a:off x="13477875"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₹9 strip of paracetamol</a:t>
            </a:r>
          </a:p>
        </p:txBody>
      </p:sp>
      <p:sp>
        <p:nvSpPr>
          <p:cNvPr id="15" name="TextBox 14"/>
          <p:cNvSpPr txBox="1"/>
          <p:nvPr/>
        </p:nvSpPr>
        <p:spPr>
          <a:xfrm>
            <a:off x="13820775"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Chosen over ₹32 branded Crocin. ‘It is the same molecule and it is cheaper.’</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Decide all four before you turn the page. Then defend your answer with a behaviour, not a theory.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ANSWERS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Four purchases. Which level is each one really built on?</a:t>
            </a:r>
          </a:p>
        </p:txBody>
      </p:sp>
      <p:sp>
        <p:nvSpPr>
          <p:cNvPr id="4" name="Rectangle 3"/>
          <p:cNvSpPr/>
          <p:nvPr/>
        </p:nvSpPr>
        <p:spPr>
          <a:xfrm>
            <a:off x="1047750" y="2857500"/>
            <a:ext cx="3762375" cy="65112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Bisleri at a railway station</a:t>
            </a:r>
          </a:p>
        </p:txBody>
      </p:sp>
      <p:sp>
        <p:nvSpPr>
          <p:cNvPr id="6" name="TextBox 5"/>
          <p:cNvSpPr txBox="1"/>
          <p:nvPr/>
        </p:nvSpPr>
        <p:spPr>
          <a:xfrm>
            <a:off x="1390650" y="44386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₹20 for a litre. A working tap forty feet away, free.</a:t>
            </a:r>
          </a:p>
        </p:txBody>
      </p:sp>
      <p:sp>
        <p:nvSpPr>
          <p:cNvPr id="7" name="Rectangle 6"/>
          <p:cNvSpPr/>
          <p:nvPr/>
        </p:nvSpPr>
        <p:spPr>
          <a:xfrm>
            <a:off x="1047750" y="5695950"/>
            <a:ext cx="3762375" cy="3672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90650" y="60007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1</a:t>
            </a:r>
          </a:p>
        </p:txBody>
      </p:sp>
      <p:sp>
        <p:nvSpPr>
          <p:cNvPr id="9" name="TextBox 8"/>
          <p:cNvSpPr txBox="1"/>
          <p:nvPr/>
        </p:nvSpPr>
        <p:spPr>
          <a:xfrm>
            <a:off x="1390650" y="650367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A genuine functional purchase. The seal is verifiable and the tap is not — a modest Level 2, a thin Level 3 about falling ill while travelling. Not every iceberg is deep.</a:t>
            </a:r>
          </a:p>
        </p:txBody>
      </p:sp>
      <p:sp>
        <p:nvSpPr>
          <p:cNvPr id="10" name="Rectangle 9"/>
          <p:cNvSpPr/>
          <p:nvPr/>
        </p:nvSpPr>
        <p:spPr>
          <a:xfrm>
            <a:off x="5191125" y="2857500"/>
            <a:ext cx="3762375" cy="65112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3402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₹3 shampoo sachet</a:t>
            </a:r>
          </a:p>
        </p:txBody>
      </p:sp>
      <p:sp>
        <p:nvSpPr>
          <p:cNvPr id="12" name="TextBox 11"/>
          <p:cNvSpPr txBox="1"/>
          <p:nvPr/>
        </p:nvSpPr>
        <p:spPr>
          <a:xfrm>
            <a:off x="5534025" y="44386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Per millilitre, worse value than the bottle. Billions sold a year.</a:t>
            </a:r>
          </a:p>
        </p:txBody>
      </p:sp>
      <p:sp>
        <p:nvSpPr>
          <p:cNvPr id="13" name="Rectangle 12"/>
          <p:cNvSpPr/>
          <p:nvPr/>
        </p:nvSpPr>
        <p:spPr>
          <a:xfrm>
            <a:off x="5191125" y="5695950"/>
            <a:ext cx="3762375" cy="3672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4025" y="60007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2</a:t>
            </a:r>
          </a:p>
        </p:txBody>
      </p:sp>
      <p:sp>
        <p:nvSpPr>
          <p:cNvPr id="15" name="TextBox 14"/>
          <p:cNvSpPr txBox="1"/>
          <p:nvPr/>
        </p:nvSpPr>
        <p:spPr>
          <a:xfrm>
            <a:off x="5534025" y="650367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The stated need is quantity; the real need is cash flow. She does not have ₹180 free on the day she needs shampoo. The sachet is not a smaller product — it is a payment plan.</a:t>
            </a:r>
          </a:p>
        </p:txBody>
      </p:sp>
      <p:sp>
        <p:nvSpPr>
          <p:cNvPr id="16" name="Rectangle 15"/>
          <p:cNvSpPr/>
          <p:nvPr/>
        </p:nvSpPr>
        <p:spPr>
          <a:xfrm>
            <a:off x="9334500" y="2857500"/>
            <a:ext cx="3762375" cy="65112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7740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₹4,000 Fastrack watch</a:t>
            </a:r>
          </a:p>
        </p:txBody>
      </p:sp>
      <p:sp>
        <p:nvSpPr>
          <p:cNvPr id="18" name="TextBox 17"/>
          <p:cNvSpPr txBox="1"/>
          <p:nvPr/>
        </p:nvSpPr>
        <p:spPr>
          <a:xfrm>
            <a:off x="9677400" y="44386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phone solved the functional need years ago.</a:t>
            </a:r>
          </a:p>
        </p:txBody>
      </p:sp>
      <p:sp>
        <p:nvSpPr>
          <p:cNvPr id="19" name="Rectangle 18"/>
          <p:cNvSpPr/>
          <p:nvPr/>
        </p:nvSpPr>
        <p:spPr>
          <a:xfrm>
            <a:off x="9334500" y="6015990"/>
            <a:ext cx="3762375" cy="33528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7400" y="632079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3</a:t>
            </a:r>
          </a:p>
        </p:txBody>
      </p:sp>
      <p:sp>
        <p:nvSpPr>
          <p:cNvPr id="21" name="TextBox 20"/>
          <p:cNvSpPr txBox="1"/>
          <p:nvPr/>
        </p:nvSpPr>
        <p:spPr>
          <a:xfrm>
            <a:off x="9677400" y="6823710"/>
            <a:ext cx="3076575" cy="224028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Almost pure signalling: being read as put-together, adult, employed, serious. Ask him whether he would buy it if it were invisible to everyone but him.</a:t>
            </a:r>
          </a:p>
        </p:txBody>
      </p:sp>
      <p:sp>
        <p:nvSpPr>
          <p:cNvPr id="22" name="Rectangle 21"/>
          <p:cNvSpPr/>
          <p:nvPr/>
        </p:nvSpPr>
        <p:spPr>
          <a:xfrm>
            <a:off x="13477875" y="2857500"/>
            <a:ext cx="3762375" cy="65112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2077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₹9 strip of paracetamol</a:t>
            </a:r>
          </a:p>
        </p:txBody>
      </p:sp>
      <p:sp>
        <p:nvSpPr>
          <p:cNvPr id="24" name="TextBox 23"/>
          <p:cNvSpPr txBox="1"/>
          <p:nvPr/>
        </p:nvSpPr>
        <p:spPr>
          <a:xfrm>
            <a:off x="13820775" y="44386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same molecule as the ₹32 branded box.</a:t>
            </a:r>
          </a:p>
        </p:txBody>
      </p:sp>
      <p:sp>
        <p:nvSpPr>
          <p:cNvPr id="25" name="Rectangle 24"/>
          <p:cNvSpPr/>
          <p:nvPr/>
        </p:nvSpPr>
        <p:spPr>
          <a:xfrm>
            <a:off x="13477875" y="5695950"/>
            <a:ext cx="3762375" cy="3672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20775" y="60007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1</a:t>
            </a:r>
          </a:p>
        </p:txBody>
      </p:sp>
      <p:sp>
        <p:nvSpPr>
          <p:cNvPr id="27" name="TextBox 26"/>
          <p:cNvSpPr txBox="1"/>
          <p:nvPr/>
        </p:nvSpPr>
        <p:spPr>
          <a:xfrm>
            <a:off x="13820775" y="650367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Fast, private and checkable. Nobody sees which tablet he took, and he will know in two hours whether it worked. A genuine Level 1 business, and nothing inferior about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TRY THESE YOURSELF · ROUND TWO</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Same question, harder cases</a:t>
            </a:r>
          </a:p>
        </p:txBody>
      </p:sp>
      <p:sp>
        <p:nvSpPr>
          <p:cNvPr id="4" name="Rectangle 3"/>
          <p:cNvSpPr/>
          <p:nvPr/>
        </p:nvSpPr>
        <p:spPr>
          <a:xfrm>
            <a:off x="1047750"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Cult.fit at ₹2,499 a month</a:t>
            </a:r>
          </a:p>
        </p:txBody>
      </p:sp>
      <p:sp>
        <p:nvSpPr>
          <p:cNvPr id="6" name="TextBox 5"/>
          <p:cNvSpPr txBox="1"/>
          <p:nvPr/>
        </p:nvSpPr>
        <p:spPr>
          <a:xfrm>
            <a:off x="1390650" y="44386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local gym charges ₹700. He says the equipment is better and the trainers are qualified.</a:t>
            </a:r>
          </a:p>
        </p:txBody>
      </p:sp>
      <p:sp>
        <p:nvSpPr>
          <p:cNvPr id="7" name="Rectangle 6"/>
          <p:cNvSpPr/>
          <p:nvPr/>
        </p:nvSpPr>
        <p:spPr>
          <a:xfrm>
            <a:off x="5191125"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Paper Boat Aamras at ₹35</a:t>
            </a:r>
          </a:p>
        </p:txBody>
      </p:sp>
      <p:sp>
        <p:nvSpPr>
          <p:cNvPr id="9" name="TextBox 8"/>
          <p:cNvSpPr txBox="1"/>
          <p:nvPr/>
        </p:nvSpPr>
        <p:spPr>
          <a:xfrm>
            <a:off x="5534025"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Frooti is ₹20 and quenches the same thirst. He says it tastes more natural.</a:t>
            </a:r>
          </a:p>
        </p:txBody>
      </p:sp>
      <p:sp>
        <p:nvSpPr>
          <p:cNvPr id="10" name="Rectangle 9"/>
          <p:cNvSpPr/>
          <p:nvPr/>
        </p:nvSpPr>
        <p:spPr>
          <a:xfrm>
            <a:off x="9334500"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₹99 pump handwash</a:t>
            </a:r>
          </a:p>
        </p:txBody>
      </p:sp>
      <p:sp>
        <p:nvSpPr>
          <p:cNvPr id="12" name="TextBox 11"/>
          <p:cNvSpPr txBox="1"/>
          <p:nvPr/>
        </p:nvSpPr>
        <p:spPr>
          <a:xfrm>
            <a:off x="9677400"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₹30 bar washes hands equally well. She says 99.9% germ protection.</a:t>
            </a:r>
          </a:p>
        </p:txBody>
      </p:sp>
      <p:sp>
        <p:nvSpPr>
          <p:cNvPr id="13" name="Rectangle 12"/>
          <p:cNvSpPr/>
          <p:nvPr/>
        </p:nvSpPr>
        <p:spPr>
          <a:xfrm>
            <a:off x="13477875" y="2857500"/>
            <a:ext cx="3762375" cy="36385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₹1,150 table fan</a:t>
            </a:r>
          </a:p>
        </p:txBody>
      </p:sp>
      <p:sp>
        <p:nvSpPr>
          <p:cNvPr id="15" name="TextBox 14"/>
          <p:cNvSpPr txBox="1"/>
          <p:nvPr/>
        </p:nvSpPr>
        <p:spPr>
          <a:xfrm>
            <a:off x="13820775"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₹750 one moves air too. He bought it on the second day of a May heatwave.</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Same rule. Name it by the shallowest level it still has to deliver — and be ready to point at a behaviour.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ANSWERS · ROUND TWO</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Same question, harder cases</a:t>
            </a:r>
          </a:p>
        </p:txBody>
      </p:sp>
      <p:sp>
        <p:nvSpPr>
          <p:cNvPr id="4" name="Rectangle 3"/>
          <p:cNvSpPr/>
          <p:nvPr/>
        </p:nvSpPr>
        <p:spPr>
          <a:xfrm>
            <a:off x="1047750" y="2857500"/>
            <a:ext cx="3762375" cy="61683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Cult.fit at ₹2,499 a month</a:t>
            </a:r>
          </a:p>
        </p:txBody>
      </p:sp>
      <p:sp>
        <p:nvSpPr>
          <p:cNvPr id="6" name="TextBox 5"/>
          <p:cNvSpPr txBox="1"/>
          <p:nvPr/>
        </p:nvSpPr>
        <p:spPr>
          <a:xfrm>
            <a:off x="1390650" y="44386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local gym charges ₹700.</a:t>
            </a:r>
          </a:p>
        </p:txBody>
      </p:sp>
      <p:sp>
        <p:nvSpPr>
          <p:cNvPr id="7" name="Rectangle 6"/>
          <p:cNvSpPr/>
          <p:nvPr/>
        </p:nvSpPr>
        <p:spPr>
          <a:xfrm>
            <a:off x="1047750" y="5353050"/>
            <a:ext cx="3762375" cy="367284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90650" y="56578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3</a:t>
            </a:r>
          </a:p>
        </p:txBody>
      </p:sp>
      <p:sp>
        <p:nvSpPr>
          <p:cNvPr id="9" name="TextBox 8"/>
          <p:cNvSpPr txBox="1"/>
          <p:nvPr/>
        </p:nvSpPr>
        <p:spPr>
          <a:xfrm>
            <a:off x="1390650" y="6160770"/>
            <a:ext cx="3076575" cy="25603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He is not buying fitness, he is buying a situation where quitting is embarrassing. Evidence: a history of abandoned cheap memberships. The real product is accountability.</a:t>
            </a:r>
          </a:p>
        </p:txBody>
      </p:sp>
      <p:sp>
        <p:nvSpPr>
          <p:cNvPr id="10" name="Rectangle 9"/>
          <p:cNvSpPr/>
          <p:nvPr/>
        </p:nvSpPr>
        <p:spPr>
          <a:xfrm>
            <a:off x="5191125" y="2857500"/>
            <a:ext cx="3762375" cy="61683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3402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Paper Boat Aamras at ₹35</a:t>
            </a:r>
          </a:p>
        </p:txBody>
      </p:sp>
      <p:sp>
        <p:nvSpPr>
          <p:cNvPr id="12" name="TextBox 11"/>
          <p:cNvSpPr txBox="1"/>
          <p:nvPr/>
        </p:nvSpPr>
        <p:spPr>
          <a:xfrm>
            <a:off x="5534025" y="4438650"/>
            <a:ext cx="3076575"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Frooti is ₹20.</a:t>
            </a:r>
          </a:p>
        </p:txBody>
      </p:sp>
      <p:sp>
        <p:nvSpPr>
          <p:cNvPr id="13" name="Rectangle 12"/>
          <p:cNvSpPr/>
          <p:nvPr/>
        </p:nvSpPr>
        <p:spPr>
          <a:xfrm>
            <a:off x="5191125" y="5993130"/>
            <a:ext cx="3762375" cy="303276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4025" y="629793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3</a:t>
            </a:r>
          </a:p>
        </p:txBody>
      </p:sp>
      <p:sp>
        <p:nvSpPr>
          <p:cNvPr id="15" name="TextBox 14"/>
          <p:cNvSpPr txBox="1"/>
          <p:nvPr/>
        </p:nvSpPr>
        <p:spPr>
          <a:xfrm>
            <a:off x="5534025" y="6800850"/>
            <a:ext cx="3076575" cy="192024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Nostalgia, with almost no Level 2 underneath — same thirst, same two minutes. Fifteen seconds of being eight years old at his grandmother's house.</a:t>
            </a:r>
          </a:p>
        </p:txBody>
      </p:sp>
      <p:sp>
        <p:nvSpPr>
          <p:cNvPr id="16" name="Rectangle 15"/>
          <p:cNvSpPr/>
          <p:nvPr/>
        </p:nvSpPr>
        <p:spPr>
          <a:xfrm>
            <a:off x="9334500" y="2857500"/>
            <a:ext cx="3762375" cy="61683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7740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₹99 pump handwash</a:t>
            </a:r>
          </a:p>
        </p:txBody>
      </p:sp>
      <p:sp>
        <p:nvSpPr>
          <p:cNvPr id="18" name="TextBox 17"/>
          <p:cNvSpPr txBox="1"/>
          <p:nvPr/>
        </p:nvSpPr>
        <p:spPr>
          <a:xfrm>
            <a:off x="9677400" y="44386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₹30 bar washes hands equally well.</a:t>
            </a:r>
          </a:p>
        </p:txBody>
      </p:sp>
      <p:sp>
        <p:nvSpPr>
          <p:cNvPr id="19" name="Rectangle 18"/>
          <p:cNvSpPr/>
          <p:nvPr/>
        </p:nvSpPr>
        <p:spPr>
          <a:xfrm>
            <a:off x="9334500" y="5993130"/>
            <a:ext cx="3762375" cy="30327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7400" y="629793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2 + 3</a:t>
            </a:r>
          </a:p>
        </p:txBody>
      </p:sp>
      <p:sp>
        <p:nvSpPr>
          <p:cNvPr id="21" name="TextBox 20"/>
          <p:cNvSpPr txBox="1"/>
          <p:nvPr/>
        </p:nvSpPr>
        <p:spPr>
          <a:xfrm>
            <a:off x="9677400" y="6800850"/>
            <a:ext cx="3076575" cy="192024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The bar sits in a puddle and her younger brother will not touch it. The pump is compliance engineering, and the fear is a hospital corridor.</a:t>
            </a:r>
          </a:p>
        </p:txBody>
      </p:sp>
      <p:sp>
        <p:nvSpPr>
          <p:cNvPr id="22" name="Rectangle 21"/>
          <p:cNvSpPr/>
          <p:nvPr/>
        </p:nvSpPr>
        <p:spPr>
          <a:xfrm>
            <a:off x="13477875" y="2857500"/>
            <a:ext cx="3762375" cy="61683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20775"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₹1,150 table fan</a:t>
            </a:r>
          </a:p>
        </p:txBody>
      </p:sp>
      <p:sp>
        <p:nvSpPr>
          <p:cNvPr id="24" name="TextBox 23"/>
          <p:cNvSpPr txBox="1"/>
          <p:nvPr/>
        </p:nvSpPr>
        <p:spPr>
          <a:xfrm>
            <a:off x="13820775" y="44386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₹750 one moves air too.</a:t>
            </a:r>
          </a:p>
        </p:txBody>
      </p:sp>
      <p:sp>
        <p:nvSpPr>
          <p:cNvPr id="25" name="Rectangle 24"/>
          <p:cNvSpPr/>
          <p:nvPr/>
        </p:nvSpPr>
        <p:spPr>
          <a:xfrm>
            <a:off x="13477875" y="5993130"/>
            <a:ext cx="3762375" cy="30327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20775" y="629793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1</a:t>
            </a:r>
          </a:p>
        </p:txBody>
      </p:sp>
      <p:sp>
        <p:nvSpPr>
          <p:cNvPr id="27" name="TextBox 26"/>
          <p:cNvSpPr txBox="1"/>
          <p:nvPr/>
        </p:nvSpPr>
        <p:spPr>
          <a:xfrm>
            <a:off x="13820775" y="6800850"/>
            <a:ext cx="3076575" cy="192024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Nobody comes into his room. The absence of a witness collapses the identity layer entirely — one thin reliability layer, nothing more.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FRAMEWORK 2</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Laddering</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Ask why after every answer, five times, and never accept the first 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FOUR RULES · THEY ALL SOUND EASY AND NONE OF THEM ARE</a:t>
            </a:r>
          </a:p>
        </p:txBody>
      </p:sp>
      <p:sp>
        <p:nvSpPr>
          <p:cNvPr id="3" name="TextBox 2"/>
          <p:cNvSpPr txBox="1"/>
          <p:nvPr/>
        </p:nvSpPr>
        <p:spPr>
          <a:xfrm>
            <a:off x="1047750" y="1504950"/>
            <a:ext cx="16192500" cy="800100"/>
          </a:xfrm>
          <a:prstGeom prst="rect">
            <a:avLst/>
          </a:prstGeom>
          <a:noFill/>
        </p:spPr>
        <p:txBody>
          <a:bodyPr wrap="square" lIns="0" tIns="0" rIns="0" bIns="0" anchor="t">
            <a:spAutoFit/>
          </a:bodyPr>
          <a:lstStyle/>
          <a:p>
            <a:pPr algn="l"/>
            <a:r>
              <a:rPr sz="5250" b="1" i="0" kern="0" spc="-142">
                <a:solidFill>
                  <a:srgbClr val="201914"/>
                </a:solidFill>
                <a:latin typeface="Arial"/>
                <a:ea typeface="Arial"/>
                <a:cs typeface="Arial"/>
              </a:rPr>
              <a:t>The discomfort around the fourth why is the waterline</a:t>
            </a:r>
          </a:p>
        </p:txBody>
      </p:sp>
      <p:sp>
        <p:nvSpPr>
          <p:cNvPr id="4" name="Rectangle 3"/>
          <p:cNvSpPr/>
          <p:nvPr/>
        </p:nvSpPr>
        <p:spPr>
          <a:xfrm>
            <a:off x="1047750"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Ask about the last real instance</a:t>
            </a:r>
          </a:p>
        </p:txBody>
      </p:sp>
      <p:sp>
        <p:nvSpPr>
          <p:cNvPr id="6" name="TextBox 5"/>
          <p:cNvSpPr txBox="1"/>
          <p:nvPr/>
        </p:nvSpPr>
        <p:spPr>
          <a:xfrm>
            <a:off x="1390650" y="47815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Never the category in general. Events have happened, and events are facts.</a:t>
            </a:r>
          </a:p>
        </p:txBody>
      </p:sp>
      <p:sp>
        <p:nvSpPr>
          <p:cNvPr id="7" name="Rectangle 6"/>
          <p:cNvSpPr/>
          <p:nvPr/>
        </p:nvSpPr>
        <p:spPr>
          <a:xfrm>
            <a:off x="5191125"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Ask why after every answer</a:t>
            </a:r>
          </a:p>
        </p:txBody>
      </p:sp>
      <p:sp>
        <p:nvSpPr>
          <p:cNvPr id="9" name="TextBox 8"/>
          <p:cNvSpPr txBox="1"/>
          <p:nvPr/>
        </p:nvSpPr>
        <p:spPr>
          <a:xfrm>
            <a:off x="5534025"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Including the ones that sound finished. Especially those.</a:t>
            </a:r>
          </a:p>
        </p:txBody>
      </p:sp>
      <p:sp>
        <p:nvSpPr>
          <p:cNvPr id="10" name="Rectangle 9"/>
          <p:cNvSpPr/>
          <p:nvPr/>
        </p:nvSpPr>
        <p:spPr>
          <a:xfrm>
            <a:off x="9334500" y="2857500"/>
            <a:ext cx="3762375"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Never offer a candidate answer</a:t>
            </a:r>
          </a:p>
        </p:txBody>
      </p:sp>
      <p:sp>
        <p:nvSpPr>
          <p:cNvPr id="12" name="TextBox 11"/>
          <p:cNvSpPr txBox="1"/>
          <p:nvPr/>
        </p:nvSpPr>
        <p:spPr>
          <a:xfrm>
            <a:off x="9677400" y="47815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Naming a motive hands them a script and ends the interview.</a:t>
            </a:r>
          </a:p>
        </p:txBody>
      </p:sp>
      <p:sp>
        <p:nvSpPr>
          <p:cNvPr id="13" name="Rectangle 12"/>
          <p:cNvSpPr/>
          <p:nvPr/>
        </p:nvSpPr>
        <p:spPr>
          <a:xfrm>
            <a:off x="13477875" y="2857500"/>
            <a:ext cx="3762375" cy="4191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Never fill a silence</a:t>
            </a:r>
          </a:p>
        </p:txBody>
      </p:sp>
      <p:sp>
        <p:nvSpPr>
          <p:cNvPr id="15" name="TextBox 14"/>
          <p:cNvSpPr txBox="1"/>
          <p:nvPr/>
        </p:nvSpPr>
        <p:spPr>
          <a:xfrm>
            <a:off x="13820775" y="4324350"/>
            <a:ext cx="3076575" cy="17145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Count to five and wait. Rescue them at the fourth why and you never get below the water.</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Listen for the rung where the vocabulary switches from product words to person words. That switch is the data.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LADDER · FILL IT IN BEFORE YOU TURN THE PAGE</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500" b="1" i="0" kern="0" spc="-142">
                <a:solidFill>
                  <a:srgbClr val="201914"/>
                </a:solidFill>
                <a:latin typeface="Arial"/>
                <a:ea typeface="Arial"/>
                <a:cs typeface="Arial"/>
              </a:rPr>
              <a:t>₹1,499 earbuds, when ₹399 wired ones sat on the same shelf</a:t>
            </a:r>
          </a:p>
        </p:txBody>
      </p:sp>
      <p:sp>
        <p:nvSpPr>
          <p:cNvPr id="4" name="TextBox 3"/>
          <p:cNvSpPr txBox="1"/>
          <p:nvPr/>
        </p:nvSpPr>
        <p:spPr>
          <a:xfrm>
            <a:off x="1276350" y="2857500"/>
            <a:ext cx="124053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RUNG</a:t>
            </a:r>
          </a:p>
        </p:txBody>
      </p:sp>
      <p:sp>
        <p:nvSpPr>
          <p:cNvPr id="5" name="TextBox 4"/>
          <p:cNvSpPr txBox="1"/>
          <p:nvPr/>
        </p:nvSpPr>
        <p:spPr>
          <a:xfrm>
            <a:off x="2516886" y="2857500"/>
            <a:ext cx="527227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QUESTION</a:t>
            </a:r>
          </a:p>
        </p:txBody>
      </p:sp>
      <p:sp>
        <p:nvSpPr>
          <p:cNvPr id="6" name="TextBox 5"/>
          <p:cNvSpPr txBox="1"/>
          <p:nvPr/>
        </p:nvSpPr>
        <p:spPr>
          <a:xfrm>
            <a:off x="8017764" y="2857500"/>
            <a:ext cx="620268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ANSWER</a:t>
            </a:r>
          </a:p>
        </p:txBody>
      </p:sp>
      <p:sp>
        <p:nvSpPr>
          <p:cNvPr id="7" name="TextBox 6"/>
          <p:cNvSpPr txBox="1"/>
          <p:nvPr/>
        </p:nvSpPr>
        <p:spPr>
          <a:xfrm>
            <a:off x="14449044" y="2857500"/>
            <a:ext cx="279120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LEVEL</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1011936"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1</a:t>
            </a:r>
          </a:p>
        </p:txBody>
      </p:sp>
      <p:sp>
        <p:nvSpPr>
          <p:cNvPr id="10" name="TextBox 9"/>
          <p:cNvSpPr txBox="1"/>
          <p:nvPr/>
        </p:nvSpPr>
        <p:spPr>
          <a:xfrm>
            <a:off x="2516886" y="3429000"/>
            <a:ext cx="5272278"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What did you want from them?</a:t>
            </a:r>
          </a:p>
        </p:txBody>
      </p:sp>
      <p:sp>
        <p:nvSpPr>
          <p:cNvPr id="11" name="TextBox 10"/>
          <p:cNvSpPr txBox="1"/>
          <p:nvPr/>
        </p:nvSpPr>
        <p:spPr>
          <a:xfrm>
            <a:off x="8017764" y="3429000"/>
            <a:ext cx="620268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‘Better sound, and no wire.’</a:t>
            </a:r>
          </a:p>
        </p:txBody>
      </p:sp>
      <p:sp>
        <p:nvSpPr>
          <p:cNvPr id="12" name="TextBox 11"/>
          <p:cNvSpPr txBox="1"/>
          <p:nvPr/>
        </p:nvSpPr>
        <p:spPr>
          <a:xfrm>
            <a:off x="14449044" y="3429000"/>
            <a:ext cx="2791206"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13" name="Rectangle 12"/>
          <p:cNvSpPr/>
          <p:nvPr/>
        </p:nvSpPr>
        <p:spPr>
          <a:xfrm>
            <a:off x="1047750" y="3990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3981450"/>
            <a:ext cx="16192500" cy="762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4191000"/>
            <a:ext cx="1011936"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2</a:t>
            </a:r>
          </a:p>
        </p:txBody>
      </p:sp>
      <p:sp>
        <p:nvSpPr>
          <p:cNvPr id="16" name="TextBox 15"/>
          <p:cNvSpPr txBox="1"/>
          <p:nvPr/>
        </p:nvSpPr>
        <p:spPr>
          <a:xfrm>
            <a:off x="2516886" y="4191000"/>
            <a:ext cx="5272278"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does the wire matter?</a:t>
            </a:r>
          </a:p>
        </p:txBody>
      </p:sp>
      <p:sp>
        <p:nvSpPr>
          <p:cNvPr id="17" name="TextBox 16"/>
          <p:cNvSpPr txBox="1"/>
          <p:nvPr/>
        </p:nvSpPr>
        <p:spPr>
          <a:xfrm>
            <a:off x="8017764" y="4191000"/>
            <a:ext cx="620268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18" name="TextBox 17"/>
          <p:cNvSpPr txBox="1"/>
          <p:nvPr/>
        </p:nvSpPr>
        <p:spPr>
          <a:xfrm>
            <a:off x="14449044" y="4191000"/>
            <a:ext cx="2791206"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19" name="Rectangle 18"/>
          <p:cNvSpPr/>
          <p:nvPr/>
        </p:nvSpPr>
        <p:spPr>
          <a:xfrm>
            <a:off x="1047750" y="4752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4953000"/>
            <a:ext cx="1011936"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3</a:t>
            </a:r>
          </a:p>
        </p:txBody>
      </p:sp>
      <p:sp>
        <p:nvSpPr>
          <p:cNvPr id="21" name="TextBox 20"/>
          <p:cNvSpPr txBox="1"/>
          <p:nvPr/>
        </p:nvSpPr>
        <p:spPr>
          <a:xfrm>
            <a:off x="2516886" y="4953000"/>
            <a:ext cx="5272278"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was that worth four times more?</a:t>
            </a:r>
          </a:p>
        </p:txBody>
      </p:sp>
      <p:sp>
        <p:nvSpPr>
          <p:cNvPr id="22" name="TextBox 21"/>
          <p:cNvSpPr txBox="1"/>
          <p:nvPr/>
        </p:nvSpPr>
        <p:spPr>
          <a:xfrm>
            <a:off x="8017764" y="4953000"/>
            <a:ext cx="620268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23" name="TextBox 22"/>
          <p:cNvSpPr txBox="1"/>
          <p:nvPr/>
        </p:nvSpPr>
        <p:spPr>
          <a:xfrm>
            <a:off x="14449044" y="4953000"/>
            <a:ext cx="2791206"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24" name="Rectangle 23"/>
          <p:cNvSpPr/>
          <p:nvPr/>
        </p:nvSpPr>
        <p:spPr>
          <a:xfrm>
            <a:off x="1047750" y="5514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7750" y="5505450"/>
            <a:ext cx="16192500" cy="762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76350" y="5715000"/>
            <a:ext cx="1011936"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4</a:t>
            </a:r>
          </a:p>
        </p:txBody>
      </p:sp>
      <p:sp>
        <p:nvSpPr>
          <p:cNvPr id="27" name="TextBox 26"/>
          <p:cNvSpPr txBox="1"/>
          <p:nvPr/>
        </p:nvSpPr>
        <p:spPr>
          <a:xfrm>
            <a:off x="2516886" y="5715000"/>
            <a:ext cx="5272278"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in the gym and on the bus?</a:t>
            </a:r>
          </a:p>
        </p:txBody>
      </p:sp>
      <p:sp>
        <p:nvSpPr>
          <p:cNvPr id="28" name="TextBox 27"/>
          <p:cNvSpPr txBox="1"/>
          <p:nvPr/>
        </p:nvSpPr>
        <p:spPr>
          <a:xfrm>
            <a:off x="8017764" y="5715000"/>
            <a:ext cx="620268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29" name="TextBox 28"/>
          <p:cNvSpPr txBox="1"/>
          <p:nvPr/>
        </p:nvSpPr>
        <p:spPr>
          <a:xfrm>
            <a:off x="14449044" y="5715000"/>
            <a:ext cx="2791206"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30" name="Rectangle 29"/>
          <p:cNvSpPr/>
          <p:nvPr/>
        </p:nvSpPr>
        <p:spPr>
          <a:xfrm>
            <a:off x="1047750" y="6276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76350" y="6477000"/>
            <a:ext cx="1011936"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5</a:t>
            </a:r>
          </a:p>
        </p:txBody>
      </p:sp>
      <p:sp>
        <p:nvSpPr>
          <p:cNvPr id="32" name="TextBox 31"/>
          <p:cNvSpPr txBox="1"/>
          <p:nvPr/>
        </p:nvSpPr>
        <p:spPr>
          <a:xfrm>
            <a:off x="2516886" y="6477000"/>
            <a:ext cx="5272278"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does that matter to you?</a:t>
            </a:r>
          </a:p>
        </p:txBody>
      </p:sp>
      <p:sp>
        <p:nvSpPr>
          <p:cNvPr id="33" name="TextBox 32"/>
          <p:cNvSpPr txBox="1"/>
          <p:nvPr/>
        </p:nvSpPr>
        <p:spPr>
          <a:xfrm>
            <a:off x="8017764" y="6477000"/>
            <a:ext cx="620268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34" name="TextBox 33"/>
          <p:cNvSpPr txBox="1"/>
          <p:nvPr/>
        </p:nvSpPr>
        <p:spPr>
          <a:xfrm>
            <a:off x="14449044" y="6477000"/>
            <a:ext cx="2791206"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t>
            </a:r>
          </a:p>
        </p:txBody>
      </p:sp>
      <p:sp>
        <p:nvSpPr>
          <p:cNvPr id="35" name="Rectangle 34"/>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Mark the rung where the answer stops being about the PRODUCT and starts being about the PERSON. That is the waterline.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LADDER · THE ANSWERS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500" b="1" i="0" kern="0" spc="-142">
                <a:solidFill>
                  <a:srgbClr val="201914"/>
                </a:solidFill>
                <a:latin typeface="Arial"/>
                <a:ea typeface="Arial"/>
                <a:cs typeface="Arial"/>
              </a:rPr>
              <a:t>₹1,499 earbuds, when ₹399 wired ones sat on the same shelf</a:t>
            </a:r>
          </a:p>
        </p:txBody>
      </p:sp>
      <p:sp>
        <p:nvSpPr>
          <p:cNvPr id="4" name="TextBox 3"/>
          <p:cNvSpPr txBox="1"/>
          <p:nvPr/>
        </p:nvSpPr>
        <p:spPr>
          <a:xfrm>
            <a:off x="1276350" y="2857500"/>
            <a:ext cx="124053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RUNG</a:t>
            </a:r>
          </a:p>
        </p:txBody>
      </p:sp>
      <p:sp>
        <p:nvSpPr>
          <p:cNvPr id="5" name="TextBox 4"/>
          <p:cNvSpPr txBox="1"/>
          <p:nvPr/>
        </p:nvSpPr>
        <p:spPr>
          <a:xfrm>
            <a:off x="2516886" y="2857500"/>
            <a:ext cx="434187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QUESTION</a:t>
            </a:r>
          </a:p>
        </p:txBody>
      </p:sp>
      <p:sp>
        <p:nvSpPr>
          <p:cNvPr id="6" name="TextBox 5"/>
          <p:cNvSpPr txBox="1"/>
          <p:nvPr/>
        </p:nvSpPr>
        <p:spPr>
          <a:xfrm>
            <a:off x="7087362" y="2857500"/>
            <a:ext cx="682294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ANSWER</a:t>
            </a:r>
          </a:p>
        </p:txBody>
      </p:sp>
      <p:sp>
        <p:nvSpPr>
          <p:cNvPr id="7" name="TextBox 6"/>
          <p:cNvSpPr txBox="1"/>
          <p:nvPr/>
        </p:nvSpPr>
        <p:spPr>
          <a:xfrm>
            <a:off x="14138910" y="2857500"/>
            <a:ext cx="310134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LEVEL</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1011936"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1</a:t>
            </a:r>
          </a:p>
        </p:txBody>
      </p:sp>
      <p:sp>
        <p:nvSpPr>
          <p:cNvPr id="10" name="TextBox 9"/>
          <p:cNvSpPr txBox="1"/>
          <p:nvPr/>
        </p:nvSpPr>
        <p:spPr>
          <a:xfrm>
            <a:off x="2516886" y="3429000"/>
            <a:ext cx="4341876"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What did you want from them?</a:t>
            </a:r>
          </a:p>
        </p:txBody>
      </p:sp>
      <p:sp>
        <p:nvSpPr>
          <p:cNvPr id="11" name="TextBox 10"/>
          <p:cNvSpPr txBox="1"/>
          <p:nvPr/>
        </p:nvSpPr>
        <p:spPr>
          <a:xfrm>
            <a:off x="7087362" y="3429000"/>
            <a:ext cx="6822948"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‘Better sound, and no wire.’</a:t>
            </a:r>
          </a:p>
        </p:txBody>
      </p:sp>
      <p:sp>
        <p:nvSpPr>
          <p:cNvPr id="12" name="TextBox 11"/>
          <p:cNvSpPr txBox="1"/>
          <p:nvPr/>
        </p:nvSpPr>
        <p:spPr>
          <a:xfrm>
            <a:off x="14138910" y="3429000"/>
            <a:ext cx="3101340" cy="685800"/>
          </a:xfrm>
          <a:prstGeom prst="rect">
            <a:avLst/>
          </a:prstGeom>
          <a:noFill/>
        </p:spPr>
        <p:txBody>
          <a:bodyPr wrap="square" lIns="0" tIns="0" rIns="0" bIns="0" anchor="t">
            <a:spAutoFit/>
          </a:bodyPr>
          <a:lstStyle/>
          <a:p>
            <a:pPr algn="l"/>
            <a:r>
              <a:rPr sz="2250" b="0" i="0" kern="0">
                <a:solidFill>
                  <a:srgbClr val="6C6158"/>
                </a:solidFill>
                <a:latin typeface="Arial"/>
                <a:ea typeface="Arial"/>
                <a:cs typeface="Arial"/>
              </a:rPr>
              <a:t>1 — stated, feature-shaped</a:t>
            </a:r>
          </a:p>
        </p:txBody>
      </p:sp>
      <p:sp>
        <p:nvSpPr>
          <p:cNvPr id="13" name="Rectangle 12"/>
          <p:cNvSpPr/>
          <p:nvPr/>
        </p:nvSpPr>
        <p:spPr>
          <a:xfrm>
            <a:off x="1047750" y="43338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324350"/>
            <a:ext cx="16192500" cy="11049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4533900"/>
            <a:ext cx="1011936"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2</a:t>
            </a:r>
          </a:p>
        </p:txBody>
      </p:sp>
      <p:sp>
        <p:nvSpPr>
          <p:cNvPr id="16" name="TextBox 15"/>
          <p:cNvSpPr txBox="1"/>
          <p:nvPr/>
        </p:nvSpPr>
        <p:spPr>
          <a:xfrm>
            <a:off x="2516886" y="4533900"/>
            <a:ext cx="4341876"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does the wire matter?</a:t>
            </a:r>
          </a:p>
        </p:txBody>
      </p:sp>
      <p:sp>
        <p:nvSpPr>
          <p:cNvPr id="17" name="TextBox 16"/>
          <p:cNvSpPr txBox="1"/>
          <p:nvPr/>
        </p:nvSpPr>
        <p:spPr>
          <a:xfrm>
            <a:off x="7087362" y="4533900"/>
            <a:ext cx="6822948"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‘It tangles, and it always breaks near the jack.’</a:t>
            </a:r>
          </a:p>
        </p:txBody>
      </p:sp>
      <p:sp>
        <p:nvSpPr>
          <p:cNvPr id="18" name="TextBox 17"/>
          <p:cNvSpPr txBox="1"/>
          <p:nvPr/>
        </p:nvSpPr>
        <p:spPr>
          <a:xfrm>
            <a:off x="14138910" y="4533900"/>
            <a:ext cx="3101340" cy="685800"/>
          </a:xfrm>
          <a:prstGeom prst="rect">
            <a:avLst/>
          </a:prstGeom>
          <a:noFill/>
        </p:spPr>
        <p:txBody>
          <a:bodyPr wrap="square" lIns="0" tIns="0" rIns="0" bIns="0" anchor="t">
            <a:spAutoFit/>
          </a:bodyPr>
          <a:lstStyle/>
          <a:p>
            <a:pPr algn="l"/>
            <a:r>
              <a:rPr sz="2250" b="0" i="0" kern="0">
                <a:solidFill>
                  <a:srgbClr val="6C6158"/>
                </a:solidFill>
                <a:latin typeface="Arial"/>
                <a:ea typeface="Arial"/>
                <a:cs typeface="Arial"/>
              </a:rPr>
              <a:t>1 to 2 — an observable pain</a:t>
            </a:r>
          </a:p>
        </p:txBody>
      </p:sp>
      <p:sp>
        <p:nvSpPr>
          <p:cNvPr id="19" name="Rectangle 18"/>
          <p:cNvSpPr/>
          <p:nvPr/>
        </p:nvSpPr>
        <p:spPr>
          <a:xfrm>
            <a:off x="1047750" y="5438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5638800"/>
            <a:ext cx="1011936"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3</a:t>
            </a:r>
          </a:p>
        </p:txBody>
      </p:sp>
      <p:sp>
        <p:nvSpPr>
          <p:cNvPr id="21" name="TextBox 20"/>
          <p:cNvSpPr txBox="1"/>
          <p:nvPr/>
        </p:nvSpPr>
        <p:spPr>
          <a:xfrm>
            <a:off x="2516886" y="5638800"/>
            <a:ext cx="4341876"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was that worth four times more?</a:t>
            </a:r>
          </a:p>
        </p:txBody>
      </p:sp>
      <p:sp>
        <p:nvSpPr>
          <p:cNvPr id="22" name="TextBox 21"/>
          <p:cNvSpPr txBox="1"/>
          <p:nvPr/>
        </p:nvSpPr>
        <p:spPr>
          <a:xfrm>
            <a:off x="7087362" y="5638800"/>
            <a:ext cx="6822948"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‘I was replacing wired ones every three months. And I use them at the gym and on the bus.’</a:t>
            </a:r>
          </a:p>
        </p:txBody>
      </p:sp>
      <p:sp>
        <p:nvSpPr>
          <p:cNvPr id="23" name="TextBox 22"/>
          <p:cNvSpPr txBox="1"/>
          <p:nvPr/>
        </p:nvSpPr>
        <p:spPr>
          <a:xfrm>
            <a:off x="14138910" y="5638800"/>
            <a:ext cx="3101340" cy="685800"/>
          </a:xfrm>
          <a:prstGeom prst="rect">
            <a:avLst/>
          </a:prstGeom>
          <a:noFill/>
        </p:spPr>
        <p:txBody>
          <a:bodyPr wrap="square" lIns="0" tIns="0" rIns="0" bIns="0" anchor="t">
            <a:spAutoFit/>
          </a:bodyPr>
          <a:lstStyle/>
          <a:p>
            <a:pPr algn="l"/>
            <a:r>
              <a:rPr sz="2250" b="0" i="0" kern="0">
                <a:solidFill>
                  <a:srgbClr val="6C6158"/>
                </a:solidFill>
                <a:latin typeface="Arial"/>
                <a:ea typeface="Arial"/>
                <a:cs typeface="Arial"/>
              </a:rPr>
              <a:t>2 — the workaround is visible</a:t>
            </a:r>
          </a:p>
        </p:txBody>
      </p:sp>
      <p:sp>
        <p:nvSpPr>
          <p:cNvPr id="24" name="Rectangle 23"/>
          <p:cNvSpPr/>
          <p:nvPr/>
        </p:nvSpPr>
        <p:spPr>
          <a:xfrm>
            <a:off x="1047750" y="65436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7750" y="6534150"/>
            <a:ext cx="16192500" cy="11049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76350" y="6743700"/>
            <a:ext cx="1011936"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4</a:t>
            </a:r>
          </a:p>
        </p:txBody>
      </p:sp>
      <p:sp>
        <p:nvSpPr>
          <p:cNvPr id="27" name="TextBox 26"/>
          <p:cNvSpPr txBox="1"/>
          <p:nvPr/>
        </p:nvSpPr>
        <p:spPr>
          <a:xfrm>
            <a:off x="2516886" y="6743700"/>
            <a:ext cx="4341876"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in the gym and on the bus?</a:t>
            </a:r>
          </a:p>
        </p:txBody>
      </p:sp>
      <p:sp>
        <p:nvSpPr>
          <p:cNvPr id="28" name="TextBox 27"/>
          <p:cNvSpPr txBox="1"/>
          <p:nvPr/>
        </p:nvSpPr>
        <p:spPr>
          <a:xfrm>
            <a:off x="7087362" y="6743700"/>
            <a:ext cx="6822948"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‘Because I do not want to talk to anyone. If they are in, nobody starts a conversation.’</a:t>
            </a:r>
          </a:p>
        </p:txBody>
      </p:sp>
      <p:sp>
        <p:nvSpPr>
          <p:cNvPr id="29" name="TextBox 28"/>
          <p:cNvSpPr txBox="1"/>
          <p:nvPr/>
        </p:nvSpPr>
        <p:spPr>
          <a:xfrm>
            <a:off x="14138910" y="6743700"/>
            <a:ext cx="3101340" cy="685800"/>
          </a:xfrm>
          <a:prstGeom prst="rect">
            <a:avLst/>
          </a:prstGeom>
          <a:noFill/>
        </p:spPr>
        <p:txBody>
          <a:bodyPr wrap="square" lIns="0" tIns="0" rIns="0" bIns="0" anchor="t">
            <a:spAutoFit/>
          </a:bodyPr>
          <a:lstStyle/>
          <a:p>
            <a:pPr algn="l"/>
            <a:r>
              <a:rPr sz="2250" b="1" i="0" kern="0">
                <a:solidFill>
                  <a:srgbClr val="C35141"/>
                </a:solidFill>
                <a:latin typeface="Arial"/>
                <a:ea typeface="Arial"/>
                <a:cs typeface="Arial"/>
              </a:rPr>
              <a:t>2 to 3 — it has left the product</a:t>
            </a:r>
          </a:p>
        </p:txBody>
      </p:sp>
      <p:sp>
        <p:nvSpPr>
          <p:cNvPr id="30" name="Rectangle 29"/>
          <p:cNvSpPr/>
          <p:nvPr/>
        </p:nvSpPr>
        <p:spPr>
          <a:xfrm>
            <a:off x="1047750" y="76485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76350" y="7848600"/>
            <a:ext cx="1011936"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5</a:t>
            </a:r>
          </a:p>
        </p:txBody>
      </p:sp>
      <p:sp>
        <p:nvSpPr>
          <p:cNvPr id="32" name="TextBox 31"/>
          <p:cNvSpPr txBox="1"/>
          <p:nvPr/>
        </p:nvSpPr>
        <p:spPr>
          <a:xfrm>
            <a:off x="2516886" y="7848600"/>
            <a:ext cx="4341876"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Why does that matter to you?</a:t>
            </a:r>
          </a:p>
        </p:txBody>
      </p:sp>
      <p:sp>
        <p:nvSpPr>
          <p:cNvPr id="33" name="TextBox 32"/>
          <p:cNvSpPr txBox="1"/>
          <p:nvPr/>
        </p:nvSpPr>
        <p:spPr>
          <a:xfrm>
            <a:off x="7087362" y="7848600"/>
            <a:ext cx="6822948"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‘(pause) Honestly? It is my way of being left alone. And these look like the expensive ones.’</a:t>
            </a:r>
          </a:p>
        </p:txBody>
      </p:sp>
      <p:sp>
        <p:nvSpPr>
          <p:cNvPr id="34" name="TextBox 33"/>
          <p:cNvSpPr txBox="1"/>
          <p:nvPr/>
        </p:nvSpPr>
        <p:spPr>
          <a:xfrm>
            <a:off x="14138910" y="7848600"/>
            <a:ext cx="3101340" cy="685800"/>
          </a:xfrm>
          <a:prstGeom prst="rect">
            <a:avLst/>
          </a:prstGeom>
          <a:noFill/>
        </p:spPr>
        <p:txBody>
          <a:bodyPr wrap="square" lIns="0" tIns="0" rIns="0" bIns="0" anchor="t">
            <a:spAutoFit/>
          </a:bodyPr>
          <a:lstStyle/>
          <a:p>
            <a:pPr algn="l"/>
            <a:r>
              <a:rPr sz="2250" b="1" i="0" kern="0">
                <a:solidFill>
                  <a:srgbClr val="C35141"/>
                </a:solidFill>
                <a:latin typeface="Arial"/>
                <a:ea typeface="Arial"/>
                <a:cs typeface="Arial"/>
              </a:rPr>
              <a:t>3 — solitude and signalling</a:t>
            </a:r>
          </a:p>
        </p:txBody>
      </p:sp>
      <p:sp>
        <p:nvSpPr>
          <p:cNvPr id="35" name="Rectangle 34"/>
          <p:cNvSpPr/>
          <p:nvPr/>
        </p:nvSpPr>
        <p:spPr>
          <a:xfrm>
            <a:off x="1047750" y="90297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28750" y="92964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Nothing at rung 5 contradicts rung 1. Every rung was true — you are not catching a lie, you are going deeper into a truth.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TWO COMPANIES, ONE INTERVIEW</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What you build depends on which rung you stopped at</a:t>
            </a:r>
          </a:p>
        </p:txBody>
      </p:sp>
      <p:sp>
        <p:nvSpPr>
          <p:cNvPr id="4" name="Rectangle 3"/>
          <p:cNvSpPr/>
          <p:nvPr/>
        </p:nvSpPr>
        <p:spPr>
          <a:xfrm>
            <a:off x="1047750" y="2857500"/>
            <a:ext cx="7810500" cy="4191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COMPANY THAT HEARD RUNG 1</a:t>
            </a:r>
          </a:p>
        </p:txBody>
      </p:sp>
      <p:sp>
        <p:nvSpPr>
          <p:cNvPr id="6" name="TextBox 5"/>
          <p:cNvSpPr txBox="1"/>
          <p:nvPr/>
        </p:nvSpPr>
        <p:spPr>
          <a:xfrm>
            <a:off x="1428750" y="37909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slightly better earbud</a:t>
            </a:r>
          </a:p>
        </p:txBody>
      </p:sp>
      <p:sp>
        <p:nvSpPr>
          <p:cNvPr id="7" name="TextBox 6"/>
          <p:cNvSpPr txBox="1"/>
          <p:nvPr/>
        </p:nvSpPr>
        <p:spPr>
          <a:xfrm>
            <a:off x="1428750" y="441198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Better drivers, a stronger cable joint, a lower price.</a:t>
            </a:r>
          </a:p>
        </p:txBody>
      </p:sp>
      <p:sp>
        <p:nvSpPr>
          <p:cNvPr id="8" name="TextBox 7"/>
          <p:cNvSpPr txBox="1"/>
          <p:nvPr/>
        </p:nvSpPr>
        <p:spPr>
          <a:xfrm>
            <a:off x="1428750" y="539877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Competing with forty companies making the same claim, on a spec sheet nobody reads.</a:t>
            </a:r>
          </a:p>
        </p:txBody>
      </p:sp>
      <p:sp>
        <p:nvSpPr>
          <p:cNvPr id="9" name="Rectangle 8"/>
          <p:cNvSpPr/>
          <p:nvPr/>
        </p:nvSpPr>
        <p:spPr>
          <a:xfrm>
            <a:off x="9429750" y="2857500"/>
            <a:ext cx="7810500" cy="41910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THE COMPANY THAT HEARD RUNG 5</a:t>
            </a:r>
          </a:p>
        </p:txBody>
      </p:sp>
      <p:sp>
        <p:nvSpPr>
          <p:cNvPr id="11" name="TextBox 10"/>
          <p:cNvSpPr txBox="1"/>
          <p:nvPr/>
        </p:nvSpPr>
        <p:spPr>
          <a:xfrm>
            <a:off x="9810750" y="3790950"/>
            <a:ext cx="704850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A socially acceptable do-not-disturb sign</a:t>
            </a:r>
          </a:p>
        </p:txBody>
      </p:sp>
      <p:sp>
        <p:nvSpPr>
          <p:cNvPr id="12" name="TextBox 11"/>
          <p:cNvSpPr txBox="1"/>
          <p:nvPr/>
        </p:nvSpPr>
        <p:spPr>
          <a:xfrm>
            <a:off x="9810750" y="4411980"/>
            <a:ext cx="7048500" cy="77724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Visible in the ear. Recognisable from across a room. Looks like the expensive ones.</a:t>
            </a:r>
          </a:p>
        </p:txBody>
      </p:sp>
      <p:sp>
        <p:nvSpPr>
          <p:cNvPr id="13" name="TextBox 12"/>
          <p:cNvSpPr txBox="1"/>
          <p:nvPr/>
        </p:nvSpPr>
        <p:spPr>
          <a:xfrm>
            <a:off x="9810750" y="5398770"/>
            <a:ext cx="7048500" cy="77724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Competing with nobody, because nobody else knows what is being sold.</a:t>
            </a:r>
          </a:p>
        </p:txBody>
      </p:sp>
      <p:sp>
        <p:nvSpPr>
          <p:cNvPr id="14" name="Rectangle 13"/>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Rung 1 was true. Rung 5 is the product brief.</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PART D · WHEN DIGGING DEEPER MAKES YOU WORSE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Three ways the iceberg misleads you</a:t>
            </a:r>
          </a:p>
        </p:txBody>
      </p:sp>
      <p:sp>
        <p:nvSpPr>
          <p:cNvPr id="4" name="TextBox 3"/>
          <p:cNvSpPr txBox="1"/>
          <p:nvPr/>
        </p:nvSpPr>
        <p:spPr>
          <a:xfrm>
            <a:off x="1276350" y="2857500"/>
            <a:ext cx="409117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FAILURE</a:t>
            </a:r>
          </a:p>
        </p:txBody>
      </p:sp>
      <p:sp>
        <p:nvSpPr>
          <p:cNvPr id="5" name="TextBox 4"/>
          <p:cNvSpPr txBox="1"/>
          <p:nvPr/>
        </p:nvSpPr>
        <p:spPr>
          <a:xfrm>
            <a:off x="5367528" y="2857500"/>
            <a:ext cx="535000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GOES WRONG</a:t>
            </a:r>
          </a:p>
        </p:txBody>
      </p:sp>
      <p:sp>
        <p:nvSpPr>
          <p:cNvPr id="6" name="TextBox 5"/>
          <p:cNvSpPr txBox="1"/>
          <p:nvPr/>
        </p:nvSpPr>
        <p:spPr>
          <a:xfrm>
            <a:off x="10946130" y="2857500"/>
            <a:ext cx="629412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REAL EXAMPLE</a:t>
            </a:r>
          </a:p>
        </p:txBody>
      </p:sp>
      <p:sp>
        <p:nvSpPr>
          <p:cNvPr id="7" name="Rectangle 6"/>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76350" y="3429000"/>
            <a:ext cx="3862578" cy="160020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1 · It bottoms out at Level 1</a:t>
            </a:r>
          </a:p>
        </p:txBody>
      </p:sp>
      <p:sp>
        <p:nvSpPr>
          <p:cNvPr id="9" name="TextBox 8"/>
          <p:cNvSpPr txBox="1"/>
          <p:nvPr/>
        </p:nvSpPr>
        <p:spPr>
          <a:xfrm>
            <a:off x="5367528" y="3429000"/>
            <a:ext cx="5350002" cy="160020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Some needs are functional all the way down. Forcing an emotional story onto one builds for a driver that is not there.</a:t>
            </a:r>
          </a:p>
        </p:txBody>
      </p:sp>
      <p:sp>
        <p:nvSpPr>
          <p:cNvPr id="10" name="TextBox 9"/>
          <p:cNvSpPr txBox="1"/>
          <p:nvPr/>
        </p:nvSpPr>
        <p:spPr>
          <a:xfrm>
            <a:off x="10946130" y="3429000"/>
            <a:ext cx="6294120" cy="160020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Nestlé itself. The atta and oats variants of Maggi were built on the stated need — mothers had said 'healthy' for thirty years. They never came close, because the real drivers were taste, speed and a child who eats without a fight.</a:t>
            </a:r>
          </a:p>
        </p:txBody>
      </p:sp>
      <p:sp>
        <p:nvSpPr>
          <p:cNvPr id="11" name="Rectangle 10"/>
          <p:cNvSpPr/>
          <p:nvPr/>
        </p:nvSpPr>
        <p:spPr>
          <a:xfrm>
            <a:off x="1047750" y="5248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47750" y="5238750"/>
            <a:ext cx="16192500" cy="169926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6350" y="5448300"/>
            <a:ext cx="3862578"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2 · The founder hears what he already believes</a:t>
            </a:r>
          </a:p>
        </p:txBody>
      </p:sp>
      <p:sp>
        <p:nvSpPr>
          <p:cNvPr id="14" name="TextBox 13"/>
          <p:cNvSpPr txBox="1"/>
          <p:nvPr/>
        </p:nvSpPr>
        <p:spPr>
          <a:xfrm>
            <a:off x="5367528" y="5448300"/>
            <a:ext cx="5350002"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Latent needs are unfalsifiable unless you demand behavioural evidence, so founders project the motive that justifies the product they wanted to build.</a:t>
            </a:r>
          </a:p>
        </p:txBody>
      </p:sp>
      <p:sp>
        <p:nvSpPr>
          <p:cNvPr id="15" name="TextBox 14"/>
          <p:cNvSpPr txBox="1"/>
          <p:nvPr/>
        </p:nvSpPr>
        <p:spPr>
          <a:xfrm>
            <a:off x="10946130" y="544830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Tata Nano. A family of four on a scooter does want safety. One level deeper, a car announces that the family has arrived — and 'the world's cheapest car' announced the opposite.</a:t>
            </a:r>
          </a:p>
        </p:txBody>
      </p:sp>
      <p:sp>
        <p:nvSpPr>
          <p:cNvPr id="16" name="Rectangle 15"/>
          <p:cNvSpPr/>
          <p:nvPr/>
        </p:nvSpPr>
        <p:spPr>
          <a:xfrm>
            <a:off x="1047750" y="69475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76350" y="7147560"/>
            <a:ext cx="3862578"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3 · Real driver, wrong call</a:t>
            </a:r>
          </a:p>
        </p:txBody>
      </p:sp>
      <p:sp>
        <p:nvSpPr>
          <p:cNvPr id="18" name="TextBox 17"/>
          <p:cNvSpPr txBox="1"/>
          <p:nvPr/>
        </p:nvSpPr>
        <p:spPr>
          <a:xfrm>
            <a:off x="5367528" y="7147560"/>
            <a:ext cx="5350002"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Fear, shame and insecurity are the most monetisable feelings there are. Finding one does not make building on it correct.</a:t>
            </a:r>
          </a:p>
        </p:txBody>
      </p:sp>
      <p:sp>
        <p:nvSpPr>
          <p:cNvPr id="19" name="TextBox 18"/>
          <p:cNvSpPr txBox="1"/>
          <p:nvPr/>
        </p:nvSpPr>
        <p:spPr>
          <a:xfrm>
            <a:off x="10946130" y="714756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Fairness creams. The insecurity was real, and a category was built on deepening it. After sustained criticism, HUL renamed Fair &amp; Lovely to Glow &amp; Lovely in 2020.</a:t>
            </a:r>
          </a:p>
        </p:txBody>
      </p:sp>
      <p:sp>
        <p:nvSpPr>
          <p:cNvPr id="20" name="Rectangle 19"/>
          <p:cNvSpPr/>
          <p:nvPr/>
        </p:nvSpPr>
        <p:spPr>
          <a:xfrm>
            <a:off x="1047750" y="892302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918972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Number two is the commonest and the hardest to see from the inside, because it does not feel like a mistake. It feels like conviction.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SIT WITH THIS ONE · NOBODY WILL WARN YOU ABOUT IT</a:t>
            </a:r>
          </a:p>
        </p:txBody>
      </p:sp>
      <p:sp>
        <p:nvSpPr>
          <p:cNvPr id="3" name="TextBox 2"/>
          <p:cNvSpPr txBox="1"/>
          <p:nvPr/>
        </p:nvSpPr>
        <p:spPr>
          <a:xfrm>
            <a:off x="1047750" y="3810000"/>
            <a:ext cx="15430500" cy="2194560"/>
          </a:xfrm>
          <a:prstGeom prst="rect">
            <a:avLst/>
          </a:prstGeom>
          <a:noFill/>
        </p:spPr>
        <p:txBody>
          <a:bodyPr wrap="square" lIns="0" tIns="0" rIns="0" bIns="0" anchor="t">
            <a:spAutoFit/>
          </a:bodyPr>
          <a:lstStyle/>
          <a:p>
            <a:pPr algn="l"/>
            <a:r>
              <a:rPr sz="4800" b="1" i="0" kern="0" spc="-200">
                <a:solidFill>
                  <a:srgbClr val="F5F1E9"/>
                </a:solidFill>
                <a:latin typeface="Arial"/>
                <a:ea typeface="Arial"/>
                <a:cs typeface="Arial"/>
              </a:rPr>
              <a:t>Does the customer end up better off once the fear is relieved — or does my business need the fear to keep growing?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ACTIVITY · GROUPS OF THREE · ROTATE SO EVERYONE INTERVIEWS</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Find the waterline in a real purchase</a:t>
            </a:r>
          </a:p>
        </p:txBody>
      </p:sp>
      <p:sp>
        <p:nvSpPr>
          <p:cNvPr id="4" name="TextBox 3"/>
          <p:cNvSpPr txBox="1"/>
          <p:nvPr/>
        </p:nvSpPr>
        <p:spPr>
          <a:xfrm>
            <a:off x="1047750" y="2857500"/>
            <a:ext cx="16192500"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One real thing a classmate bought in the last month, over ₹200, when a cheaper option was sitting on the same shelf. Then ask why, five times.</a:t>
            </a:r>
          </a:p>
        </p:txBody>
      </p:sp>
      <p:sp>
        <p:nvSpPr>
          <p:cNvPr id="5" name="TextBox 4"/>
          <p:cNvSpPr txBox="1"/>
          <p:nvPr/>
        </p:nvSpPr>
        <p:spPr>
          <a:xfrm>
            <a:off x="1047750" y="419100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1</a:t>
            </a:r>
          </a:p>
        </p:txBody>
      </p:sp>
      <p:sp>
        <p:nvSpPr>
          <p:cNvPr id="6" name="TextBox 5"/>
          <p:cNvSpPr txBox="1"/>
          <p:nvPr/>
        </p:nvSpPr>
        <p:spPr>
          <a:xfrm>
            <a:off x="1485900" y="419100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Form groups of three: CUSTOMER, INTERVIEWER, OBSERVER. In a four, the fourth is a second observer — never a second interviewer.</a:t>
            </a:r>
          </a:p>
        </p:txBody>
      </p:sp>
      <p:sp>
        <p:nvSpPr>
          <p:cNvPr id="7" name="TextBox 6"/>
          <p:cNvSpPr txBox="1"/>
          <p:nvPr/>
        </p:nvSpPr>
        <p:spPr>
          <a:xfrm>
            <a:off x="1047750" y="547878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2</a:t>
            </a:r>
          </a:p>
        </p:txBody>
      </p:sp>
      <p:sp>
        <p:nvSpPr>
          <p:cNvPr id="8" name="TextBox 7"/>
          <p:cNvSpPr txBox="1"/>
          <p:nvPr/>
        </p:nvSpPr>
        <p:spPr>
          <a:xfrm>
            <a:off x="1485900" y="547878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CUSTOMER: name one real purchase from the last month, over ₹200, where you passed up a cheaper option. Say what you paid and what you did not buy.</a:t>
            </a:r>
          </a:p>
        </p:txBody>
      </p:sp>
      <p:sp>
        <p:nvSpPr>
          <p:cNvPr id="9" name="TextBox 8"/>
          <p:cNvSpPr txBox="1"/>
          <p:nvPr/>
        </p:nvSpPr>
        <p:spPr>
          <a:xfrm>
            <a:off x="1047750" y="676656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3</a:t>
            </a:r>
          </a:p>
        </p:txBody>
      </p:sp>
      <p:sp>
        <p:nvSpPr>
          <p:cNvPr id="10" name="TextBox 9"/>
          <p:cNvSpPr txBox="1"/>
          <p:nvPr/>
        </p:nvSpPr>
        <p:spPr>
          <a:xfrm>
            <a:off x="1485900" y="676656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INTERVIEWER: ask rung 1 — 'what did you want from it?' — and write the answer word for word. Do not improve it.</a:t>
            </a:r>
          </a:p>
        </p:txBody>
      </p:sp>
      <p:sp>
        <p:nvSpPr>
          <p:cNvPr id="11" name="TextBox 10"/>
          <p:cNvSpPr txBox="1"/>
          <p:nvPr/>
        </p:nvSpPr>
        <p:spPr>
          <a:xfrm>
            <a:off x="9429750" y="419100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4</a:t>
            </a:r>
          </a:p>
        </p:txBody>
      </p:sp>
      <p:sp>
        <p:nvSpPr>
          <p:cNvPr id="12" name="TextBox 11"/>
          <p:cNvSpPr txBox="1"/>
          <p:nvPr/>
        </p:nvSpPr>
        <p:spPr>
          <a:xfrm>
            <a:off x="9867900" y="419100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INTERVIEWER: ask 'why?' Then again. Five rungs. You may rephrase as 'why did that matter to you?' — never suggest an answer, never fill a silence.</a:t>
            </a:r>
          </a:p>
        </p:txBody>
      </p:sp>
      <p:sp>
        <p:nvSpPr>
          <p:cNvPr id="13" name="TextBox 12"/>
          <p:cNvSpPr txBox="1"/>
          <p:nvPr/>
        </p:nvSpPr>
        <p:spPr>
          <a:xfrm>
            <a:off x="9429750" y="547878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5</a:t>
            </a:r>
          </a:p>
        </p:txBody>
      </p:sp>
      <p:sp>
        <p:nvSpPr>
          <p:cNvPr id="14" name="TextBox 13"/>
          <p:cNvSpPr txBox="1"/>
          <p:nvPr/>
        </p:nvSpPr>
        <p:spPr>
          <a:xfrm>
            <a:off x="9867900" y="547878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OBSERVER: write each rung in the customer's own words and mark the level beside it — 1 for a feature, 2 for a practical outcome, 3 for a feeling.</a:t>
            </a:r>
          </a:p>
        </p:txBody>
      </p:sp>
      <p:sp>
        <p:nvSpPr>
          <p:cNvPr id="15" name="TextBox 14"/>
          <p:cNvSpPr txBox="1"/>
          <p:nvPr/>
        </p:nvSpPr>
        <p:spPr>
          <a:xfrm>
            <a:off x="9429750" y="6766560"/>
            <a:ext cx="381000" cy="381000"/>
          </a:xfrm>
          <a:prstGeom prst="rect">
            <a:avLst/>
          </a:prstGeom>
          <a:noFill/>
        </p:spPr>
        <p:txBody>
          <a:bodyPr wrap="square" lIns="0" tIns="0" rIns="0" bIns="0" anchor="t">
            <a:spAutoFit/>
          </a:bodyPr>
          <a:lstStyle/>
          <a:p>
            <a:pPr algn="l"/>
            <a:r>
              <a:rPr sz="2550" b="1" i="0" kern="0">
                <a:solidFill>
                  <a:srgbClr val="C35141"/>
                </a:solidFill>
                <a:latin typeface="Arial"/>
                <a:ea typeface="Arial"/>
                <a:cs typeface="Arial"/>
              </a:rPr>
              <a:t>6</a:t>
            </a:r>
          </a:p>
        </p:txBody>
      </p:sp>
      <p:sp>
        <p:nvSpPr>
          <p:cNvPr id="16" name="TextBox 15"/>
          <p:cNvSpPr txBox="1"/>
          <p:nvPr/>
        </p:nvSpPr>
        <p:spPr>
          <a:xfrm>
            <a:off x="9867900" y="6766560"/>
            <a:ext cx="7277100" cy="1097280"/>
          </a:xfrm>
          <a:prstGeom prst="rect">
            <a:avLst/>
          </a:prstGeom>
          <a:noFill/>
        </p:spPr>
        <p:txBody>
          <a:bodyPr wrap="square" lIns="0" tIns="0" rIns="0" bIns="0" anchor="t">
            <a:spAutoFit/>
          </a:bodyPr>
          <a:lstStyle/>
          <a:p>
            <a:pPr algn="l"/>
            <a:r>
              <a:rPr sz="2400" b="0" i="0" kern="0">
                <a:solidFill>
                  <a:srgbClr val="201914"/>
                </a:solidFill>
                <a:latin typeface="Arial"/>
                <a:ea typeface="Arial"/>
                <a:cs typeface="Arial"/>
              </a:rPr>
              <a:t>OBSERVER: circle the rung where the answer left the product. Note any hesitation, laugh or 'honestly...' just before it — those three signals mark the crossing.</a:t>
            </a:r>
          </a:p>
        </p:txBody>
      </p:sp>
      <p:sp>
        <p:nvSpPr>
          <p:cNvPr id="17" name="TextBox 16"/>
          <p:cNvSpPr txBox="1"/>
          <p:nvPr/>
        </p:nvSpPr>
        <p:spPr>
          <a:xfrm>
            <a:off x="1047750" y="8343900"/>
            <a:ext cx="1619250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YOUR TEMPLATE</a:t>
            </a:r>
          </a:p>
        </p:txBody>
      </p:sp>
      <p:sp>
        <p:nvSpPr>
          <p:cNvPr id="18" name="Rectangle 17"/>
          <p:cNvSpPr/>
          <p:nvPr/>
        </p:nvSpPr>
        <p:spPr>
          <a:xfrm>
            <a:off x="1047750" y="8743950"/>
            <a:ext cx="16192500" cy="190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7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a:t>
            </a:r>
          </a:p>
        </p:txBody>
      </p:sp>
      <p:sp>
        <p:nvSpPr>
          <p:cNvPr id="20" name="TextBox 19"/>
          <p:cNvSpPr txBox="1"/>
          <p:nvPr/>
        </p:nvSpPr>
        <p:spPr>
          <a:xfrm>
            <a:off x="42862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QUESTION ASKED</a:t>
            </a:r>
          </a:p>
        </p:txBody>
      </p:sp>
      <p:sp>
        <p:nvSpPr>
          <p:cNvPr id="21" name="TextBox 20"/>
          <p:cNvSpPr txBox="1"/>
          <p:nvPr/>
        </p:nvSpPr>
        <p:spPr>
          <a:xfrm>
            <a:off x="7524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ANSWER (VERBATIM)</a:t>
            </a:r>
          </a:p>
        </p:txBody>
      </p:sp>
      <p:sp>
        <p:nvSpPr>
          <p:cNvPr id="22" name="TextBox 21"/>
          <p:cNvSpPr txBox="1"/>
          <p:nvPr/>
        </p:nvSpPr>
        <p:spPr>
          <a:xfrm>
            <a:off x="107632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LEVEL 1/2/3</a:t>
            </a:r>
          </a:p>
        </p:txBody>
      </p:sp>
      <p:sp>
        <p:nvSpPr>
          <p:cNvPr id="23" name="TextBox 22"/>
          <p:cNvSpPr txBox="1"/>
          <p:nvPr/>
        </p:nvSpPr>
        <p:spPr>
          <a:xfrm>
            <a:off x="14001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OBSERVER NOTE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THREE COMPLETED LADDERS</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Two go deep, and one honestly does not</a:t>
            </a:r>
          </a:p>
        </p:txBody>
      </p:sp>
      <p:sp>
        <p:nvSpPr>
          <p:cNvPr id="4" name="Rectangle 3"/>
          <p:cNvSpPr/>
          <p:nvPr/>
        </p:nvSpPr>
        <p:spPr>
          <a:xfrm>
            <a:off x="1047750" y="2857500"/>
            <a:ext cx="5143500" cy="66446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2550" y="3162300"/>
            <a:ext cx="4533900" cy="71628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Cult.fit at ₹2,499 a month, when the local gym charges ₹700</a:t>
            </a:r>
          </a:p>
        </p:txBody>
      </p:sp>
      <p:sp>
        <p:nvSpPr>
          <p:cNvPr id="6" name="TextBox 5"/>
          <p:cNvSpPr txBox="1"/>
          <p:nvPr/>
        </p:nvSpPr>
        <p:spPr>
          <a:xfrm>
            <a:off x="1352550" y="41262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7" name="TextBox 6"/>
          <p:cNvSpPr txBox="1"/>
          <p:nvPr/>
        </p:nvSpPr>
        <p:spPr>
          <a:xfrm>
            <a:off x="1352550" y="4457700"/>
            <a:ext cx="4533900" cy="54864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‘Better equipment, and the trainers are qualified.’</a:t>
            </a:r>
          </a:p>
        </p:txBody>
      </p:sp>
      <p:sp>
        <p:nvSpPr>
          <p:cNvPr id="8" name="TextBox 7"/>
          <p:cNvSpPr txBox="1"/>
          <p:nvPr/>
        </p:nvSpPr>
        <p:spPr>
          <a:xfrm>
            <a:off x="1352550" y="519684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9" name="TextBox 8"/>
          <p:cNvSpPr txBox="1"/>
          <p:nvPr/>
        </p:nvSpPr>
        <p:spPr>
          <a:xfrm>
            <a:off x="1352550" y="552831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‘If a class is booked and someone expects me, I actually go. And I do not want to be the person who paid and never went. Again.’</a:t>
            </a:r>
          </a:p>
        </p:txBody>
      </p:sp>
      <p:sp>
        <p:nvSpPr>
          <p:cNvPr id="10" name="TextBox 9"/>
          <p:cNvSpPr txBox="1"/>
          <p:nvPr/>
        </p:nvSpPr>
        <p:spPr>
          <a:xfrm>
            <a:off x="1352550" y="654177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WHAT THE BRAND SELLS</a:t>
            </a:r>
          </a:p>
        </p:txBody>
      </p:sp>
      <p:sp>
        <p:nvSpPr>
          <p:cNvPr id="11" name="TextBox 10"/>
          <p:cNvSpPr txBox="1"/>
          <p:nvPr/>
        </p:nvSpPr>
        <p:spPr>
          <a:xfrm>
            <a:off x="1352550" y="687324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Commitment devices, not fitness. Bookings, penalties and streaks are all engineered against quitting.</a:t>
            </a:r>
          </a:p>
        </p:txBody>
      </p:sp>
      <p:sp>
        <p:nvSpPr>
          <p:cNvPr id="12" name="Rectangle 11"/>
          <p:cNvSpPr/>
          <p:nvPr/>
        </p:nvSpPr>
        <p:spPr>
          <a:xfrm>
            <a:off x="1047750" y="8115300"/>
            <a:ext cx="5143500" cy="138684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2550" y="8401050"/>
            <a:ext cx="4533900" cy="77724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3 — shame about quitting</a:t>
            </a:r>
          </a:p>
        </p:txBody>
      </p:sp>
      <p:sp>
        <p:nvSpPr>
          <p:cNvPr id="14" name="Rectangle 13"/>
          <p:cNvSpPr/>
          <p:nvPr/>
        </p:nvSpPr>
        <p:spPr>
          <a:xfrm>
            <a:off x="6572250" y="2857500"/>
            <a:ext cx="5143500" cy="66446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77050" y="3162300"/>
            <a:ext cx="4533900" cy="71628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A ₹450 salon haircut, when the street barber charges ₹80</a:t>
            </a:r>
          </a:p>
        </p:txBody>
      </p:sp>
      <p:sp>
        <p:nvSpPr>
          <p:cNvPr id="16" name="TextBox 15"/>
          <p:cNvSpPr txBox="1"/>
          <p:nvPr/>
        </p:nvSpPr>
        <p:spPr>
          <a:xfrm>
            <a:off x="6877050" y="41262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17" name="TextBox 16"/>
          <p:cNvSpPr txBox="1"/>
          <p:nvPr/>
        </p:nvSpPr>
        <p:spPr>
          <a:xfrm>
            <a:off x="6877050" y="4457700"/>
            <a:ext cx="4533900" cy="27432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‘They cut it better, and the place is clean.’</a:t>
            </a:r>
          </a:p>
        </p:txBody>
      </p:sp>
      <p:sp>
        <p:nvSpPr>
          <p:cNvPr id="18" name="TextBox 17"/>
          <p:cNvSpPr txBox="1"/>
          <p:nvPr/>
        </p:nvSpPr>
        <p:spPr>
          <a:xfrm>
            <a:off x="6877050" y="49225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19" name="TextBox 18"/>
          <p:cNvSpPr txBox="1"/>
          <p:nvPr/>
        </p:nvSpPr>
        <p:spPr>
          <a:xfrm>
            <a:off x="6877050" y="52539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‘He shaved the sides without asking. I walked around like that for three weeks, and I had a family function that month.’</a:t>
            </a:r>
          </a:p>
        </p:txBody>
      </p:sp>
      <p:sp>
        <p:nvSpPr>
          <p:cNvPr id="20" name="TextBox 19"/>
          <p:cNvSpPr txBox="1"/>
          <p:nvPr/>
        </p:nvSpPr>
        <p:spPr>
          <a:xfrm>
            <a:off x="6877050" y="62674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WHAT THE BRAND SELLS</a:t>
            </a:r>
          </a:p>
        </p:txBody>
      </p:sp>
      <p:sp>
        <p:nvSpPr>
          <p:cNvPr id="21" name="TextBox 20"/>
          <p:cNvSpPr txBox="1"/>
          <p:nvPr/>
        </p:nvSpPr>
        <p:spPr>
          <a:xfrm>
            <a:off x="6877050" y="659892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Risk reduction. The consultation, the mirror check and the fixed price list are all built for it.</a:t>
            </a:r>
          </a:p>
        </p:txBody>
      </p:sp>
      <p:sp>
        <p:nvSpPr>
          <p:cNvPr id="22" name="Rectangle 21"/>
          <p:cNvSpPr/>
          <p:nvPr/>
        </p:nvSpPr>
        <p:spPr>
          <a:xfrm>
            <a:off x="6572250" y="8115300"/>
            <a:ext cx="5143500" cy="1386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77050" y="8401050"/>
            <a:ext cx="4533900"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2 + 3 — predictability</a:t>
            </a:r>
          </a:p>
        </p:txBody>
      </p:sp>
      <p:sp>
        <p:nvSpPr>
          <p:cNvPr id="24" name="Rectangle 23"/>
          <p:cNvSpPr/>
          <p:nvPr/>
        </p:nvSpPr>
        <p:spPr>
          <a:xfrm>
            <a:off x="12096750" y="2857500"/>
            <a:ext cx="5143500" cy="66446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401550" y="3162300"/>
            <a:ext cx="4533900" cy="107442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A ₹9 strip of generic paracetamol, over ₹32 branded Crocin</a:t>
            </a:r>
          </a:p>
        </p:txBody>
      </p:sp>
      <p:sp>
        <p:nvSpPr>
          <p:cNvPr id="26" name="TextBox 25"/>
          <p:cNvSpPr txBox="1"/>
          <p:nvPr/>
        </p:nvSpPr>
        <p:spPr>
          <a:xfrm>
            <a:off x="12401550" y="448437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27" name="TextBox 26"/>
          <p:cNvSpPr txBox="1"/>
          <p:nvPr/>
        </p:nvSpPr>
        <p:spPr>
          <a:xfrm>
            <a:off x="12401550" y="4815840"/>
            <a:ext cx="4533900" cy="27432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‘It is the same molecule and it is cheaper.’</a:t>
            </a:r>
          </a:p>
        </p:txBody>
      </p:sp>
      <p:sp>
        <p:nvSpPr>
          <p:cNvPr id="28" name="TextBox 27"/>
          <p:cNvSpPr txBox="1"/>
          <p:nvPr/>
        </p:nvSpPr>
        <p:spPr>
          <a:xfrm>
            <a:off x="12401550" y="528066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29" name="TextBox 28"/>
          <p:cNvSpPr txBox="1"/>
          <p:nvPr/>
        </p:nvSpPr>
        <p:spPr>
          <a:xfrm>
            <a:off x="12401550" y="561213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 will know in two hours whether it worked. Nobody sees which tablet I took. It is not that kind of purchase.’</a:t>
            </a:r>
          </a:p>
        </p:txBody>
      </p:sp>
      <p:sp>
        <p:nvSpPr>
          <p:cNvPr id="30" name="TextBox 29"/>
          <p:cNvSpPr txBox="1"/>
          <p:nvPr/>
        </p:nvSpPr>
        <p:spPr>
          <a:xfrm>
            <a:off x="12401550" y="662559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WHAT THE BRAND SELLS</a:t>
            </a:r>
          </a:p>
        </p:txBody>
      </p:sp>
      <p:sp>
        <p:nvSpPr>
          <p:cNvPr id="31" name="TextBox 30"/>
          <p:cNvSpPr txBox="1"/>
          <p:nvPr/>
        </p:nvSpPr>
        <p:spPr>
          <a:xfrm>
            <a:off x="12401550" y="6957060"/>
            <a:ext cx="4533900" cy="54864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Exactly what it claims: the molecule, at cost. Nothing inferior about that.</a:t>
            </a:r>
          </a:p>
        </p:txBody>
      </p:sp>
      <p:sp>
        <p:nvSpPr>
          <p:cNvPr id="32" name="Rectangle 31"/>
          <p:cNvSpPr/>
          <p:nvPr/>
        </p:nvSpPr>
        <p:spPr>
          <a:xfrm>
            <a:off x="12096750" y="8115300"/>
            <a:ext cx="5143500" cy="138684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401550" y="8401050"/>
            <a:ext cx="4533900" cy="77724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Level 1 — and the absence is the finding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THREE MORE, IF THE DEBRIEF WANTS THEM</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Three purchases, three different depths</a:t>
            </a:r>
          </a:p>
        </p:txBody>
      </p:sp>
      <p:sp>
        <p:nvSpPr>
          <p:cNvPr id="4" name="Rectangle 3"/>
          <p:cNvSpPr/>
          <p:nvPr/>
        </p:nvSpPr>
        <p:spPr>
          <a:xfrm>
            <a:off x="1047750" y="2857500"/>
            <a:ext cx="5143500" cy="637032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2550" y="3162300"/>
            <a:ext cx="4533900" cy="71628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A ₹210 cab to a job interview, when the bus costs ₹15</a:t>
            </a:r>
          </a:p>
        </p:txBody>
      </p:sp>
      <p:sp>
        <p:nvSpPr>
          <p:cNvPr id="6" name="TextBox 5"/>
          <p:cNvSpPr txBox="1"/>
          <p:nvPr/>
        </p:nvSpPr>
        <p:spPr>
          <a:xfrm>
            <a:off x="1352550" y="41262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7" name="TextBox 6"/>
          <p:cNvSpPr txBox="1"/>
          <p:nvPr/>
        </p:nvSpPr>
        <p:spPr>
          <a:xfrm>
            <a:off x="1352550" y="4457700"/>
            <a:ext cx="4533900" cy="27432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 could not risk being late.’</a:t>
            </a:r>
          </a:p>
        </p:txBody>
      </p:sp>
      <p:sp>
        <p:nvSpPr>
          <p:cNvPr id="8" name="TextBox 7"/>
          <p:cNvSpPr txBox="1"/>
          <p:nvPr/>
        </p:nvSpPr>
        <p:spPr>
          <a:xfrm>
            <a:off x="1352550" y="49225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9" name="TextBox 8"/>
          <p:cNvSpPr txBox="1"/>
          <p:nvPr/>
        </p:nvSpPr>
        <p:spPr>
          <a:xfrm>
            <a:off x="1352550" y="52539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‘It was May. They look at you first. I do not want them deciding what background I come from before I open my mouth.’</a:t>
            </a:r>
          </a:p>
        </p:txBody>
      </p:sp>
      <p:sp>
        <p:nvSpPr>
          <p:cNvPr id="10" name="TextBox 9"/>
          <p:cNvSpPr txBox="1"/>
          <p:nvPr/>
        </p:nvSpPr>
        <p:spPr>
          <a:xfrm>
            <a:off x="1352550" y="62674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TELL</a:t>
            </a:r>
          </a:p>
        </p:txBody>
      </p:sp>
      <p:sp>
        <p:nvSpPr>
          <p:cNvPr id="11" name="TextBox 10"/>
          <p:cNvSpPr txBox="1"/>
          <p:nvPr/>
        </p:nvSpPr>
        <p:spPr>
          <a:xfrm>
            <a:off x="1352550" y="6598920"/>
            <a:ext cx="4533900" cy="54864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Look for the occasions when a customer breaks their own price rules.</a:t>
            </a:r>
          </a:p>
        </p:txBody>
      </p:sp>
      <p:sp>
        <p:nvSpPr>
          <p:cNvPr id="12" name="Rectangle 11"/>
          <p:cNvSpPr/>
          <p:nvPr/>
        </p:nvSpPr>
        <p:spPr>
          <a:xfrm>
            <a:off x="1047750" y="7840980"/>
            <a:ext cx="5143500" cy="138684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2550" y="8126730"/>
            <a:ext cx="4533900" cy="77724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3 — arrival on your own terms</a:t>
            </a:r>
          </a:p>
        </p:txBody>
      </p:sp>
      <p:sp>
        <p:nvSpPr>
          <p:cNvPr id="14" name="Rectangle 13"/>
          <p:cNvSpPr/>
          <p:nvPr/>
        </p:nvSpPr>
        <p:spPr>
          <a:xfrm>
            <a:off x="6572250" y="2857500"/>
            <a:ext cx="5143500" cy="637032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77050" y="3162300"/>
            <a:ext cx="4533900" cy="71628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Amul Taaza at ₹78 a litre, when the doodhwala delivers at ₹56</a:t>
            </a:r>
          </a:p>
        </p:txBody>
      </p:sp>
      <p:sp>
        <p:nvSpPr>
          <p:cNvPr id="16" name="TextBox 15"/>
          <p:cNvSpPr txBox="1"/>
          <p:nvPr/>
        </p:nvSpPr>
        <p:spPr>
          <a:xfrm>
            <a:off x="6877050" y="41262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17" name="TextBox 16"/>
          <p:cNvSpPr txBox="1"/>
          <p:nvPr/>
        </p:nvSpPr>
        <p:spPr>
          <a:xfrm>
            <a:off x="6877050" y="4457700"/>
            <a:ext cx="4533900" cy="27432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‘It is convenient — it keeps without a fridge.’</a:t>
            </a:r>
          </a:p>
        </p:txBody>
      </p:sp>
      <p:sp>
        <p:nvSpPr>
          <p:cNvPr id="18" name="TextBox 17"/>
          <p:cNvSpPr txBox="1"/>
          <p:nvPr/>
        </p:nvSpPr>
        <p:spPr>
          <a:xfrm>
            <a:off x="6877050" y="49225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19" name="TextBox 18"/>
          <p:cNvSpPr txBox="1"/>
          <p:nvPr/>
        </p:nvSpPr>
        <p:spPr>
          <a:xfrm>
            <a:off x="6877050" y="52539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‘My mother makes milk for my grandmother every night. If something is wrong with it, that is on me.’</a:t>
            </a:r>
          </a:p>
        </p:txBody>
      </p:sp>
      <p:sp>
        <p:nvSpPr>
          <p:cNvPr id="20" name="TextBox 19"/>
          <p:cNvSpPr txBox="1"/>
          <p:nvPr/>
        </p:nvSpPr>
        <p:spPr>
          <a:xfrm>
            <a:off x="6877050" y="62674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TELL</a:t>
            </a:r>
          </a:p>
        </p:txBody>
      </p:sp>
      <p:sp>
        <p:nvSpPr>
          <p:cNvPr id="21" name="TextBox 20"/>
          <p:cNvSpPr txBox="1"/>
          <p:nvPr/>
        </p:nvSpPr>
        <p:spPr>
          <a:xfrm>
            <a:off x="6877050" y="659892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Packaged commodities sell a transfer of responsibility — the price of not being the expert.</a:t>
            </a:r>
          </a:p>
        </p:txBody>
      </p:sp>
      <p:sp>
        <p:nvSpPr>
          <p:cNvPr id="22" name="Rectangle 21"/>
          <p:cNvSpPr/>
          <p:nvPr/>
        </p:nvSpPr>
        <p:spPr>
          <a:xfrm>
            <a:off x="6572250" y="7840980"/>
            <a:ext cx="5143500" cy="1386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77050" y="8126730"/>
            <a:ext cx="4533900"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Level 2 + 3 — verifiability</a:t>
            </a:r>
          </a:p>
        </p:txBody>
      </p:sp>
      <p:sp>
        <p:nvSpPr>
          <p:cNvPr id="24" name="Rectangle 23"/>
          <p:cNvSpPr/>
          <p:nvPr/>
        </p:nvSpPr>
        <p:spPr>
          <a:xfrm>
            <a:off x="12096750" y="2857500"/>
            <a:ext cx="5143500" cy="637032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401550" y="3162300"/>
            <a:ext cx="4533900" cy="71628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A ₹90 umbrella from a footpath vendor during a downpour</a:t>
            </a:r>
          </a:p>
        </p:txBody>
      </p:sp>
      <p:sp>
        <p:nvSpPr>
          <p:cNvPr id="26" name="TextBox 25"/>
          <p:cNvSpPr txBox="1"/>
          <p:nvPr/>
        </p:nvSpPr>
        <p:spPr>
          <a:xfrm>
            <a:off x="12401550" y="41262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1</a:t>
            </a:r>
          </a:p>
        </p:txBody>
      </p:sp>
      <p:sp>
        <p:nvSpPr>
          <p:cNvPr id="27" name="TextBox 26"/>
          <p:cNvSpPr txBox="1"/>
          <p:nvPr/>
        </p:nvSpPr>
        <p:spPr>
          <a:xfrm>
            <a:off x="12401550" y="4457700"/>
            <a:ext cx="4533900" cy="27432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‘It was raining and I did not want to get wet.’</a:t>
            </a:r>
          </a:p>
        </p:txBody>
      </p:sp>
      <p:sp>
        <p:nvSpPr>
          <p:cNvPr id="28" name="TextBox 27"/>
          <p:cNvSpPr txBox="1"/>
          <p:nvPr/>
        </p:nvSpPr>
        <p:spPr>
          <a:xfrm>
            <a:off x="12401550" y="49225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RUNG 5</a:t>
            </a:r>
          </a:p>
        </p:txBody>
      </p:sp>
      <p:sp>
        <p:nvSpPr>
          <p:cNvPr id="29" name="TextBox 28"/>
          <p:cNvSpPr txBox="1"/>
          <p:nvPr/>
        </p:nvSpPr>
        <p:spPr>
          <a:xfrm>
            <a:off x="12401550" y="52539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‘I did not even look at the quality — it only had to survive twenty minutes. Would I have paid ₹200? In that moment, yes.’</a:t>
            </a:r>
          </a:p>
        </p:txBody>
      </p:sp>
      <p:sp>
        <p:nvSpPr>
          <p:cNvPr id="30" name="TextBox 29"/>
          <p:cNvSpPr txBox="1"/>
          <p:nvPr/>
        </p:nvSpPr>
        <p:spPr>
          <a:xfrm>
            <a:off x="12401550" y="62674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TELL</a:t>
            </a:r>
          </a:p>
        </p:txBody>
      </p:sp>
      <p:sp>
        <p:nvSpPr>
          <p:cNvPr id="31" name="TextBox 30"/>
          <p:cNvSpPr txBox="1"/>
          <p:nvPr/>
        </p:nvSpPr>
        <p:spPr>
          <a:xfrm>
            <a:off x="12401550" y="6598920"/>
            <a:ext cx="4533900" cy="54864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Acute, short-lived needs produce high willingness to pay and zero loyalty.</a:t>
            </a:r>
          </a:p>
        </p:txBody>
      </p:sp>
      <p:sp>
        <p:nvSpPr>
          <p:cNvPr id="32" name="Rectangle 31"/>
          <p:cNvSpPr/>
          <p:nvPr/>
        </p:nvSpPr>
        <p:spPr>
          <a:xfrm>
            <a:off x="12096750" y="7840980"/>
            <a:ext cx="5143500" cy="138684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401550" y="8126730"/>
            <a:ext cx="4533900" cy="77724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Level 1 — no driver, and do not invent 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READ AFTER CLASS · DO NOT MEMORISE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Six terms, in plain English</a:t>
            </a:r>
          </a:p>
        </p:txBody>
      </p:sp>
      <p:sp>
        <p:nvSpPr>
          <p:cNvPr id="4" name="TextBox 3"/>
          <p:cNvSpPr txBox="1"/>
          <p:nvPr/>
        </p:nvSpPr>
        <p:spPr>
          <a:xfrm>
            <a:off x="10477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Stated need</a:t>
            </a:r>
          </a:p>
        </p:txBody>
      </p:sp>
      <p:sp>
        <p:nvSpPr>
          <p:cNvPr id="5" name="Rectangle 4"/>
          <p:cNvSpPr/>
          <p:nvPr/>
        </p:nvSpPr>
        <p:spPr>
          <a:xfrm>
            <a:off x="10477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37528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What a customer says when you ask. Concrete, feature-shaped, safe to say out loud — and the entry point, not the finding.</a:t>
            </a:r>
          </a:p>
        </p:txBody>
      </p:sp>
      <p:sp>
        <p:nvSpPr>
          <p:cNvPr id="7" name="TextBox 6"/>
          <p:cNvSpPr txBox="1"/>
          <p:nvPr/>
        </p:nvSpPr>
        <p:spPr>
          <a:xfrm>
            <a:off x="65849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Latent need</a:t>
            </a:r>
          </a:p>
        </p:txBody>
      </p:sp>
      <p:sp>
        <p:nvSpPr>
          <p:cNvPr id="8" name="Rectangle 7"/>
          <p:cNvSpPr/>
          <p:nvPr/>
        </p:nvSpPr>
        <p:spPr>
          <a:xfrm>
            <a:off x="65849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4950" y="37528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What they actually want, whether or not they have words for it. Something you have to catch them doing, not something they will tell you.</a:t>
            </a:r>
          </a:p>
        </p:txBody>
      </p:sp>
      <p:sp>
        <p:nvSpPr>
          <p:cNvPr id="10" name="TextBox 9"/>
          <p:cNvSpPr txBox="1"/>
          <p:nvPr/>
        </p:nvSpPr>
        <p:spPr>
          <a:xfrm>
            <a:off x="121221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Iceberg Model</a:t>
            </a:r>
          </a:p>
        </p:txBody>
      </p:sp>
      <p:sp>
        <p:nvSpPr>
          <p:cNvPr id="11" name="Rectangle 10"/>
          <p:cNvSpPr/>
          <p:nvPr/>
        </p:nvSpPr>
        <p:spPr>
          <a:xfrm>
            <a:off x="121221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22150" y="3752850"/>
            <a:ext cx="5118100"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three-level map of a customer: what they say, what they practically want, and the feeling that makes it urgent. Name a business by the shallowest level it still has to deliver.</a:t>
            </a:r>
          </a:p>
        </p:txBody>
      </p:sp>
      <p:sp>
        <p:nvSpPr>
          <p:cNvPr id="13" name="TextBox 12"/>
          <p:cNvSpPr txBox="1"/>
          <p:nvPr/>
        </p:nvSpPr>
        <p:spPr>
          <a:xfrm>
            <a:off x="10477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Laddering</a:t>
            </a:r>
          </a:p>
        </p:txBody>
      </p:sp>
      <p:sp>
        <p:nvSpPr>
          <p:cNvPr id="14" name="Rectangle 13"/>
          <p:cNvSpPr/>
          <p:nvPr/>
        </p:nvSpPr>
        <p:spPr>
          <a:xfrm>
            <a:off x="10477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66103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Ask why after every answer, five times, until the answer stops being about the product and starts being about the person.</a:t>
            </a:r>
          </a:p>
        </p:txBody>
      </p:sp>
      <p:sp>
        <p:nvSpPr>
          <p:cNvPr id="16" name="TextBox 15"/>
          <p:cNvSpPr txBox="1"/>
          <p:nvPr/>
        </p:nvSpPr>
        <p:spPr>
          <a:xfrm>
            <a:off x="65849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Observational insight</a:t>
            </a:r>
          </a:p>
        </p:txBody>
      </p:sp>
      <p:sp>
        <p:nvSpPr>
          <p:cNvPr id="17" name="Rectangle 16"/>
          <p:cNvSpPr/>
          <p:nvPr/>
        </p:nvSpPr>
        <p:spPr>
          <a:xfrm>
            <a:off x="65849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4950" y="6610350"/>
            <a:ext cx="5118100"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Evidence about a latent need that comes from watching what customers do — a workaround, a substitution, money already spent, a moment avoided.</a:t>
            </a:r>
          </a:p>
        </p:txBody>
      </p:sp>
      <p:sp>
        <p:nvSpPr>
          <p:cNvPr id="19" name="TextBox 18"/>
          <p:cNvSpPr txBox="1"/>
          <p:nvPr/>
        </p:nvSpPr>
        <p:spPr>
          <a:xfrm>
            <a:off x="121221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Gross margin</a:t>
            </a:r>
          </a:p>
        </p:txBody>
      </p:sp>
      <p:sp>
        <p:nvSpPr>
          <p:cNvPr id="20" name="Rectangle 19"/>
          <p:cNvSpPr/>
          <p:nvPr/>
        </p:nvSpPr>
        <p:spPr>
          <a:xfrm>
            <a:off x="121221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122150" y="66103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Revenue minus the direct cost of making the thing, as a percentage of revenue. Not profit — Maggi's ₹14 packet costs ₹6-7 to make.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NEXT SESSION</a:t>
            </a:r>
          </a:p>
        </p:txBody>
      </p:sp>
      <p:sp>
        <p:nvSpPr>
          <p:cNvPr id="3" name="TextBox 2"/>
          <p:cNvSpPr txBox="1"/>
          <p:nvPr/>
        </p:nvSpPr>
        <p:spPr>
          <a:xfrm>
            <a:off x="1047750" y="3619500"/>
            <a:ext cx="15430500" cy="1554480"/>
          </a:xfrm>
          <a:prstGeom prst="rect">
            <a:avLst/>
          </a:prstGeom>
          <a:noFill/>
        </p:spPr>
        <p:txBody>
          <a:bodyPr wrap="square" lIns="0" tIns="0" rIns="0" bIns="0" anchor="t">
            <a:spAutoFit/>
          </a:bodyPr>
          <a:lstStyle/>
          <a:p>
            <a:pPr algn="l"/>
            <a:r>
              <a:rPr sz="5100" b="0" i="1" kern="0">
                <a:solidFill>
                  <a:srgbClr val="F5F1E9"/>
                </a:solidFill>
                <a:latin typeface="Georgia"/>
                <a:ea typeface="Georgia"/>
                <a:cs typeface="Georgia"/>
              </a:rPr>
              <a:t>Half the milkshakes were sold before 9am — and not one of them was bought for the taste.</a:t>
            </a:r>
          </a:p>
        </p:txBody>
      </p:sp>
      <p:sp>
        <p:nvSpPr>
          <p:cNvPr id="4" name="TextBox 3"/>
          <p:cNvSpPr txBox="1"/>
          <p:nvPr/>
        </p:nvSpPr>
        <p:spPr>
          <a:xfrm>
            <a:off x="1047750" y="5631180"/>
            <a:ext cx="15430500" cy="1143000"/>
          </a:xfrm>
          <a:prstGeom prst="rect">
            <a:avLst/>
          </a:prstGeom>
          <a:noFill/>
        </p:spPr>
        <p:txBody>
          <a:bodyPr wrap="square" lIns="0" tIns="0" rIns="0" bIns="0" anchor="t">
            <a:spAutoFit/>
          </a:bodyPr>
          <a:lstStyle/>
          <a:p>
            <a:pPr algn="l"/>
            <a:r>
              <a:rPr sz="2550" b="0" i="0" kern="0">
                <a:solidFill>
                  <a:srgbClr val="AEA298"/>
                </a:solidFill>
                <a:latin typeface="Arial"/>
                <a:ea typeface="Arial"/>
                <a:cs typeface="Arial"/>
              </a:rPr>
              <a:t>Bring your ladder write-up. We open by putting two of your rung-5 answers on the 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8265</Words>
  <Application>Microsoft Macintosh PowerPoint</Application>
  <PresentationFormat>Custom</PresentationFormat>
  <Paragraphs>558</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 The Iceberg Problem</dc:title>
  <dc:subject>Zenith School of AI · Customer Discovery · Module 2 · Facilitator deck</dc:subject>
  <dc:creator>Zenith School of AI</dc:creator>
  <cp:keywords>Customer Discovery</cp:keywords>
  <dc:description/>
  <cp:lastModifiedBy>Avinash Pandit</cp:lastModifiedBy>
  <cp:revision>2</cp:revision>
  <dcterms:created xsi:type="dcterms:W3CDTF">2026-08-29T07:31:27Z</dcterms:created>
  <dcterms:modified xsi:type="dcterms:W3CDTF">2026-08-30T05:36:20Z</dcterms:modified>
  <cp:category>Facilitator deck</cp:category>
</cp:coreProperties>
</file>