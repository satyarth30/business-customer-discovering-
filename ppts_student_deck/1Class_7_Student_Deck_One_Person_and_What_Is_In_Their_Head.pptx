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9525000" cy="323850"/>
          </a:xfrm>
          <a:prstGeom prst="rect">
            <a:avLst/>
          </a:prstGeom>
          <a:noFill/>
        </p:spPr>
        <p:txBody>
          <a:bodyPr wrap="square" lIns="0" rIns="0" tIns="0" bIns="0" anchor="t"/>
          <a:lstStyle/>
          <a:p>
            <a:pPr algn="l"/>
            <a:r>
              <a:rPr sz="1950" b="1" i="0" spc="312">
                <a:solidFill>
                  <a:srgbClr val="C35141"/>
                </a:solidFill>
                <a:latin typeface="Arial"/>
              </a:rPr>
              <a:t>ZENITH SCHOOL OF AI · CUSTOMER DISCOVERY · CLASS 7</a:t>
            </a:r>
          </a:p>
        </p:txBody>
      </p:sp>
      <p:sp>
        <p:nvSpPr>
          <p:cNvPr id="3" name="TextBox 2"/>
          <p:cNvSpPr txBox="1"/>
          <p:nvPr/>
        </p:nvSpPr>
        <p:spPr>
          <a:xfrm>
            <a:off x="1047750" y="2095500"/>
            <a:ext cx="16192500" cy="2667000"/>
          </a:xfrm>
          <a:prstGeom prst="rect">
            <a:avLst/>
          </a:prstGeom>
          <a:noFill/>
        </p:spPr>
        <p:txBody>
          <a:bodyPr wrap="square" lIns="0" rIns="0" tIns="0" bIns="0" anchor="t"/>
          <a:lstStyle/>
          <a:p>
            <a:pPr algn="l">
              <a:lnSpc>
                <a:spcPct val="81600"/>
              </a:lnSpc>
            </a:pPr>
            <a:r>
              <a:rPr sz="9900" b="1" i="0" spc="-346">
                <a:solidFill>
                  <a:srgbClr val="F5F1E9"/>
                </a:solidFill>
                <a:latin typeface="Arial"/>
              </a:rPr>
              <a:t>One Person, and What Is In Their Head</a:t>
            </a:r>
          </a:p>
        </p:txBody>
      </p:sp>
      <p:sp>
        <p:nvSpPr>
          <p:cNvPr id="4" name="TextBox 3"/>
          <p:cNvSpPr txBox="1"/>
          <p:nvPr/>
        </p:nvSpPr>
        <p:spPr>
          <a:xfrm>
            <a:off x="1047750" y="5181600"/>
            <a:ext cx="12382500" cy="1381125"/>
          </a:xfrm>
          <a:prstGeom prst="rect">
            <a:avLst/>
          </a:prstGeom>
          <a:noFill/>
        </p:spPr>
        <p:txBody>
          <a:bodyPr wrap="square" lIns="0" rIns="0" tIns="0" bIns="0" anchor="t"/>
          <a:lstStyle/>
          <a:p>
            <a:pPr algn="l">
              <a:lnSpc>
                <a:spcPct val="105800"/>
              </a:lnSpc>
            </a:pPr>
            <a:r>
              <a:rPr sz="3900" b="0" i="1">
                <a:solidFill>
                  <a:srgbClr val="C1B5AB"/>
                </a:solidFill>
                <a:latin typeface="Georgia"/>
              </a:rPr>
              <a:t>You cannot argue with a segment. You can argue with Rohit.</a:t>
            </a:r>
          </a:p>
        </p:txBody>
      </p:sp>
      <p:sp>
        <p:nvSpPr>
          <p:cNvPr id="5" name="Rectangle 4"/>
          <p:cNvSpPr/>
          <p:nvPr/>
        </p:nvSpPr>
        <p:spPr>
          <a:xfrm>
            <a:off x="1047750" y="8877300"/>
            <a:ext cx="16192500" cy="19050"/>
          </a:xfrm>
          <a:prstGeom prst="rect">
            <a:avLst/>
          </a:prstGeom>
          <a:solidFill>
            <a:srgbClr val="4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9239250"/>
            <a:ext cx="2149828" cy="333375"/>
          </a:xfrm>
          <a:prstGeom prst="rect">
            <a:avLst/>
          </a:prstGeom>
          <a:noFill/>
        </p:spPr>
        <p:txBody>
          <a:bodyPr wrap="square" lIns="0" rIns="0" tIns="0" bIns="0" anchor="t"/>
          <a:lstStyle/>
          <a:p>
            <a:pPr algn="l"/>
            <a:r>
              <a:rPr sz="2100" b="0" i="0">
                <a:solidFill>
                  <a:srgbClr val="AEA298"/>
                </a:solidFill>
                <a:latin typeface="Arial"/>
              </a:rPr>
              <a:t>The Seven Slots</a:t>
            </a:r>
          </a:p>
        </p:txBody>
      </p:sp>
      <p:sp>
        <p:nvSpPr>
          <p:cNvPr id="7" name="TextBox 6"/>
          <p:cNvSpPr txBox="1"/>
          <p:nvPr/>
        </p:nvSpPr>
        <p:spPr>
          <a:xfrm>
            <a:off x="3559528" y="9239250"/>
            <a:ext cx="1533180" cy="333375"/>
          </a:xfrm>
          <a:prstGeom prst="rect">
            <a:avLst/>
          </a:prstGeom>
          <a:noFill/>
        </p:spPr>
        <p:txBody>
          <a:bodyPr wrap="square" lIns="0" rIns="0" tIns="0" bIns="0" anchor="t"/>
          <a:lstStyle/>
          <a:p>
            <a:pPr algn="l"/>
            <a:r>
              <a:rPr sz="2100" b="0" i="0">
                <a:solidFill>
                  <a:srgbClr val="AEA298"/>
                </a:solidFill>
                <a:latin typeface="Arial"/>
              </a:rPr>
              <a:t>The Trigger</a:t>
            </a:r>
          </a:p>
        </p:txBody>
      </p:sp>
      <p:sp>
        <p:nvSpPr>
          <p:cNvPr id="8" name="TextBox 7"/>
          <p:cNvSpPr txBox="1"/>
          <p:nvPr/>
        </p:nvSpPr>
        <p:spPr>
          <a:xfrm>
            <a:off x="5454658" y="9239250"/>
            <a:ext cx="2381071" cy="333375"/>
          </a:xfrm>
          <a:prstGeom prst="rect">
            <a:avLst/>
          </a:prstGeom>
          <a:noFill/>
        </p:spPr>
        <p:txBody>
          <a:bodyPr wrap="square" lIns="0" rIns="0" tIns="0" bIns="0" anchor="t"/>
          <a:lstStyle/>
          <a:p>
            <a:pPr algn="l"/>
            <a:r>
              <a:rPr sz="2100" b="0" i="0">
                <a:solidFill>
                  <a:srgbClr val="AEA298"/>
                </a:solidFill>
                <a:latin typeface="Arial"/>
              </a:rPr>
              <a:t>The Empathy Map</a:t>
            </a:r>
          </a:p>
        </p:txBody>
      </p:sp>
      <p:sp>
        <p:nvSpPr>
          <p:cNvPr id="9" name="TextBox 8"/>
          <p:cNvSpPr txBox="1"/>
          <p:nvPr/>
        </p:nvSpPr>
        <p:spPr>
          <a:xfrm>
            <a:off x="8197679" y="9239250"/>
            <a:ext cx="2195953" cy="333375"/>
          </a:xfrm>
          <a:prstGeom prst="rect">
            <a:avLst/>
          </a:prstGeom>
          <a:noFill/>
        </p:spPr>
        <p:txBody>
          <a:bodyPr wrap="square" lIns="0" rIns="0" tIns="0" bIns="0" anchor="t"/>
          <a:lstStyle/>
          <a:p>
            <a:pPr algn="l"/>
            <a:r>
              <a:rPr sz="2100" b="0" i="0">
                <a:solidFill>
                  <a:srgbClr val="AEA298"/>
                </a:solidFill>
                <a:latin typeface="Arial"/>
              </a:rPr>
              <a:t>The Say-Do Gap</a:t>
            </a:r>
          </a:p>
        </p:txBody>
      </p:sp>
      <p:sp>
        <p:nvSpPr>
          <p:cNvPr id="10" name="TextBox 9"/>
          <p:cNvSpPr txBox="1"/>
          <p:nvPr/>
        </p:nvSpPr>
        <p:spPr>
          <a:xfrm>
            <a:off x="10755582" y="9239250"/>
            <a:ext cx="2041791" cy="333375"/>
          </a:xfrm>
          <a:prstGeom prst="rect">
            <a:avLst/>
          </a:prstGeom>
          <a:noFill/>
        </p:spPr>
        <p:txBody>
          <a:bodyPr wrap="square" lIns="0" rIns="0" tIns="0" bIns="0" anchor="t"/>
          <a:lstStyle/>
          <a:p>
            <a:pPr algn="l"/>
            <a:r>
              <a:rPr sz="2100" b="0" i="0">
                <a:solidFill>
                  <a:srgbClr val="AEA298"/>
                </a:solidFill>
                <a:latin typeface="Arial"/>
              </a:rPr>
              <a:t>Buyer and User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WHERE WE LEFT OFF</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You have a group. Today you get a person.</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5143500" cy="600075"/>
          </a:xfrm>
          <a:prstGeom prst="rect">
            <a:avLst/>
          </a:prstGeom>
          <a:noFill/>
        </p:spPr>
        <p:txBody>
          <a:bodyPr wrap="square" lIns="0" rIns="0" tIns="0" bIns="0" anchor="t"/>
          <a:lstStyle/>
          <a:p>
            <a:pPr algn="l"/>
            <a:r>
              <a:rPr sz="3300" b="1" i="0">
                <a:solidFill>
                  <a:srgbClr val="201914"/>
                </a:solidFill>
                <a:latin typeface="Arial"/>
              </a:rPr>
              <a:t>The iceberg and the job</a:t>
            </a:r>
          </a:p>
        </p:txBody>
      </p:sp>
      <p:sp>
        <p:nvSpPr>
          <p:cNvPr id="6" name="TextBox 5"/>
          <p:cNvSpPr txBox="1"/>
          <p:nvPr/>
        </p:nvSpPr>
        <p:spPr>
          <a:xfrm>
            <a:off x="1047750" y="3876675"/>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Lecture 7: the stated need is the tenth above the water. Lecture 8: a customer hires a product for a job.</a:t>
            </a:r>
          </a:p>
        </p:txBody>
      </p:sp>
      <p:sp>
        <p:nvSpPr>
          <p:cNvPr id="7" name="Rectangle 6"/>
          <p:cNvSpPr/>
          <p:nvPr/>
        </p:nvSpPr>
        <p:spPr>
          <a:xfrm>
            <a:off x="65722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143250"/>
            <a:ext cx="5143500" cy="1123950"/>
          </a:xfrm>
          <a:prstGeom prst="rect">
            <a:avLst/>
          </a:prstGeom>
          <a:noFill/>
        </p:spPr>
        <p:txBody>
          <a:bodyPr wrap="square" lIns="0" rIns="0" tIns="0" bIns="0" anchor="t"/>
          <a:lstStyle/>
          <a:p>
            <a:pPr algn="l"/>
            <a:r>
              <a:rPr sz="3300" b="1" i="0">
                <a:solidFill>
                  <a:srgbClr val="201914"/>
                </a:solidFill>
                <a:latin typeface="Arial"/>
              </a:rPr>
              <a:t>Segment, ICP and the beachhead</a:t>
            </a:r>
          </a:p>
        </p:txBody>
      </p:sp>
      <p:sp>
        <p:nvSpPr>
          <p:cNvPr id="9" name="TextBox 8"/>
          <p:cNvSpPr txBox="1"/>
          <p:nvPr/>
        </p:nvSpPr>
        <p:spPr>
          <a:xfrm>
            <a:off x="6572250" y="4400550"/>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Lecture 5 gave you a group and a filter. Lecture 9 made you sequence them and choose one to start with.</a:t>
            </a:r>
          </a:p>
        </p:txBody>
      </p:sp>
      <p:sp>
        <p:nvSpPr>
          <p:cNvPr id="10" name="Rectangle 9"/>
          <p:cNvSpPr/>
          <p:nvPr/>
        </p:nvSpPr>
        <p:spPr>
          <a:xfrm>
            <a:off x="12096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143250"/>
            <a:ext cx="5143500" cy="600075"/>
          </a:xfrm>
          <a:prstGeom prst="rect">
            <a:avLst/>
          </a:prstGeom>
          <a:noFill/>
        </p:spPr>
        <p:txBody>
          <a:bodyPr wrap="square" lIns="0" rIns="0" tIns="0" bIns="0" anchor="t"/>
          <a:lstStyle/>
          <a:p>
            <a:pPr algn="l"/>
            <a:r>
              <a:rPr sz="3300" b="1" i="0">
                <a:solidFill>
                  <a:srgbClr val="201914"/>
                </a:solidFill>
                <a:latin typeface="Arial"/>
              </a:rPr>
              <a:t>Today, one human being</a:t>
            </a:r>
          </a:p>
        </p:txBody>
      </p:sp>
      <p:sp>
        <p:nvSpPr>
          <p:cNvPr id="12" name="TextBox 11"/>
          <p:cNvSpPr txBox="1"/>
          <p:nvPr/>
        </p:nvSpPr>
        <p:spPr>
          <a:xfrm>
            <a:off x="12096750" y="3876675"/>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Named, with a bad day and a worry at eleven at night — and then the four things in her head at once.</a:t>
            </a:r>
          </a:p>
        </p:txBody>
      </p:sp>
      <p:sp>
        <p:nvSpPr>
          <p:cNvPr id="13" name="TextBox 12"/>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Every tool so far describes a plural noun. None of them can settle an argument in a meeting.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FOUR DECISIONS SOMEBODY HAD TO DEFEND IN A MEETING</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Work backwards to the person</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3762375" cy="533400"/>
          </a:xfrm>
          <a:prstGeom prst="rect">
            <a:avLst/>
          </a:prstGeom>
          <a:noFill/>
        </p:spPr>
        <p:txBody>
          <a:bodyPr wrap="square" lIns="0" rIns="0" tIns="0" bIns="0" anchor="t"/>
          <a:lstStyle/>
          <a:p>
            <a:pPr algn="l"/>
            <a:r>
              <a:rPr sz="2850" b="1" i="0">
                <a:solidFill>
                  <a:srgbClr val="201914"/>
                </a:solidFill>
                <a:latin typeface="Arial"/>
              </a:rPr>
              <a:t>A dark app</a:t>
            </a:r>
          </a:p>
        </p:txBody>
      </p:sp>
      <p:sp>
        <p:nvSpPr>
          <p:cNvPr id="6" name="TextBox 5"/>
          <p:cNvSpPr txBox="1"/>
          <p:nvPr/>
        </p:nvSpPr>
        <p:spPr>
          <a:xfrm>
            <a:off x="1047750" y="3810000"/>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In 2018 almost every Indian consumer app was white, blue and busy.</a:t>
            </a:r>
          </a:p>
        </p:txBody>
      </p:sp>
      <p:sp>
        <p:nvSpPr>
          <p:cNvPr id="7" name="Rectangle 6"/>
          <p:cNvSpPr/>
          <p:nvPr/>
        </p:nvSpPr>
        <p:spPr>
          <a:xfrm>
            <a:off x="519112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143250"/>
            <a:ext cx="3762375" cy="533400"/>
          </a:xfrm>
          <a:prstGeom prst="rect">
            <a:avLst/>
          </a:prstGeom>
          <a:noFill/>
        </p:spPr>
        <p:txBody>
          <a:bodyPr wrap="square" lIns="0" rIns="0" tIns="0" bIns="0" anchor="t"/>
          <a:lstStyle/>
          <a:p>
            <a:pPr algn="l"/>
            <a:r>
              <a:rPr sz="2850" b="1" i="0">
                <a:solidFill>
                  <a:srgbClr val="201914"/>
                </a:solidFill>
                <a:latin typeface="Arial"/>
              </a:rPr>
              <a:t>Invite only</a:t>
            </a:r>
          </a:p>
        </p:txBody>
      </p:sp>
      <p:sp>
        <p:nvSpPr>
          <p:cNvPr id="9" name="TextBox 8"/>
          <p:cNvSpPr txBox="1"/>
          <p:nvPr/>
        </p:nvSpPr>
        <p:spPr>
          <a:xfrm>
            <a:off x="5191125" y="3810000"/>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It rejected most of the people who applied, in a way they told friends about.</a:t>
            </a:r>
          </a:p>
        </p:txBody>
      </p:sp>
      <p:sp>
        <p:nvSpPr>
          <p:cNvPr id="10" name="Rectangle 9"/>
          <p:cNvSpPr/>
          <p:nvPr/>
        </p:nvSpPr>
        <p:spPr>
          <a:xfrm>
            <a:off x="933450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143250"/>
            <a:ext cx="3762375" cy="533400"/>
          </a:xfrm>
          <a:prstGeom prst="rect">
            <a:avLst/>
          </a:prstGeom>
          <a:noFill/>
        </p:spPr>
        <p:txBody>
          <a:bodyPr wrap="square" lIns="0" rIns="0" tIns="0" bIns="0" anchor="t"/>
          <a:lstStyle/>
          <a:p>
            <a:pPr algn="l"/>
            <a:r>
              <a:rPr sz="2850" b="1" i="0">
                <a:solidFill>
                  <a:srgbClr val="201914"/>
                </a:solidFill>
                <a:latin typeface="Arial"/>
              </a:rPr>
              <a:t>No cashback</a:t>
            </a:r>
          </a:p>
        </p:txBody>
      </p:sp>
      <p:sp>
        <p:nvSpPr>
          <p:cNvPr id="12" name="TextBox 11"/>
          <p:cNvSpPr txBox="1"/>
          <p:nvPr/>
        </p:nvSpPr>
        <p:spPr>
          <a:xfrm>
            <a:off x="9334500" y="3810000"/>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A chef's dinner, a hotel stay, a brand voucher. Never ₹200 back.</a:t>
            </a:r>
          </a:p>
        </p:txBody>
      </p:sp>
      <p:sp>
        <p:nvSpPr>
          <p:cNvPr id="13" name="Rectangle 12"/>
          <p:cNvSpPr/>
          <p:nvPr/>
        </p:nvSpPr>
        <p:spPr>
          <a:xfrm>
            <a:off x="1347787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143250"/>
            <a:ext cx="3762375" cy="981075"/>
          </a:xfrm>
          <a:prstGeom prst="rect">
            <a:avLst/>
          </a:prstGeom>
          <a:noFill/>
        </p:spPr>
        <p:txBody>
          <a:bodyPr wrap="square" lIns="0" rIns="0" tIns="0" bIns="0" anchor="t"/>
          <a:lstStyle/>
          <a:p>
            <a:pPr algn="l"/>
            <a:r>
              <a:rPr sz="2850" b="1" i="0">
                <a:solidFill>
                  <a:srgbClr val="201914"/>
                </a:solidFill>
                <a:latin typeface="Arial"/>
              </a:rPr>
              <a:t>‘For people who pay their bills’</a:t>
            </a:r>
          </a:p>
        </p:txBody>
      </p:sp>
      <p:sp>
        <p:nvSpPr>
          <p:cNvPr id="15" name="TextBox 14"/>
          <p:cNvSpPr txBox="1"/>
          <p:nvPr/>
        </p:nvSpPr>
        <p:spPr>
          <a:xfrm>
            <a:off x="13477875" y="4257675"/>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What the advertising actually said, in effect.</a:t>
            </a:r>
          </a:p>
        </p:txBody>
      </p:sp>
      <p:sp>
        <p:nvSpPr>
          <p:cNvPr id="16" name="TextBox 15"/>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Who is the person for whom all four of these are correct? Not their age — tell me what they care about.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WHAT YOU HAVE JUST RECONSTRUCTED</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Almost none of it is demographic</a:t>
            </a:r>
          </a:p>
        </p:txBody>
      </p:sp>
      <p:sp>
        <p:nvSpPr>
          <p:cNvPr id="4" name="Rectangle 3"/>
          <p:cNvSpPr/>
          <p:nvPr/>
        </p:nvSpPr>
        <p:spPr>
          <a:xfrm>
            <a:off x="1047750" y="2838450"/>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3019425" cy="981075"/>
          </a:xfrm>
          <a:prstGeom prst="rect">
            <a:avLst/>
          </a:prstGeom>
          <a:noFill/>
        </p:spPr>
        <p:txBody>
          <a:bodyPr wrap="square" lIns="0" rIns="0" tIns="0" bIns="0" anchor="t"/>
          <a:lstStyle/>
          <a:p>
            <a:pPr algn="l"/>
            <a:r>
              <a:rPr sz="2850" b="1" i="0">
                <a:solidFill>
                  <a:srgbClr val="201914"/>
                </a:solidFill>
                <a:latin typeface="Arial"/>
              </a:rPr>
              <a:t>Wants to be in a club</a:t>
            </a:r>
          </a:p>
        </p:txBody>
      </p:sp>
      <p:sp>
        <p:nvSpPr>
          <p:cNvPr id="6" name="TextBox 5"/>
          <p:cNvSpPr txBox="1"/>
          <p:nvPr/>
        </p:nvSpPr>
        <p:spPr>
          <a:xfrm>
            <a:off x="1047750" y="4257675"/>
            <a:ext cx="3019425" cy="428625"/>
          </a:xfrm>
          <a:prstGeom prst="rect">
            <a:avLst/>
          </a:prstGeom>
          <a:noFill/>
        </p:spPr>
        <p:txBody>
          <a:bodyPr wrap="square" lIns="0" rIns="0" tIns="0" bIns="0" anchor="t"/>
          <a:lstStyle/>
          <a:p>
            <a:pPr algn="l">
              <a:lnSpc>
                <a:spcPct val="105000"/>
              </a:lnSpc>
            </a:pPr>
            <a:r>
              <a:rPr sz="2100" b="0" i="0">
                <a:solidFill>
                  <a:srgbClr val="665B53"/>
                </a:solidFill>
                <a:latin typeface="Arial"/>
              </a:rPr>
              <a:t>Identity.</a:t>
            </a:r>
          </a:p>
        </p:txBody>
      </p:sp>
      <p:sp>
        <p:nvSpPr>
          <p:cNvPr id="7" name="Rectangle 6"/>
          <p:cNvSpPr/>
          <p:nvPr/>
        </p:nvSpPr>
        <p:spPr>
          <a:xfrm>
            <a:off x="4333875" y="2838450"/>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33875" y="3143250"/>
            <a:ext cx="3019425" cy="981075"/>
          </a:xfrm>
          <a:prstGeom prst="rect">
            <a:avLst/>
          </a:prstGeom>
          <a:noFill/>
        </p:spPr>
        <p:txBody>
          <a:bodyPr wrap="square" lIns="0" rIns="0" tIns="0" bIns="0" anchor="t"/>
          <a:lstStyle/>
          <a:p>
            <a:pPr algn="l"/>
            <a:r>
              <a:rPr sz="2850" b="1" i="0">
                <a:solidFill>
                  <a:srgbClr val="201914"/>
                </a:solidFill>
                <a:latin typeface="Arial"/>
              </a:rPr>
              <a:t>Not moved by ₹200</a:t>
            </a:r>
          </a:p>
        </p:txBody>
      </p:sp>
      <p:sp>
        <p:nvSpPr>
          <p:cNvPr id="9" name="TextBox 8"/>
          <p:cNvSpPr txBox="1"/>
          <p:nvPr/>
        </p:nvSpPr>
        <p:spPr>
          <a:xfrm>
            <a:off x="4333875" y="4257675"/>
            <a:ext cx="3019425" cy="428625"/>
          </a:xfrm>
          <a:prstGeom prst="rect">
            <a:avLst/>
          </a:prstGeom>
          <a:noFill/>
        </p:spPr>
        <p:txBody>
          <a:bodyPr wrap="square" lIns="0" rIns="0" tIns="0" bIns="0" anchor="t"/>
          <a:lstStyle/>
          <a:p>
            <a:pPr algn="l">
              <a:lnSpc>
                <a:spcPct val="105000"/>
              </a:lnSpc>
            </a:pPr>
            <a:r>
              <a:rPr sz="2100" b="0" i="0">
                <a:solidFill>
                  <a:srgbClr val="665B53"/>
                </a:solidFill>
                <a:latin typeface="Arial"/>
              </a:rPr>
              <a:t>Identity.</a:t>
            </a:r>
          </a:p>
        </p:txBody>
      </p:sp>
      <p:sp>
        <p:nvSpPr>
          <p:cNvPr id="10" name="Rectangle 9"/>
          <p:cNvSpPr/>
          <p:nvPr/>
        </p:nvSpPr>
        <p:spPr>
          <a:xfrm>
            <a:off x="7620000" y="2838450"/>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0" y="3143250"/>
            <a:ext cx="3019425" cy="981075"/>
          </a:xfrm>
          <a:prstGeom prst="rect">
            <a:avLst/>
          </a:prstGeom>
          <a:noFill/>
        </p:spPr>
        <p:txBody>
          <a:bodyPr wrap="square" lIns="0" rIns="0" tIns="0" bIns="0" anchor="t"/>
          <a:lstStyle/>
          <a:p>
            <a:pPr algn="l"/>
            <a:r>
              <a:rPr sz="2850" b="1" i="0">
                <a:solidFill>
                  <a:srgbClr val="201914"/>
                </a:solidFill>
                <a:latin typeface="Arial"/>
              </a:rPr>
              <a:t>Proud of paying in full</a:t>
            </a:r>
          </a:p>
        </p:txBody>
      </p:sp>
      <p:sp>
        <p:nvSpPr>
          <p:cNvPr id="12" name="TextBox 11"/>
          <p:cNvSpPr txBox="1"/>
          <p:nvPr/>
        </p:nvSpPr>
        <p:spPr>
          <a:xfrm>
            <a:off x="7620000" y="4257675"/>
            <a:ext cx="3019425" cy="428625"/>
          </a:xfrm>
          <a:prstGeom prst="rect">
            <a:avLst/>
          </a:prstGeom>
          <a:noFill/>
        </p:spPr>
        <p:txBody>
          <a:bodyPr wrap="square" lIns="0" rIns="0" tIns="0" bIns="0" anchor="t"/>
          <a:lstStyle/>
          <a:p>
            <a:pPr algn="l">
              <a:lnSpc>
                <a:spcPct val="105000"/>
              </a:lnSpc>
            </a:pPr>
            <a:r>
              <a:rPr sz="2100" b="0" i="0">
                <a:solidFill>
                  <a:srgbClr val="665B53"/>
                </a:solidFill>
                <a:latin typeface="Arial"/>
              </a:rPr>
              <a:t>Behaviour.</a:t>
            </a:r>
          </a:p>
        </p:txBody>
      </p:sp>
      <p:sp>
        <p:nvSpPr>
          <p:cNvPr id="13" name="Rectangle 12"/>
          <p:cNvSpPr/>
          <p:nvPr/>
        </p:nvSpPr>
        <p:spPr>
          <a:xfrm>
            <a:off x="10906125" y="2838450"/>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06125" y="3143250"/>
            <a:ext cx="3019425" cy="981075"/>
          </a:xfrm>
          <a:prstGeom prst="rect">
            <a:avLst/>
          </a:prstGeom>
          <a:noFill/>
        </p:spPr>
        <p:txBody>
          <a:bodyPr wrap="square" lIns="0" rIns="0" tIns="0" bIns="0" anchor="t"/>
          <a:lstStyle/>
          <a:p>
            <a:pPr algn="l"/>
            <a:r>
              <a:rPr sz="2850" b="1" i="0">
                <a:solidFill>
                  <a:srgbClr val="201914"/>
                </a:solidFill>
                <a:latin typeface="Arial"/>
              </a:rPr>
              <a:t>Discounts are for other people</a:t>
            </a:r>
          </a:p>
        </p:txBody>
      </p:sp>
      <p:sp>
        <p:nvSpPr>
          <p:cNvPr id="15" name="TextBox 14"/>
          <p:cNvSpPr txBox="1"/>
          <p:nvPr/>
        </p:nvSpPr>
        <p:spPr>
          <a:xfrm>
            <a:off x="10906125" y="4257675"/>
            <a:ext cx="3019425" cy="428625"/>
          </a:xfrm>
          <a:prstGeom prst="rect">
            <a:avLst/>
          </a:prstGeom>
          <a:noFill/>
        </p:spPr>
        <p:txBody>
          <a:bodyPr wrap="square" lIns="0" rIns="0" tIns="0" bIns="0" anchor="t"/>
          <a:lstStyle/>
          <a:p>
            <a:pPr algn="l">
              <a:lnSpc>
                <a:spcPct val="105000"/>
              </a:lnSpc>
            </a:pPr>
            <a:r>
              <a:rPr sz="2100" b="0" i="0">
                <a:solidFill>
                  <a:srgbClr val="665B53"/>
                </a:solidFill>
                <a:latin typeface="Arial"/>
              </a:rPr>
              <a:t>Identity.</a:t>
            </a:r>
          </a:p>
        </p:txBody>
      </p:sp>
      <p:sp>
        <p:nvSpPr>
          <p:cNvPr id="16" name="Rectangle 15"/>
          <p:cNvSpPr/>
          <p:nvPr/>
        </p:nvSpPr>
        <p:spPr>
          <a:xfrm>
            <a:off x="14192250" y="2838450"/>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192250" y="3143250"/>
            <a:ext cx="3019425" cy="981075"/>
          </a:xfrm>
          <a:prstGeom prst="rect">
            <a:avLst/>
          </a:prstGeom>
          <a:noFill/>
        </p:spPr>
        <p:txBody>
          <a:bodyPr wrap="square" lIns="0" rIns="0" tIns="0" bIns="0" anchor="t"/>
          <a:lstStyle/>
          <a:p>
            <a:pPr algn="l"/>
            <a:r>
              <a:rPr sz="2850" b="1" i="0">
                <a:solidFill>
                  <a:srgbClr val="201914"/>
                </a:solidFill>
                <a:latin typeface="Arial"/>
              </a:rPr>
              <a:t>28–38, metro, salaried</a:t>
            </a:r>
          </a:p>
        </p:txBody>
      </p:sp>
      <p:sp>
        <p:nvSpPr>
          <p:cNvPr id="18" name="TextBox 17"/>
          <p:cNvSpPr txBox="1"/>
          <p:nvPr/>
        </p:nvSpPr>
        <p:spPr>
          <a:xfrm>
            <a:off x="14192250" y="4257675"/>
            <a:ext cx="3019425" cy="771525"/>
          </a:xfrm>
          <a:prstGeom prst="rect">
            <a:avLst/>
          </a:prstGeom>
          <a:noFill/>
        </p:spPr>
        <p:txBody>
          <a:bodyPr wrap="square" lIns="0" rIns="0" tIns="0" bIns="0" anchor="t"/>
          <a:lstStyle/>
          <a:p>
            <a:pPr algn="l">
              <a:lnSpc>
                <a:spcPct val="105000"/>
              </a:lnSpc>
            </a:pPr>
            <a:r>
              <a:rPr sz="2100" b="0" i="0">
                <a:solidFill>
                  <a:srgbClr val="665B53"/>
                </a:solidFill>
                <a:latin typeface="Arial"/>
              </a:rPr>
              <a:t>The only demographic line — and the weakest.</a:t>
            </a:r>
          </a:p>
        </p:txBody>
      </p:sp>
      <p:sp>
        <p:nvSpPr>
          <p:cNvPr id="19" name="Rectangle 18"/>
          <p:cNvSpPr/>
          <p:nvPr/>
        </p:nvSpPr>
        <p:spPr>
          <a:xfrm>
            <a:off x="1047750" y="7429500"/>
            <a:ext cx="16192500" cy="17145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43050" y="7886700"/>
            <a:ext cx="15240000" cy="666750"/>
          </a:xfrm>
          <a:prstGeom prst="rect">
            <a:avLst/>
          </a:prstGeom>
          <a:noFill/>
        </p:spPr>
        <p:txBody>
          <a:bodyPr wrap="square" lIns="0" rIns="0" tIns="0" bIns="0" anchor="t"/>
          <a:lstStyle/>
          <a:p>
            <a:pPr algn="l">
              <a:lnSpc>
                <a:spcPct val="114000"/>
              </a:lnSpc>
            </a:pPr>
            <a:r>
              <a:rPr sz="3150" b="0" i="0">
                <a:solidFill>
                  <a:srgbClr val="F5F1E9"/>
                </a:solidFill>
                <a:latin typeface="Georgia"/>
              </a:rPr>
              <a:t>You have just reconstructed a document that existed before the product did.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4914900"/>
            <a:ext cx="16192500" cy="323850"/>
          </a:xfrm>
          <a:prstGeom prst="rect">
            <a:avLst/>
          </a:prstGeom>
          <a:noFill/>
        </p:spPr>
        <p:txBody>
          <a:bodyPr wrap="square" lIns="0" rIns="0" tIns="0" bIns="0" anchor="t"/>
          <a:lstStyle/>
          <a:p>
            <a:pPr algn="l"/>
            <a:r>
              <a:rPr sz="1950" b="1" i="0" spc="312">
                <a:solidFill>
                  <a:srgbClr val="C35141"/>
                </a:solidFill>
                <a:latin typeface="Arial"/>
              </a:rPr>
              <a:t>CASE STUDY</a:t>
            </a:r>
          </a:p>
        </p:txBody>
      </p:sp>
      <p:sp>
        <p:nvSpPr>
          <p:cNvPr id="3" name="TextBox 2"/>
          <p:cNvSpPr txBox="1"/>
          <p:nvPr/>
        </p:nvSpPr>
        <p:spPr>
          <a:xfrm>
            <a:off x="1047750" y="5505450"/>
            <a:ext cx="16192500" cy="1533525"/>
          </a:xfrm>
          <a:prstGeom prst="rect">
            <a:avLst/>
          </a:prstGeom>
          <a:noFill/>
        </p:spPr>
        <p:txBody>
          <a:bodyPr wrap="square" lIns="0" rIns="0" tIns="0" bIns="0" anchor="t"/>
          <a:lstStyle/>
          <a:p>
            <a:pPr algn="l">
              <a:lnSpc>
                <a:spcPct val="80000"/>
              </a:lnSpc>
            </a:pPr>
            <a:r>
              <a:rPr sz="11250" b="1" i="0" spc="-450">
                <a:solidFill>
                  <a:srgbClr val="F5F1E9"/>
                </a:solidFill>
                <a:latin typeface="Arial"/>
              </a:rPr>
              <a:t>CRED and slice</a:t>
            </a:r>
          </a:p>
        </p:txBody>
      </p:sp>
      <p:sp>
        <p:nvSpPr>
          <p:cNvPr id="4" name="TextBox 3"/>
          <p:cNvSpPr txBox="1"/>
          <p:nvPr/>
        </p:nvSpPr>
        <p:spPr>
          <a:xfrm>
            <a:off x="1047750" y="7324725"/>
            <a:ext cx="13716000" cy="2105025"/>
          </a:xfrm>
          <a:prstGeom prst="rect">
            <a:avLst/>
          </a:prstGeom>
          <a:noFill/>
        </p:spPr>
        <p:txBody>
          <a:bodyPr wrap="square" lIns="0" rIns="0" tIns="0" bIns="0" anchor="t"/>
          <a:lstStyle/>
          <a:p>
            <a:pPr algn="l">
              <a:lnSpc>
                <a:spcPct val="110000"/>
              </a:lnSpc>
            </a:pPr>
            <a:r>
              <a:rPr sz="3900" b="0" i="0">
                <a:solidFill>
                  <a:srgbClr val="C1B5AB"/>
                </a:solidFill>
                <a:latin typeface="Georgia"/>
              </a:rPr>
              <a:t>Same industry, same country, the same years. Two founders wrote down opposite people — and both were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2018 · THE FOUNDING CONSTRAINT</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A credit score above 750, or you cannot come in</a:t>
            </a:r>
          </a:p>
        </p:txBody>
      </p:sp>
      <p:sp>
        <p:nvSpPr>
          <p:cNvPr id="4" name="TextBox 3"/>
          <p:cNvSpPr txBox="1"/>
          <p:nvPr/>
        </p:nvSpPr>
        <p:spPr>
          <a:xfrm>
            <a:off x="1047750" y="4343400"/>
            <a:ext cx="5524500" cy="1785938"/>
          </a:xfrm>
          <a:prstGeom prst="rect">
            <a:avLst/>
          </a:prstGeom>
          <a:noFill/>
        </p:spPr>
        <p:txBody>
          <a:bodyPr wrap="square" lIns="0" rIns="0" tIns="0" bIns="0" anchor="t"/>
          <a:lstStyle/>
          <a:p>
            <a:pPr algn="l">
              <a:lnSpc>
                <a:spcPct val="90000"/>
              </a:lnSpc>
            </a:pPr>
            <a:r>
              <a:rPr sz="11250" b="1" i="0" spc="-250">
                <a:solidFill>
                  <a:srgbClr val="C35141"/>
                </a:solidFill>
                <a:latin typeface="Arial"/>
              </a:rPr>
              <a:t>750</a:t>
            </a:r>
          </a:p>
        </p:txBody>
      </p:sp>
      <p:sp>
        <p:nvSpPr>
          <p:cNvPr id="5" name="TextBox 4"/>
          <p:cNvSpPr txBox="1"/>
          <p:nvPr/>
        </p:nvSpPr>
        <p:spPr>
          <a:xfrm>
            <a:off x="10477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The CIBIL score below which CRED simply refused you. The scale runs 300 to 900.</a:t>
            </a:r>
          </a:p>
        </p:txBody>
      </p:sp>
      <p:sp>
        <p:nvSpPr>
          <p:cNvPr id="6" name="TextBox 5"/>
          <p:cNvSpPr txBox="1"/>
          <p:nvPr/>
        </p:nvSpPr>
        <p:spPr>
          <a:xfrm>
            <a:off x="6572250" y="4343400"/>
            <a:ext cx="5524500" cy="1666875"/>
          </a:xfrm>
          <a:prstGeom prst="rect">
            <a:avLst/>
          </a:prstGeom>
          <a:noFill/>
        </p:spPr>
        <p:txBody>
          <a:bodyPr wrap="square" lIns="0" rIns="0" tIns="0" bIns="0" anchor="t"/>
          <a:lstStyle/>
          <a:p>
            <a:pPr algn="l">
              <a:lnSpc>
                <a:spcPct val="90000"/>
              </a:lnSpc>
            </a:pPr>
            <a:r>
              <a:rPr sz="10500" b="1" i="0" spc="-250">
                <a:solidFill>
                  <a:srgbClr val="C35141"/>
                </a:solidFill>
                <a:latin typeface="Arial"/>
              </a:rPr>
              <a:t>2–2.5 cr</a:t>
            </a:r>
          </a:p>
        </p:txBody>
      </p:sp>
      <p:sp>
        <p:nvSpPr>
          <p:cNvPr id="7" name="TextBox 6"/>
          <p:cNvSpPr txBox="1"/>
          <p:nvPr/>
        </p:nvSpPr>
        <p:spPr>
          <a:xfrm>
            <a:off x="65722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Indians who clear that bar. Twenty to twenty-five million people.</a:t>
            </a:r>
          </a:p>
        </p:txBody>
      </p:sp>
      <p:sp>
        <p:nvSpPr>
          <p:cNvPr id="8" name="TextBox 7"/>
          <p:cNvSpPr txBox="1"/>
          <p:nvPr/>
        </p:nvSpPr>
        <p:spPr>
          <a:xfrm>
            <a:off x="12096750" y="4343400"/>
            <a:ext cx="5524500" cy="1428750"/>
          </a:xfrm>
          <a:prstGeom prst="rect">
            <a:avLst/>
          </a:prstGeom>
          <a:noFill/>
        </p:spPr>
        <p:txBody>
          <a:bodyPr wrap="square" lIns="0" rIns="0" tIns="0" bIns="0" anchor="t"/>
          <a:lstStyle/>
          <a:p>
            <a:pPr algn="l">
              <a:lnSpc>
                <a:spcPct val="90000"/>
              </a:lnSpc>
            </a:pPr>
            <a:r>
              <a:rPr sz="9000" b="1" i="0" spc="-250">
                <a:solidFill>
                  <a:srgbClr val="C35141"/>
                </a:solidFill>
                <a:latin typeface="Arial"/>
              </a:rPr>
              <a:t>under 2%</a:t>
            </a:r>
          </a:p>
        </p:txBody>
      </p:sp>
      <p:sp>
        <p:nvSpPr>
          <p:cNvPr id="9" name="TextBox 8"/>
          <p:cNvSpPr txBox="1"/>
          <p:nvPr/>
        </p:nvSpPr>
        <p:spPr>
          <a:xfrm>
            <a:off x="120967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Of the country. The playbook of the previous decade was to chase the next hundred million.</a:t>
            </a:r>
          </a:p>
        </p:txBody>
      </p:sp>
      <p:sp>
        <p:nvSpPr>
          <p:cNvPr id="10" name="Rectangle 9"/>
          <p:cNvSpPr/>
          <p:nvPr/>
        </p:nvSpPr>
        <p:spPr>
          <a:xfrm>
            <a:off x="1047750" y="7696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8020050"/>
            <a:ext cx="16192500" cy="1619250"/>
          </a:xfrm>
          <a:prstGeom prst="rect">
            <a:avLst/>
          </a:prstGeom>
          <a:noFill/>
        </p:spPr>
        <p:txBody>
          <a:bodyPr wrap="square" lIns="0" rIns="0" tIns="0" bIns="0" anchor="t"/>
          <a:lstStyle/>
          <a:p>
            <a:pPr algn="l">
              <a:lnSpc>
                <a:spcPct val="114000"/>
              </a:lnSpc>
            </a:pPr>
            <a:r>
              <a:rPr sz="2850" b="0" i="0">
                <a:solidFill>
                  <a:srgbClr val="50453D"/>
                </a:solidFill>
                <a:latin typeface="Georgia"/>
              </a:rPr>
              <a:t>A credit score is behavioural data disguised as a number — it records what somebody has actually done with money over years, not what they say about themselves in a survey. That is why it could serve as the spine of a persona.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READ THE PRODUCT BACKWARDS</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Every decision came from one line of the persona</a:t>
            </a:r>
          </a:p>
        </p:txBody>
      </p:sp>
      <p:sp>
        <p:nvSpPr>
          <p:cNvPr id="4" name="Rectangle 3"/>
          <p:cNvSpPr/>
          <p:nvPr/>
        </p:nvSpPr>
        <p:spPr>
          <a:xfrm>
            <a:off x="1047750" y="362902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800475"/>
            <a:ext cx="4000500" cy="438150"/>
          </a:xfrm>
          <a:prstGeom prst="rect">
            <a:avLst/>
          </a:prstGeom>
          <a:noFill/>
        </p:spPr>
        <p:txBody>
          <a:bodyPr wrap="square" lIns="0" rIns="0" tIns="0" bIns="0" anchor="t"/>
          <a:lstStyle/>
          <a:p>
            <a:pPr algn="l"/>
            <a:r>
              <a:rPr sz="2400" b="1" i="0">
                <a:solidFill>
                  <a:srgbClr val="201914"/>
                </a:solidFill>
                <a:latin typeface="Arial"/>
              </a:rPr>
              <a:t>Score above 750</a:t>
            </a:r>
          </a:p>
        </p:txBody>
      </p:sp>
      <p:sp>
        <p:nvSpPr>
          <p:cNvPr id="6" name="TextBox 5"/>
          <p:cNvSpPr txBox="1"/>
          <p:nvPr/>
        </p:nvSpPr>
        <p:spPr>
          <a:xfrm>
            <a:off x="5886450" y="3819525"/>
            <a:ext cx="8439150" cy="390525"/>
          </a:xfrm>
          <a:prstGeom prst="rect">
            <a:avLst/>
          </a:prstGeom>
          <a:noFill/>
        </p:spPr>
        <p:txBody>
          <a:bodyPr wrap="square" lIns="0" rIns="0" tIns="0" bIns="0" anchor="t"/>
          <a:lstStyle/>
          <a:p>
            <a:pPr algn="l">
              <a:lnSpc>
                <a:spcPct val="106000"/>
              </a:lnSpc>
            </a:pPr>
            <a:r>
              <a:rPr sz="1950" b="0" i="0">
                <a:solidFill>
                  <a:srgbClr val="201914"/>
                </a:solidFill>
                <a:latin typeface="Arial"/>
              </a:rPr>
              <a:t>Pays in full every month and is quietly proud of it</a:t>
            </a:r>
          </a:p>
        </p:txBody>
      </p:sp>
      <p:sp>
        <p:nvSpPr>
          <p:cNvPr id="7" name="TextBox 6"/>
          <p:cNvSpPr txBox="1"/>
          <p:nvPr/>
        </p:nvSpPr>
        <p:spPr>
          <a:xfrm>
            <a:off x="14630400" y="3819525"/>
            <a:ext cx="2609850" cy="390525"/>
          </a:xfrm>
          <a:prstGeom prst="rect">
            <a:avLst/>
          </a:prstGeom>
          <a:noFill/>
        </p:spPr>
        <p:txBody>
          <a:bodyPr wrap="square" lIns="0" rIns="0" tIns="0" bIns="0" anchor="t"/>
          <a:lstStyle/>
          <a:p>
            <a:pPr algn="l">
              <a:lnSpc>
                <a:spcPct val="106000"/>
              </a:lnSpc>
            </a:pPr>
            <a:r>
              <a:rPr sz="1950" b="0" i="0">
                <a:solidFill>
                  <a:srgbClr val="201914"/>
                </a:solidFill>
                <a:latin typeface="Arial"/>
              </a:rPr>
              <a:t>Behavioural</a:t>
            </a:r>
          </a:p>
        </p:txBody>
      </p:sp>
      <p:sp>
        <p:nvSpPr>
          <p:cNvPr id="8" name="Rectangle 7"/>
          <p:cNvSpPr/>
          <p:nvPr/>
        </p:nvSpPr>
        <p:spPr>
          <a:xfrm>
            <a:off x="1047750" y="456247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2550" y="4733925"/>
            <a:ext cx="4000500" cy="438150"/>
          </a:xfrm>
          <a:prstGeom prst="rect">
            <a:avLst/>
          </a:prstGeom>
          <a:noFill/>
        </p:spPr>
        <p:txBody>
          <a:bodyPr wrap="square" lIns="0" rIns="0" tIns="0" bIns="0" anchor="t"/>
          <a:lstStyle/>
          <a:p>
            <a:pPr algn="l"/>
            <a:r>
              <a:rPr sz="2400" b="1" i="0">
                <a:solidFill>
                  <a:srgbClr val="201914"/>
                </a:solidFill>
                <a:latin typeface="Arial"/>
              </a:rPr>
              <a:t>Dark, spare interface</a:t>
            </a:r>
          </a:p>
        </p:txBody>
      </p:sp>
      <p:sp>
        <p:nvSpPr>
          <p:cNvPr id="10" name="TextBox 9"/>
          <p:cNvSpPr txBox="1"/>
          <p:nvPr/>
        </p:nvSpPr>
        <p:spPr>
          <a:xfrm>
            <a:off x="5886450" y="4752975"/>
            <a:ext cx="8439150" cy="390525"/>
          </a:xfrm>
          <a:prstGeom prst="rect">
            <a:avLst/>
          </a:prstGeom>
          <a:noFill/>
        </p:spPr>
        <p:txBody>
          <a:bodyPr wrap="square" lIns="0" rIns="0" tIns="0" bIns="0" anchor="t"/>
          <a:lstStyle/>
          <a:p>
            <a:pPr algn="l">
              <a:lnSpc>
                <a:spcPct val="106000"/>
              </a:lnSpc>
            </a:pPr>
            <a:r>
              <a:rPr sz="1950" b="0" i="0">
                <a:solidFill>
                  <a:srgbClr val="201914"/>
                </a:solidFill>
                <a:latin typeface="Arial"/>
              </a:rPr>
              <a:t>Reference points are premium cars and international apps</a:t>
            </a:r>
          </a:p>
        </p:txBody>
      </p:sp>
      <p:sp>
        <p:nvSpPr>
          <p:cNvPr id="11" name="TextBox 10"/>
          <p:cNvSpPr txBox="1"/>
          <p:nvPr/>
        </p:nvSpPr>
        <p:spPr>
          <a:xfrm>
            <a:off x="14630400" y="4752975"/>
            <a:ext cx="2609850" cy="390525"/>
          </a:xfrm>
          <a:prstGeom prst="rect">
            <a:avLst/>
          </a:prstGeom>
          <a:noFill/>
        </p:spPr>
        <p:txBody>
          <a:bodyPr wrap="square" lIns="0" rIns="0" tIns="0" bIns="0" anchor="t"/>
          <a:lstStyle/>
          <a:p>
            <a:pPr algn="l">
              <a:lnSpc>
                <a:spcPct val="106000"/>
              </a:lnSpc>
            </a:pPr>
            <a:r>
              <a:rPr sz="1950" b="0" i="0">
                <a:solidFill>
                  <a:srgbClr val="201914"/>
                </a:solidFill>
                <a:latin typeface="Arial"/>
              </a:rPr>
              <a:t>Identity</a:t>
            </a:r>
          </a:p>
        </p:txBody>
      </p:sp>
      <p:sp>
        <p:nvSpPr>
          <p:cNvPr id="12" name="Rectangle 11"/>
          <p:cNvSpPr/>
          <p:nvPr/>
        </p:nvSpPr>
        <p:spPr>
          <a:xfrm>
            <a:off x="1047750" y="549592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2550" y="5667375"/>
            <a:ext cx="4000500" cy="438150"/>
          </a:xfrm>
          <a:prstGeom prst="rect">
            <a:avLst/>
          </a:prstGeom>
          <a:noFill/>
        </p:spPr>
        <p:txBody>
          <a:bodyPr wrap="square" lIns="0" rIns="0" tIns="0" bIns="0" anchor="t"/>
          <a:lstStyle/>
          <a:p>
            <a:pPr algn="l"/>
            <a:r>
              <a:rPr sz="2400" b="1" i="0">
                <a:solidFill>
                  <a:srgbClr val="201914"/>
                </a:solidFill>
                <a:latin typeface="Arial"/>
              </a:rPr>
              <a:t>Invitation-only entry</a:t>
            </a:r>
          </a:p>
        </p:txBody>
      </p:sp>
      <p:sp>
        <p:nvSpPr>
          <p:cNvPr id="14" name="TextBox 13"/>
          <p:cNvSpPr txBox="1"/>
          <p:nvPr/>
        </p:nvSpPr>
        <p:spPr>
          <a:xfrm>
            <a:off x="5886450" y="5686425"/>
            <a:ext cx="8439150" cy="390525"/>
          </a:xfrm>
          <a:prstGeom prst="rect">
            <a:avLst/>
          </a:prstGeom>
          <a:noFill/>
        </p:spPr>
        <p:txBody>
          <a:bodyPr wrap="square" lIns="0" rIns="0" tIns="0" bIns="0" anchor="t"/>
          <a:lstStyle/>
          <a:p>
            <a:pPr algn="l">
              <a:lnSpc>
                <a:spcPct val="106000"/>
              </a:lnSpc>
            </a:pPr>
            <a:r>
              <a:rPr sz="1950" b="0" i="0">
                <a:solidFill>
                  <a:srgbClr val="201914"/>
                </a:solidFill>
                <a:latin typeface="Arial"/>
              </a:rPr>
              <a:t>Moved by exclusivity far more than by savings</a:t>
            </a:r>
          </a:p>
        </p:txBody>
      </p:sp>
      <p:sp>
        <p:nvSpPr>
          <p:cNvPr id="15" name="TextBox 14"/>
          <p:cNvSpPr txBox="1"/>
          <p:nvPr/>
        </p:nvSpPr>
        <p:spPr>
          <a:xfrm>
            <a:off x="14630400" y="5686425"/>
            <a:ext cx="2609850" cy="390525"/>
          </a:xfrm>
          <a:prstGeom prst="rect">
            <a:avLst/>
          </a:prstGeom>
          <a:noFill/>
        </p:spPr>
        <p:txBody>
          <a:bodyPr wrap="square" lIns="0" rIns="0" tIns="0" bIns="0" anchor="t"/>
          <a:lstStyle/>
          <a:p>
            <a:pPr algn="l">
              <a:lnSpc>
                <a:spcPct val="106000"/>
              </a:lnSpc>
            </a:pPr>
            <a:r>
              <a:rPr sz="1950" b="0" i="0">
                <a:solidFill>
                  <a:srgbClr val="201914"/>
                </a:solidFill>
                <a:latin typeface="Arial"/>
              </a:rPr>
              <a:t>Identity</a:t>
            </a:r>
          </a:p>
        </p:txBody>
      </p:sp>
      <p:sp>
        <p:nvSpPr>
          <p:cNvPr id="16" name="Rectangle 15"/>
          <p:cNvSpPr/>
          <p:nvPr/>
        </p:nvSpPr>
        <p:spPr>
          <a:xfrm>
            <a:off x="1047750" y="642937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2550" y="6410325"/>
            <a:ext cx="4000500" cy="819150"/>
          </a:xfrm>
          <a:prstGeom prst="rect">
            <a:avLst/>
          </a:prstGeom>
          <a:noFill/>
        </p:spPr>
        <p:txBody>
          <a:bodyPr wrap="square" lIns="0" rIns="0" tIns="0" bIns="0" anchor="t"/>
          <a:lstStyle/>
          <a:p>
            <a:pPr algn="l"/>
            <a:r>
              <a:rPr sz="2400" b="1" i="0">
                <a:solidFill>
                  <a:srgbClr val="201914"/>
                </a:solidFill>
                <a:latin typeface="Arial"/>
              </a:rPr>
              <a:t>Curated rewards, not cashback</a:t>
            </a:r>
          </a:p>
        </p:txBody>
      </p:sp>
      <p:sp>
        <p:nvSpPr>
          <p:cNvPr id="18" name="TextBox 17"/>
          <p:cNvSpPr txBox="1"/>
          <p:nvPr/>
        </p:nvSpPr>
        <p:spPr>
          <a:xfrm>
            <a:off x="5886450" y="6619875"/>
            <a:ext cx="8439150" cy="390525"/>
          </a:xfrm>
          <a:prstGeom prst="rect">
            <a:avLst/>
          </a:prstGeom>
          <a:noFill/>
        </p:spPr>
        <p:txBody>
          <a:bodyPr wrap="square" lIns="0" rIns="0" tIns="0" bIns="0" anchor="t"/>
          <a:lstStyle/>
          <a:p>
            <a:pPr algn="l">
              <a:lnSpc>
                <a:spcPct val="106000"/>
              </a:lnSpc>
            </a:pPr>
            <a:r>
              <a:rPr sz="1950" b="0" i="0">
                <a:solidFill>
                  <a:srgbClr val="201914"/>
                </a:solidFill>
                <a:latin typeface="Arial"/>
              </a:rPr>
              <a:t>A ₹200 cashback is beneath him; a chef's dinner is not</a:t>
            </a:r>
          </a:p>
        </p:txBody>
      </p:sp>
      <p:sp>
        <p:nvSpPr>
          <p:cNvPr id="19" name="TextBox 18"/>
          <p:cNvSpPr txBox="1"/>
          <p:nvPr/>
        </p:nvSpPr>
        <p:spPr>
          <a:xfrm>
            <a:off x="14630400" y="6619875"/>
            <a:ext cx="2609850" cy="390525"/>
          </a:xfrm>
          <a:prstGeom prst="rect">
            <a:avLst/>
          </a:prstGeom>
          <a:noFill/>
        </p:spPr>
        <p:txBody>
          <a:bodyPr wrap="square" lIns="0" rIns="0" tIns="0" bIns="0" anchor="t"/>
          <a:lstStyle/>
          <a:p>
            <a:pPr algn="l">
              <a:lnSpc>
                <a:spcPct val="106000"/>
              </a:lnSpc>
            </a:pPr>
            <a:r>
              <a:rPr sz="1950" b="0" i="0">
                <a:solidFill>
                  <a:srgbClr val="201914"/>
                </a:solidFill>
                <a:latin typeface="Arial"/>
              </a:rPr>
              <a:t>Identity</a:t>
            </a:r>
          </a:p>
        </p:txBody>
      </p:sp>
      <p:sp>
        <p:nvSpPr>
          <p:cNvPr id="20" name="Rectangle 19"/>
          <p:cNvSpPr/>
          <p:nvPr/>
        </p:nvSpPr>
        <p:spPr>
          <a:xfrm>
            <a:off x="1047750" y="736282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2550" y="7534275"/>
            <a:ext cx="4000500" cy="438150"/>
          </a:xfrm>
          <a:prstGeom prst="rect">
            <a:avLst/>
          </a:prstGeom>
          <a:noFill/>
        </p:spPr>
        <p:txBody>
          <a:bodyPr wrap="square" lIns="0" rIns="0" tIns="0" bIns="0" anchor="t"/>
          <a:lstStyle/>
          <a:p>
            <a:pPr algn="l"/>
            <a:r>
              <a:rPr sz="2400" b="1" i="0">
                <a:solidFill>
                  <a:srgbClr val="201914"/>
                </a:solidFill>
                <a:latin typeface="Arial"/>
              </a:rPr>
              <a:t>Advertising during the IPL</a:t>
            </a:r>
          </a:p>
        </p:txBody>
      </p:sp>
      <p:sp>
        <p:nvSpPr>
          <p:cNvPr id="22" name="TextBox 21"/>
          <p:cNvSpPr txBox="1"/>
          <p:nvPr/>
        </p:nvSpPr>
        <p:spPr>
          <a:xfrm>
            <a:off x="5886450" y="7553325"/>
            <a:ext cx="8439150" cy="390525"/>
          </a:xfrm>
          <a:prstGeom prst="rect">
            <a:avLst/>
          </a:prstGeom>
          <a:noFill/>
        </p:spPr>
        <p:txBody>
          <a:bodyPr wrap="square" lIns="0" rIns="0" tIns="0" bIns="0" anchor="t"/>
          <a:lstStyle/>
          <a:p>
            <a:pPr algn="l">
              <a:lnSpc>
                <a:spcPct val="106000"/>
              </a:lnSpc>
            </a:pPr>
            <a:r>
              <a:rPr sz="1950" b="0" i="0">
                <a:solidFill>
                  <a:srgbClr val="201914"/>
                </a:solidFill>
                <a:latin typeface="Arial"/>
              </a:rPr>
              <a:t>Wants proof that people like him are in this</a:t>
            </a:r>
          </a:p>
        </p:txBody>
      </p:sp>
      <p:sp>
        <p:nvSpPr>
          <p:cNvPr id="23" name="TextBox 22"/>
          <p:cNvSpPr txBox="1"/>
          <p:nvPr/>
        </p:nvSpPr>
        <p:spPr>
          <a:xfrm>
            <a:off x="14630400" y="7553325"/>
            <a:ext cx="2609850" cy="390525"/>
          </a:xfrm>
          <a:prstGeom prst="rect">
            <a:avLst/>
          </a:prstGeom>
          <a:noFill/>
        </p:spPr>
        <p:txBody>
          <a:bodyPr wrap="square" lIns="0" rIns="0" tIns="0" bIns="0" anchor="t"/>
          <a:lstStyle/>
          <a:p>
            <a:pPr algn="l">
              <a:lnSpc>
                <a:spcPct val="106000"/>
              </a:lnSpc>
            </a:pPr>
            <a:r>
              <a:rPr sz="1950" b="0" i="0">
                <a:solidFill>
                  <a:srgbClr val="201914"/>
                </a:solidFill>
                <a:latin typeface="Arial"/>
              </a:rPr>
              <a:t>Identity</a:t>
            </a:r>
          </a:p>
        </p:txBody>
      </p:sp>
      <p:sp>
        <p:nvSpPr>
          <p:cNvPr id="24" name="TextBox 23"/>
          <p:cNvSpPr txBox="1"/>
          <p:nvPr/>
        </p:nvSpPr>
        <p:spPr>
          <a:xfrm>
            <a:off x="1047750" y="8524875"/>
            <a:ext cx="16192500" cy="1104900"/>
          </a:xfrm>
          <a:prstGeom prst="rect">
            <a:avLst/>
          </a:prstGeom>
          <a:noFill/>
        </p:spPr>
        <p:txBody>
          <a:bodyPr wrap="square" lIns="0" rIns="0" tIns="0" bIns="0" anchor="t"/>
          <a:lstStyle/>
          <a:p>
            <a:pPr algn="l">
              <a:lnSpc>
                <a:spcPct val="114000"/>
              </a:lnSpc>
            </a:pPr>
            <a:r>
              <a:rPr sz="2850" b="1" i="0">
                <a:solidFill>
                  <a:srgbClr val="50453D"/>
                </a:solidFill>
                <a:latin typeface="Arial"/>
              </a:rPr>
              <a:t>A growth team optimising signups never approves the third row. A team holding a persona approves it in a minute.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BY 2022–24</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A small user base with an enormous number attached to it</a:t>
            </a:r>
          </a:p>
        </p:txBody>
      </p:sp>
      <p:sp>
        <p:nvSpPr>
          <p:cNvPr id="4" name="TextBox 3"/>
          <p:cNvSpPr txBox="1"/>
          <p:nvPr/>
        </p:nvSpPr>
        <p:spPr>
          <a:xfrm>
            <a:off x="1047750" y="4343400"/>
            <a:ext cx="5524500" cy="1785938"/>
          </a:xfrm>
          <a:prstGeom prst="rect">
            <a:avLst/>
          </a:prstGeom>
          <a:noFill/>
        </p:spPr>
        <p:txBody>
          <a:bodyPr wrap="square" lIns="0" rIns="0" tIns="0" bIns="0" anchor="t"/>
          <a:lstStyle/>
          <a:p>
            <a:pPr algn="l">
              <a:lnSpc>
                <a:spcPct val="90000"/>
              </a:lnSpc>
            </a:pPr>
            <a:r>
              <a:rPr sz="11250" b="1" i="0" spc="-250">
                <a:solidFill>
                  <a:srgbClr val="C35141"/>
                </a:solidFill>
                <a:latin typeface="Arial"/>
              </a:rPr>
              <a:t>$6.4bn</a:t>
            </a:r>
          </a:p>
        </p:txBody>
      </p:sp>
      <p:sp>
        <p:nvSpPr>
          <p:cNvPr id="5" name="TextBox 4"/>
          <p:cNvSpPr txBox="1"/>
          <p:nvPr/>
        </p:nvSpPr>
        <p:spPr>
          <a:xfrm>
            <a:off x="10477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Valuation reported in 2022, on roughly ten to twelve million members.</a:t>
            </a:r>
          </a:p>
        </p:txBody>
      </p:sp>
      <p:sp>
        <p:nvSpPr>
          <p:cNvPr id="6" name="TextBox 5"/>
          <p:cNvSpPr txBox="1"/>
          <p:nvPr/>
        </p:nvSpPr>
        <p:spPr>
          <a:xfrm>
            <a:off x="6572250" y="4343400"/>
            <a:ext cx="5524500" cy="1428750"/>
          </a:xfrm>
          <a:prstGeom prst="rect">
            <a:avLst/>
          </a:prstGeom>
          <a:noFill/>
        </p:spPr>
        <p:txBody>
          <a:bodyPr wrap="square" lIns="0" rIns="0" tIns="0" bIns="0" anchor="t"/>
          <a:lstStyle/>
          <a:p>
            <a:pPr algn="l">
              <a:lnSpc>
                <a:spcPct val="90000"/>
              </a:lnSpc>
            </a:pPr>
            <a:r>
              <a:rPr sz="9000" b="1" i="0" spc="-250">
                <a:solidFill>
                  <a:srgbClr val="C35141"/>
                </a:solidFill>
                <a:latin typeface="Arial"/>
              </a:rPr>
              <a:t>₹2,400 cr</a:t>
            </a:r>
          </a:p>
        </p:txBody>
      </p:sp>
      <p:sp>
        <p:nvSpPr>
          <p:cNvPr id="7" name="TextBox 6"/>
          <p:cNvSpPr txBox="1"/>
          <p:nvPr/>
        </p:nvSpPr>
        <p:spPr>
          <a:xfrm>
            <a:off x="65722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Reported FY24 revenue, up from around ₹1,400 crore in FY23.</a:t>
            </a:r>
          </a:p>
        </p:txBody>
      </p:sp>
      <p:sp>
        <p:nvSpPr>
          <p:cNvPr id="8" name="TextBox 7"/>
          <p:cNvSpPr txBox="1"/>
          <p:nvPr/>
        </p:nvSpPr>
        <p:spPr>
          <a:xfrm>
            <a:off x="12096750" y="4343400"/>
            <a:ext cx="5524500" cy="1666875"/>
          </a:xfrm>
          <a:prstGeom prst="rect">
            <a:avLst/>
          </a:prstGeom>
          <a:noFill/>
        </p:spPr>
        <p:txBody>
          <a:bodyPr wrap="square" lIns="0" rIns="0" tIns="0" bIns="0" anchor="t"/>
          <a:lstStyle/>
          <a:p>
            <a:pPr algn="l">
              <a:lnSpc>
                <a:spcPct val="90000"/>
              </a:lnSpc>
            </a:pPr>
            <a:r>
              <a:rPr sz="10500" b="1" i="0" spc="-250">
                <a:solidFill>
                  <a:srgbClr val="C35141"/>
                </a:solidFill>
                <a:latin typeface="Arial"/>
              </a:rPr>
              <a:t>₹600 cr</a:t>
            </a:r>
          </a:p>
        </p:txBody>
      </p:sp>
      <p:sp>
        <p:nvSpPr>
          <p:cNvPr id="9" name="TextBox 8"/>
          <p:cNvSpPr txBox="1"/>
          <p:nvPr/>
        </p:nvSpPr>
        <p:spPr>
          <a:xfrm>
            <a:off x="120967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FY24 losses — narrowing, from around ₹1,300 crore the year before.</a:t>
            </a:r>
          </a:p>
        </p:txBody>
      </p:sp>
      <p:sp>
        <p:nvSpPr>
          <p:cNvPr id="10" name="Rectangle 9"/>
          <p:cNvSpPr/>
          <p:nvPr/>
        </p:nvSpPr>
        <p:spPr>
          <a:xfrm>
            <a:off x="1047750" y="7696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8020050"/>
            <a:ext cx="16192500" cy="1619250"/>
          </a:xfrm>
          <a:prstGeom prst="rect">
            <a:avLst/>
          </a:prstGeom>
          <a:noFill/>
        </p:spPr>
        <p:txBody>
          <a:bodyPr wrap="square" lIns="0" rIns="0" tIns="0" bIns="0" anchor="t"/>
          <a:lstStyle/>
          <a:p>
            <a:pPr algn="l">
              <a:lnSpc>
                <a:spcPct val="114000"/>
              </a:lnSpc>
            </a:pPr>
            <a:r>
              <a:rPr sz="2850" b="0" i="0">
                <a:solidFill>
                  <a:srgbClr val="50453D"/>
                </a:solidFill>
                <a:latin typeface="Georgia"/>
              </a:rPr>
              <a:t>CRED spent years earning the trust of a customer it had described precisely, then sold that customer financial products only a highly creditworthy person could be offered. The persona was the business model, arriving in instalments.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2905125"/>
            <a:ext cx="16192500" cy="323850"/>
          </a:xfrm>
          <a:prstGeom prst="rect">
            <a:avLst/>
          </a:prstGeom>
          <a:noFill/>
        </p:spPr>
        <p:txBody>
          <a:bodyPr wrap="square" lIns="0" rIns="0" tIns="0" bIns="0" anchor="t"/>
          <a:lstStyle/>
          <a:p>
            <a:pPr algn="l"/>
            <a:r>
              <a:rPr sz="1950" b="1" i="0" spc="312">
                <a:solidFill>
                  <a:srgbClr val="EF806F"/>
                </a:solidFill>
                <a:latin typeface="Arial"/>
              </a:rPr>
              <a:t>THE MIRROR</a:t>
            </a:r>
          </a:p>
        </p:txBody>
      </p:sp>
      <p:sp>
        <p:nvSpPr>
          <p:cNvPr id="3" name="TextBox 2"/>
          <p:cNvSpPr txBox="1"/>
          <p:nvPr/>
        </p:nvSpPr>
        <p:spPr>
          <a:xfrm>
            <a:off x="1047750" y="3495675"/>
            <a:ext cx="15697200" cy="1266825"/>
          </a:xfrm>
          <a:prstGeom prst="rect">
            <a:avLst/>
          </a:prstGeom>
          <a:noFill/>
        </p:spPr>
        <p:txBody>
          <a:bodyPr wrap="square" lIns="0" rIns="0" tIns="0" bIns="0" anchor="t"/>
          <a:lstStyle/>
          <a:p>
            <a:pPr algn="l">
              <a:lnSpc>
                <a:spcPct val="90000"/>
              </a:lnSpc>
            </a:pPr>
            <a:r>
              <a:rPr sz="8100" b="1" i="0" spc="-250">
                <a:solidFill>
                  <a:srgbClr val="F5F1E9"/>
                </a:solidFill>
                <a:latin typeface="Arial"/>
              </a:rPr>
              <a:t>Not bad credit. None.</a:t>
            </a:r>
          </a:p>
        </p:txBody>
      </p:sp>
      <p:sp>
        <p:nvSpPr>
          <p:cNvPr id="4" name="TextBox 3"/>
          <p:cNvSpPr txBox="1"/>
          <p:nvPr/>
        </p:nvSpPr>
        <p:spPr>
          <a:xfrm>
            <a:off x="1047750" y="5181600"/>
            <a:ext cx="14287500" cy="1981200"/>
          </a:xfrm>
          <a:prstGeom prst="rect">
            <a:avLst/>
          </a:prstGeom>
          <a:noFill/>
        </p:spPr>
        <p:txBody>
          <a:bodyPr wrap="square" lIns="0" rIns="0" tIns="0" bIns="0" anchor="t"/>
          <a:lstStyle/>
          <a:p>
            <a:pPr algn="l">
              <a:lnSpc>
                <a:spcPct val="112000"/>
              </a:lnSpc>
            </a:pPr>
            <a:r>
              <a:rPr sz="3600" b="0" i="0">
                <a:solidFill>
                  <a:srgbClr val="C1B5AB"/>
                </a:solidFill>
                <a:latin typeface="Georgia"/>
              </a:rPr>
              <a:t>Rajan Bajaj built for the person on the other side of the loop: 22 to 28, first or second job, ₹25,000 to ₹60,000 a month, and invisible to every lender in the country.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THIN FILE</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A refusal that feeds itself</a:t>
            </a:r>
          </a:p>
        </p:txBody>
      </p:sp>
      <p:sp>
        <p:nvSpPr>
          <p:cNvPr id="4" name="Rectangle 3"/>
          <p:cNvSpPr/>
          <p:nvPr/>
        </p:nvSpPr>
        <p:spPr>
          <a:xfrm>
            <a:off x="1047750" y="2838450"/>
            <a:ext cx="7905750" cy="44481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19450"/>
            <a:ext cx="7067550" cy="352425"/>
          </a:xfrm>
          <a:prstGeom prst="rect">
            <a:avLst/>
          </a:prstGeom>
          <a:noFill/>
        </p:spPr>
        <p:txBody>
          <a:bodyPr wrap="square" lIns="0" rIns="0" tIns="0" bIns="0" anchor="t"/>
          <a:lstStyle/>
          <a:p>
            <a:pPr algn="l"/>
            <a:r>
              <a:rPr sz="2100" b="1" i="0" spc="180">
                <a:solidFill>
                  <a:srgbClr val="5E534A"/>
                </a:solidFill>
                <a:latin typeface="Arial"/>
              </a:rPr>
              <a:t>WHAT THE LENDER SEES</a:t>
            </a:r>
          </a:p>
        </p:txBody>
      </p:sp>
      <p:sp>
        <p:nvSpPr>
          <p:cNvPr id="6" name="TextBox 5"/>
          <p:cNvSpPr txBox="1"/>
          <p:nvPr/>
        </p:nvSpPr>
        <p:spPr>
          <a:xfrm>
            <a:off x="1466850" y="3752850"/>
            <a:ext cx="7067550" cy="457200"/>
          </a:xfrm>
          <a:prstGeom prst="rect">
            <a:avLst/>
          </a:prstGeom>
          <a:noFill/>
        </p:spPr>
        <p:txBody>
          <a:bodyPr wrap="square" lIns="0" rIns="0" tIns="0" bIns="0" anchor="t"/>
          <a:lstStyle/>
          <a:p>
            <a:pPr algn="l">
              <a:lnSpc>
                <a:spcPct val="106000"/>
              </a:lnSpc>
            </a:pPr>
            <a:r>
              <a:rPr sz="2250" b="0" i="0">
                <a:solidFill>
                  <a:srgbClr val="201914"/>
                </a:solidFill>
                <a:latin typeface="Arial"/>
              </a:rPr>
              <a:t>No score. No card. No file.</a:t>
            </a:r>
          </a:p>
        </p:txBody>
      </p:sp>
      <p:sp>
        <p:nvSpPr>
          <p:cNvPr id="7" name="TextBox 6"/>
          <p:cNvSpPr txBox="1"/>
          <p:nvPr/>
        </p:nvSpPr>
        <p:spPr>
          <a:xfrm>
            <a:off x="1466850" y="4419600"/>
            <a:ext cx="7067550" cy="457200"/>
          </a:xfrm>
          <a:prstGeom prst="rect">
            <a:avLst/>
          </a:prstGeom>
          <a:noFill/>
        </p:spPr>
        <p:txBody>
          <a:bodyPr wrap="square" lIns="0" rIns="0" tIns="0" bIns="0" anchor="t"/>
          <a:lstStyle/>
          <a:p>
            <a:pPr algn="l">
              <a:lnSpc>
                <a:spcPct val="106000"/>
              </a:lnSpc>
            </a:pPr>
            <a:r>
              <a:rPr sz="2250" b="0" i="0">
                <a:solidFill>
                  <a:srgbClr val="201914"/>
                </a:solidFill>
                <a:latin typeface="Arial"/>
              </a:rPr>
              <a:t>A lender decides by looking at what you did last time.</a:t>
            </a:r>
          </a:p>
        </p:txBody>
      </p:sp>
      <p:sp>
        <p:nvSpPr>
          <p:cNvPr id="8" name="TextBox 7"/>
          <p:cNvSpPr txBox="1"/>
          <p:nvPr/>
        </p:nvSpPr>
        <p:spPr>
          <a:xfrm>
            <a:off x="1466850" y="5086350"/>
            <a:ext cx="7067550" cy="828675"/>
          </a:xfrm>
          <a:prstGeom prst="rect">
            <a:avLst/>
          </a:prstGeom>
          <a:noFill/>
        </p:spPr>
        <p:txBody>
          <a:bodyPr wrap="square" lIns="0" rIns="0" tIns="0" bIns="0" anchor="t"/>
          <a:lstStyle/>
          <a:p>
            <a:pPr algn="l">
              <a:lnSpc>
                <a:spcPct val="106000"/>
              </a:lnSpc>
            </a:pPr>
            <a:r>
              <a:rPr sz="2250" b="0" i="0">
                <a:solidFill>
                  <a:srgbClr val="201914"/>
                </a:solidFill>
                <a:latin typeface="Arial"/>
              </a:rPr>
              <a:t>With no last time, the safest decision is to refuse — and the refusal is self-perpetuating.</a:t>
            </a:r>
          </a:p>
        </p:txBody>
      </p:sp>
      <p:sp>
        <p:nvSpPr>
          <p:cNvPr id="9" name="Rectangle 8"/>
          <p:cNvSpPr/>
          <p:nvPr/>
        </p:nvSpPr>
        <p:spPr>
          <a:xfrm>
            <a:off x="9334500" y="2838450"/>
            <a:ext cx="7905750" cy="44481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3219450"/>
            <a:ext cx="7067550" cy="352425"/>
          </a:xfrm>
          <a:prstGeom prst="rect">
            <a:avLst/>
          </a:prstGeom>
          <a:noFill/>
        </p:spPr>
        <p:txBody>
          <a:bodyPr wrap="square" lIns="0" rIns="0" tIns="0" bIns="0" anchor="t"/>
          <a:lstStyle/>
          <a:p>
            <a:pPr algn="l"/>
            <a:r>
              <a:rPr sz="2100" b="1" i="0" spc="180">
                <a:solidFill>
                  <a:srgbClr val="FCF8F1"/>
                </a:solidFill>
                <a:latin typeface="Arial"/>
              </a:rPr>
              <a:t>WHAT HE DOES INSTEAD</a:t>
            </a:r>
          </a:p>
        </p:txBody>
      </p:sp>
      <p:sp>
        <p:nvSpPr>
          <p:cNvPr id="11" name="TextBox 10"/>
          <p:cNvSpPr txBox="1"/>
          <p:nvPr/>
        </p:nvSpPr>
        <p:spPr>
          <a:xfrm>
            <a:off x="9753600" y="3752850"/>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Borrows a friend's card and transfers the money afterwards.</a:t>
            </a:r>
          </a:p>
        </p:txBody>
      </p:sp>
      <p:sp>
        <p:nvSpPr>
          <p:cNvPr id="12" name="TextBox 11"/>
          <p:cNvSpPr txBox="1"/>
          <p:nvPr/>
        </p:nvSpPr>
        <p:spPr>
          <a:xfrm>
            <a:off x="9753600" y="4791075"/>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Asks his father, and takes the lecture that comes with it.</a:t>
            </a:r>
          </a:p>
        </p:txBody>
      </p:sp>
      <p:sp>
        <p:nvSpPr>
          <p:cNvPr id="13" name="TextBox 12"/>
          <p:cNvSpPr txBox="1"/>
          <p:nvPr/>
        </p:nvSpPr>
        <p:spPr>
          <a:xfrm>
            <a:off x="9753600" y="5829300"/>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Saves for four months, or borrows informally at punishing rates.</a:t>
            </a:r>
          </a:p>
        </p:txBody>
      </p:sp>
      <p:sp>
        <p:nvSpPr>
          <p:cNvPr id="14" name="TextBox 13"/>
          <p:cNvSpPr txBox="1"/>
          <p:nvPr/>
        </p:nvSpPr>
        <p:spPr>
          <a:xfrm>
            <a:off x="1047750" y="7686675"/>
            <a:ext cx="16192500" cy="1857375"/>
          </a:xfrm>
          <a:prstGeom prst="rect">
            <a:avLst/>
          </a:prstGeom>
          <a:noFill/>
        </p:spPr>
        <p:txBody>
          <a:bodyPr wrap="square" lIns="0" rIns="0" tIns="0" bIns="0" anchor="t"/>
          <a:lstStyle/>
          <a:p>
            <a:pPr algn="l">
              <a:lnSpc>
                <a:spcPct val="114000"/>
              </a:lnSpc>
            </a:pPr>
            <a:r>
              <a:rPr sz="3300" b="0" i="0">
                <a:solidFill>
                  <a:srgbClr val="362C24"/>
                </a:solidFill>
                <a:latin typeface="Georgia"/>
              </a:rPr>
              <a:t>CRED's customer was annoyed by administration. slice's customer was excluded outright. Those are opposite frustrations, and one product cannot serve both.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MIRROR IMAGE</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The same exercise, run on the opposite person</a:t>
            </a:r>
          </a:p>
        </p:txBody>
      </p:sp>
      <p:sp>
        <p:nvSpPr>
          <p:cNvPr id="4" name="Rectangle 3"/>
          <p:cNvSpPr/>
          <p:nvPr/>
        </p:nvSpPr>
        <p:spPr>
          <a:xfrm>
            <a:off x="1047750" y="362902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800475"/>
            <a:ext cx="5619750" cy="438150"/>
          </a:xfrm>
          <a:prstGeom prst="rect">
            <a:avLst/>
          </a:prstGeom>
          <a:noFill/>
        </p:spPr>
        <p:txBody>
          <a:bodyPr wrap="square" lIns="0" rIns="0" tIns="0" bIns="0" anchor="t"/>
          <a:lstStyle/>
          <a:p>
            <a:pPr algn="l"/>
            <a:r>
              <a:rPr sz="2400" b="1" i="0">
                <a:solidFill>
                  <a:srgbClr val="201914"/>
                </a:solidFill>
                <a:latin typeface="Arial"/>
              </a:rPr>
              <a:t>Limits of a few thousand rupees</a:t>
            </a:r>
          </a:p>
        </p:txBody>
      </p:sp>
      <p:sp>
        <p:nvSpPr>
          <p:cNvPr id="6" name="TextBox 5"/>
          <p:cNvSpPr txBox="1"/>
          <p:nvPr/>
        </p:nvSpPr>
        <p:spPr>
          <a:xfrm>
            <a:off x="7505700" y="3819525"/>
            <a:ext cx="9734550" cy="390525"/>
          </a:xfrm>
          <a:prstGeom prst="rect">
            <a:avLst/>
          </a:prstGeom>
          <a:noFill/>
        </p:spPr>
        <p:txBody>
          <a:bodyPr wrap="square" lIns="0" rIns="0" tIns="0" bIns="0" anchor="t"/>
          <a:lstStyle/>
          <a:p>
            <a:pPr algn="l">
              <a:lnSpc>
                <a:spcPct val="106000"/>
              </a:lnSpc>
            </a:pPr>
            <a:r>
              <a:rPr sz="1950" b="0" i="0">
                <a:solidFill>
                  <a:srgbClr val="201914"/>
                </a:solidFill>
                <a:latin typeface="Arial"/>
              </a:rPr>
              <a:t>The point was to start, not to impress</a:t>
            </a:r>
          </a:p>
        </p:txBody>
      </p:sp>
      <p:sp>
        <p:nvSpPr>
          <p:cNvPr id="7" name="Rectangle 6"/>
          <p:cNvSpPr/>
          <p:nvPr/>
        </p:nvSpPr>
        <p:spPr>
          <a:xfrm>
            <a:off x="1047750" y="456247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52550" y="4733925"/>
            <a:ext cx="5619750" cy="438150"/>
          </a:xfrm>
          <a:prstGeom prst="rect">
            <a:avLst/>
          </a:prstGeom>
          <a:noFill/>
        </p:spPr>
        <p:txBody>
          <a:bodyPr wrap="square" lIns="0" rIns="0" tIns="0" bIns="0" anchor="t"/>
          <a:lstStyle/>
          <a:p>
            <a:pPr algn="l"/>
            <a:r>
              <a:rPr sz="2400" b="1" i="0">
                <a:solidFill>
                  <a:srgbClr val="201914"/>
                </a:solidFill>
                <a:latin typeface="Arial"/>
              </a:rPr>
              <a:t>Instalments as the default</a:t>
            </a:r>
          </a:p>
        </p:txBody>
      </p:sp>
      <p:sp>
        <p:nvSpPr>
          <p:cNvPr id="9" name="TextBox 8"/>
          <p:cNvSpPr txBox="1"/>
          <p:nvPr/>
        </p:nvSpPr>
        <p:spPr>
          <a:xfrm>
            <a:off x="7505700" y="4752975"/>
            <a:ext cx="9734550" cy="390525"/>
          </a:xfrm>
          <a:prstGeom prst="rect">
            <a:avLst/>
          </a:prstGeom>
          <a:noFill/>
        </p:spPr>
        <p:txBody>
          <a:bodyPr wrap="square" lIns="0" rIns="0" tIns="0" bIns="0" anchor="t"/>
          <a:lstStyle/>
          <a:p>
            <a:pPr algn="l">
              <a:lnSpc>
                <a:spcPct val="106000"/>
              </a:lnSpc>
            </a:pPr>
            <a:r>
              <a:rPr sz="1950" b="0" i="0">
                <a:solidFill>
                  <a:srgbClr val="201914"/>
                </a:solidFill>
                <a:latin typeface="Arial"/>
              </a:rPr>
              <a:t>₹2,500 a month is comprehensible in a way ₹30,000 outstanding is not</a:t>
            </a:r>
          </a:p>
        </p:txBody>
      </p:sp>
      <p:sp>
        <p:nvSpPr>
          <p:cNvPr id="10" name="Rectangle 9"/>
          <p:cNvSpPr/>
          <p:nvPr/>
        </p:nvSpPr>
        <p:spPr>
          <a:xfrm>
            <a:off x="1047750" y="549592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2550" y="5667375"/>
            <a:ext cx="5619750" cy="438150"/>
          </a:xfrm>
          <a:prstGeom prst="rect">
            <a:avLst/>
          </a:prstGeom>
          <a:noFill/>
        </p:spPr>
        <p:txBody>
          <a:bodyPr wrap="square" lIns="0" rIns="0" tIns="0" bIns="0" anchor="t"/>
          <a:lstStyle/>
          <a:p>
            <a:pPr algn="l"/>
            <a:r>
              <a:rPr sz="2400" b="1" i="0">
                <a:solidFill>
                  <a:srgbClr val="201914"/>
                </a:solidFill>
                <a:latin typeface="Arial"/>
              </a:rPr>
              <a:t>A bright, playful card</a:t>
            </a:r>
          </a:p>
        </p:txBody>
      </p:sp>
      <p:sp>
        <p:nvSpPr>
          <p:cNvPr id="12" name="TextBox 11"/>
          <p:cNvSpPr txBox="1"/>
          <p:nvPr/>
        </p:nvSpPr>
        <p:spPr>
          <a:xfrm>
            <a:off x="7505700" y="5686425"/>
            <a:ext cx="9734550" cy="390525"/>
          </a:xfrm>
          <a:prstGeom prst="rect">
            <a:avLst/>
          </a:prstGeom>
          <a:noFill/>
        </p:spPr>
        <p:txBody>
          <a:bodyPr wrap="square" lIns="0" rIns="0" tIns="0" bIns="0" anchor="t"/>
          <a:lstStyle/>
          <a:p>
            <a:pPr algn="l">
              <a:lnSpc>
                <a:spcPct val="106000"/>
              </a:lnSpc>
            </a:pPr>
            <a:r>
              <a:rPr sz="1950" b="0" i="0">
                <a:solidFill>
                  <a:srgbClr val="201914"/>
                </a:solidFill>
                <a:latin typeface="Arial"/>
              </a:rPr>
              <a:t>He is not signalling wealth. He is signalling arrival.</a:t>
            </a:r>
          </a:p>
        </p:txBody>
      </p:sp>
      <p:sp>
        <p:nvSpPr>
          <p:cNvPr id="13" name="Rectangle 12"/>
          <p:cNvSpPr/>
          <p:nvPr/>
        </p:nvSpPr>
        <p:spPr>
          <a:xfrm>
            <a:off x="1047750" y="642937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2550" y="6410325"/>
            <a:ext cx="5619750" cy="819150"/>
          </a:xfrm>
          <a:prstGeom prst="rect">
            <a:avLst/>
          </a:prstGeom>
          <a:noFill/>
        </p:spPr>
        <p:txBody>
          <a:bodyPr wrap="square" lIns="0" rIns="0" tIns="0" bIns="0" anchor="t"/>
          <a:lstStyle/>
          <a:p>
            <a:pPr algn="l"/>
            <a:r>
              <a:rPr sz="2400" b="1" i="0">
                <a:solidFill>
                  <a:srgbClr val="201914"/>
                </a:solidFill>
                <a:latin typeface="Arial"/>
              </a:rPr>
              <a:t>Approval in minutes on alternative data</a:t>
            </a:r>
          </a:p>
        </p:txBody>
      </p:sp>
      <p:sp>
        <p:nvSpPr>
          <p:cNvPr id="15" name="TextBox 14"/>
          <p:cNvSpPr txBox="1"/>
          <p:nvPr/>
        </p:nvSpPr>
        <p:spPr>
          <a:xfrm>
            <a:off x="7505700" y="6619875"/>
            <a:ext cx="9734550" cy="390525"/>
          </a:xfrm>
          <a:prstGeom prst="rect">
            <a:avLst/>
          </a:prstGeom>
          <a:noFill/>
        </p:spPr>
        <p:txBody>
          <a:bodyPr wrap="square" lIns="0" rIns="0" tIns="0" bIns="0" anchor="t"/>
          <a:lstStyle/>
          <a:p>
            <a:pPr algn="l">
              <a:lnSpc>
                <a:spcPct val="106000"/>
              </a:lnSpc>
            </a:pPr>
            <a:r>
              <a:rPr sz="1950" b="0" i="0">
                <a:solidFill>
                  <a:srgbClr val="201914"/>
                </a:solidFill>
                <a:latin typeface="Arial"/>
              </a:rPr>
              <a:t>A credit score is precisely the thing he does not have</a:t>
            </a:r>
          </a:p>
        </p:txBody>
      </p:sp>
      <p:sp>
        <p:nvSpPr>
          <p:cNvPr id="16" name="Rectangle 15"/>
          <p:cNvSpPr/>
          <p:nvPr/>
        </p:nvSpPr>
        <p:spPr>
          <a:xfrm>
            <a:off x="1047750" y="7362825"/>
            <a:ext cx="16192500" cy="781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2550" y="7534275"/>
            <a:ext cx="5619750" cy="438150"/>
          </a:xfrm>
          <a:prstGeom prst="rect">
            <a:avLst/>
          </a:prstGeom>
          <a:noFill/>
        </p:spPr>
        <p:txBody>
          <a:bodyPr wrap="square" lIns="0" rIns="0" tIns="0" bIns="0" anchor="t"/>
          <a:lstStyle/>
          <a:p>
            <a:pPr algn="l"/>
            <a:r>
              <a:rPr sz="2400" b="1" i="0">
                <a:solidFill>
                  <a:srgbClr val="201914"/>
                </a:solidFill>
                <a:latin typeface="Arial"/>
              </a:rPr>
              <a:t>No exclusivity language anywhere</a:t>
            </a:r>
          </a:p>
        </p:txBody>
      </p:sp>
      <p:sp>
        <p:nvSpPr>
          <p:cNvPr id="18" name="TextBox 17"/>
          <p:cNvSpPr txBox="1"/>
          <p:nvPr/>
        </p:nvSpPr>
        <p:spPr>
          <a:xfrm>
            <a:off x="7505700" y="7553325"/>
            <a:ext cx="9734550" cy="390525"/>
          </a:xfrm>
          <a:prstGeom prst="rect">
            <a:avLst/>
          </a:prstGeom>
          <a:noFill/>
        </p:spPr>
        <p:txBody>
          <a:bodyPr wrap="square" lIns="0" rIns="0" tIns="0" bIns="0" anchor="t"/>
          <a:lstStyle/>
          <a:p>
            <a:pPr algn="l">
              <a:lnSpc>
                <a:spcPct val="106000"/>
              </a:lnSpc>
            </a:pPr>
            <a:r>
              <a:rPr sz="1950" b="0" i="0">
                <a:solidFill>
                  <a:srgbClr val="201914"/>
                </a:solidFill>
                <a:latin typeface="Arial"/>
              </a:rPr>
              <a:t>Telling him he might not qualify reopens the exact wound</a:t>
            </a:r>
          </a:p>
        </p:txBody>
      </p:sp>
      <p:sp>
        <p:nvSpPr>
          <p:cNvPr id="19" name="TextBox 18"/>
          <p:cNvSpPr txBox="1"/>
          <p:nvPr/>
        </p:nvSpPr>
        <p:spPr>
          <a:xfrm>
            <a:off x="1047750" y="8524875"/>
            <a:ext cx="16192500" cy="1104900"/>
          </a:xfrm>
          <a:prstGeom prst="rect">
            <a:avLst/>
          </a:prstGeom>
          <a:noFill/>
        </p:spPr>
        <p:txBody>
          <a:bodyPr wrap="square" lIns="0" rIns="0" tIns="0" bIns="0" anchor="t"/>
          <a:lstStyle/>
          <a:p>
            <a:pPr algn="l">
              <a:lnSpc>
                <a:spcPct val="114000"/>
              </a:lnSpc>
            </a:pPr>
            <a:r>
              <a:rPr sz="2850" b="1" i="0">
                <a:solidFill>
                  <a:srgbClr val="50453D"/>
                </a:solidFill>
                <a:latin typeface="Arial"/>
              </a:rPr>
              <a:t>A well-drawn persona tells you what to build. It does not protect you from a regulator. Understanding your customer is necessary and not sufficient.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1</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Five slots anybody can fill</a:t>
            </a:r>
          </a:p>
        </p:txBody>
      </p:sp>
      <p:sp>
        <p:nvSpPr>
          <p:cNvPr id="4" name="Rectangle 3"/>
          <p:cNvSpPr/>
          <p:nvPr/>
        </p:nvSpPr>
        <p:spPr>
          <a:xfrm>
            <a:off x="1047750" y="2838450"/>
            <a:ext cx="16192500" cy="10382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067050"/>
            <a:ext cx="4000500" cy="581025"/>
          </a:xfrm>
          <a:prstGeom prst="rect">
            <a:avLst/>
          </a:prstGeom>
          <a:noFill/>
        </p:spPr>
        <p:txBody>
          <a:bodyPr wrap="square" lIns="0" rIns="0" tIns="0" bIns="0" anchor="t"/>
          <a:lstStyle/>
          <a:p>
            <a:pPr algn="l"/>
            <a:r>
              <a:rPr sz="3300" b="1" i="0">
                <a:solidFill>
                  <a:srgbClr val="201914"/>
                </a:solidFill>
                <a:latin typeface="Arial"/>
              </a:rPr>
              <a:t>1 · Name</a:t>
            </a:r>
          </a:p>
        </p:txBody>
      </p:sp>
      <p:sp>
        <p:nvSpPr>
          <p:cNvPr id="6" name="TextBox 5"/>
          <p:cNvSpPr txBox="1"/>
          <p:nvPr/>
        </p:nvSpPr>
        <p:spPr>
          <a:xfrm>
            <a:off x="5886450" y="3114675"/>
            <a:ext cx="11353800" cy="485775"/>
          </a:xfrm>
          <a:prstGeom prst="rect">
            <a:avLst/>
          </a:prstGeom>
          <a:noFill/>
        </p:spPr>
        <p:txBody>
          <a:bodyPr wrap="square" lIns="0" rIns="0" tIns="0" bIns="0" anchor="t"/>
          <a:lstStyle/>
          <a:p>
            <a:pPr algn="l">
              <a:lnSpc>
                <a:spcPct val="106000"/>
              </a:lnSpc>
            </a:pPr>
            <a:r>
              <a:rPr sz="2550" b="0" i="0">
                <a:solidFill>
                  <a:srgbClr val="201914"/>
                </a:solidFill>
                <a:latin typeface="Arial"/>
              </a:rPr>
              <a:t>Forces singularity. You cannot argue about what urban millennials would do.</a:t>
            </a:r>
          </a:p>
        </p:txBody>
      </p:sp>
      <p:sp>
        <p:nvSpPr>
          <p:cNvPr id="7" name="Rectangle 6"/>
          <p:cNvSpPr/>
          <p:nvPr/>
        </p:nvSpPr>
        <p:spPr>
          <a:xfrm>
            <a:off x="1047750" y="4029075"/>
            <a:ext cx="16192500" cy="10382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52550" y="4257675"/>
            <a:ext cx="4000500" cy="581025"/>
          </a:xfrm>
          <a:prstGeom prst="rect">
            <a:avLst/>
          </a:prstGeom>
          <a:noFill/>
        </p:spPr>
        <p:txBody>
          <a:bodyPr wrap="square" lIns="0" rIns="0" tIns="0" bIns="0" anchor="t"/>
          <a:lstStyle/>
          <a:p>
            <a:pPr algn="l"/>
            <a:r>
              <a:rPr sz="3300" b="1" i="0">
                <a:solidFill>
                  <a:srgbClr val="201914"/>
                </a:solidFill>
                <a:latin typeface="Arial"/>
              </a:rPr>
              <a:t>2 · Demographics</a:t>
            </a:r>
          </a:p>
        </p:txBody>
      </p:sp>
      <p:sp>
        <p:nvSpPr>
          <p:cNvPr id="9" name="TextBox 8"/>
          <p:cNvSpPr txBox="1"/>
          <p:nvPr/>
        </p:nvSpPr>
        <p:spPr>
          <a:xfrm>
            <a:off x="5886450" y="4305300"/>
            <a:ext cx="11353800" cy="485775"/>
          </a:xfrm>
          <a:prstGeom prst="rect">
            <a:avLst/>
          </a:prstGeom>
          <a:noFill/>
        </p:spPr>
        <p:txBody>
          <a:bodyPr wrap="square" lIns="0" rIns="0" tIns="0" bIns="0" anchor="t"/>
          <a:lstStyle/>
          <a:p>
            <a:pPr algn="l">
              <a:lnSpc>
                <a:spcPct val="106000"/>
              </a:lnSpc>
            </a:pPr>
            <a:r>
              <a:rPr sz="2550" b="0" i="0">
                <a:solidFill>
                  <a:srgbClr val="201914"/>
                </a:solidFill>
                <a:latin typeface="Arial"/>
              </a:rPr>
              <a:t>Two lines, no more — the cheapest data and the weakest predictor.</a:t>
            </a:r>
          </a:p>
        </p:txBody>
      </p:sp>
      <p:sp>
        <p:nvSpPr>
          <p:cNvPr id="10" name="Rectangle 9"/>
          <p:cNvSpPr/>
          <p:nvPr/>
        </p:nvSpPr>
        <p:spPr>
          <a:xfrm>
            <a:off x="1047750" y="5219700"/>
            <a:ext cx="16192500" cy="1371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2550" y="5610225"/>
            <a:ext cx="4000500" cy="581025"/>
          </a:xfrm>
          <a:prstGeom prst="rect">
            <a:avLst/>
          </a:prstGeom>
          <a:noFill/>
        </p:spPr>
        <p:txBody>
          <a:bodyPr wrap="square" lIns="0" rIns="0" tIns="0" bIns="0" anchor="t"/>
          <a:lstStyle/>
          <a:p>
            <a:pPr algn="l"/>
            <a:r>
              <a:rPr sz="3300" b="1" i="0">
                <a:solidFill>
                  <a:srgbClr val="201914"/>
                </a:solidFill>
                <a:latin typeface="Arial"/>
              </a:rPr>
              <a:t>3 · Goals</a:t>
            </a:r>
          </a:p>
        </p:txBody>
      </p:sp>
      <p:sp>
        <p:nvSpPr>
          <p:cNvPr id="12" name="TextBox 11"/>
          <p:cNvSpPr txBox="1"/>
          <p:nvPr/>
        </p:nvSpPr>
        <p:spPr>
          <a:xfrm>
            <a:off x="5886450" y="5448300"/>
            <a:ext cx="11353800" cy="914400"/>
          </a:xfrm>
          <a:prstGeom prst="rect">
            <a:avLst/>
          </a:prstGeom>
          <a:noFill/>
        </p:spPr>
        <p:txBody>
          <a:bodyPr wrap="square" lIns="0" rIns="0" tIns="0" bIns="0" anchor="t"/>
          <a:lstStyle/>
          <a:p>
            <a:pPr algn="l">
              <a:lnSpc>
                <a:spcPct val="106000"/>
              </a:lnSpc>
            </a:pPr>
            <a:r>
              <a:rPr sz="2550" b="0" i="0">
                <a:solidFill>
                  <a:srgbClr val="201914"/>
                </a:solidFill>
                <a:latin typeface="Arial"/>
              </a:rPr>
              <a:t>What she is trying to achieve where your product touches her life, in her words.</a:t>
            </a:r>
          </a:p>
        </p:txBody>
      </p:sp>
      <p:sp>
        <p:nvSpPr>
          <p:cNvPr id="13" name="Rectangle 12"/>
          <p:cNvSpPr/>
          <p:nvPr/>
        </p:nvSpPr>
        <p:spPr>
          <a:xfrm>
            <a:off x="1047750" y="6743700"/>
            <a:ext cx="16192500" cy="10382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2550" y="6972300"/>
            <a:ext cx="4000500" cy="581025"/>
          </a:xfrm>
          <a:prstGeom prst="rect">
            <a:avLst/>
          </a:prstGeom>
          <a:noFill/>
        </p:spPr>
        <p:txBody>
          <a:bodyPr wrap="square" lIns="0" rIns="0" tIns="0" bIns="0" anchor="t"/>
          <a:lstStyle/>
          <a:p>
            <a:pPr algn="l"/>
            <a:r>
              <a:rPr sz="3300" b="1" i="0">
                <a:solidFill>
                  <a:srgbClr val="201914"/>
                </a:solidFill>
                <a:latin typeface="Arial"/>
              </a:rPr>
              <a:t>4 · Frustrations</a:t>
            </a:r>
          </a:p>
        </p:txBody>
      </p:sp>
      <p:sp>
        <p:nvSpPr>
          <p:cNvPr id="15" name="TextBox 14"/>
          <p:cNvSpPr txBox="1"/>
          <p:nvPr/>
        </p:nvSpPr>
        <p:spPr>
          <a:xfrm>
            <a:off x="5886450" y="7019925"/>
            <a:ext cx="11353800" cy="485775"/>
          </a:xfrm>
          <a:prstGeom prst="rect">
            <a:avLst/>
          </a:prstGeom>
          <a:noFill/>
        </p:spPr>
        <p:txBody>
          <a:bodyPr wrap="square" lIns="0" rIns="0" tIns="0" bIns="0" anchor="t"/>
          <a:lstStyle/>
          <a:p>
            <a:pPr algn="l">
              <a:lnSpc>
                <a:spcPct val="106000"/>
              </a:lnSpc>
            </a:pPr>
            <a:r>
              <a:rPr sz="2550" b="0" i="0">
                <a:solidFill>
                  <a:srgbClr val="201914"/>
                </a:solidFill>
                <a:latin typeface="Arial"/>
              </a:rPr>
              <a:t>What is annoying, humiliating, slow or risky about the current way.</a:t>
            </a:r>
          </a:p>
        </p:txBody>
      </p:sp>
      <p:sp>
        <p:nvSpPr>
          <p:cNvPr id="16" name="Rectangle 15"/>
          <p:cNvSpPr/>
          <p:nvPr/>
        </p:nvSpPr>
        <p:spPr>
          <a:xfrm>
            <a:off x="1047750" y="7934325"/>
            <a:ext cx="16192500" cy="15621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2550" y="8162925"/>
            <a:ext cx="4000500" cy="1104900"/>
          </a:xfrm>
          <a:prstGeom prst="rect">
            <a:avLst/>
          </a:prstGeom>
          <a:noFill/>
        </p:spPr>
        <p:txBody>
          <a:bodyPr wrap="square" lIns="0" rIns="0" tIns="0" bIns="0" anchor="t"/>
          <a:lstStyle/>
          <a:p>
            <a:pPr algn="l"/>
            <a:r>
              <a:rPr sz="3300" b="1" i="0">
                <a:solidFill>
                  <a:srgbClr val="201914"/>
                </a:solidFill>
                <a:latin typeface="Arial"/>
              </a:rPr>
              <a:t>5 · Current behaviour</a:t>
            </a:r>
          </a:p>
        </p:txBody>
      </p:sp>
      <p:sp>
        <p:nvSpPr>
          <p:cNvPr id="18" name="TextBox 17"/>
          <p:cNvSpPr txBox="1"/>
          <p:nvPr/>
        </p:nvSpPr>
        <p:spPr>
          <a:xfrm>
            <a:off x="5886450" y="8258175"/>
            <a:ext cx="11353800" cy="914400"/>
          </a:xfrm>
          <a:prstGeom prst="rect">
            <a:avLst/>
          </a:prstGeom>
          <a:noFill/>
        </p:spPr>
        <p:txBody>
          <a:bodyPr wrap="square" lIns="0" rIns="0" tIns="0" bIns="0" anchor="t"/>
          <a:lstStyle/>
          <a:p>
            <a:pPr algn="l">
              <a:lnSpc>
                <a:spcPct val="106000"/>
              </a:lnSpc>
            </a:pPr>
            <a:r>
              <a:rPr sz="2550" b="0" i="0">
                <a:solidFill>
                  <a:srgbClr val="201914"/>
                </a:solidFill>
                <a:latin typeface="Arial"/>
              </a:rPr>
              <a:t>What she actually does today, workaround included. That is the incumbent you must beat.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1 · THE TWO EVERYBODY SKIPS</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These two require having spoken to somebody</a:t>
            </a:r>
          </a:p>
        </p:txBody>
      </p:sp>
      <p:sp>
        <p:nvSpPr>
          <p:cNvPr id="4" name="Rectangle 3"/>
          <p:cNvSpPr/>
          <p:nvPr/>
        </p:nvSpPr>
        <p:spPr>
          <a:xfrm>
            <a:off x="1047750" y="3629025"/>
            <a:ext cx="7905750" cy="43053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4010025"/>
            <a:ext cx="7067550" cy="352425"/>
          </a:xfrm>
          <a:prstGeom prst="rect">
            <a:avLst/>
          </a:prstGeom>
          <a:noFill/>
        </p:spPr>
        <p:txBody>
          <a:bodyPr wrap="square" lIns="0" rIns="0" tIns="0" bIns="0" anchor="t"/>
          <a:lstStyle/>
          <a:p>
            <a:pPr algn="l"/>
            <a:r>
              <a:rPr sz="2100" b="1" i="0" spc="180">
                <a:solidFill>
                  <a:srgbClr val="5E534A"/>
                </a:solidFill>
                <a:latin typeface="Arial"/>
              </a:rPr>
              <a:t>6 · DAY IN THE LIFE</a:t>
            </a:r>
          </a:p>
        </p:txBody>
      </p:sp>
      <p:sp>
        <p:nvSpPr>
          <p:cNvPr id="6" name="TextBox 5"/>
          <p:cNvSpPr txBox="1"/>
          <p:nvPr/>
        </p:nvSpPr>
        <p:spPr>
          <a:xfrm>
            <a:off x="1466850" y="4543425"/>
            <a:ext cx="7067550" cy="428625"/>
          </a:xfrm>
          <a:prstGeom prst="rect">
            <a:avLst/>
          </a:prstGeom>
          <a:noFill/>
        </p:spPr>
        <p:txBody>
          <a:bodyPr wrap="square" lIns="0" rIns="0" tIns="0" bIns="0" anchor="t"/>
          <a:lstStyle/>
          <a:p>
            <a:pPr algn="l">
              <a:lnSpc>
                <a:spcPct val="106000"/>
              </a:lnSpc>
            </a:pPr>
            <a:r>
              <a:rPr sz="2100" b="0" i="0">
                <a:solidFill>
                  <a:srgbClr val="201914"/>
                </a:solidFill>
                <a:latin typeface="Arial"/>
              </a:rPr>
              <a:t>A short narrative of a real day, with times in it.</a:t>
            </a:r>
          </a:p>
        </p:txBody>
      </p:sp>
      <p:sp>
        <p:nvSpPr>
          <p:cNvPr id="7" name="TextBox 6"/>
          <p:cNvSpPr txBox="1"/>
          <p:nvPr/>
        </p:nvSpPr>
        <p:spPr>
          <a:xfrm>
            <a:off x="1466850" y="5181600"/>
            <a:ext cx="7067550" cy="428625"/>
          </a:xfrm>
          <a:prstGeom prst="rect">
            <a:avLst/>
          </a:prstGeom>
          <a:noFill/>
        </p:spPr>
        <p:txBody>
          <a:bodyPr wrap="square" lIns="0" rIns="0" tIns="0" bIns="0" anchor="t"/>
          <a:lstStyle/>
          <a:p>
            <a:pPr algn="l">
              <a:lnSpc>
                <a:spcPct val="106000"/>
              </a:lnSpc>
            </a:pPr>
            <a:r>
              <a:rPr sz="2100" b="0" i="0">
                <a:solidFill>
                  <a:srgbClr val="201914"/>
                </a:solidFill>
                <a:latin typeface="Arial"/>
              </a:rPr>
              <a:t>Gym at 7, standups at 10, dinner out twice a week.</a:t>
            </a:r>
          </a:p>
        </p:txBody>
      </p:sp>
      <p:sp>
        <p:nvSpPr>
          <p:cNvPr id="8" name="TextBox 7"/>
          <p:cNvSpPr txBox="1"/>
          <p:nvPr/>
        </p:nvSpPr>
        <p:spPr>
          <a:xfrm>
            <a:off x="1466850" y="5819775"/>
            <a:ext cx="7067550" cy="1133475"/>
          </a:xfrm>
          <a:prstGeom prst="rect">
            <a:avLst/>
          </a:prstGeom>
          <a:noFill/>
        </p:spPr>
        <p:txBody>
          <a:bodyPr wrap="square" lIns="0" rIns="0" tIns="0" bIns="0" anchor="t"/>
          <a:lstStyle/>
          <a:p>
            <a:pPr algn="l">
              <a:lnSpc>
                <a:spcPct val="106000"/>
              </a:lnSpc>
            </a:pPr>
            <a:r>
              <a:rPr sz="2100" b="0" i="0">
                <a:solidFill>
                  <a:srgbClr val="201914"/>
                </a:solidFill>
                <a:latin typeface="Arial"/>
              </a:rPr>
              <a:t>And the highest-yield question in this course: what does she worry about at eleven at night? At eleven the socially acceptable answers stop.</a:t>
            </a:r>
          </a:p>
        </p:txBody>
      </p:sp>
      <p:sp>
        <p:nvSpPr>
          <p:cNvPr id="9" name="Rectangle 8"/>
          <p:cNvSpPr/>
          <p:nvPr/>
        </p:nvSpPr>
        <p:spPr>
          <a:xfrm>
            <a:off x="9334500" y="3629025"/>
            <a:ext cx="7905750" cy="43053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4010025"/>
            <a:ext cx="7067550" cy="352425"/>
          </a:xfrm>
          <a:prstGeom prst="rect">
            <a:avLst/>
          </a:prstGeom>
          <a:noFill/>
        </p:spPr>
        <p:txBody>
          <a:bodyPr wrap="square" lIns="0" rIns="0" tIns="0" bIns="0" anchor="t"/>
          <a:lstStyle/>
          <a:p>
            <a:pPr algn="l"/>
            <a:r>
              <a:rPr sz="2100" b="1" i="0" spc="180">
                <a:solidFill>
                  <a:srgbClr val="FCF8F1"/>
                </a:solidFill>
                <a:latin typeface="Arial"/>
              </a:rPr>
              <a:t>7 · THE TRIGGER</a:t>
            </a:r>
          </a:p>
        </p:txBody>
      </p:sp>
      <p:sp>
        <p:nvSpPr>
          <p:cNvPr id="11" name="TextBox 10"/>
          <p:cNvSpPr txBox="1"/>
          <p:nvPr/>
        </p:nvSpPr>
        <p:spPr>
          <a:xfrm>
            <a:off x="9753600" y="4543425"/>
            <a:ext cx="7067550" cy="781050"/>
          </a:xfrm>
          <a:prstGeom prst="rect">
            <a:avLst/>
          </a:prstGeom>
          <a:noFill/>
        </p:spPr>
        <p:txBody>
          <a:bodyPr wrap="square" lIns="0" rIns="0" tIns="0" bIns="0" anchor="t"/>
          <a:lstStyle/>
          <a:p>
            <a:pPr algn="l">
              <a:lnSpc>
                <a:spcPct val="106000"/>
              </a:lnSpc>
            </a:pPr>
            <a:r>
              <a:rPr sz="2100" b="0" i="0">
                <a:solidFill>
                  <a:srgbClr val="F5F1E9"/>
                </a:solidFill>
                <a:latin typeface="Arial"/>
              </a:rPr>
              <a:t>The event that makes her look now rather than continuing indefinitely.</a:t>
            </a:r>
          </a:p>
        </p:txBody>
      </p:sp>
      <p:sp>
        <p:nvSpPr>
          <p:cNvPr id="12" name="TextBox 11"/>
          <p:cNvSpPr txBox="1"/>
          <p:nvPr/>
        </p:nvSpPr>
        <p:spPr>
          <a:xfrm>
            <a:off x="9753600" y="5534025"/>
            <a:ext cx="7067550" cy="781050"/>
          </a:xfrm>
          <a:prstGeom prst="rect">
            <a:avLst/>
          </a:prstGeom>
          <a:noFill/>
        </p:spPr>
        <p:txBody>
          <a:bodyPr wrap="square" lIns="0" rIns="0" tIns="0" bIns="0" anchor="t"/>
          <a:lstStyle/>
          <a:p>
            <a:pPr algn="l">
              <a:lnSpc>
                <a:spcPct val="106000"/>
              </a:lnSpc>
            </a:pPr>
            <a:r>
              <a:rPr sz="2100" b="0" i="0">
                <a:solidFill>
                  <a:srgbClr val="F5F1E9"/>
                </a:solidFill>
                <a:latin typeface="Arial"/>
              </a:rPr>
              <a:t>Nobody wakes up and decides to reorganise their financial life.</a:t>
            </a:r>
          </a:p>
        </p:txBody>
      </p:sp>
      <p:sp>
        <p:nvSpPr>
          <p:cNvPr id="13" name="TextBox 12"/>
          <p:cNvSpPr txBox="1"/>
          <p:nvPr/>
        </p:nvSpPr>
        <p:spPr>
          <a:xfrm>
            <a:off x="9753600" y="6524625"/>
            <a:ext cx="7067550" cy="781050"/>
          </a:xfrm>
          <a:prstGeom prst="rect">
            <a:avLst/>
          </a:prstGeom>
          <a:noFill/>
        </p:spPr>
        <p:txBody>
          <a:bodyPr wrap="square" lIns="0" rIns="0" tIns="0" bIns="0" anchor="t"/>
          <a:lstStyle/>
          <a:p>
            <a:pPr algn="l">
              <a:lnSpc>
                <a:spcPct val="106000"/>
              </a:lnSpc>
            </a:pPr>
            <a:r>
              <a:rPr sz="2100" b="0" i="0">
                <a:solidFill>
                  <a:srgbClr val="F5F1E9"/>
                </a:solidFill>
                <a:latin typeface="Arial"/>
              </a:rPr>
              <a:t>A ₹500 late fee. A cracked screen. A child unreachable for forty minutes.</a:t>
            </a:r>
          </a:p>
        </p:txBody>
      </p:sp>
      <p:sp>
        <p:nvSpPr>
          <p:cNvPr id="14" name="TextBox 13"/>
          <p:cNvSpPr txBox="1"/>
          <p:nvPr/>
        </p:nvSpPr>
        <p:spPr>
          <a:xfrm>
            <a:off x="1047750" y="8334375"/>
            <a:ext cx="16192500" cy="1266825"/>
          </a:xfrm>
          <a:prstGeom prst="rect">
            <a:avLst/>
          </a:prstGeom>
          <a:noFill/>
        </p:spPr>
        <p:txBody>
          <a:bodyPr wrap="square" lIns="0" rIns="0" tIns="0" bIns="0" anchor="t"/>
          <a:lstStyle/>
          <a:p>
            <a:pPr algn="l">
              <a:lnSpc>
                <a:spcPct val="114000"/>
              </a:lnSpc>
            </a:pPr>
            <a:r>
              <a:rPr sz="3300" b="0" i="0">
                <a:solidFill>
                  <a:srgbClr val="362C24"/>
                </a:solidFill>
                <a:latin typeface="Georgia"/>
              </a:rPr>
              <a:t>The trigger is the only slot that tells you WHEN — and a perfect product advertised the week before the screen cracks is invisible.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TWO PERSONAS, ONE INDUSTRY</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Fill the last row from the four above it</a:t>
            </a:r>
          </a:p>
        </p:txBody>
      </p:sp>
      <p:sp>
        <p:nvSpPr>
          <p:cNvPr id="4" name="TextBox 3"/>
          <p:cNvSpPr txBox="1"/>
          <p:nvPr/>
        </p:nvSpPr>
        <p:spPr>
          <a:xfrm>
            <a:off x="1314450" y="2838450"/>
            <a:ext cx="2990850" cy="381000"/>
          </a:xfrm>
          <a:prstGeom prst="rect">
            <a:avLst/>
          </a:prstGeom>
          <a:noFill/>
        </p:spPr>
        <p:txBody>
          <a:bodyPr wrap="square" lIns="0" rIns="0" tIns="0" bIns="0" anchor="t"/>
          <a:lstStyle/>
          <a:p>
            <a:pPr algn="l"/>
            <a:r>
              <a:rPr sz="1800" b="1" i="0" spc="150">
                <a:solidFill>
                  <a:srgbClr val="5E534A"/>
                </a:solidFill>
                <a:latin typeface="Arial"/>
              </a:rPr>
              <a:t>SLOT</a:t>
            </a:r>
          </a:p>
        </p:txBody>
      </p:sp>
      <p:sp>
        <p:nvSpPr>
          <p:cNvPr id="5" name="TextBox 4"/>
          <p:cNvSpPr txBox="1"/>
          <p:nvPr/>
        </p:nvSpPr>
        <p:spPr>
          <a:xfrm>
            <a:off x="4552950" y="2838450"/>
            <a:ext cx="6229350" cy="381000"/>
          </a:xfrm>
          <a:prstGeom prst="rect">
            <a:avLst/>
          </a:prstGeom>
          <a:noFill/>
        </p:spPr>
        <p:txBody>
          <a:bodyPr wrap="square" lIns="0" rIns="0" tIns="0" bIns="0" anchor="t"/>
          <a:lstStyle/>
          <a:p>
            <a:pPr algn="l"/>
            <a:r>
              <a:rPr sz="1800" b="1" i="0" spc="150">
                <a:solidFill>
                  <a:srgbClr val="5E534A"/>
                </a:solidFill>
                <a:latin typeface="Arial"/>
              </a:rPr>
              <a:t>ROHIT · 33 · BENGALURU · CRED</a:t>
            </a:r>
          </a:p>
        </p:txBody>
      </p:sp>
      <p:sp>
        <p:nvSpPr>
          <p:cNvPr id="6" name="TextBox 5"/>
          <p:cNvSpPr txBox="1"/>
          <p:nvPr/>
        </p:nvSpPr>
        <p:spPr>
          <a:xfrm>
            <a:off x="11029950" y="2838450"/>
            <a:ext cx="6229350" cy="381000"/>
          </a:xfrm>
          <a:prstGeom prst="rect">
            <a:avLst/>
          </a:prstGeom>
          <a:noFill/>
        </p:spPr>
        <p:txBody>
          <a:bodyPr wrap="square" lIns="0" rIns="0" tIns="0" bIns="0" anchor="t"/>
          <a:lstStyle/>
          <a:p>
            <a:pPr algn="l"/>
            <a:r>
              <a:rPr sz="1800" b="1" i="0" spc="150">
                <a:solidFill>
                  <a:srgbClr val="5E534A"/>
                </a:solidFill>
                <a:latin typeface="Arial"/>
              </a:rPr>
              <a:t>ARJUN · 24 · PUNE · slice</a:t>
            </a:r>
          </a:p>
        </p:txBody>
      </p:sp>
      <p:sp>
        <p:nvSpPr>
          <p:cNvPr id="7" name="Rectangle 6"/>
          <p:cNvSpPr/>
          <p:nvPr/>
        </p:nvSpPr>
        <p:spPr>
          <a:xfrm>
            <a:off x="1047750" y="33528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7750" y="4457700"/>
            <a:ext cx="16192500" cy="8286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47750" y="6115050"/>
            <a:ext cx="16192500" cy="8286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14450" y="3867150"/>
            <a:ext cx="2990850" cy="352425"/>
          </a:xfrm>
          <a:prstGeom prst="rect">
            <a:avLst/>
          </a:prstGeom>
          <a:noFill/>
        </p:spPr>
        <p:txBody>
          <a:bodyPr wrap="square" lIns="0" rIns="0" tIns="0" bIns="0" anchor="t"/>
          <a:lstStyle/>
          <a:p>
            <a:pPr algn="l">
              <a:lnSpc>
                <a:spcPct val="102000"/>
              </a:lnSpc>
            </a:pPr>
            <a:r>
              <a:rPr sz="1800" b="1" i="0">
                <a:solidFill>
                  <a:srgbClr val="201914"/>
                </a:solidFill>
                <a:latin typeface="Arial"/>
              </a:rPr>
              <a:t>Frustrations</a:t>
            </a:r>
          </a:p>
        </p:txBody>
      </p:sp>
      <p:sp>
        <p:nvSpPr>
          <p:cNvPr id="11" name="TextBox 10"/>
          <p:cNvSpPr txBox="1"/>
          <p:nvPr/>
        </p:nvSpPr>
        <p:spPr>
          <a:xfrm>
            <a:off x="4552950" y="3724275"/>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Four bank apps, four due dates, no consolidated view, and no acknowledgement for paying in full</a:t>
            </a:r>
          </a:p>
        </p:txBody>
      </p:sp>
      <p:sp>
        <p:nvSpPr>
          <p:cNvPr id="12" name="TextBox 11"/>
          <p:cNvSpPr txBox="1"/>
          <p:nvPr/>
        </p:nvSpPr>
        <p:spPr>
          <a:xfrm>
            <a:off x="11029950" y="3724275"/>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No card, no score, no history, and applications that say no without explaining why</a:t>
            </a:r>
          </a:p>
        </p:txBody>
      </p:sp>
      <p:sp>
        <p:nvSpPr>
          <p:cNvPr id="13" name="Rectangle 12"/>
          <p:cNvSpPr/>
          <p:nvPr/>
        </p:nvSpPr>
        <p:spPr>
          <a:xfrm>
            <a:off x="1047750" y="44481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14450" y="4695825"/>
            <a:ext cx="2990850" cy="352425"/>
          </a:xfrm>
          <a:prstGeom prst="rect">
            <a:avLst/>
          </a:prstGeom>
          <a:noFill/>
        </p:spPr>
        <p:txBody>
          <a:bodyPr wrap="square" lIns="0" rIns="0" tIns="0" bIns="0" anchor="t"/>
          <a:lstStyle/>
          <a:p>
            <a:pPr algn="l">
              <a:lnSpc>
                <a:spcPct val="102000"/>
              </a:lnSpc>
            </a:pPr>
            <a:r>
              <a:rPr sz="1800" b="1" i="0">
                <a:solidFill>
                  <a:srgbClr val="201914"/>
                </a:solidFill>
                <a:latin typeface="Arial"/>
              </a:rPr>
              <a:t>Current behaviour</a:t>
            </a:r>
          </a:p>
        </p:txBody>
      </p:sp>
      <p:sp>
        <p:nvSpPr>
          <p:cNvPr id="15" name="TextBox 14"/>
          <p:cNvSpPr txBox="1"/>
          <p:nvPr/>
        </p:nvSpPr>
        <p:spPr>
          <a:xfrm>
            <a:off x="4552950" y="4552950"/>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Pays each bill in a different app with calendar reminders, and still occasionally pays late</a:t>
            </a:r>
          </a:p>
        </p:txBody>
      </p:sp>
      <p:sp>
        <p:nvSpPr>
          <p:cNvPr id="16" name="TextBox 15"/>
          <p:cNvSpPr txBox="1"/>
          <p:nvPr/>
        </p:nvSpPr>
        <p:spPr>
          <a:xfrm>
            <a:off x="11029950" y="4552950"/>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Borrows a friend's card and transfers the money, or asks his father and takes the lecture</a:t>
            </a:r>
          </a:p>
        </p:txBody>
      </p:sp>
      <p:sp>
        <p:nvSpPr>
          <p:cNvPr id="17" name="Rectangle 16"/>
          <p:cNvSpPr/>
          <p:nvPr/>
        </p:nvSpPr>
        <p:spPr>
          <a:xfrm>
            <a:off x="1047750" y="52768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14450" y="5524500"/>
            <a:ext cx="2990850" cy="352425"/>
          </a:xfrm>
          <a:prstGeom prst="rect">
            <a:avLst/>
          </a:prstGeom>
          <a:noFill/>
        </p:spPr>
        <p:txBody>
          <a:bodyPr wrap="square" lIns="0" rIns="0" tIns="0" bIns="0" anchor="t"/>
          <a:lstStyle/>
          <a:p>
            <a:pPr algn="l">
              <a:lnSpc>
                <a:spcPct val="102000"/>
              </a:lnSpc>
            </a:pPr>
            <a:r>
              <a:rPr sz="1800" b="1" i="0">
                <a:solidFill>
                  <a:srgbClr val="201914"/>
                </a:solidFill>
                <a:latin typeface="Arial"/>
              </a:rPr>
              <a:t>11pm worry</a:t>
            </a:r>
          </a:p>
        </p:txBody>
      </p:sp>
      <p:sp>
        <p:nvSpPr>
          <p:cNvPr id="19" name="TextBox 18"/>
          <p:cNvSpPr txBox="1"/>
          <p:nvPr/>
        </p:nvSpPr>
        <p:spPr>
          <a:xfrm>
            <a:off x="4552950" y="5381625"/>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Whether he is falling behind peers who seem to be doing better than him</a:t>
            </a:r>
          </a:p>
        </p:txBody>
      </p:sp>
      <p:sp>
        <p:nvSpPr>
          <p:cNvPr id="20" name="TextBox 19"/>
          <p:cNvSpPr txBox="1"/>
          <p:nvPr/>
        </p:nvSpPr>
        <p:spPr>
          <a:xfrm>
            <a:off x="11029950" y="5381625"/>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Whether he can afford the phone if he cuts something else, and how long he will keep needing to ask</a:t>
            </a:r>
          </a:p>
        </p:txBody>
      </p:sp>
      <p:sp>
        <p:nvSpPr>
          <p:cNvPr id="21" name="Rectangle 20"/>
          <p:cNvSpPr/>
          <p:nvPr/>
        </p:nvSpPr>
        <p:spPr>
          <a:xfrm>
            <a:off x="1047750" y="61055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4450" y="6353175"/>
            <a:ext cx="2990850" cy="352425"/>
          </a:xfrm>
          <a:prstGeom prst="rect">
            <a:avLst/>
          </a:prstGeom>
          <a:noFill/>
        </p:spPr>
        <p:txBody>
          <a:bodyPr wrap="square" lIns="0" rIns="0" tIns="0" bIns="0" anchor="t"/>
          <a:lstStyle/>
          <a:p>
            <a:pPr algn="l">
              <a:lnSpc>
                <a:spcPct val="102000"/>
              </a:lnSpc>
            </a:pPr>
            <a:r>
              <a:rPr sz="1800" b="1" i="0">
                <a:solidFill>
                  <a:srgbClr val="201914"/>
                </a:solidFill>
                <a:latin typeface="Arial"/>
              </a:rPr>
              <a:t>Trigger</a:t>
            </a:r>
          </a:p>
        </p:txBody>
      </p:sp>
      <p:sp>
        <p:nvSpPr>
          <p:cNvPr id="23" name="TextBox 22"/>
          <p:cNvSpPr txBox="1"/>
          <p:nvPr/>
        </p:nvSpPr>
        <p:spPr>
          <a:xfrm>
            <a:off x="4552950" y="6210300"/>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A ₹500 late fee on a card he had forgotten, which felt like an insult rather than a cost</a:t>
            </a:r>
          </a:p>
        </p:txBody>
      </p:sp>
      <p:sp>
        <p:nvSpPr>
          <p:cNvPr id="24" name="TextBox 23"/>
          <p:cNvSpPr txBox="1"/>
          <p:nvPr/>
        </p:nvSpPr>
        <p:spPr>
          <a:xfrm>
            <a:off x="11029950" y="6210300"/>
            <a:ext cx="6229350" cy="638175"/>
          </a:xfrm>
          <a:prstGeom prst="rect">
            <a:avLst/>
          </a:prstGeom>
          <a:noFill/>
        </p:spPr>
        <p:txBody>
          <a:bodyPr wrap="square" lIns="0" rIns="0" tIns="0" bIns="0" anchor="t"/>
          <a:lstStyle/>
          <a:p>
            <a:pPr algn="l">
              <a:lnSpc>
                <a:spcPct val="102000"/>
              </a:lnSpc>
            </a:pPr>
            <a:r>
              <a:rPr sz="1800" b="0" i="0">
                <a:solidFill>
                  <a:srgbClr val="6C6158"/>
                </a:solidFill>
                <a:latin typeface="Arial"/>
              </a:rPr>
              <a:t>His screen cracked and the camera stopped working — he needs a replacement this week</a:t>
            </a:r>
          </a:p>
        </p:txBody>
      </p:sp>
      <p:sp>
        <p:nvSpPr>
          <p:cNvPr id="25" name="Rectangle 24"/>
          <p:cNvSpPr/>
          <p:nvPr/>
        </p:nvSpPr>
        <p:spPr>
          <a:xfrm>
            <a:off x="1047750" y="69342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14450" y="7143750"/>
            <a:ext cx="2990850" cy="685800"/>
          </a:xfrm>
          <a:prstGeom prst="rect">
            <a:avLst/>
          </a:prstGeom>
          <a:noFill/>
        </p:spPr>
        <p:txBody>
          <a:bodyPr wrap="square" lIns="0" rIns="0" tIns="0" bIns="0" anchor="t"/>
          <a:lstStyle/>
          <a:p>
            <a:pPr algn="l">
              <a:lnSpc>
                <a:spcPct val="102000"/>
              </a:lnSpc>
            </a:pPr>
            <a:r>
              <a:rPr sz="1950" b="1" i="0">
                <a:solidFill>
                  <a:srgbClr val="7B6F66"/>
                </a:solidFill>
                <a:latin typeface="Arial"/>
              </a:rPr>
              <a:t>What the persona produced</a:t>
            </a:r>
          </a:p>
        </p:txBody>
      </p:sp>
      <p:sp>
        <p:nvSpPr>
          <p:cNvPr id="27" name="TextBox 26"/>
          <p:cNvSpPr txBox="1"/>
          <p:nvPr/>
        </p:nvSpPr>
        <p:spPr>
          <a:xfrm>
            <a:off x="4552950" y="7296150"/>
            <a:ext cx="6229350" cy="371475"/>
          </a:xfrm>
          <a:prstGeom prst="rect">
            <a:avLst/>
          </a:prstGeom>
          <a:noFill/>
        </p:spPr>
        <p:txBody>
          <a:bodyPr wrap="square" lIns="0" rIns="0" tIns="0" bIns="0" anchor="t"/>
          <a:lstStyle/>
          <a:p>
            <a:pPr algn="l">
              <a:lnSpc>
                <a:spcPct val="102000"/>
              </a:lnSpc>
            </a:pPr>
            <a:r>
              <a:rPr sz="1950" b="0" i="0">
                <a:solidFill>
                  <a:srgbClr val="7B6F66"/>
                </a:solidFill>
                <a:latin typeface="Arial"/>
              </a:rPr>
              <a:t>?</a:t>
            </a:r>
          </a:p>
        </p:txBody>
      </p:sp>
      <p:sp>
        <p:nvSpPr>
          <p:cNvPr id="28" name="TextBox 27"/>
          <p:cNvSpPr txBox="1"/>
          <p:nvPr/>
        </p:nvSpPr>
        <p:spPr>
          <a:xfrm>
            <a:off x="11029950" y="7296150"/>
            <a:ext cx="6229350" cy="371475"/>
          </a:xfrm>
          <a:prstGeom prst="rect">
            <a:avLst/>
          </a:prstGeom>
          <a:noFill/>
        </p:spPr>
        <p:txBody>
          <a:bodyPr wrap="square" lIns="0" rIns="0" tIns="0" bIns="0" anchor="t"/>
          <a:lstStyle/>
          <a:p>
            <a:pPr algn="l">
              <a:lnSpc>
                <a:spcPct val="102000"/>
              </a:lnSpc>
            </a:pPr>
            <a:r>
              <a:rPr sz="1950" b="0" i="0">
                <a:solidFill>
                  <a:srgbClr val="7B6F66"/>
                </a:solidFill>
                <a:latin typeface="Arial"/>
              </a:rPr>
              <a:t>?</a:t>
            </a:r>
          </a:p>
        </p:txBody>
      </p:sp>
      <p:sp>
        <p:nvSpPr>
          <p:cNvPr id="29" name="TextBox 28"/>
          <p:cNvSpPr txBox="1"/>
          <p:nvPr/>
        </p:nvSpPr>
        <p:spPr>
          <a:xfrm>
            <a:off x="1047750" y="8562975"/>
            <a:ext cx="16192500" cy="561975"/>
          </a:xfrm>
          <a:prstGeom prst="rect">
            <a:avLst/>
          </a:prstGeom>
          <a:noFill/>
        </p:spPr>
        <p:txBody>
          <a:bodyPr wrap="square" lIns="0" rIns="0" tIns="0" bIns="0" anchor="t"/>
          <a:lstStyle/>
          <a:p>
            <a:pPr algn="l">
              <a:lnSpc>
                <a:spcPct val="114000"/>
              </a:lnSpc>
            </a:pPr>
            <a:r>
              <a:rPr sz="2700" b="0" i="0">
                <a:solidFill>
                  <a:srgbClr val="362C24"/>
                </a:solidFill>
                <a:latin typeface="Georgia"/>
              </a:rPr>
              <a:t>Everything in the last row is guessable from the four rows above it. That is the test of a persona.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TWO PERSONAS, ONE INDUSTRY</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Fill the last row from the four above it</a:t>
            </a:r>
          </a:p>
        </p:txBody>
      </p:sp>
      <p:sp>
        <p:nvSpPr>
          <p:cNvPr id="4" name="TextBox 3"/>
          <p:cNvSpPr txBox="1"/>
          <p:nvPr/>
        </p:nvSpPr>
        <p:spPr>
          <a:xfrm>
            <a:off x="1314450" y="2838450"/>
            <a:ext cx="2990850" cy="381000"/>
          </a:xfrm>
          <a:prstGeom prst="rect">
            <a:avLst/>
          </a:prstGeom>
          <a:noFill/>
        </p:spPr>
        <p:txBody>
          <a:bodyPr wrap="square" lIns="0" rIns="0" tIns="0" bIns="0" anchor="t"/>
          <a:lstStyle/>
          <a:p>
            <a:pPr algn="l"/>
            <a:r>
              <a:rPr sz="1800" b="1" i="0" spc="150">
                <a:solidFill>
                  <a:srgbClr val="5E534A"/>
                </a:solidFill>
                <a:latin typeface="Arial"/>
              </a:rPr>
              <a:t>SLOT</a:t>
            </a:r>
          </a:p>
        </p:txBody>
      </p:sp>
      <p:sp>
        <p:nvSpPr>
          <p:cNvPr id="5" name="TextBox 4"/>
          <p:cNvSpPr txBox="1"/>
          <p:nvPr/>
        </p:nvSpPr>
        <p:spPr>
          <a:xfrm>
            <a:off x="4552950" y="2838450"/>
            <a:ext cx="6229350" cy="381000"/>
          </a:xfrm>
          <a:prstGeom prst="rect">
            <a:avLst/>
          </a:prstGeom>
          <a:noFill/>
        </p:spPr>
        <p:txBody>
          <a:bodyPr wrap="square" lIns="0" rIns="0" tIns="0" bIns="0" anchor="t"/>
          <a:lstStyle/>
          <a:p>
            <a:pPr algn="l"/>
            <a:r>
              <a:rPr sz="1800" b="1" i="0" spc="150">
                <a:solidFill>
                  <a:srgbClr val="5E534A"/>
                </a:solidFill>
                <a:latin typeface="Arial"/>
              </a:rPr>
              <a:t>ROHIT · 33 · BENGALURU · CRED</a:t>
            </a:r>
          </a:p>
        </p:txBody>
      </p:sp>
      <p:sp>
        <p:nvSpPr>
          <p:cNvPr id="6" name="TextBox 5"/>
          <p:cNvSpPr txBox="1"/>
          <p:nvPr/>
        </p:nvSpPr>
        <p:spPr>
          <a:xfrm>
            <a:off x="11029950" y="2838450"/>
            <a:ext cx="6229350" cy="381000"/>
          </a:xfrm>
          <a:prstGeom prst="rect">
            <a:avLst/>
          </a:prstGeom>
          <a:noFill/>
        </p:spPr>
        <p:txBody>
          <a:bodyPr wrap="square" lIns="0" rIns="0" tIns="0" bIns="0" anchor="t"/>
          <a:lstStyle/>
          <a:p>
            <a:pPr algn="l"/>
            <a:r>
              <a:rPr sz="1800" b="1" i="0" spc="150">
                <a:solidFill>
                  <a:srgbClr val="5E534A"/>
                </a:solidFill>
                <a:latin typeface="Arial"/>
              </a:rPr>
              <a:t>ARJUN · 24 · PUNE · slice</a:t>
            </a:r>
          </a:p>
        </p:txBody>
      </p:sp>
      <p:sp>
        <p:nvSpPr>
          <p:cNvPr id="7" name="Rectangle 6"/>
          <p:cNvSpPr/>
          <p:nvPr/>
        </p:nvSpPr>
        <p:spPr>
          <a:xfrm>
            <a:off x="1047750" y="33528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7750" y="4714875"/>
            <a:ext cx="16192500" cy="108585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47750" y="6886575"/>
            <a:ext cx="16192500" cy="108585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7972425"/>
            <a:ext cx="16192500" cy="141922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3981450"/>
            <a:ext cx="2990850" cy="371475"/>
          </a:xfrm>
          <a:prstGeom prst="rect">
            <a:avLst/>
          </a:prstGeom>
          <a:noFill/>
        </p:spPr>
        <p:txBody>
          <a:bodyPr wrap="square" lIns="0" rIns="0" tIns="0" bIns="0" anchor="t"/>
          <a:lstStyle/>
          <a:p>
            <a:pPr algn="l">
              <a:lnSpc>
                <a:spcPct val="102000"/>
              </a:lnSpc>
            </a:pPr>
            <a:r>
              <a:rPr sz="1950" b="1" i="0">
                <a:solidFill>
                  <a:srgbClr val="201914"/>
                </a:solidFill>
                <a:latin typeface="Arial"/>
              </a:rPr>
              <a:t>Frustrations</a:t>
            </a:r>
          </a:p>
        </p:txBody>
      </p:sp>
      <p:sp>
        <p:nvSpPr>
          <p:cNvPr id="12" name="TextBox 11"/>
          <p:cNvSpPr txBox="1"/>
          <p:nvPr/>
        </p:nvSpPr>
        <p:spPr>
          <a:xfrm>
            <a:off x="4552950" y="382905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Four bank apps, four due dates, no consolidated view, and no acknowledgement for paying in full</a:t>
            </a:r>
          </a:p>
        </p:txBody>
      </p:sp>
      <p:sp>
        <p:nvSpPr>
          <p:cNvPr id="13" name="TextBox 12"/>
          <p:cNvSpPr txBox="1"/>
          <p:nvPr/>
        </p:nvSpPr>
        <p:spPr>
          <a:xfrm>
            <a:off x="11029950" y="382905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No card, no score, no history, and applications that say no without explaining why</a:t>
            </a:r>
          </a:p>
        </p:txBody>
      </p:sp>
      <p:sp>
        <p:nvSpPr>
          <p:cNvPr id="14" name="Rectangle 13"/>
          <p:cNvSpPr/>
          <p:nvPr/>
        </p:nvSpPr>
        <p:spPr>
          <a:xfrm>
            <a:off x="1047750" y="47053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14450" y="5067300"/>
            <a:ext cx="2990850" cy="371475"/>
          </a:xfrm>
          <a:prstGeom prst="rect">
            <a:avLst/>
          </a:prstGeom>
          <a:noFill/>
        </p:spPr>
        <p:txBody>
          <a:bodyPr wrap="square" lIns="0" rIns="0" tIns="0" bIns="0" anchor="t"/>
          <a:lstStyle/>
          <a:p>
            <a:pPr algn="l">
              <a:lnSpc>
                <a:spcPct val="102000"/>
              </a:lnSpc>
            </a:pPr>
            <a:r>
              <a:rPr sz="1950" b="1" i="0">
                <a:solidFill>
                  <a:srgbClr val="201914"/>
                </a:solidFill>
                <a:latin typeface="Arial"/>
              </a:rPr>
              <a:t>Current behaviour</a:t>
            </a:r>
          </a:p>
        </p:txBody>
      </p:sp>
      <p:sp>
        <p:nvSpPr>
          <p:cNvPr id="16" name="TextBox 15"/>
          <p:cNvSpPr txBox="1"/>
          <p:nvPr/>
        </p:nvSpPr>
        <p:spPr>
          <a:xfrm>
            <a:off x="4552950" y="491490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Pays each bill in a different app with calendar reminders, and still occasionally pays late</a:t>
            </a:r>
          </a:p>
        </p:txBody>
      </p:sp>
      <p:sp>
        <p:nvSpPr>
          <p:cNvPr id="17" name="TextBox 16"/>
          <p:cNvSpPr txBox="1"/>
          <p:nvPr/>
        </p:nvSpPr>
        <p:spPr>
          <a:xfrm>
            <a:off x="11029950" y="491490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Borrows a friend's card and transfers the money, or asks his father and takes the lecture</a:t>
            </a:r>
          </a:p>
        </p:txBody>
      </p:sp>
      <p:sp>
        <p:nvSpPr>
          <p:cNvPr id="18" name="Rectangle 17"/>
          <p:cNvSpPr/>
          <p:nvPr/>
        </p:nvSpPr>
        <p:spPr>
          <a:xfrm>
            <a:off x="1047750" y="57912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14450" y="6153150"/>
            <a:ext cx="2990850" cy="371475"/>
          </a:xfrm>
          <a:prstGeom prst="rect">
            <a:avLst/>
          </a:prstGeom>
          <a:noFill/>
        </p:spPr>
        <p:txBody>
          <a:bodyPr wrap="square" lIns="0" rIns="0" tIns="0" bIns="0" anchor="t"/>
          <a:lstStyle/>
          <a:p>
            <a:pPr algn="l">
              <a:lnSpc>
                <a:spcPct val="102000"/>
              </a:lnSpc>
            </a:pPr>
            <a:r>
              <a:rPr sz="1950" b="1" i="0">
                <a:solidFill>
                  <a:srgbClr val="201914"/>
                </a:solidFill>
                <a:latin typeface="Arial"/>
              </a:rPr>
              <a:t>11pm worry</a:t>
            </a:r>
          </a:p>
        </p:txBody>
      </p:sp>
      <p:sp>
        <p:nvSpPr>
          <p:cNvPr id="20" name="TextBox 19"/>
          <p:cNvSpPr txBox="1"/>
          <p:nvPr/>
        </p:nvSpPr>
        <p:spPr>
          <a:xfrm>
            <a:off x="4552950" y="600075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Whether he is falling behind peers who seem to be doing better than him</a:t>
            </a:r>
          </a:p>
        </p:txBody>
      </p:sp>
      <p:sp>
        <p:nvSpPr>
          <p:cNvPr id="21" name="TextBox 20"/>
          <p:cNvSpPr txBox="1"/>
          <p:nvPr/>
        </p:nvSpPr>
        <p:spPr>
          <a:xfrm>
            <a:off x="11029950" y="600075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Whether he can afford the phone if he cuts something else, and how long he will keep needing to ask</a:t>
            </a:r>
          </a:p>
        </p:txBody>
      </p:sp>
      <p:sp>
        <p:nvSpPr>
          <p:cNvPr id="22" name="Rectangle 21"/>
          <p:cNvSpPr/>
          <p:nvPr/>
        </p:nvSpPr>
        <p:spPr>
          <a:xfrm>
            <a:off x="1047750" y="68770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4450" y="7239000"/>
            <a:ext cx="2990850" cy="371475"/>
          </a:xfrm>
          <a:prstGeom prst="rect">
            <a:avLst/>
          </a:prstGeom>
          <a:noFill/>
        </p:spPr>
        <p:txBody>
          <a:bodyPr wrap="square" lIns="0" rIns="0" tIns="0" bIns="0" anchor="t"/>
          <a:lstStyle/>
          <a:p>
            <a:pPr algn="l">
              <a:lnSpc>
                <a:spcPct val="102000"/>
              </a:lnSpc>
            </a:pPr>
            <a:r>
              <a:rPr sz="1950" b="1" i="0">
                <a:solidFill>
                  <a:srgbClr val="201914"/>
                </a:solidFill>
                <a:latin typeface="Arial"/>
              </a:rPr>
              <a:t>Trigger</a:t>
            </a:r>
          </a:p>
        </p:txBody>
      </p:sp>
      <p:sp>
        <p:nvSpPr>
          <p:cNvPr id="24" name="TextBox 23"/>
          <p:cNvSpPr txBox="1"/>
          <p:nvPr/>
        </p:nvSpPr>
        <p:spPr>
          <a:xfrm>
            <a:off x="4552950" y="708660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A ₹500 late fee on a card he had forgotten, which felt like an insult rather than a cost</a:t>
            </a:r>
          </a:p>
        </p:txBody>
      </p:sp>
      <p:sp>
        <p:nvSpPr>
          <p:cNvPr id="25" name="TextBox 24"/>
          <p:cNvSpPr txBox="1"/>
          <p:nvPr/>
        </p:nvSpPr>
        <p:spPr>
          <a:xfrm>
            <a:off x="11029950" y="7086600"/>
            <a:ext cx="6229350" cy="685800"/>
          </a:xfrm>
          <a:prstGeom prst="rect">
            <a:avLst/>
          </a:prstGeom>
          <a:noFill/>
        </p:spPr>
        <p:txBody>
          <a:bodyPr wrap="square" lIns="0" rIns="0" tIns="0" bIns="0" anchor="t"/>
          <a:lstStyle/>
          <a:p>
            <a:pPr algn="l">
              <a:lnSpc>
                <a:spcPct val="102000"/>
              </a:lnSpc>
            </a:pPr>
            <a:r>
              <a:rPr sz="1950" b="0" i="0">
                <a:solidFill>
                  <a:srgbClr val="6C6158"/>
                </a:solidFill>
                <a:latin typeface="Arial"/>
              </a:rPr>
              <a:t>His screen cracked and the camera stopped working — he needs a replacement this week</a:t>
            </a:r>
          </a:p>
        </p:txBody>
      </p:sp>
      <p:sp>
        <p:nvSpPr>
          <p:cNvPr id="26" name="Rectangle 25"/>
          <p:cNvSpPr/>
          <p:nvPr/>
        </p:nvSpPr>
        <p:spPr>
          <a:xfrm>
            <a:off x="1047750" y="79629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14450" y="8315325"/>
            <a:ext cx="2990850" cy="733425"/>
          </a:xfrm>
          <a:prstGeom prst="rect">
            <a:avLst/>
          </a:prstGeom>
          <a:noFill/>
        </p:spPr>
        <p:txBody>
          <a:bodyPr wrap="square" lIns="0" rIns="0" tIns="0" bIns="0" anchor="t"/>
          <a:lstStyle/>
          <a:p>
            <a:pPr algn="l">
              <a:lnSpc>
                <a:spcPct val="102000"/>
              </a:lnSpc>
            </a:pPr>
            <a:r>
              <a:rPr sz="2100" b="1" i="0">
                <a:solidFill>
                  <a:srgbClr val="F5F1E9"/>
                </a:solidFill>
                <a:latin typeface="Arial"/>
              </a:rPr>
              <a:t>What the persona produced</a:t>
            </a:r>
          </a:p>
        </p:txBody>
      </p:sp>
      <p:sp>
        <p:nvSpPr>
          <p:cNvPr id="28" name="TextBox 27"/>
          <p:cNvSpPr txBox="1"/>
          <p:nvPr/>
        </p:nvSpPr>
        <p:spPr>
          <a:xfrm>
            <a:off x="4552950" y="8315325"/>
            <a:ext cx="6229350" cy="733425"/>
          </a:xfrm>
          <a:prstGeom prst="rect">
            <a:avLst/>
          </a:prstGeom>
          <a:noFill/>
        </p:spPr>
        <p:txBody>
          <a:bodyPr wrap="square" lIns="0" rIns="0" tIns="0" bIns="0" anchor="t"/>
          <a:lstStyle/>
          <a:p>
            <a:pPr algn="l">
              <a:lnSpc>
                <a:spcPct val="102000"/>
              </a:lnSpc>
            </a:pPr>
            <a:r>
              <a:rPr sz="2100" b="1" i="0">
                <a:solidFill>
                  <a:srgbClr val="F5F1E9"/>
                </a:solidFill>
                <a:latin typeface="Arial"/>
              </a:rPr>
              <a:t>Dark interface, invitation-only entry, curated rewards instead of cashback</a:t>
            </a:r>
          </a:p>
        </p:txBody>
      </p:sp>
      <p:sp>
        <p:nvSpPr>
          <p:cNvPr id="29" name="TextBox 28"/>
          <p:cNvSpPr txBox="1"/>
          <p:nvPr/>
        </p:nvSpPr>
        <p:spPr>
          <a:xfrm>
            <a:off x="11029950" y="8315325"/>
            <a:ext cx="6229350" cy="733425"/>
          </a:xfrm>
          <a:prstGeom prst="rect">
            <a:avLst/>
          </a:prstGeom>
          <a:noFill/>
        </p:spPr>
        <p:txBody>
          <a:bodyPr wrap="square" lIns="0" rIns="0" tIns="0" bIns="0" anchor="t"/>
          <a:lstStyle/>
          <a:p>
            <a:pPr algn="l">
              <a:lnSpc>
                <a:spcPct val="102000"/>
              </a:lnSpc>
            </a:pPr>
            <a:r>
              <a:rPr sz="2100" b="1" i="0">
                <a:solidFill>
                  <a:srgbClr val="FFAF9F"/>
                </a:solidFill>
                <a:latin typeface="Arial"/>
              </a:rPr>
              <a:t>Small starting limits, instalments by default, approval in minutes, no exclusivity language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2 · THE SPINE OF THE HOUR</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Three documents, three jobs</a:t>
            </a:r>
          </a:p>
        </p:txBody>
      </p:sp>
      <p:sp>
        <p:nvSpPr>
          <p:cNvPr id="4" name="Rectangle 3"/>
          <p:cNvSpPr/>
          <p:nvPr/>
        </p:nvSpPr>
        <p:spPr>
          <a:xfrm>
            <a:off x="1047750" y="2838450"/>
            <a:ext cx="16192500" cy="14954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324225"/>
            <a:ext cx="2705100" cy="514350"/>
          </a:xfrm>
          <a:prstGeom prst="rect">
            <a:avLst/>
          </a:prstGeom>
          <a:noFill/>
        </p:spPr>
        <p:txBody>
          <a:bodyPr wrap="square" lIns="0" rIns="0" tIns="0" bIns="0" anchor="t"/>
          <a:lstStyle/>
          <a:p>
            <a:pPr algn="l"/>
            <a:r>
              <a:rPr sz="2850" b="1" i="0">
                <a:solidFill>
                  <a:srgbClr val="201914"/>
                </a:solidFill>
                <a:latin typeface="Arial"/>
              </a:rPr>
              <a:t>Segment</a:t>
            </a:r>
          </a:p>
        </p:txBody>
      </p:sp>
      <p:sp>
        <p:nvSpPr>
          <p:cNvPr id="6" name="TextBox 5"/>
          <p:cNvSpPr txBox="1"/>
          <p:nvPr/>
        </p:nvSpPr>
        <p:spPr>
          <a:xfrm>
            <a:off x="4591050" y="3228975"/>
            <a:ext cx="3905250" cy="714375"/>
          </a:xfrm>
          <a:prstGeom prst="rect">
            <a:avLst/>
          </a:prstGeom>
          <a:noFill/>
        </p:spPr>
        <p:txBody>
          <a:bodyPr wrap="square" lIns="0" rIns="0" tIns="0" bIns="0" anchor="t"/>
          <a:lstStyle/>
          <a:p>
            <a:pPr algn="l">
              <a:lnSpc>
                <a:spcPct val="106000"/>
              </a:lnSpc>
            </a:pPr>
            <a:r>
              <a:rPr sz="1950" b="0" i="0">
                <a:solidFill>
                  <a:srgbClr val="201914"/>
                </a:solidFill>
                <a:latin typeface="Arial"/>
              </a:rPr>
              <a:t>A group of customers who behave alike. A plural noun.</a:t>
            </a:r>
          </a:p>
        </p:txBody>
      </p:sp>
      <p:sp>
        <p:nvSpPr>
          <p:cNvPr id="7" name="TextBox 6"/>
          <p:cNvSpPr txBox="1"/>
          <p:nvPr/>
        </p:nvSpPr>
        <p:spPr>
          <a:xfrm>
            <a:off x="8801100" y="3067050"/>
            <a:ext cx="4229100" cy="1038225"/>
          </a:xfrm>
          <a:prstGeom prst="rect">
            <a:avLst/>
          </a:prstGeom>
          <a:noFill/>
        </p:spPr>
        <p:txBody>
          <a:bodyPr wrap="square" lIns="0" rIns="0" tIns="0" bIns="0" anchor="t"/>
          <a:lstStyle/>
          <a:p>
            <a:pPr algn="l">
              <a:lnSpc>
                <a:spcPct val="106000"/>
              </a:lnSpc>
            </a:pPr>
            <a:r>
              <a:rPr sz="1950" b="0" i="0">
                <a:solidFill>
                  <a:srgbClr val="201914"/>
                </a:solidFill>
                <a:latin typeface="Arial"/>
              </a:rPr>
              <a:t>Measuring — sizing the opportunity, pricing to it, deciding whether to enter.</a:t>
            </a:r>
          </a:p>
        </p:txBody>
      </p:sp>
      <p:sp>
        <p:nvSpPr>
          <p:cNvPr id="8" name="TextBox 7"/>
          <p:cNvSpPr txBox="1"/>
          <p:nvPr/>
        </p:nvSpPr>
        <p:spPr>
          <a:xfrm>
            <a:off x="13335000" y="3228975"/>
            <a:ext cx="3905250" cy="714375"/>
          </a:xfrm>
          <a:prstGeom prst="rect">
            <a:avLst/>
          </a:prstGeom>
          <a:noFill/>
        </p:spPr>
        <p:txBody>
          <a:bodyPr wrap="square" lIns="0" rIns="0" tIns="0" bIns="0" anchor="t"/>
          <a:lstStyle/>
          <a:p>
            <a:pPr algn="l">
              <a:lnSpc>
                <a:spcPct val="106000"/>
              </a:lnSpc>
            </a:pPr>
            <a:r>
              <a:rPr sz="1950" b="0" i="0">
                <a:solidFill>
                  <a:srgbClr val="201914"/>
                </a:solidFill>
                <a:latin typeface="Arial"/>
              </a:rPr>
              <a:t>Indians with excellent credit scores who pay their cards in full</a:t>
            </a:r>
          </a:p>
        </p:txBody>
      </p:sp>
      <p:sp>
        <p:nvSpPr>
          <p:cNvPr id="9" name="Rectangle 8"/>
          <p:cNvSpPr/>
          <p:nvPr/>
        </p:nvSpPr>
        <p:spPr>
          <a:xfrm>
            <a:off x="1047750" y="4543425"/>
            <a:ext cx="16192500" cy="18669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2550" y="4772025"/>
            <a:ext cx="2705100" cy="1409700"/>
          </a:xfrm>
          <a:prstGeom prst="rect">
            <a:avLst/>
          </a:prstGeom>
          <a:noFill/>
        </p:spPr>
        <p:txBody>
          <a:bodyPr wrap="square" lIns="0" rIns="0" tIns="0" bIns="0" anchor="t"/>
          <a:lstStyle/>
          <a:p>
            <a:pPr algn="l"/>
            <a:r>
              <a:rPr sz="2850" b="1" i="0">
                <a:solidFill>
                  <a:srgbClr val="201914"/>
                </a:solidFill>
                <a:latin typeface="Arial"/>
              </a:rPr>
              <a:t>Ideal Customer Profile</a:t>
            </a:r>
          </a:p>
        </p:txBody>
      </p:sp>
      <p:sp>
        <p:nvSpPr>
          <p:cNvPr id="11" name="TextBox 10"/>
          <p:cNvSpPr txBox="1"/>
          <p:nvPr/>
        </p:nvSpPr>
        <p:spPr>
          <a:xfrm>
            <a:off x="4591050" y="5114925"/>
            <a:ext cx="3905250" cy="714375"/>
          </a:xfrm>
          <a:prstGeom prst="rect">
            <a:avLst/>
          </a:prstGeom>
          <a:noFill/>
        </p:spPr>
        <p:txBody>
          <a:bodyPr wrap="square" lIns="0" rIns="0" tIns="0" bIns="0" anchor="t"/>
          <a:lstStyle/>
          <a:p>
            <a:pPr algn="l">
              <a:lnSpc>
                <a:spcPct val="106000"/>
              </a:lnSpc>
            </a:pPr>
            <a:r>
              <a:rPr sz="1950" b="0" i="0">
                <a:solidFill>
                  <a:srgbClr val="201914"/>
                </a:solidFill>
                <a:latin typeface="Arial"/>
              </a:rPr>
              <a:t>A filter — a short list of qualifying conditions.</a:t>
            </a:r>
          </a:p>
        </p:txBody>
      </p:sp>
      <p:sp>
        <p:nvSpPr>
          <p:cNvPr id="12" name="TextBox 11"/>
          <p:cNvSpPr txBox="1"/>
          <p:nvPr/>
        </p:nvSpPr>
        <p:spPr>
          <a:xfrm>
            <a:off x="8801100" y="5114925"/>
            <a:ext cx="4229100" cy="714375"/>
          </a:xfrm>
          <a:prstGeom prst="rect">
            <a:avLst/>
          </a:prstGeom>
          <a:noFill/>
        </p:spPr>
        <p:txBody>
          <a:bodyPr wrap="square" lIns="0" rIns="0" tIns="0" bIns="0" anchor="t"/>
          <a:lstStyle/>
          <a:p>
            <a:pPr algn="l">
              <a:lnSpc>
                <a:spcPct val="106000"/>
              </a:lnSpc>
            </a:pPr>
            <a:r>
              <a:rPr sz="1950" b="0" i="0">
                <a:solidFill>
                  <a:srgbClr val="201914"/>
                </a:solidFill>
                <a:latin typeface="Arial"/>
              </a:rPr>
              <a:t>Sorting — saying yes or no to a specific individual, fast.</a:t>
            </a:r>
          </a:p>
        </p:txBody>
      </p:sp>
      <p:sp>
        <p:nvSpPr>
          <p:cNvPr id="13" name="TextBox 12"/>
          <p:cNvSpPr txBox="1"/>
          <p:nvPr/>
        </p:nvSpPr>
        <p:spPr>
          <a:xfrm>
            <a:off x="13335000" y="4953000"/>
            <a:ext cx="3905250" cy="1038225"/>
          </a:xfrm>
          <a:prstGeom prst="rect">
            <a:avLst/>
          </a:prstGeom>
          <a:noFill/>
        </p:spPr>
        <p:txBody>
          <a:bodyPr wrap="square" lIns="0" rIns="0" tIns="0" bIns="0" anchor="t"/>
          <a:lstStyle/>
          <a:p>
            <a:pPr algn="l">
              <a:lnSpc>
                <a:spcPct val="106000"/>
              </a:lnSpc>
            </a:pPr>
            <a:r>
              <a:rPr sz="1950" b="0" i="0">
                <a:solidFill>
                  <a:srgbClr val="201914"/>
                </a:solidFill>
                <a:latin typeface="Arial"/>
              </a:rPr>
              <a:t>Score above 750, two or more cards, metro, salaried — enforced in code</a:t>
            </a:r>
          </a:p>
        </p:txBody>
      </p:sp>
      <p:sp>
        <p:nvSpPr>
          <p:cNvPr id="14" name="Rectangle 13"/>
          <p:cNvSpPr/>
          <p:nvPr/>
        </p:nvSpPr>
        <p:spPr>
          <a:xfrm>
            <a:off x="1047750" y="6619875"/>
            <a:ext cx="16192500" cy="149542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2550" y="7105650"/>
            <a:ext cx="2705100" cy="514350"/>
          </a:xfrm>
          <a:prstGeom prst="rect">
            <a:avLst/>
          </a:prstGeom>
          <a:noFill/>
        </p:spPr>
        <p:txBody>
          <a:bodyPr wrap="square" lIns="0" rIns="0" tIns="0" bIns="0" anchor="t"/>
          <a:lstStyle/>
          <a:p>
            <a:pPr algn="l"/>
            <a:r>
              <a:rPr sz="2850" b="1" i="0">
                <a:solidFill>
                  <a:srgbClr val="FCF8F1"/>
                </a:solidFill>
                <a:latin typeface="Arial"/>
              </a:rPr>
              <a:t>Persona</a:t>
            </a:r>
          </a:p>
        </p:txBody>
      </p:sp>
      <p:sp>
        <p:nvSpPr>
          <p:cNvPr id="16" name="TextBox 15"/>
          <p:cNvSpPr txBox="1"/>
          <p:nvPr/>
        </p:nvSpPr>
        <p:spPr>
          <a:xfrm>
            <a:off x="4591050" y="6848475"/>
            <a:ext cx="3905250" cy="1038225"/>
          </a:xfrm>
          <a:prstGeom prst="rect">
            <a:avLst/>
          </a:prstGeom>
          <a:noFill/>
        </p:spPr>
        <p:txBody>
          <a:bodyPr wrap="square" lIns="0" rIns="0" tIns="0" bIns="0" anchor="t"/>
          <a:lstStyle/>
          <a:p>
            <a:pPr algn="l">
              <a:lnSpc>
                <a:spcPct val="106000"/>
              </a:lnSpc>
            </a:pPr>
            <a:r>
              <a:rPr sz="1950" b="0" i="0">
                <a:solidFill>
                  <a:srgbClr val="FCF8F1"/>
                </a:solidFill>
                <a:latin typeface="Arial"/>
              </a:rPr>
              <a:t>One person, named, with a bad day and a worry at eleven at night.</a:t>
            </a:r>
          </a:p>
        </p:txBody>
      </p:sp>
      <p:sp>
        <p:nvSpPr>
          <p:cNvPr id="17" name="TextBox 16"/>
          <p:cNvSpPr txBox="1"/>
          <p:nvPr/>
        </p:nvSpPr>
        <p:spPr>
          <a:xfrm>
            <a:off x="8801100" y="6848475"/>
            <a:ext cx="4229100" cy="1038225"/>
          </a:xfrm>
          <a:prstGeom prst="rect">
            <a:avLst/>
          </a:prstGeom>
          <a:noFill/>
        </p:spPr>
        <p:txBody>
          <a:bodyPr wrap="square" lIns="0" rIns="0" tIns="0" bIns="0" anchor="t"/>
          <a:lstStyle/>
          <a:p>
            <a:pPr algn="l">
              <a:lnSpc>
                <a:spcPct val="106000"/>
              </a:lnSpc>
            </a:pPr>
            <a:r>
              <a:rPr sz="1950" b="0" i="0">
                <a:solidFill>
                  <a:srgbClr val="FCF8F1"/>
                </a:solidFill>
                <a:latin typeface="Arial"/>
              </a:rPr>
              <a:t>Deciding — settling product arguments no group and no filter can settle.</a:t>
            </a:r>
          </a:p>
        </p:txBody>
      </p:sp>
      <p:sp>
        <p:nvSpPr>
          <p:cNvPr id="18" name="TextBox 17"/>
          <p:cNvSpPr txBox="1"/>
          <p:nvPr/>
        </p:nvSpPr>
        <p:spPr>
          <a:xfrm>
            <a:off x="13335000" y="7010400"/>
            <a:ext cx="3905250" cy="714375"/>
          </a:xfrm>
          <a:prstGeom prst="rect">
            <a:avLst/>
          </a:prstGeom>
          <a:noFill/>
        </p:spPr>
        <p:txBody>
          <a:bodyPr wrap="square" lIns="0" rIns="0" tIns="0" bIns="0" anchor="t"/>
          <a:lstStyle/>
          <a:p>
            <a:pPr algn="l">
              <a:lnSpc>
                <a:spcPct val="106000"/>
              </a:lnSpc>
            </a:pPr>
            <a:r>
              <a:rPr sz="1950" b="0" i="0">
                <a:solidFill>
                  <a:srgbClr val="FCF8F1"/>
                </a:solidFill>
                <a:latin typeface="Arial"/>
              </a:rPr>
              <a:t>Rohit, 33, who found a ₹500 late fee insulting</a:t>
            </a:r>
          </a:p>
        </p:txBody>
      </p:sp>
      <p:sp>
        <p:nvSpPr>
          <p:cNvPr id="19" name="TextBox 18"/>
          <p:cNvSpPr txBox="1"/>
          <p:nvPr/>
        </p:nvSpPr>
        <p:spPr>
          <a:xfrm>
            <a:off x="1047750" y="8496300"/>
            <a:ext cx="16192500" cy="1104900"/>
          </a:xfrm>
          <a:prstGeom prst="rect">
            <a:avLst/>
          </a:prstGeom>
          <a:noFill/>
        </p:spPr>
        <p:txBody>
          <a:bodyPr wrap="square" lIns="0" rIns="0" tIns="0" bIns="0" anchor="t"/>
          <a:lstStyle/>
          <a:p>
            <a:pPr algn="l">
              <a:lnSpc>
                <a:spcPct val="114000"/>
              </a:lnSpc>
            </a:pPr>
            <a:r>
              <a:rPr sz="2850" b="1" i="0">
                <a:solidFill>
                  <a:srgbClr val="50453D"/>
                </a:solidFill>
                <a:latin typeface="Arial"/>
              </a:rPr>
              <a:t>Skip the persona and every product debate becomes a contest of seniority. Skip the segment and you may build beautifully for one person who represents nobody.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TRY THESE YOURSELF · CAN THIS DOCUMENT ANSWER?</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A referral bonus: invite a friend, both get ₹250</a:t>
            </a:r>
          </a:p>
        </p:txBody>
      </p:sp>
      <p:sp>
        <p:nvSpPr>
          <p:cNvPr id="4" name="Rectangle 3"/>
          <p:cNvSpPr/>
          <p:nvPr/>
        </p:nvSpPr>
        <p:spPr>
          <a:xfrm>
            <a:off x="1047750" y="3629025"/>
            <a:ext cx="3848100" cy="4419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90650" y="3971925"/>
            <a:ext cx="3162300" cy="666750"/>
          </a:xfrm>
          <a:prstGeom prst="rect">
            <a:avLst/>
          </a:prstGeom>
          <a:noFill/>
        </p:spPr>
        <p:txBody>
          <a:bodyPr wrap="square" lIns="0" rIns="0" tIns="0" bIns="0" anchor="t"/>
          <a:lstStyle/>
          <a:p>
            <a:pPr algn="l"/>
            <a:r>
              <a:rPr sz="3750" b="1" i="0">
                <a:solidFill>
                  <a:srgbClr val="201914"/>
                </a:solidFill>
                <a:latin typeface="Arial"/>
              </a:rPr>
              <a:t>The segment</a:t>
            </a:r>
          </a:p>
        </p:txBody>
      </p:sp>
      <p:sp>
        <p:nvSpPr>
          <p:cNvPr id="6" name="TextBox 5"/>
          <p:cNvSpPr txBox="1"/>
          <p:nvPr/>
        </p:nvSpPr>
        <p:spPr>
          <a:xfrm>
            <a:off x="1390650" y="4848225"/>
            <a:ext cx="3162300" cy="1343025"/>
          </a:xfrm>
          <a:prstGeom prst="rect">
            <a:avLst/>
          </a:prstGeom>
          <a:noFill/>
        </p:spPr>
        <p:txBody>
          <a:bodyPr wrap="square" lIns="0" rIns="0" tIns="0" bIns="0" anchor="t"/>
          <a:lstStyle/>
          <a:p>
            <a:pPr algn="l">
              <a:lnSpc>
                <a:spcPct val="105000"/>
              </a:lnSpc>
            </a:pPr>
            <a:r>
              <a:rPr sz="2550" b="0" i="0">
                <a:solidFill>
                  <a:srgbClr val="50453D"/>
                </a:solidFill>
                <a:latin typeface="Arial"/>
              </a:rPr>
              <a:t>‘Indians with credit scores above 750 who pay in full.’</a:t>
            </a:r>
          </a:p>
        </p:txBody>
      </p:sp>
      <p:sp>
        <p:nvSpPr>
          <p:cNvPr id="7" name="Rectangle 6"/>
          <p:cNvSpPr/>
          <p:nvPr/>
        </p:nvSpPr>
        <p:spPr>
          <a:xfrm>
            <a:off x="5162550" y="3629025"/>
            <a:ext cx="3848100" cy="4419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05450" y="3971925"/>
            <a:ext cx="3162300" cy="666750"/>
          </a:xfrm>
          <a:prstGeom prst="rect">
            <a:avLst/>
          </a:prstGeom>
          <a:noFill/>
        </p:spPr>
        <p:txBody>
          <a:bodyPr wrap="square" lIns="0" rIns="0" tIns="0" bIns="0" anchor="t"/>
          <a:lstStyle/>
          <a:p>
            <a:pPr algn="l"/>
            <a:r>
              <a:rPr sz="3750" b="1" i="0">
                <a:solidFill>
                  <a:srgbClr val="201914"/>
                </a:solidFill>
                <a:latin typeface="Arial"/>
              </a:rPr>
              <a:t>The ICP</a:t>
            </a:r>
          </a:p>
        </p:txBody>
      </p:sp>
      <p:sp>
        <p:nvSpPr>
          <p:cNvPr id="9" name="TextBox 8"/>
          <p:cNvSpPr txBox="1"/>
          <p:nvPr/>
        </p:nvSpPr>
        <p:spPr>
          <a:xfrm>
            <a:off x="5505450" y="4848225"/>
            <a:ext cx="3162300" cy="1343025"/>
          </a:xfrm>
          <a:prstGeom prst="rect">
            <a:avLst/>
          </a:prstGeom>
          <a:noFill/>
        </p:spPr>
        <p:txBody>
          <a:bodyPr wrap="square" lIns="0" rIns="0" tIns="0" bIns="0" anchor="t"/>
          <a:lstStyle/>
          <a:p>
            <a:pPr algn="l">
              <a:lnSpc>
                <a:spcPct val="105000"/>
              </a:lnSpc>
            </a:pPr>
            <a:r>
              <a:rPr sz="2550" b="0" i="0">
                <a:solidFill>
                  <a:srgbClr val="50453D"/>
                </a:solidFill>
                <a:latin typeface="Arial"/>
              </a:rPr>
              <a:t>‘Score above 750, two or more cards, metro, salaried.’</a:t>
            </a:r>
          </a:p>
        </p:txBody>
      </p:sp>
      <p:sp>
        <p:nvSpPr>
          <p:cNvPr id="10" name="Rectangle 9"/>
          <p:cNvSpPr/>
          <p:nvPr/>
        </p:nvSpPr>
        <p:spPr>
          <a:xfrm>
            <a:off x="9277350" y="3629025"/>
            <a:ext cx="3848100" cy="4419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20250" y="3971925"/>
            <a:ext cx="3162300" cy="666750"/>
          </a:xfrm>
          <a:prstGeom prst="rect">
            <a:avLst/>
          </a:prstGeom>
          <a:noFill/>
        </p:spPr>
        <p:txBody>
          <a:bodyPr wrap="square" lIns="0" rIns="0" tIns="0" bIns="0" anchor="t"/>
          <a:lstStyle/>
          <a:p>
            <a:pPr algn="l"/>
            <a:r>
              <a:rPr sz="3750" b="1" i="0">
                <a:solidFill>
                  <a:srgbClr val="201914"/>
                </a:solidFill>
                <a:latin typeface="Arial"/>
              </a:rPr>
              <a:t>Rohit</a:t>
            </a:r>
          </a:p>
        </p:txBody>
      </p:sp>
      <p:sp>
        <p:nvSpPr>
          <p:cNvPr id="12" name="TextBox 11"/>
          <p:cNvSpPr txBox="1"/>
          <p:nvPr/>
        </p:nvSpPr>
        <p:spPr>
          <a:xfrm>
            <a:off x="9620250" y="4848225"/>
            <a:ext cx="3162300" cy="1771650"/>
          </a:xfrm>
          <a:prstGeom prst="rect">
            <a:avLst/>
          </a:prstGeom>
          <a:noFill/>
        </p:spPr>
        <p:txBody>
          <a:bodyPr wrap="square" lIns="0" rIns="0" tIns="0" bIns="0" anchor="t"/>
          <a:lstStyle/>
          <a:p>
            <a:pPr algn="l">
              <a:lnSpc>
                <a:spcPct val="105000"/>
              </a:lnSpc>
            </a:pPr>
            <a:r>
              <a:rPr sz="2550" b="0" i="0">
                <a:solidFill>
                  <a:srgbClr val="50453D"/>
                </a:solidFill>
                <a:latin typeface="Arial"/>
              </a:rPr>
              <a:t>33, quietly proud of his standing, moved by exclusivity rather than savings.</a:t>
            </a:r>
          </a:p>
        </p:txBody>
      </p:sp>
      <p:sp>
        <p:nvSpPr>
          <p:cNvPr id="13" name="Rectangle 12"/>
          <p:cNvSpPr/>
          <p:nvPr/>
        </p:nvSpPr>
        <p:spPr>
          <a:xfrm>
            <a:off x="13392150" y="3629025"/>
            <a:ext cx="3848100" cy="4419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35050" y="3971925"/>
            <a:ext cx="3162300" cy="666750"/>
          </a:xfrm>
          <a:prstGeom prst="rect">
            <a:avLst/>
          </a:prstGeom>
          <a:noFill/>
        </p:spPr>
        <p:txBody>
          <a:bodyPr wrap="square" lIns="0" rIns="0" tIns="0" bIns="0" anchor="t"/>
          <a:lstStyle/>
          <a:p>
            <a:pPr algn="l"/>
            <a:r>
              <a:rPr sz="3750" b="1" i="0">
                <a:solidFill>
                  <a:srgbClr val="201914"/>
                </a:solidFill>
                <a:latin typeface="Arial"/>
              </a:rPr>
              <a:t>Arjun</a:t>
            </a:r>
          </a:p>
        </p:txBody>
      </p:sp>
      <p:sp>
        <p:nvSpPr>
          <p:cNvPr id="15" name="TextBox 14"/>
          <p:cNvSpPr txBox="1"/>
          <p:nvPr/>
        </p:nvSpPr>
        <p:spPr>
          <a:xfrm>
            <a:off x="13735050" y="4848225"/>
            <a:ext cx="3162300" cy="1343025"/>
          </a:xfrm>
          <a:prstGeom prst="rect">
            <a:avLst/>
          </a:prstGeom>
          <a:noFill/>
        </p:spPr>
        <p:txBody>
          <a:bodyPr wrap="square" lIns="0" rIns="0" tIns="0" bIns="0" anchor="t"/>
          <a:lstStyle/>
          <a:p>
            <a:pPr algn="l">
              <a:lnSpc>
                <a:spcPct val="105000"/>
              </a:lnSpc>
            </a:pPr>
            <a:r>
              <a:rPr sz="2550" b="0" i="0">
                <a:solidFill>
                  <a:srgbClr val="50453D"/>
                </a:solidFill>
                <a:latin typeface="Arial"/>
              </a:rPr>
              <a:t>24, first job, ₹38,000 a month, and no credit history at all.</a:t>
            </a:r>
          </a:p>
        </p:txBody>
      </p:sp>
      <p:sp>
        <p:nvSpPr>
          <p:cNvPr id="16" name="TextBox 15"/>
          <p:cNvSpPr txBox="1"/>
          <p:nvPr/>
        </p:nvSpPr>
        <p:spPr>
          <a:xfrm>
            <a:off x="1047750" y="8372475"/>
            <a:ext cx="16192500" cy="1209675"/>
          </a:xfrm>
          <a:prstGeom prst="rect">
            <a:avLst/>
          </a:prstGeom>
          <a:noFill/>
        </p:spPr>
        <p:txBody>
          <a:bodyPr wrap="square" lIns="0" rIns="0" tIns="0" bIns="0" anchor="t"/>
          <a:lstStyle/>
          <a:p>
            <a:pPr algn="l">
              <a:lnSpc>
                <a:spcPct val="114000"/>
              </a:lnSpc>
            </a:pPr>
            <a:r>
              <a:rPr sz="3150" b="0" i="0">
                <a:solidFill>
                  <a:srgbClr val="433830"/>
                </a:solidFill>
                <a:latin typeface="Georgia"/>
              </a:rPr>
              <a:t>Decide each one in turn. Not what the answer is — whether this document can produce an answer at 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ANSWERS</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A referral bonus: invite a friend, both get ₹250</a:t>
            </a:r>
          </a:p>
        </p:txBody>
      </p:sp>
      <p:sp>
        <p:nvSpPr>
          <p:cNvPr id="4" name="Rectangle 3"/>
          <p:cNvSpPr/>
          <p:nvPr/>
        </p:nvSpPr>
        <p:spPr>
          <a:xfrm>
            <a:off x="10477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90650" y="3971925"/>
            <a:ext cx="3162300" cy="600075"/>
          </a:xfrm>
          <a:prstGeom prst="rect">
            <a:avLst/>
          </a:prstGeom>
          <a:noFill/>
        </p:spPr>
        <p:txBody>
          <a:bodyPr wrap="square" lIns="0" rIns="0" tIns="0" bIns="0" anchor="t"/>
          <a:lstStyle/>
          <a:p>
            <a:pPr algn="l"/>
            <a:r>
              <a:rPr sz="3300" b="1" i="0">
                <a:solidFill>
                  <a:srgbClr val="201914"/>
                </a:solidFill>
                <a:latin typeface="Arial"/>
              </a:rPr>
              <a:t>The segment</a:t>
            </a:r>
          </a:p>
        </p:txBody>
      </p:sp>
      <p:sp>
        <p:nvSpPr>
          <p:cNvPr id="6" name="TextBox 5"/>
          <p:cNvSpPr txBox="1"/>
          <p:nvPr/>
        </p:nvSpPr>
        <p:spPr>
          <a:xfrm>
            <a:off x="1390650" y="4781550"/>
            <a:ext cx="3162300" cy="1200150"/>
          </a:xfrm>
          <a:prstGeom prst="rect">
            <a:avLst/>
          </a:prstGeom>
          <a:noFill/>
        </p:spPr>
        <p:txBody>
          <a:bodyPr wrap="square" lIns="0" rIns="0" tIns="0" bIns="0" anchor="t"/>
          <a:lstStyle/>
          <a:p>
            <a:pPr algn="l">
              <a:lnSpc>
                <a:spcPct val="105000"/>
              </a:lnSpc>
            </a:pPr>
            <a:r>
              <a:rPr sz="2250" b="0" i="0">
                <a:solidFill>
                  <a:srgbClr val="50453D"/>
                </a:solidFill>
                <a:latin typeface="Arial"/>
              </a:rPr>
              <a:t>‘Indians with credit scores above 750 who pay in full.’</a:t>
            </a:r>
          </a:p>
        </p:txBody>
      </p:sp>
      <p:sp>
        <p:nvSpPr>
          <p:cNvPr id="7" name="Rectangle 6"/>
          <p:cNvSpPr/>
          <p:nvPr/>
        </p:nvSpPr>
        <p:spPr>
          <a:xfrm>
            <a:off x="1047750" y="7629525"/>
            <a:ext cx="3848100" cy="20097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90650" y="7934325"/>
            <a:ext cx="3162300" cy="495300"/>
          </a:xfrm>
          <a:prstGeom prst="rect">
            <a:avLst/>
          </a:prstGeom>
          <a:noFill/>
        </p:spPr>
        <p:txBody>
          <a:bodyPr wrap="square" lIns="0" rIns="0" tIns="0" bIns="0" anchor="t"/>
          <a:lstStyle/>
          <a:p>
            <a:pPr algn="l">
              <a:lnSpc>
                <a:spcPct val="102000"/>
              </a:lnSpc>
            </a:pPr>
            <a:r>
              <a:rPr sz="2550" b="1" i="0">
                <a:solidFill>
                  <a:srgbClr val="F5F1E9"/>
                </a:solidFill>
                <a:latin typeface="Arial"/>
              </a:rPr>
              <a:t>No opinion</a:t>
            </a:r>
          </a:p>
        </p:txBody>
      </p:sp>
      <p:sp>
        <p:nvSpPr>
          <p:cNvPr id="9" name="TextBox 8"/>
          <p:cNvSpPr txBox="1"/>
          <p:nvPr/>
        </p:nvSpPr>
        <p:spPr>
          <a:xfrm>
            <a:off x="1390650" y="8562975"/>
            <a:ext cx="3162300" cy="771525"/>
          </a:xfrm>
          <a:prstGeom prst="rect">
            <a:avLst/>
          </a:prstGeom>
          <a:noFill/>
        </p:spPr>
        <p:txBody>
          <a:bodyPr wrap="square" lIns="0" rIns="0" tIns="0" bIns="0" anchor="t"/>
          <a:lstStyle/>
          <a:p>
            <a:pPr algn="l">
              <a:lnSpc>
                <a:spcPct val="105000"/>
              </a:lnSpc>
            </a:pPr>
            <a:r>
              <a:rPr sz="2100" b="0" i="0">
                <a:solidFill>
                  <a:srgbClr val="C8BBB1"/>
                </a:solidFill>
                <a:latin typeface="Arial"/>
              </a:rPr>
              <a:t>A measurement cannot hold a preference.</a:t>
            </a:r>
          </a:p>
        </p:txBody>
      </p:sp>
      <p:sp>
        <p:nvSpPr>
          <p:cNvPr id="10" name="Rectangle 9"/>
          <p:cNvSpPr/>
          <p:nvPr/>
        </p:nvSpPr>
        <p:spPr>
          <a:xfrm>
            <a:off x="51625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05450" y="3971925"/>
            <a:ext cx="3162300" cy="600075"/>
          </a:xfrm>
          <a:prstGeom prst="rect">
            <a:avLst/>
          </a:prstGeom>
          <a:noFill/>
        </p:spPr>
        <p:txBody>
          <a:bodyPr wrap="square" lIns="0" rIns="0" tIns="0" bIns="0" anchor="t"/>
          <a:lstStyle/>
          <a:p>
            <a:pPr algn="l"/>
            <a:r>
              <a:rPr sz="3300" b="1" i="0">
                <a:solidFill>
                  <a:srgbClr val="201914"/>
                </a:solidFill>
                <a:latin typeface="Arial"/>
              </a:rPr>
              <a:t>The ICP</a:t>
            </a:r>
          </a:p>
        </p:txBody>
      </p:sp>
      <p:sp>
        <p:nvSpPr>
          <p:cNvPr id="12" name="TextBox 11"/>
          <p:cNvSpPr txBox="1"/>
          <p:nvPr/>
        </p:nvSpPr>
        <p:spPr>
          <a:xfrm>
            <a:off x="5505450" y="4781550"/>
            <a:ext cx="3162300" cy="1200150"/>
          </a:xfrm>
          <a:prstGeom prst="rect">
            <a:avLst/>
          </a:prstGeom>
          <a:noFill/>
        </p:spPr>
        <p:txBody>
          <a:bodyPr wrap="square" lIns="0" rIns="0" tIns="0" bIns="0" anchor="t"/>
          <a:lstStyle/>
          <a:p>
            <a:pPr algn="l">
              <a:lnSpc>
                <a:spcPct val="105000"/>
              </a:lnSpc>
            </a:pPr>
            <a:r>
              <a:rPr sz="2250" b="0" i="0">
                <a:solidFill>
                  <a:srgbClr val="50453D"/>
                </a:solidFill>
                <a:latin typeface="Arial"/>
              </a:rPr>
              <a:t>‘Score above 750, two or more cards, metro, salaried.’</a:t>
            </a:r>
          </a:p>
        </p:txBody>
      </p:sp>
      <p:sp>
        <p:nvSpPr>
          <p:cNvPr id="13" name="Rectangle 12"/>
          <p:cNvSpPr/>
          <p:nvPr/>
        </p:nvSpPr>
        <p:spPr>
          <a:xfrm>
            <a:off x="5162550" y="7629525"/>
            <a:ext cx="3848100" cy="20097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05450" y="7934325"/>
            <a:ext cx="3162300" cy="495300"/>
          </a:xfrm>
          <a:prstGeom prst="rect">
            <a:avLst/>
          </a:prstGeom>
          <a:noFill/>
        </p:spPr>
        <p:txBody>
          <a:bodyPr wrap="square" lIns="0" rIns="0" tIns="0" bIns="0" anchor="t"/>
          <a:lstStyle/>
          <a:p>
            <a:pPr algn="l">
              <a:lnSpc>
                <a:spcPct val="102000"/>
              </a:lnSpc>
            </a:pPr>
            <a:r>
              <a:rPr sz="2550" b="1" i="0">
                <a:solidFill>
                  <a:srgbClr val="FCF8F1"/>
                </a:solidFill>
                <a:latin typeface="Arial"/>
              </a:rPr>
              <a:t>No opinion</a:t>
            </a:r>
          </a:p>
        </p:txBody>
      </p:sp>
      <p:sp>
        <p:nvSpPr>
          <p:cNvPr id="15" name="TextBox 14"/>
          <p:cNvSpPr txBox="1"/>
          <p:nvPr/>
        </p:nvSpPr>
        <p:spPr>
          <a:xfrm>
            <a:off x="5505450" y="8562975"/>
            <a:ext cx="3162300" cy="771525"/>
          </a:xfrm>
          <a:prstGeom prst="rect">
            <a:avLst/>
          </a:prstGeom>
          <a:noFill/>
        </p:spPr>
        <p:txBody>
          <a:bodyPr wrap="square" lIns="0" rIns="0" tIns="0" bIns="0" anchor="t"/>
          <a:lstStyle/>
          <a:p>
            <a:pPr algn="l">
              <a:lnSpc>
                <a:spcPct val="105000"/>
              </a:lnSpc>
            </a:pPr>
            <a:r>
              <a:rPr sz="2100" b="0" i="0">
                <a:solidFill>
                  <a:srgbClr val="FCF8F1"/>
                </a:solidFill>
                <a:latin typeface="Arial"/>
              </a:rPr>
              <a:t>A filter only says who qualifies.</a:t>
            </a:r>
          </a:p>
        </p:txBody>
      </p:sp>
      <p:sp>
        <p:nvSpPr>
          <p:cNvPr id="16" name="Rectangle 15"/>
          <p:cNvSpPr/>
          <p:nvPr/>
        </p:nvSpPr>
        <p:spPr>
          <a:xfrm>
            <a:off x="92773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20250" y="3971925"/>
            <a:ext cx="3162300" cy="600075"/>
          </a:xfrm>
          <a:prstGeom prst="rect">
            <a:avLst/>
          </a:prstGeom>
          <a:noFill/>
        </p:spPr>
        <p:txBody>
          <a:bodyPr wrap="square" lIns="0" rIns="0" tIns="0" bIns="0" anchor="t"/>
          <a:lstStyle/>
          <a:p>
            <a:pPr algn="l"/>
            <a:r>
              <a:rPr sz="3300" b="1" i="0">
                <a:solidFill>
                  <a:srgbClr val="201914"/>
                </a:solidFill>
                <a:latin typeface="Arial"/>
              </a:rPr>
              <a:t>Rohit</a:t>
            </a:r>
          </a:p>
        </p:txBody>
      </p:sp>
      <p:sp>
        <p:nvSpPr>
          <p:cNvPr id="18" name="TextBox 17"/>
          <p:cNvSpPr txBox="1"/>
          <p:nvPr/>
        </p:nvSpPr>
        <p:spPr>
          <a:xfrm>
            <a:off x="9620250" y="4781550"/>
            <a:ext cx="3162300" cy="1200150"/>
          </a:xfrm>
          <a:prstGeom prst="rect">
            <a:avLst/>
          </a:prstGeom>
          <a:noFill/>
        </p:spPr>
        <p:txBody>
          <a:bodyPr wrap="square" lIns="0" rIns="0" tIns="0" bIns="0" anchor="t"/>
          <a:lstStyle/>
          <a:p>
            <a:pPr algn="l">
              <a:lnSpc>
                <a:spcPct val="105000"/>
              </a:lnSpc>
            </a:pPr>
            <a:r>
              <a:rPr sz="2250" b="0" i="0">
                <a:solidFill>
                  <a:srgbClr val="50453D"/>
                </a:solidFill>
                <a:latin typeface="Arial"/>
              </a:rPr>
              <a:t>33, quietly proud, moved by exclusivity rather than savings.</a:t>
            </a:r>
          </a:p>
        </p:txBody>
      </p:sp>
      <p:sp>
        <p:nvSpPr>
          <p:cNvPr id="19" name="Rectangle 18"/>
          <p:cNvSpPr/>
          <p:nvPr/>
        </p:nvSpPr>
        <p:spPr>
          <a:xfrm>
            <a:off x="9277350" y="6934200"/>
            <a:ext cx="3848100" cy="27051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0250" y="7239000"/>
            <a:ext cx="3162300" cy="495300"/>
          </a:xfrm>
          <a:prstGeom prst="rect">
            <a:avLst/>
          </a:prstGeom>
          <a:noFill/>
        </p:spPr>
        <p:txBody>
          <a:bodyPr wrap="square" lIns="0" rIns="0" tIns="0" bIns="0" anchor="t"/>
          <a:lstStyle/>
          <a:p>
            <a:pPr algn="l">
              <a:lnSpc>
                <a:spcPct val="102000"/>
              </a:lnSpc>
            </a:pPr>
            <a:r>
              <a:rPr sz="2550" b="1" i="0">
                <a:solidFill>
                  <a:srgbClr val="F5F1E9"/>
                </a:solidFill>
                <a:latin typeface="Arial"/>
              </a:rPr>
              <a:t>No — and it stings</a:t>
            </a:r>
          </a:p>
        </p:txBody>
      </p:sp>
      <p:sp>
        <p:nvSpPr>
          <p:cNvPr id="21" name="TextBox 20"/>
          <p:cNvSpPr txBox="1"/>
          <p:nvPr/>
        </p:nvSpPr>
        <p:spPr>
          <a:xfrm>
            <a:off x="9620250" y="7867650"/>
            <a:ext cx="3162300" cy="1466850"/>
          </a:xfrm>
          <a:prstGeom prst="rect">
            <a:avLst/>
          </a:prstGeom>
          <a:noFill/>
        </p:spPr>
        <p:txBody>
          <a:bodyPr wrap="square" lIns="0" rIns="0" tIns="0" bIns="0" anchor="t"/>
          <a:lstStyle/>
          <a:p>
            <a:pPr algn="l">
              <a:lnSpc>
                <a:spcPct val="105000"/>
              </a:lnSpc>
            </a:pPr>
            <a:r>
              <a:rPr sz="2100" b="0" i="0">
                <a:solidFill>
                  <a:srgbClr val="C8BBB1"/>
                </a:solidFill>
                <a:latin typeface="Arial"/>
              </a:rPr>
              <a:t>He will not spam friends for ₹250, and being asked cheapens the membership he came for.</a:t>
            </a:r>
          </a:p>
        </p:txBody>
      </p:sp>
      <p:sp>
        <p:nvSpPr>
          <p:cNvPr id="22" name="Rectangle 21"/>
          <p:cNvSpPr/>
          <p:nvPr/>
        </p:nvSpPr>
        <p:spPr>
          <a:xfrm>
            <a:off x="133921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35050" y="3971925"/>
            <a:ext cx="3162300" cy="600075"/>
          </a:xfrm>
          <a:prstGeom prst="rect">
            <a:avLst/>
          </a:prstGeom>
          <a:noFill/>
        </p:spPr>
        <p:txBody>
          <a:bodyPr wrap="square" lIns="0" rIns="0" tIns="0" bIns="0" anchor="t"/>
          <a:lstStyle/>
          <a:p>
            <a:pPr algn="l"/>
            <a:r>
              <a:rPr sz="3300" b="1" i="0">
                <a:solidFill>
                  <a:srgbClr val="201914"/>
                </a:solidFill>
                <a:latin typeface="Arial"/>
              </a:rPr>
              <a:t>Arjun</a:t>
            </a:r>
          </a:p>
        </p:txBody>
      </p:sp>
      <p:sp>
        <p:nvSpPr>
          <p:cNvPr id="24" name="TextBox 23"/>
          <p:cNvSpPr txBox="1"/>
          <p:nvPr/>
        </p:nvSpPr>
        <p:spPr>
          <a:xfrm>
            <a:off x="13735050" y="4781550"/>
            <a:ext cx="3162300" cy="828675"/>
          </a:xfrm>
          <a:prstGeom prst="rect">
            <a:avLst/>
          </a:prstGeom>
          <a:noFill/>
        </p:spPr>
        <p:txBody>
          <a:bodyPr wrap="square" lIns="0" rIns="0" tIns="0" bIns="0" anchor="t"/>
          <a:lstStyle/>
          <a:p>
            <a:pPr algn="l">
              <a:lnSpc>
                <a:spcPct val="105000"/>
              </a:lnSpc>
            </a:pPr>
            <a:r>
              <a:rPr sz="2250" b="0" i="0">
                <a:solidFill>
                  <a:srgbClr val="50453D"/>
                </a:solidFill>
                <a:latin typeface="Arial"/>
              </a:rPr>
              <a:t>24, first job, ₹38,000 a month, no credit history.</a:t>
            </a:r>
          </a:p>
        </p:txBody>
      </p:sp>
      <p:sp>
        <p:nvSpPr>
          <p:cNvPr id="25" name="Rectangle 24"/>
          <p:cNvSpPr/>
          <p:nvPr/>
        </p:nvSpPr>
        <p:spPr>
          <a:xfrm>
            <a:off x="13392150" y="6581775"/>
            <a:ext cx="3848100" cy="305752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35050" y="6886575"/>
            <a:ext cx="3162300" cy="495300"/>
          </a:xfrm>
          <a:prstGeom prst="rect">
            <a:avLst/>
          </a:prstGeom>
          <a:noFill/>
        </p:spPr>
        <p:txBody>
          <a:bodyPr wrap="square" lIns="0" rIns="0" tIns="0" bIns="0" anchor="t"/>
          <a:lstStyle/>
          <a:p>
            <a:pPr algn="l">
              <a:lnSpc>
                <a:spcPct val="102000"/>
              </a:lnSpc>
            </a:pPr>
            <a:r>
              <a:rPr sz="2550" b="1" i="0">
                <a:solidFill>
                  <a:srgbClr val="FCF8F1"/>
                </a:solidFill>
                <a:latin typeface="Arial"/>
              </a:rPr>
              <a:t>Yes — gladly</a:t>
            </a:r>
          </a:p>
        </p:txBody>
      </p:sp>
      <p:sp>
        <p:nvSpPr>
          <p:cNvPr id="27" name="TextBox 26"/>
          <p:cNvSpPr txBox="1"/>
          <p:nvPr/>
        </p:nvSpPr>
        <p:spPr>
          <a:xfrm>
            <a:off x="13735050" y="7515225"/>
            <a:ext cx="3162300" cy="1819275"/>
          </a:xfrm>
          <a:prstGeom prst="rect">
            <a:avLst/>
          </a:prstGeom>
          <a:noFill/>
        </p:spPr>
        <p:txBody>
          <a:bodyPr wrap="square" lIns="0" rIns="0" tIns="0" bIns="0" anchor="t"/>
          <a:lstStyle/>
          <a:p>
            <a:pPr algn="l">
              <a:lnSpc>
                <a:spcPct val="105000"/>
              </a:lnSpc>
            </a:pPr>
            <a:r>
              <a:rPr sz="2100" b="0" i="0">
                <a:solidFill>
                  <a:srgbClr val="FCF8F1"/>
                </a:solidFill>
                <a:latin typeface="Arial"/>
              </a:rPr>
              <a:t>₹250 is real money, his friends are in the same position, and passing it on is a favour rather than an imposition.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ON A REAL LAMINATED SHEET, IN A REAL COMPANY</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‘Aspirational Aditi, 24–32, urban, values quality and convenience’</a:t>
            </a:r>
          </a:p>
        </p:txBody>
      </p:sp>
      <p:sp>
        <p:nvSpPr>
          <p:cNvPr id="4" name="Rectangle 3"/>
          <p:cNvSpPr/>
          <p:nvPr/>
        </p:nvSpPr>
        <p:spPr>
          <a:xfrm>
            <a:off x="1047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933825"/>
            <a:ext cx="3762375" cy="533400"/>
          </a:xfrm>
          <a:prstGeom prst="rect">
            <a:avLst/>
          </a:prstGeom>
          <a:noFill/>
        </p:spPr>
        <p:txBody>
          <a:bodyPr wrap="square" lIns="0" rIns="0" tIns="0" bIns="0" anchor="t"/>
          <a:lstStyle/>
          <a:p>
            <a:pPr algn="l"/>
            <a:r>
              <a:rPr sz="2850" b="1" i="0">
                <a:solidFill>
                  <a:srgbClr val="201914"/>
                </a:solidFill>
                <a:latin typeface="Arial"/>
              </a:rPr>
              <a:t>Name</a:t>
            </a:r>
          </a:p>
        </p:txBody>
      </p:sp>
      <p:sp>
        <p:nvSpPr>
          <p:cNvPr id="6" name="TextBox 5"/>
          <p:cNvSpPr txBox="1"/>
          <p:nvPr/>
        </p:nvSpPr>
        <p:spPr>
          <a:xfrm>
            <a:off x="1047750" y="4600575"/>
            <a:ext cx="3762375" cy="428625"/>
          </a:xfrm>
          <a:prstGeom prst="rect">
            <a:avLst/>
          </a:prstGeom>
          <a:noFill/>
        </p:spPr>
        <p:txBody>
          <a:bodyPr wrap="square" lIns="0" rIns="0" tIns="0" bIns="0" anchor="t"/>
          <a:lstStyle/>
          <a:p>
            <a:pPr algn="l">
              <a:lnSpc>
                <a:spcPct val="105000"/>
              </a:lnSpc>
            </a:pPr>
            <a:r>
              <a:rPr sz="2100" b="0" i="0">
                <a:solidFill>
                  <a:srgbClr val="665B53"/>
                </a:solidFill>
                <a:latin typeface="Arial"/>
              </a:rPr>
              <a:t>Aditi. Present.</a:t>
            </a:r>
          </a:p>
        </p:txBody>
      </p:sp>
      <p:sp>
        <p:nvSpPr>
          <p:cNvPr id="7" name="Rectangle 6"/>
          <p:cNvSpPr/>
          <p:nvPr/>
        </p:nvSpPr>
        <p:spPr>
          <a:xfrm>
            <a:off x="5191125"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933825"/>
            <a:ext cx="3762375" cy="533400"/>
          </a:xfrm>
          <a:prstGeom prst="rect">
            <a:avLst/>
          </a:prstGeom>
          <a:noFill/>
        </p:spPr>
        <p:txBody>
          <a:bodyPr wrap="square" lIns="0" rIns="0" tIns="0" bIns="0" anchor="t"/>
          <a:lstStyle/>
          <a:p>
            <a:pPr algn="l"/>
            <a:r>
              <a:rPr sz="2850" b="1" i="0">
                <a:solidFill>
                  <a:srgbClr val="201914"/>
                </a:solidFill>
                <a:latin typeface="Arial"/>
              </a:rPr>
              <a:t>Demographics</a:t>
            </a:r>
          </a:p>
        </p:txBody>
      </p:sp>
      <p:sp>
        <p:nvSpPr>
          <p:cNvPr id="9" name="TextBox 8"/>
          <p:cNvSpPr txBox="1"/>
          <p:nvPr/>
        </p:nvSpPr>
        <p:spPr>
          <a:xfrm>
            <a:off x="5191125" y="4600575"/>
            <a:ext cx="3762375" cy="428625"/>
          </a:xfrm>
          <a:prstGeom prst="rect">
            <a:avLst/>
          </a:prstGeom>
          <a:noFill/>
        </p:spPr>
        <p:txBody>
          <a:bodyPr wrap="square" lIns="0" rIns="0" tIns="0" bIns="0" anchor="t"/>
          <a:lstStyle/>
          <a:p>
            <a:pPr algn="l">
              <a:lnSpc>
                <a:spcPct val="105000"/>
              </a:lnSpc>
            </a:pPr>
            <a:r>
              <a:rPr sz="2100" b="0" i="0">
                <a:solidFill>
                  <a:srgbClr val="665B53"/>
                </a:solidFill>
                <a:latin typeface="Arial"/>
              </a:rPr>
              <a:t>24–32, urban. Present.</a:t>
            </a:r>
          </a:p>
        </p:txBody>
      </p:sp>
      <p:sp>
        <p:nvSpPr>
          <p:cNvPr id="10" name="Rectangle 9"/>
          <p:cNvSpPr/>
          <p:nvPr/>
        </p:nvSpPr>
        <p:spPr>
          <a:xfrm>
            <a:off x="933450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933825"/>
            <a:ext cx="3762375" cy="533400"/>
          </a:xfrm>
          <a:prstGeom prst="rect">
            <a:avLst/>
          </a:prstGeom>
          <a:noFill/>
        </p:spPr>
        <p:txBody>
          <a:bodyPr wrap="square" lIns="0" rIns="0" tIns="0" bIns="0" anchor="t"/>
          <a:lstStyle/>
          <a:p>
            <a:pPr algn="l"/>
            <a:r>
              <a:rPr sz="2850" b="1" i="0">
                <a:solidFill>
                  <a:srgbClr val="201914"/>
                </a:solidFill>
                <a:latin typeface="Arial"/>
              </a:rPr>
              <a:t>Goals</a:t>
            </a:r>
          </a:p>
        </p:txBody>
      </p:sp>
      <p:sp>
        <p:nvSpPr>
          <p:cNvPr id="12" name="TextBox 11"/>
          <p:cNvSpPr txBox="1"/>
          <p:nvPr/>
        </p:nvSpPr>
        <p:spPr>
          <a:xfrm>
            <a:off x="9334500" y="4600575"/>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‘Values quality and convenience.’ Vaguely present.</a:t>
            </a:r>
          </a:p>
        </p:txBody>
      </p:sp>
      <p:sp>
        <p:nvSpPr>
          <p:cNvPr id="13" name="Rectangle 12"/>
          <p:cNvSpPr/>
          <p:nvPr/>
        </p:nvSpPr>
        <p:spPr>
          <a:xfrm>
            <a:off x="13477875"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933825"/>
            <a:ext cx="3762375" cy="533400"/>
          </a:xfrm>
          <a:prstGeom prst="rect">
            <a:avLst/>
          </a:prstGeom>
          <a:noFill/>
        </p:spPr>
        <p:txBody>
          <a:bodyPr wrap="square" lIns="0" rIns="0" tIns="0" bIns="0" anchor="t"/>
          <a:lstStyle/>
          <a:p>
            <a:pPr algn="l"/>
            <a:r>
              <a:rPr sz="2850" b="1" i="0">
                <a:solidFill>
                  <a:srgbClr val="201914"/>
                </a:solidFill>
                <a:latin typeface="Arial"/>
              </a:rPr>
              <a:t>Everything else</a:t>
            </a:r>
          </a:p>
        </p:txBody>
      </p:sp>
      <p:sp>
        <p:nvSpPr>
          <p:cNvPr id="15" name="TextBox 14"/>
          <p:cNvSpPr txBox="1"/>
          <p:nvPr/>
        </p:nvSpPr>
        <p:spPr>
          <a:xfrm>
            <a:off x="13477875" y="4600575"/>
            <a:ext cx="3762375" cy="428625"/>
          </a:xfrm>
          <a:prstGeom prst="rect">
            <a:avLst/>
          </a:prstGeom>
          <a:noFill/>
        </p:spPr>
        <p:txBody>
          <a:bodyPr wrap="square" lIns="0" rIns="0" tIns="0" bIns="0" anchor="t"/>
          <a:lstStyle/>
          <a:p>
            <a:pPr algn="l">
              <a:lnSpc>
                <a:spcPct val="105000"/>
              </a:lnSpc>
            </a:pPr>
            <a:r>
              <a:rPr sz="2100" b="0" i="0">
                <a:solidFill>
                  <a:srgbClr val="665B53"/>
                </a:solidFill>
                <a:latin typeface="Arial"/>
              </a:rPr>
              <a:t>?</a:t>
            </a:r>
          </a:p>
        </p:txBody>
      </p:sp>
      <p:sp>
        <p:nvSpPr>
          <p:cNvPr id="16" name="TextBox 15"/>
          <p:cNvSpPr txBox="1"/>
          <p:nvPr/>
        </p:nvSpPr>
        <p:spPr>
          <a:xfrm>
            <a:off x="1047750" y="8439150"/>
            <a:ext cx="16192500" cy="676275"/>
          </a:xfrm>
          <a:prstGeom prst="rect">
            <a:avLst/>
          </a:prstGeom>
          <a:noFill/>
        </p:spPr>
        <p:txBody>
          <a:bodyPr wrap="square" lIns="0" rIns="0" tIns="0" bIns="0" anchor="t"/>
          <a:lstStyle/>
          <a:p>
            <a:pPr algn="l">
              <a:lnSpc>
                <a:spcPct val="114000"/>
              </a:lnSpc>
            </a:pPr>
            <a:r>
              <a:rPr sz="3300" b="0" i="0">
                <a:solidFill>
                  <a:srgbClr val="362C24"/>
                </a:solidFill>
                <a:latin typeface="Georgia"/>
              </a:rPr>
              <a:t>Which slots are missing — and what can this document therefore not tell you?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FOUR OF SEVEN SLOTS MISSING</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A brochure with a name on it</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3762375" cy="533400"/>
          </a:xfrm>
          <a:prstGeom prst="rect">
            <a:avLst/>
          </a:prstGeom>
          <a:noFill/>
        </p:spPr>
        <p:txBody>
          <a:bodyPr wrap="square" lIns="0" rIns="0" tIns="0" bIns="0" anchor="t"/>
          <a:lstStyle/>
          <a:p>
            <a:pPr algn="l"/>
            <a:r>
              <a:rPr sz="2850" b="1" i="0">
                <a:solidFill>
                  <a:srgbClr val="201914"/>
                </a:solidFill>
                <a:latin typeface="Arial"/>
              </a:rPr>
              <a:t>Frustrations</a:t>
            </a:r>
          </a:p>
        </p:txBody>
      </p:sp>
      <p:sp>
        <p:nvSpPr>
          <p:cNvPr id="6" name="TextBox 5"/>
          <p:cNvSpPr txBox="1"/>
          <p:nvPr/>
        </p:nvSpPr>
        <p:spPr>
          <a:xfrm>
            <a:off x="1047750" y="3810000"/>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Missing — so it cannot tell you what you are replacing.</a:t>
            </a:r>
          </a:p>
        </p:txBody>
      </p:sp>
      <p:sp>
        <p:nvSpPr>
          <p:cNvPr id="7" name="Rectangle 6"/>
          <p:cNvSpPr/>
          <p:nvPr/>
        </p:nvSpPr>
        <p:spPr>
          <a:xfrm>
            <a:off x="519112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143250"/>
            <a:ext cx="3762375" cy="533400"/>
          </a:xfrm>
          <a:prstGeom prst="rect">
            <a:avLst/>
          </a:prstGeom>
          <a:noFill/>
        </p:spPr>
        <p:txBody>
          <a:bodyPr wrap="square" lIns="0" rIns="0" tIns="0" bIns="0" anchor="t"/>
          <a:lstStyle/>
          <a:p>
            <a:pPr algn="l"/>
            <a:r>
              <a:rPr sz="2850" b="1" i="0">
                <a:solidFill>
                  <a:srgbClr val="201914"/>
                </a:solidFill>
                <a:latin typeface="Arial"/>
              </a:rPr>
              <a:t>Current behaviour</a:t>
            </a:r>
          </a:p>
        </p:txBody>
      </p:sp>
      <p:sp>
        <p:nvSpPr>
          <p:cNvPr id="9" name="TextBox 8"/>
          <p:cNvSpPr txBox="1"/>
          <p:nvPr/>
        </p:nvSpPr>
        <p:spPr>
          <a:xfrm>
            <a:off x="5191125" y="3810000"/>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Missing — so the incumbent is invisible.</a:t>
            </a:r>
          </a:p>
        </p:txBody>
      </p:sp>
      <p:sp>
        <p:nvSpPr>
          <p:cNvPr id="10" name="Rectangle 9"/>
          <p:cNvSpPr/>
          <p:nvPr/>
        </p:nvSpPr>
        <p:spPr>
          <a:xfrm>
            <a:off x="933450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143250"/>
            <a:ext cx="3762375" cy="533400"/>
          </a:xfrm>
          <a:prstGeom prst="rect">
            <a:avLst/>
          </a:prstGeom>
          <a:noFill/>
        </p:spPr>
        <p:txBody>
          <a:bodyPr wrap="square" lIns="0" rIns="0" tIns="0" bIns="0" anchor="t"/>
          <a:lstStyle/>
          <a:p>
            <a:pPr algn="l"/>
            <a:r>
              <a:rPr sz="2850" b="1" i="0">
                <a:solidFill>
                  <a:srgbClr val="201914"/>
                </a:solidFill>
                <a:latin typeface="Arial"/>
              </a:rPr>
              <a:t>Day in the life</a:t>
            </a:r>
          </a:p>
        </p:txBody>
      </p:sp>
      <p:sp>
        <p:nvSpPr>
          <p:cNvPr id="12" name="TextBox 11"/>
          <p:cNvSpPr txBox="1"/>
          <p:nvPr/>
        </p:nvSpPr>
        <p:spPr>
          <a:xfrm>
            <a:off x="9334500" y="3810000"/>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Missing — so there are no surprises in it.</a:t>
            </a:r>
          </a:p>
        </p:txBody>
      </p:sp>
      <p:sp>
        <p:nvSpPr>
          <p:cNvPr id="13" name="Rectangle 12"/>
          <p:cNvSpPr/>
          <p:nvPr/>
        </p:nvSpPr>
        <p:spPr>
          <a:xfrm>
            <a:off x="1347787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143250"/>
            <a:ext cx="3762375" cy="533400"/>
          </a:xfrm>
          <a:prstGeom prst="rect">
            <a:avLst/>
          </a:prstGeom>
          <a:noFill/>
        </p:spPr>
        <p:txBody>
          <a:bodyPr wrap="square" lIns="0" rIns="0" tIns="0" bIns="0" anchor="t"/>
          <a:lstStyle/>
          <a:p>
            <a:pPr algn="l"/>
            <a:r>
              <a:rPr sz="2850" b="1" i="0">
                <a:solidFill>
                  <a:srgbClr val="201914"/>
                </a:solidFill>
                <a:latin typeface="Arial"/>
              </a:rPr>
              <a:t>Trigger</a:t>
            </a:r>
          </a:p>
        </p:txBody>
      </p:sp>
      <p:sp>
        <p:nvSpPr>
          <p:cNvPr id="15" name="TextBox 14"/>
          <p:cNvSpPr txBox="1"/>
          <p:nvPr/>
        </p:nvSpPr>
        <p:spPr>
          <a:xfrm>
            <a:off x="13477875" y="3810000"/>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Missing — so you do not know when to be present.</a:t>
            </a:r>
          </a:p>
        </p:txBody>
      </p:sp>
      <p:sp>
        <p:nvSpPr>
          <p:cNvPr id="16" name="Rectangle 15"/>
          <p:cNvSpPr/>
          <p:nvPr/>
        </p:nvSpPr>
        <p:spPr>
          <a:xfrm>
            <a:off x="1047750" y="7429500"/>
            <a:ext cx="16192500" cy="2171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43050" y="7886700"/>
            <a:ext cx="15240000" cy="1123950"/>
          </a:xfrm>
          <a:prstGeom prst="rect">
            <a:avLst/>
          </a:prstGeom>
          <a:noFill/>
        </p:spPr>
        <p:txBody>
          <a:bodyPr wrap="square" lIns="0" rIns="0" tIns="0" bIns="0" anchor="t"/>
          <a:lstStyle/>
          <a:p>
            <a:pPr algn="l">
              <a:lnSpc>
                <a:spcPct val="114000"/>
              </a:lnSpc>
            </a:pPr>
            <a:r>
              <a:rPr sz="2850" b="0" i="0">
                <a:solidFill>
                  <a:srgbClr val="F5F1E9"/>
                </a:solidFill>
                <a:latin typeface="Georgia"/>
              </a:rPr>
              <a:t>A description nobody can dispute has excluded nobody, and a persona that excludes nobody decides nothing.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BOUNDARY</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Three ways a persona quietly stops being true</a:t>
            </a:r>
          </a:p>
        </p:txBody>
      </p:sp>
      <p:sp>
        <p:nvSpPr>
          <p:cNvPr id="4" name="Rectangle 3"/>
          <p:cNvSpPr/>
          <p:nvPr/>
        </p:nvSpPr>
        <p:spPr>
          <a:xfrm>
            <a:off x="1047750" y="3629025"/>
            <a:ext cx="16192500" cy="16478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943350"/>
            <a:ext cx="3352800" cy="1009650"/>
          </a:xfrm>
          <a:prstGeom prst="rect">
            <a:avLst/>
          </a:prstGeom>
          <a:noFill/>
        </p:spPr>
        <p:txBody>
          <a:bodyPr wrap="square" lIns="0" rIns="0" tIns="0" bIns="0" anchor="t"/>
          <a:lstStyle/>
          <a:p>
            <a:pPr algn="l"/>
            <a:r>
              <a:rPr sz="3000" b="1" i="0">
                <a:solidFill>
                  <a:srgbClr val="201914"/>
                </a:solidFill>
                <a:latin typeface="Arial"/>
              </a:rPr>
              <a:t>1 · The flattering persona</a:t>
            </a:r>
          </a:p>
        </p:txBody>
      </p:sp>
      <p:sp>
        <p:nvSpPr>
          <p:cNvPr id="6" name="TextBox 5"/>
          <p:cNvSpPr txBox="1"/>
          <p:nvPr/>
        </p:nvSpPr>
        <p:spPr>
          <a:xfrm>
            <a:off x="5238750" y="3857625"/>
            <a:ext cx="6172200" cy="1190625"/>
          </a:xfrm>
          <a:prstGeom prst="rect">
            <a:avLst/>
          </a:prstGeom>
          <a:noFill/>
        </p:spPr>
        <p:txBody>
          <a:bodyPr wrap="square" lIns="0" rIns="0" tIns="0" bIns="0" anchor="t"/>
          <a:lstStyle/>
          <a:p>
            <a:pPr algn="l">
              <a:lnSpc>
                <a:spcPct val="106000"/>
              </a:lnSpc>
            </a:pPr>
            <a:r>
              <a:rPr sz="2250" b="0" i="0">
                <a:solidFill>
                  <a:srgbClr val="201914"/>
                </a:solidFill>
                <a:latin typeface="Arial"/>
              </a:rPr>
              <a:t>The team writes down the customer they wish they had — thoughtful, quality-conscious, patient, willing to pay.</a:t>
            </a:r>
          </a:p>
        </p:txBody>
      </p:sp>
      <p:sp>
        <p:nvSpPr>
          <p:cNvPr id="7" name="TextBox 6"/>
          <p:cNvSpPr txBox="1"/>
          <p:nvPr/>
        </p:nvSpPr>
        <p:spPr>
          <a:xfrm>
            <a:off x="11715750" y="3857625"/>
            <a:ext cx="5524500" cy="1190625"/>
          </a:xfrm>
          <a:prstGeom prst="rect">
            <a:avLst/>
          </a:prstGeom>
          <a:noFill/>
        </p:spPr>
        <p:txBody>
          <a:bodyPr wrap="square" lIns="0" rIns="0" tIns="0" bIns="0" anchor="t"/>
          <a:lstStyle/>
          <a:p>
            <a:pPr algn="l">
              <a:lnSpc>
                <a:spcPct val="106000"/>
              </a:lnSpc>
            </a:pPr>
            <a:r>
              <a:rPr sz="2250" b="0" i="0">
                <a:solidFill>
                  <a:srgbClr val="201914"/>
                </a:solidFill>
                <a:latin typeface="Arial"/>
              </a:rPr>
              <a:t>Look for one unflattering line. If nobody in your persona is ever lazy, vain, frightened or cheap, you have written a brochure.</a:t>
            </a:r>
          </a:p>
        </p:txBody>
      </p:sp>
      <p:sp>
        <p:nvSpPr>
          <p:cNvPr id="8" name="Rectangle 7"/>
          <p:cNvSpPr/>
          <p:nvPr/>
        </p:nvSpPr>
        <p:spPr>
          <a:xfrm>
            <a:off x="1047750" y="5486400"/>
            <a:ext cx="16192500" cy="16478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2550" y="5800725"/>
            <a:ext cx="3352800" cy="1009650"/>
          </a:xfrm>
          <a:prstGeom prst="rect">
            <a:avLst/>
          </a:prstGeom>
          <a:noFill/>
        </p:spPr>
        <p:txBody>
          <a:bodyPr wrap="square" lIns="0" rIns="0" tIns="0" bIns="0" anchor="t"/>
          <a:lstStyle/>
          <a:p>
            <a:pPr algn="l"/>
            <a:r>
              <a:rPr sz="3000" b="1" i="0">
                <a:solidFill>
                  <a:srgbClr val="201914"/>
                </a:solidFill>
                <a:latin typeface="Arial"/>
              </a:rPr>
              <a:t>2 · The averaged persona</a:t>
            </a:r>
          </a:p>
        </p:txBody>
      </p:sp>
      <p:sp>
        <p:nvSpPr>
          <p:cNvPr id="10" name="TextBox 9"/>
          <p:cNvSpPr txBox="1"/>
          <p:nvPr/>
        </p:nvSpPr>
        <p:spPr>
          <a:xfrm>
            <a:off x="5238750" y="5715000"/>
            <a:ext cx="6172200" cy="1190625"/>
          </a:xfrm>
          <a:prstGeom prst="rect">
            <a:avLst/>
          </a:prstGeom>
          <a:noFill/>
        </p:spPr>
        <p:txBody>
          <a:bodyPr wrap="square" lIns="0" rIns="0" tIns="0" bIns="0" anchor="t"/>
          <a:lstStyle/>
          <a:p>
            <a:pPr algn="l">
              <a:lnSpc>
                <a:spcPct val="106000"/>
              </a:lnSpc>
            </a:pPr>
            <a:r>
              <a:rPr sz="2250" b="0" i="0">
                <a:solidFill>
                  <a:srgbClr val="201914"/>
                </a:solidFill>
                <a:latin typeface="Arial"/>
              </a:rPr>
              <a:t>Two real customers blended into one document, usually because the team will not choose. The result describes nobody.</a:t>
            </a:r>
          </a:p>
        </p:txBody>
      </p:sp>
      <p:sp>
        <p:nvSpPr>
          <p:cNvPr id="11" name="TextBox 10"/>
          <p:cNvSpPr txBox="1"/>
          <p:nvPr/>
        </p:nvSpPr>
        <p:spPr>
          <a:xfrm>
            <a:off x="11715750" y="5715000"/>
            <a:ext cx="5524500" cy="1190625"/>
          </a:xfrm>
          <a:prstGeom prst="rect">
            <a:avLst/>
          </a:prstGeom>
          <a:noFill/>
        </p:spPr>
        <p:txBody>
          <a:bodyPr wrap="square" lIns="0" rIns="0" tIns="0" bIns="0" anchor="t"/>
          <a:lstStyle/>
          <a:p>
            <a:pPr algn="l">
              <a:lnSpc>
                <a:spcPct val="106000"/>
              </a:lnSpc>
            </a:pPr>
            <a:r>
              <a:rPr sz="2250" b="0" i="0">
                <a:solidFill>
                  <a:srgbClr val="201914"/>
                </a:solidFill>
                <a:latin typeface="Arial"/>
              </a:rPr>
              <a:t>Read the goals. If any two contradict each other, you have two personas and an unmade decision. Split it, then choose.</a:t>
            </a:r>
          </a:p>
        </p:txBody>
      </p:sp>
      <p:sp>
        <p:nvSpPr>
          <p:cNvPr id="12" name="Rectangle 11"/>
          <p:cNvSpPr/>
          <p:nvPr/>
        </p:nvSpPr>
        <p:spPr>
          <a:xfrm>
            <a:off x="1047750" y="7343775"/>
            <a:ext cx="16192500" cy="20193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2550" y="7848600"/>
            <a:ext cx="3352800" cy="1009650"/>
          </a:xfrm>
          <a:prstGeom prst="rect">
            <a:avLst/>
          </a:prstGeom>
          <a:noFill/>
        </p:spPr>
        <p:txBody>
          <a:bodyPr wrap="square" lIns="0" rIns="0" tIns="0" bIns="0" anchor="t"/>
          <a:lstStyle/>
          <a:p>
            <a:pPr algn="l"/>
            <a:r>
              <a:rPr sz="3000" b="1" i="0">
                <a:solidFill>
                  <a:srgbClr val="201914"/>
                </a:solidFill>
                <a:latin typeface="Arial"/>
              </a:rPr>
              <a:t>3 · The frozen persona</a:t>
            </a:r>
          </a:p>
        </p:txBody>
      </p:sp>
      <p:sp>
        <p:nvSpPr>
          <p:cNvPr id="14" name="TextBox 13"/>
          <p:cNvSpPr txBox="1"/>
          <p:nvPr/>
        </p:nvSpPr>
        <p:spPr>
          <a:xfrm>
            <a:off x="5238750" y="7943850"/>
            <a:ext cx="6172200" cy="809625"/>
          </a:xfrm>
          <a:prstGeom prst="rect">
            <a:avLst/>
          </a:prstGeom>
          <a:noFill/>
        </p:spPr>
        <p:txBody>
          <a:bodyPr wrap="square" lIns="0" rIns="0" tIns="0" bIns="0" anchor="t"/>
          <a:lstStyle/>
          <a:p>
            <a:pPr algn="l">
              <a:lnSpc>
                <a:spcPct val="106000"/>
              </a:lnSpc>
            </a:pPr>
            <a:r>
              <a:rPr sz="2250" b="0" i="0">
                <a:solidFill>
                  <a:srgbClr val="201914"/>
                </a:solidFill>
                <a:latin typeface="Arial"/>
              </a:rPr>
              <a:t>Written in year one, laminated, never revised, while the customer changes underneath it.</a:t>
            </a:r>
          </a:p>
        </p:txBody>
      </p:sp>
      <p:sp>
        <p:nvSpPr>
          <p:cNvPr id="15" name="TextBox 14"/>
          <p:cNvSpPr txBox="1"/>
          <p:nvPr/>
        </p:nvSpPr>
        <p:spPr>
          <a:xfrm>
            <a:off x="11715750" y="7572375"/>
            <a:ext cx="5524500" cy="1562100"/>
          </a:xfrm>
          <a:prstGeom prst="rect">
            <a:avLst/>
          </a:prstGeom>
          <a:noFill/>
        </p:spPr>
        <p:txBody>
          <a:bodyPr wrap="square" lIns="0" rIns="0" tIns="0" bIns="0" anchor="t"/>
          <a:lstStyle/>
          <a:p>
            <a:pPr algn="l">
              <a:lnSpc>
                <a:spcPct val="106000"/>
              </a:lnSpc>
            </a:pPr>
            <a:r>
              <a:rPr sz="2250" b="0" i="0">
                <a:solidFill>
                  <a:srgbClr val="201914"/>
                </a:solidFill>
                <a:latin typeface="Arial"/>
              </a:rPr>
              <a:t>Date the document and re-interview real people against it once a year. slice's persona was accurate until the RBI changed what was permitted.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4914900"/>
            <a:ext cx="16192500" cy="323850"/>
          </a:xfrm>
          <a:prstGeom prst="rect">
            <a:avLst/>
          </a:prstGeom>
          <a:noFill/>
        </p:spPr>
        <p:txBody>
          <a:bodyPr wrap="square" lIns="0" rIns="0" tIns="0" bIns="0" anchor="t"/>
          <a:lstStyle/>
          <a:p>
            <a:pPr algn="l"/>
            <a:r>
              <a:rPr sz="1950" b="1" i="0" spc="312">
                <a:solidFill>
                  <a:srgbClr val="C35141"/>
                </a:solidFill>
                <a:latin typeface="Arial"/>
              </a:rPr>
              <a:t>PART TWO</a:t>
            </a:r>
          </a:p>
        </p:txBody>
      </p:sp>
      <p:sp>
        <p:nvSpPr>
          <p:cNvPr id="3" name="TextBox 2"/>
          <p:cNvSpPr txBox="1"/>
          <p:nvPr/>
        </p:nvSpPr>
        <p:spPr>
          <a:xfrm>
            <a:off x="1047750" y="5505450"/>
            <a:ext cx="16192500" cy="1533525"/>
          </a:xfrm>
          <a:prstGeom prst="rect">
            <a:avLst/>
          </a:prstGeom>
          <a:noFill/>
        </p:spPr>
        <p:txBody>
          <a:bodyPr wrap="square" lIns="0" rIns="0" tIns="0" bIns="0" anchor="t"/>
          <a:lstStyle/>
          <a:p>
            <a:pPr algn="l">
              <a:lnSpc>
                <a:spcPct val="80000"/>
              </a:lnSpc>
            </a:pPr>
            <a:r>
              <a:rPr sz="11250" b="1" i="0" spc="-450">
                <a:solidFill>
                  <a:srgbClr val="F5F1E9"/>
                </a:solidFill>
                <a:latin typeface="Arial"/>
              </a:rPr>
              <a:t>The Empathy Map</a:t>
            </a:r>
          </a:p>
        </p:txBody>
      </p:sp>
      <p:sp>
        <p:nvSpPr>
          <p:cNvPr id="4" name="TextBox 3"/>
          <p:cNvSpPr txBox="1"/>
          <p:nvPr/>
        </p:nvSpPr>
        <p:spPr>
          <a:xfrm>
            <a:off x="1047750" y="7324725"/>
            <a:ext cx="13716000" cy="2105025"/>
          </a:xfrm>
          <a:prstGeom prst="rect">
            <a:avLst/>
          </a:prstGeom>
          <a:noFill/>
        </p:spPr>
        <p:txBody>
          <a:bodyPr wrap="square" lIns="0" rIns="0" tIns="0" bIns="0" anchor="t"/>
          <a:lstStyle/>
          <a:p>
            <a:pPr algn="l">
              <a:lnSpc>
                <a:spcPct val="110000"/>
              </a:lnSpc>
            </a:pPr>
            <a:r>
              <a:rPr sz="3900" b="0" i="0">
                <a:solidFill>
                  <a:srgbClr val="C1B5AB"/>
                </a:solidFill>
                <a:latin typeface="Georgia"/>
              </a:rPr>
              <a:t>A persona is a portrait — one person, seen from outside. Now we go inside, and find four things happening in one head at the same moment.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EF806F"/>
                </a:solidFill>
                <a:latin typeface="Arial"/>
              </a:rPr>
              <a:t>ASKED OF INDIAN MOTHERS FOR DECADES, WITH REAL RESEARCH BUDGETS</a:t>
            </a:r>
          </a:p>
        </p:txBody>
      </p:sp>
      <p:sp>
        <p:nvSpPr>
          <p:cNvPr id="3" name="TextBox 2"/>
          <p:cNvSpPr txBox="1"/>
          <p:nvPr/>
        </p:nvSpPr>
        <p:spPr>
          <a:xfrm>
            <a:off x="1714500" y="3600450"/>
            <a:ext cx="14859000" cy="1952625"/>
          </a:xfrm>
          <a:prstGeom prst="rect">
            <a:avLst/>
          </a:prstGeom>
          <a:noFill/>
        </p:spPr>
        <p:txBody>
          <a:bodyPr wrap="square" lIns="0" rIns="0" tIns="0" bIns="0" anchor="t"/>
          <a:lstStyle/>
          <a:p>
            <a:pPr algn="ctr">
              <a:lnSpc>
                <a:spcPct val="88000"/>
              </a:lnSpc>
            </a:pPr>
            <a:r>
              <a:rPr sz="6600" b="1" i="0" spc="-250">
                <a:solidFill>
                  <a:srgbClr val="F5F1E9"/>
                </a:solidFill>
                <a:latin typeface="Arial"/>
              </a:rPr>
              <a:t>What do you want from a health drink for your child?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EVERY SAMPLE, THE SAME ANSWER</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True, meant sincerely, and unusable</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3762375" cy="533400"/>
          </a:xfrm>
          <a:prstGeom prst="rect">
            <a:avLst/>
          </a:prstGeom>
          <a:noFill/>
        </p:spPr>
        <p:txBody>
          <a:bodyPr wrap="square" lIns="0" rIns="0" tIns="0" bIns="0" anchor="t"/>
          <a:lstStyle/>
          <a:p>
            <a:pPr algn="l"/>
            <a:r>
              <a:rPr sz="2850" b="1" i="0">
                <a:solidFill>
                  <a:srgbClr val="201914"/>
                </a:solidFill>
                <a:latin typeface="Arial"/>
              </a:rPr>
              <a:t>Better nutrition</a:t>
            </a:r>
          </a:p>
        </p:txBody>
      </p:sp>
      <p:sp>
        <p:nvSpPr>
          <p:cNvPr id="6" name="TextBox 5"/>
          <p:cNvSpPr txBox="1"/>
          <p:nvPr/>
        </p:nvSpPr>
        <p:spPr>
          <a:xfrm>
            <a:off x="1047750" y="3810000"/>
            <a:ext cx="3762375" cy="428625"/>
          </a:xfrm>
          <a:prstGeom prst="rect">
            <a:avLst/>
          </a:prstGeom>
          <a:noFill/>
        </p:spPr>
        <p:txBody>
          <a:bodyPr wrap="square" lIns="0" rIns="0" tIns="0" bIns="0" anchor="t"/>
          <a:lstStyle/>
          <a:p>
            <a:pPr algn="l">
              <a:lnSpc>
                <a:spcPct val="105000"/>
              </a:lnSpc>
            </a:pPr>
            <a:r>
              <a:rPr sz="2100" b="0" i="0">
                <a:solidFill>
                  <a:srgbClr val="665B53"/>
                </a:solidFill>
                <a:latin typeface="Arial"/>
              </a:rPr>
              <a:t>A stated need — Lecture 7.</a:t>
            </a:r>
          </a:p>
        </p:txBody>
      </p:sp>
      <p:sp>
        <p:nvSpPr>
          <p:cNvPr id="7" name="Rectangle 6"/>
          <p:cNvSpPr/>
          <p:nvPr/>
        </p:nvSpPr>
        <p:spPr>
          <a:xfrm>
            <a:off x="519112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143250"/>
            <a:ext cx="3762375" cy="533400"/>
          </a:xfrm>
          <a:prstGeom prst="rect">
            <a:avLst/>
          </a:prstGeom>
          <a:noFill/>
        </p:spPr>
        <p:txBody>
          <a:bodyPr wrap="square" lIns="0" rIns="0" tIns="0" bIns="0" anchor="t"/>
          <a:lstStyle/>
          <a:p>
            <a:pPr algn="l"/>
            <a:r>
              <a:rPr sz="2850" b="1" i="0">
                <a:solidFill>
                  <a:srgbClr val="201914"/>
                </a:solidFill>
                <a:latin typeface="Arial"/>
              </a:rPr>
              <a:t>Something healthy</a:t>
            </a:r>
          </a:p>
        </p:txBody>
      </p:sp>
      <p:sp>
        <p:nvSpPr>
          <p:cNvPr id="9" name="TextBox 8"/>
          <p:cNvSpPr txBox="1"/>
          <p:nvPr/>
        </p:nvSpPr>
        <p:spPr>
          <a:xfrm>
            <a:off x="5191125" y="3810000"/>
            <a:ext cx="3762375" cy="428625"/>
          </a:xfrm>
          <a:prstGeom prst="rect">
            <a:avLst/>
          </a:prstGeom>
          <a:noFill/>
        </p:spPr>
        <p:txBody>
          <a:bodyPr wrap="square" lIns="0" rIns="0" tIns="0" bIns="0" anchor="t"/>
          <a:lstStyle/>
          <a:p>
            <a:pPr algn="l">
              <a:lnSpc>
                <a:spcPct val="105000"/>
              </a:lnSpc>
            </a:pPr>
            <a:r>
              <a:rPr sz="2100" b="0" i="0">
                <a:solidFill>
                  <a:srgbClr val="665B53"/>
                </a:solidFill>
                <a:latin typeface="Arial"/>
              </a:rPr>
              <a:t>Socially unimpeachable.</a:t>
            </a:r>
          </a:p>
        </p:txBody>
      </p:sp>
      <p:sp>
        <p:nvSpPr>
          <p:cNvPr id="10" name="Rectangle 9"/>
          <p:cNvSpPr/>
          <p:nvPr/>
        </p:nvSpPr>
        <p:spPr>
          <a:xfrm>
            <a:off x="933450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143250"/>
            <a:ext cx="3762375" cy="981075"/>
          </a:xfrm>
          <a:prstGeom prst="rect">
            <a:avLst/>
          </a:prstGeom>
          <a:noFill/>
        </p:spPr>
        <p:txBody>
          <a:bodyPr wrap="square" lIns="0" rIns="0" tIns="0" bIns="0" anchor="t"/>
          <a:lstStyle/>
          <a:p>
            <a:pPr algn="l"/>
            <a:r>
              <a:rPr sz="2850" b="1" i="0">
                <a:solidFill>
                  <a:srgbClr val="201914"/>
                </a:solidFill>
                <a:latin typeface="Arial"/>
              </a:rPr>
              <a:t>He doesn't eat properly</a:t>
            </a:r>
          </a:p>
        </p:txBody>
      </p:sp>
      <p:sp>
        <p:nvSpPr>
          <p:cNvPr id="12" name="TextBox 11"/>
          <p:cNvSpPr txBox="1"/>
          <p:nvPr/>
        </p:nvSpPr>
        <p:spPr>
          <a:xfrm>
            <a:off x="9334500" y="4257675"/>
            <a:ext cx="3762375" cy="428625"/>
          </a:xfrm>
          <a:prstGeom prst="rect">
            <a:avLst/>
          </a:prstGeom>
          <a:noFill/>
        </p:spPr>
        <p:txBody>
          <a:bodyPr wrap="square" lIns="0" rIns="0" tIns="0" bIns="0" anchor="t"/>
          <a:lstStyle/>
          <a:p>
            <a:pPr algn="l">
              <a:lnSpc>
                <a:spcPct val="105000"/>
              </a:lnSpc>
            </a:pPr>
            <a:r>
              <a:rPr sz="2100" b="0" i="0">
                <a:solidFill>
                  <a:srgbClr val="665B53"/>
                </a:solidFill>
                <a:latin typeface="Arial"/>
              </a:rPr>
              <a:t>A reason, not a driver.</a:t>
            </a:r>
          </a:p>
        </p:txBody>
      </p:sp>
      <p:sp>
        <p:nvSpPr>
          <p:cNvPr id="13" name="Rectangle 12"/>
          <p:cNvSpPr/>
          <p:nvPr/>
        </p:nvSpPr>
        <p:spPr>
          <a:xfrm>
            <a:off x="1347787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143250"/>
            <a:ext cx="3762375" cy="981075"/>
          </a:xfrm>
          <a:prstGeom prst="rect">
            <a:avLst/>
          </a:prstGeom>
          <a:noFill/>
        </p:spPr>
        <p:txBody>
          <a:bodyPr wrap="square" lIns="0" rIns="0" tIns="0" bIns="0" anchor="t"/>
          <a:lstStyle/>
          <a:p>
            <a:pPr algn="l"/>
            <a:r>
              <a:rPr sz="2850" b="1" i="0">
                <a:solidFill>
                  <a:srgbClr val="201914"/>
                </a:solidFill>
                <a:latin typeface="Arial"/>
              </a:rPr>
              <a:t>Something with vitamins</a:t>
            </a:r>
          </a:p>
        </p:txBody>
      </p:sp>
      <p:sp>
        <p:nvSpPr>
          <p:cNvPr id="15" name="TextBox 14"/>
          <p:cNvSpPr txBox="1"/>
          <p:nvPr/>
        </p:nvSpPr>
        <p:spPr>
          <a:xfrm>
            <a:off x="13477875" y="4257675"/>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The only vocabulary she has for it.</a:t>
            </a:r>
          </a:p>
        </p:txBody>
      </p:sp>
      <p:sp>
        <p:nvSpPr>
          <p:cNvPr id="16" name="Rectangle 15"/>
          <p:cNvSpPr/>
          <p:nvPr/>
        </p:nvSpPr>
        <p:spPr>
          <a:xfrm>
            <a:off x="1047750" y="7429500"/>
            <a:ext cx="16192500" cy="2171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43050" y="7886700"/>
            <a:ext cx="15240000" cy="1123950"/>
          </a:xfrm>
          <a:prstGeom prst="rect">
            <a:avLst/>
          </a:prstGeom>
          <a:noFill/>
        </p:spPr>
        <p:txBody>
          <a:bodyPr wrap="square" lIns="0" rIns="0" tIns="0" bIns="0" anchor="t"/>
          <a:lstStyle/>
          <a:p>
            <a:pPr algn="l">
              <a:lnSpc>
                <a:spcPct val="114000"/>
              </a:lnSpc>
            </a:pPr>
            <a:r>
              <a:rPr sz="2850" b="0" i="0">
                <a:solidFill>
                  <a:srgbClr val="F5F1E9"/>
                </a:solidFill>
                <a:latin typeface="Georgia"/>
              </a:rPr>
              <a:t>Every mother said a version of it and every mother meant it. So somebody stopped asking what she wanted and started mapping what she experienced.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CATEGORY</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Somebody had understood the Indian mother very well</a:t>
            </a:r>
          </a:p>
        </p:txBody>
      </p:sp>
      <p:sp>
        <p:nvSpPr>
          <p:cNvPr id="4" name="TextBox 3"/>
          <p:cNvSpPr txBox="1"/>
          <p:nvPr/>
        </p:nvSpPr>
        <p:spPr>
          <a:xfrm>
            <a:off x="1047750" y="4343400"/>
            <a:ext cx="5524500" cy="1190625"/>
          </a:xfrm>
          <a:prstGeom prst="rect">
            <a:avLst/>
          </a:prstGeom>
          <a:noFill/>
        </p:spPr>
        <p:txBody>
          <a:bodyPr wrap="square" lIns="0" rIns="0" tIns="0" bIns="0" anchor="t"/>
          <a:lstStyle/>
          <a:p>
            <a:pPr algn="l">
              <a:lnSpc>
                <a:spcPct val="90000"/>
              </a:lnSpc>
            </a:pPr>
            <a:r>
              <a:rPr sz="7500" b="1" i="0" spc="-250">
                <a:solidFill>
                  <a:srgbClr val="C35141"/>
                </a:solidFill>
                <a:latin typeface="Arial"/>
              </a:rPr>
              <a:t>₹31,700 cr</a:t>
            </a:r>
          </a:p>
        </p:txBody>
      </p:sp>
      <p:sp>
        <p:nvSpPr>
          <p:cNvPr id="5" name="TextBox 4"/>
          <p:cNvSpPr txBox="1"/>
          <p:nvPr/>
        </p:nvSpPr>
        <p:spPr>
          <a:xfrm>
            <a:off x="10477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Reported value of HUL's 2020 acquisition of the business whose principal asset was Horlicks.</a:t>
            </a:r>
          </a:p>
        </p:txBody>
      </p:sp>
      <p:sp>
        <p:nvSpPr>
          <p:cNvPr id="6" name="TextBox 5"/>
          <p:cNvSpPr txBox="1"/>
          <p:nvPr/>
        </p:nvSpPr>
        <p:spPr>
          <a:xfrm>
            <a:off x="6572250" y="4343400"/>
            <a:ext cx="5524500" cy="1428750"/>
          </a:xfrm>
          <a:prstGeom prst="rect">
            <a:avLst/>
          </a:prstGeom>
          <a:noFill/>
        </p:spPr>
        <p:txBody>
          <a:bodyPr wrap="square" lIns="0" rIns="0" tIns="0" bIns="0" anchor="t"/>
          <a:lstStyle/>
          <a:p>
            <a:pPr algn="l">
              <a:lnSpc>
                <a:spcPct val="90000"/>
              </a:lnSpc>
            </a:pPr>
            <a:r>
              <a:rPr sz="9000" b="1" i="0" spc="-250">
                <a:solidFill>
                  <a:srgbClr val="C35141"/>
                </a:solidFill>
                <a:latin typeface="Arial"/>
              </a:rPr>
              <a:t>₹4,595 cr</a:t>
            </a:r>
          </a:p>
        </p:txBody>
      </p:sp>
      <p:sp>
        <p:nvSpPr>
          <p:cNvPr id="7" name="TextBox 6"/>
          <p:cNvSpPr txBox="1"/>
          <p:nvPr/>
        </p:nvSpPr>
        <p:spPr>
          <a:xfrm>
            <a:off x="65722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Zydus Wellness's 2019 purchase of Heinz India's consumer brands, Complan among them.</a:t>
            </a:r>
          </a:p>
        </p:txBody>
      </p:sp>
      <p:sp>
        <p:nvSpPr>
          <p:cNvPr id="8" name="TextBox 7"/>
          <p:cNvSpPr txBox="1"/>
          <p:nvPr/>
        </p:nvSpPr>
        <p:spPr>
          <a:xfrm>
            <a:off x="12096750" y="4343400"/>
            <a:ext cx="5524500" cy="1666875"/>
          </a:xfrm>
          <a:prstGeom prst="rect">
            <a:avLst/>
          </a:prstGeom>
          <a:noFill/>
        </p:spPr>
        <p:txBody>
          <a:bodyPr wrap="square" lIns="0" rIns="0" tIns="0" bIns="0" anchor="t"/>
          <a:lstStyle/>
          <a:p>
            <a:pPr algn="l">
              <a:lnSpc>
                <a:spcPct val="90000"/>
              </a:lnSpc>
            </a:pPr>
            <a:r>
              <a:rPr sz="10500" b="1" i="0" spc="-250">
                <a:solidFill>
                  <a:srgbClr val="C35141"/>
                </a:solidFill>
                <a:latin typeface="Arial"/>
              </a:rPr>
              <a:t>50–60%</a:t>
            </a:r>
          </a:p>
        </p:txBody>
      </p:sp>
      <p:sp>
        <p:nvSpPr>
          <p:cNvPr id="9" name="TextBox 8"/>
          <p:cNvSpPr txBox="1"/>
          <p:nvPr/>
        </p:nvSpPr>
        <p:spPr>
          <a:xfrm>
            <a:off x="12096750" y="62388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Gross margins on a powder of malted barley, milk solids, sugar and vitamins.</a:t>
            </a:r>
          </a:p>
        </p:txBody>
      </p:sp>
      <p:sp>
        <p:nvSpPr>
          <p:cNvPr id="10" name="Rectangle 9"/>
          <p:cNvSpPr/>
          <p:nvPr/>
        </p:nvSpPr>
        <p:spPr>
          <a:xfrm>
            <a:off x="1047750" y="76962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8020050"/>
            <a:ext cx="16192500" cy="1619250"/>
          </a:xfrm>
          <a:prstGeom prst="rect">
            <a:avLst/>
          </a:prstGeom>
          <a:noFill/>
        </p:spPr>
        <p:txBody>
          <a:bodyPr wrap="square" lIns="0" rIns="0" tIns="0" bIns="0" anchor="t"/>
          <a:lstStyle/>
          <a:p>
            <a:pPr algn="l">
              <a:lnSpc>
                <a:spcPct val="114000"/>
              </a:lnSpc>
            </a:pPr>
            <a:r>
              <a:rPr sz="2850" b="0" i="0">
                <a:solidFill>
                  <a:srgbClr val="50453D"/>
                </a:solidFill>
                <a:latin typeface="Georgia"/>
              </a:rPr>
              <a:t>Horlicks was invented in the 1870s as a digestible food for infants and invalids. A country's children do not stay convalescent forever — to grow, the category needed a reason for a perfectly healthy child to drink a glass of malted milk every 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HOW THE PICTURE WAS PRODUCED</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Not a questionnaire</a:t>
            </a:r>
          </a:p>
        </p:txBody>
      </p:sp>
      <p:sp>
        <p:nvSpPr>
          <p:cNvPr id="4" name="Rectangle 3"/>
          <p:cNvSpPr/>
          <p:nvPr/>
        </p:nvSpPr>
        <p:spPr>
          <a:xfrm>
            <a:off x="1047750" y="2838450"/>
            <a:ext cx="7905750" cy="37052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19450"/>
            <a:ext cx="7067550" cy="352425"/>
          </a:xfrm>
          <a:prstGeom prst="rect">
            <a:avLst/>
          </a:prstGeom>
          <a:noFill/>
        </p:spPr>
        <p:txBody>
          <a:bodyPr wrap="square" lIns="0" rIns="0" tIns="0" bIns="0" anchor="t"/>
          <a:lstStyle/>
          <a:p>
            <a:pPr algn="l"/>
            <a:r>
              <a:rPr sz="2100" b="1" i="0" spc="180">
                <a:solidFill>
                  <a:srgbClr val="5E534A"/>
                </a:solidFill>
                <a:latin typeface="Arial"/>
              </a:rPr>
              <a:t>WHAT THE RESEARCHERS DID</a:t>
            </a:r>
          </a:p>
        </p:txBody>
      </p:sp>
      <p:sp>
        <p:nvSpPr>
          <p:cNvPr id="6" name="TextBox 5"/>
          <p:cNvSpPr txBox="1"/>
          <p:nvPr/>
        </p:nvSpPr>
        <p:spPr>
          <a:xfrm>
            <a:off x="1466850" y="3752850"/>
            <a:ext cx="7067550" cy="828675"/>
          </a:xfrm>
          <a:prstGeom prst="rect">
            <a:avLst/>
          </a:prstGeom>
          <a:noFill/>
        </p:spPr>
        <p:txBody>
          <a:bodyPr wrap="square" lIns="0" rIns="0" tIns="0" bIns="0" anchor="t"/>
          <a:lstStyle/>
          <a:p>
            <a:pPr algn="l">
              <a:lnSpc>
                <a:spcPct val="106000"/>
              </a:lnSpc>
            </a:pPr>
            <a:r>
              <a:rPr sz="2250" b="0" i="0">
                <a:solidFill>
                  <a:srgbClr val="201914"/>
                </a:solidFill>
                <a:latin typeface="Arial"/>
              </a:rPr>
              <a:t>Sat in kitchens at the hour the drink was actually made.</a:t>
            </a:r>
          </a:p>
        </p:txBody>
      </p:sp>
      <p:sp>
        <p:nvSpPr>
          <p:cNvPr id="7" name="TextBox 6"/>
          <p:cNvSpPr txBox="1"/>
          <p:nvPr/>
        </p:nvSpPr>
        <p:spPr>
          <a:xfrm>
            <a:off x="1466850" y="4791075"/>
            <a:ext cx="7067550" cy="457200"/>
          </a:xfrm>
          <a:prstGeom prst="rect">
            <a:avLst/>
          </a:prstGeom>
          <a:noFill/>
        </p:spPr>
        <p:txBody>
          <a:bodyPr wrap="square" lIns="0" rIns="0" tIns="0" bIns="0" anchor="t"/>
          <a:lstStyle/>
          <a:p>
            <a:pPr algn="l">
              <a:lnSpc>
                <a:spcPct val="106000"/>
              </a:lnSpc>
            </a:pPr>
            <a:r>
              <a:rPr sz="2250" b="0" i="0">
                <a:solidFill>
                  <a:srgbClr val="201914"/>
                </a:solidFill>
                <a:latin typeface="Arial"/>
              </a:rPr>
              <a:t>Went with mothers to paediatric appointments.</a:t>
            </a:r>
          </a:p>
        </p:txBody>
      </p:sp>
      <p:sp>
        <p:nvSpPr>
          <p:cNvPr id="8" name="TextBox 7"/>
          <p:cNvSpPr txBox="1"/>
          <p:nvPr/>
        </p:nvSpPr>
        <p:spPr>
          <a:xfrm>
            <a:off x="1466850" y="5457825"/>
            <a:ext cx="7067550" cy="457200"/>
          </a:xfrm>
          <a:prstGeom prst="rect">
            <a:avLst/>
          </a:prstGeom>
          <a:noFill/>
        </p:spPr>
        <p:txBody>
          <a:bodyPr wrap="square" lIns="0" rIns="0" tIns="0" bIns="0" anchor="t"/>
          <a:lstStyle/>
          <a:p>
            <a:pPr algn="l">
              <a:lnSpc>
                <a:spcPct val="106000"/>
              </a:lnSpc>
            </a:pPr>
            <a:r>
              <a:rPr sz="2250" b="0" i="0">
                <a:solidFill>
                  <a:srgbClr val="201914"/>
                </a:solidFill>
                <a:latin typeface="Arial"/>
              </a:rPr>
              <a:t>Listened to what was said at family gatherings.</a:t>
            </a:r>
          </a:p>
        </p:txBody>
      </p:sp>
      <p:sp>
        <p:nvSpPr>
          <p:cNvPr id="9" name="Rectangle 8"/>
          <p:cNvSpPr/>
          <p:nvPr/>
        </p:nvSpPr>
        <p:spPr>
          <a:xfrm>
            <a:off x="9334500" y="2838450"/>
            <a:ext cx="7905750" cy="370522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3219450"/>
            <a:ext cx="7067550" cy="352425"/>
          </a:xfrm>
          <a:prstGeom prst="rect">
            <a:avLst/>
          </a:prstGeom>
          <a:noFill/>
        </p:spPr>
        <p:txBody>
          <a:bodyPr wrap="square" lIns="0" rIns="0" tIns="0" bIns="0" anchor="t"/>
          <a:lstStyle/>
          <a:p>
            <a:pPr algn="l"/>
            <a:r>
              <a:rPr sz="2100" b="1" i="0" spc="180">
                <a:solidFill>
                  <a:srgbClr val="FCF8F1"/>
                </a:solidFill>
                <a:latin typeface="Arial"/>
              </a:rPr>
              <a:t>WHAT THEY ASKED</a:t>
            </a:r>
          </a:p>
        </p:txBody>
      </p:sp>
      <p:sp>
        <p:nvSpPr>
          <p:cNvPr id="11" name="TextBox 10"/>
          <p:cNvSpPr txBox="1"/>
          <p:nvPr/>
        </p:nvSpPr>
        <p:spPr>
          <a:xfrm>
            <a:off x="9753600" y="3752850"/>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‘Tell me about the last time somebody commented on your son's height.’</a:t>
            </a:r>
          </a:p>
        </p:txBody>
      </p:sp>
      <p:sp>
        <p:nvSpPr>
          <p:cNvPr id="12" name="TextBox 11"/>
          <p:cNvSpPr txBox="1"/>
          <p:nvPr/>
        </p:nvSpPr>
        <p:spPr>
          <a:xfrm>
            <a:off x="9753600" y="4791075"/>
            <a:ext cx="7067550" cy="457200"/>
          </a:xfrm>
          <a:prstGeom prst="rect">
            <a:avLst/>
          </a:prstGeom>
          <a:noFill/>
        </p:spPr>
        <p:txBody>
          <a:bodyPr wrap="square" lIns="0" rIns="0" tIns="0" bIns="0" anchor="t"/>
          <a:lstStyle/>
          <a:p>
            <a:pPr algn="l">
              <a:lnSpc>
                <a:spcPct val="106000"/>
              </a:lnSpc>
            </a:pPr>
            <a:r>
              <a:rPr sz="2250" b="0" i="0">
                <a:solidFill>
                  <a:srgbClr val="F5F1E9"/>
                </a:solidFill>
                <a:latin typeface="Arial"/>
              </a:rPr>
              <a:t>‘Tell me what happened at the last school function.’</a:t>
            </a:r>
          </a:p>
        </p:txBody>
      </p:sp>
      <p:sp>
        <p:nvSpPr>
          <p:cNvPr id="13" name="TextBox 12"/>
          <p:cNvSpPr txBox="1"/>
          <p:nvPr/>
        </p:nvSpPr>
        <p:spPr>
          <a:xfrm>
            <a:off x="9753600" y="5457825"/>
            <a:ext cx="7067550" cy="457200"/>
          </a:xfrm>
          <a:prstGeom prst="rect">
            <a:avLst/>
          </a:prstGeom>
          <a:noFill/>
        </p:spPr>
        <p:txBody>
          <a:bodyPr wrap="square" lIns="0" rIns="0" tIns="0" bIns="0" anchor="t"/>
          <a:lstStyle/>
          <a:p>
            <a:pPr algn="l">
              <a:lnSpc>
                <a:spcPct val="106000"/>
              </a:lnSpc>
            </a:pPr>
            <a:r>
              <a:rPr sz="2250" b="0" i="0">
                <a:solidFill>
                  <a:srgbClr val="F5F1E9"/>
                </a:solidFill>
                <a:latin typeface="Arial"/>
              </a:rPr>
              <a:t>Specific past events — never general preferences.</a:t>
            </a:r>
          </a:p>
        </p:txBody>
      </p:sp>
      <p:sp>
        <p:nvSpPr>
          <p:cNvPr id="14" name="TextBox 13"/>
          <p:cNvSpPr txBox="1"/>
          <p:nvPr/>
        </p:nvSpPr>
        <p:spPr>
          <a:xfrm>
            <a:off x="1047750" y="6943725"/>
            <a:ext cx="16192500" cy="1857375"/>
          </a:xfrm>
          <a:prstGeom prst="rect">
            <a:avLst/>
          </a:prstGeom>
          <a:noFill/>
        </p:spPr>
        <p:txBody>
          <a:bodyPr wrap="square" lIns="0" rIns="0" tIns="0" bIns="0" anchor="t"/>
          <a:lstStyle/>
          <a:p>
            <a:pPr algn="l">
              <a:lnSpc>
                <a:spcPct val="114000"/>
              </a:lnSpc>
            </a:pPr>
            <a:r>
              <a:rPr sz="3300" b="0" i="0">
                <a:solidFill>
                  <a:srgbClr val="362C24"/>
                </a:solidFill>
                <a:latin typeface="Georgia"/>
              </a:rPr>
              <a:t>Every entry in the map that follows can be traced to something a real person did or said in a real room. That is the whole difference between a useful empathy map and a fictional one.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WHAT SHE DOES · WHERE THE EVIDENCE LIVES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Pencil marks on a door frame</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3762375" cy="981075"/>
          </a:xfrm>
          <a:prstGeom prst="rect">
            <a:avLst/>
          </a:prstGeom>
          <a:noFill/>
        </p:spPr>
        <p:txBody>
          <a:bodyPr wrap="square" lIns="0" rIns="0" tIns="0" bIns="0" anchor="t"/>
          <a:lstStyle/>
          <a:p>
            <a:pPr algn="l"/>
            <a:r>
              <a:rPr sz="2850" b="1" i="0">
                <a:solidFill>
                  <a:srgbClr val="201914"/>
                </a:solidFill>
                <a:latin typeface="Arial"/>
              </a:rPr>
              <a:t>Measures him against the wall</a:t>
            </a:r>
          </a:p>
        </p:txBody>
      </p:sp>
      <p:sp>
        <p:nvSpPr>
          <p:cNvPr id="6" name="TextBox 5"/>
          <p:cNvSpPr txBox="1"/>
          <p:nvPr/>
        </p:nvSpPr>
        <p:spPr>
          <a:xfrm>
            <a:off x="1047750" y="4257675"/>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With a pencil, at the door frame.</a:t>
            </a:r>
          </a:p>
        </p:txBody>
      </p:sp>
      <p:sp>
        <p:nvSpPr>
          <p:cNvPr id="7" name="Rectangle 6"/>
          <p:cNvSpPr/>
          <p:nvPr/>
        </p:nvSpPr>
        <p:spPr>
          <a:xfrm>
            <a:off x="519112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143250"/>
            <a:ext cx="3762375" cy="981075"/>
          </a:xfrm>
          <a:prstGeom prst="rect">
            <a:avLst/>
          </a:prstGeom>
          <a:noFill/>
        </p:spPr>
        <p:txBody>
          <a:bodyPr wrap="square" lIns="0" rIns="0" tIns="0" bIns="0" anchor="t"/>
          <a:lstStyle/>
          <a:p>
            <a:pPr algn="l"/>
            <a:r>
              <a:rPr sz="2850" b="1" i="0">
                <a:solidFill>
                  <a:srgbClr val="201914"/>
                </a:solidFill>
                <a:latin typeface="Arial"/>
              </a:rPr>
              <a:t>Compares him to his cousins</a:t>
            </a:r>
          </a:p>
        </p:txBody>
      </p:sp>
      <p:sp>
        <p:nvSpPr>
          <p:cNvPr id="9" name="TextBox 8"/>
          <p:cNvSpPr txBox="1"/>
          <p:nvPr/>
        </p:nvSpPr>
        <p:spPr>
          <a:xfrm>
            <a:off x="5191125" y="4257675"/>
            <a:ext cx="3762375" cy="428625"/>
          </a:xfrm>
          <a:prstGeom prst="rect">
            <a:avLst/>
          </a:prstGeom>
          <a:noFill/>
        </p:spPr>
        <p:txBody>
          <a:bodyPr wrap="square" lIns="0" rIns="0" tIns="0" bIns="0" anchor="t"/>
          <a:lstStyle/>
          <a:p>
            <a:pPr algn="l">
              <a:lnSpc>
                <a:spcPct val="105000"/>
              </a:lnSpc>
            </a:pPr>
            <a:r>
              <a:rPr sz="2100" b="0" i="0">
                <a:solidFill>
                  <a:srgbClr val="665B53"/>
                </a:solidFill>
                <a:latin typeface="Arial"/>
              </a:rPr>
              <a:t>Out loud, at family gatherings.</a:t>
            </a:r>
          </a:p>
        </p:txBody>
      </p:sp>
      <p:sp>
        <p:nvSpPr>
          <p:cNvPr id="10" name="Rectangle 9"/>
          <p:cNvSpPr/>
          <p:nvPr/>
        </p:nvSpPr>
        <p:spPr>
          <a:xfrm>
            <a:off x="933450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143250"/>
            <a:ext cx="3762375" cy="981075"/>
          </a:xfrm>
          <a:prstGeom prst="rect">
            <a:avLst/>
          </a:prstGeom>
          <a:noFill/>
        </p:spPr>
        <p:txBody>
          <a:bodyPr wrap="square" lIns="0" rIns="0" tIns="0" bIns="0" anchor="t"/>
          <a:lstStyle/>
          <a:p>
            <a:pPr algn="l"/>
            <a:r>
              <a:rPr sz="2850" b="1" i="0">
                <a:solidFill>
                  <a:srgbClr val="201914"/>
                </a:solidFill>
                <a:latin typeface="Arial"/>
              </a:rPr>
              <a:t>Asks the paediatrician</a:t>
            </a:r>
          </a:p>
        </p:txBody>
      </p:sp>
      <p:sp>
        <p:nvSpPr>
          <p:cNvPr id="12" name="TextBox 11"/>
          <p:cNvSpPr txBox="1"/>
          <p:nvPr/>
        </p:nvSpPr>
        <p:spPr>
          <a:xfrm>
            <a:off x="9334500" y="4257675"/>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A version of the growth question at almost every visit.</a:t>
            </a:r>
          </a:p>
        </p:txBody>
      </p:sp>
      <p:sp>
        <p:nvSpPr>
          <p:cNvPr id="13" name="Rectangle 12"/>
          <p:cNvSpPr/>
          <p:nvPr/>
        </p:nvSpPr>
        <p:spPr>
          <a:xfrm>
            <a:off x="1347787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143250"/>
            <a:ext cx="3762375" cy="981075"/>
          </a:xfrm>
          <a:prstGeom prst="rect">
            <a:avLst/>
          </a:prstGeom>
          <a:noFill/>
        </p:spPr>
        <p:txBody>
          <a:bodyPr wrap="square" lIns="0" rIns="0" tIns="0" bIns="0" anchor="t"/>
          <a:lstStyle/>
          <a:p>
            <a:pPr algn="l"/>
            <a:r>
              <a:rPr sz="2850" b="1" i="0">
                <a:solidFill>
                  <a:srgbClr val="201914"/>
                </a:solidFill>
                <a:latin typeface="Arial"/>
              </a:rPr>
              <a:t>Buys the drink for years</a:t>
            </a:r>
          </a:p>
        </p:txBody>
      </p:sp>
      <p:sp>
        <p:nvSpPr>
          <p:cNvPr id="15" name="TextBox 14"/>
          <p:cNvSpPr txBox="1"/>
          <p:nvPr/>
        </p:nvSpPr>
        <p:spPr>
          <a:xfrm>
            <a:off x="13477875" y="4257675"/>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Without ever once checking whether it worked.</a:t>
            </a:r>
          </a:p>
        </p:txBody>
      </p:sp>
      <p:sp>
        <p:nvSpPr>
          <p:cNvPr id="16" name="Rectangle 15"/>
          <p:cNvSpPr/>
          <p:nvPr/>
        </p:nvSpPr>
        <p:spPr>
          <a:xfrm>
            <a:off x="1047750" y="7429500"/>
            <a:ext cx="16192500" cy="2171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43050" y="7886700"/>
            <a:ext cx="15240000" cy="1123950"/>
          </a:xfrm>
          <a:prstGeom prst="rect">
            <a:avLst/>
          </a:prstGeom>
          <a:noFill/>
        </p:spPr>
        <p:txBody>
          <a:bodyPr wrap="square" lIns="0" rIns="0" tIns="0" bIns="0" anchor="t"/>
          <a:lstStyle/>
          <a:p>
            <a:pPr algn="l">
              <a:lnSpc>
                <a:spcPct val="114000"/>
              </a:lnSpc>
            </a:pPr>
            <a:r>
              <a:rPr sz="2850" b="0" i="0">
                <a:solidFill>
                  <a:srgbClr val="F5F1E9"/>
                </a:solidFill>
                <a:latin typeface="Georgia"/>
              </a:rPr>
              <a:t>If she never checks the outcome, she is not buying an outcome. So what is she buying?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ONE MOTHER · ONE PERIOD · FOUR QUADRANTS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Her Say, and the three that disagree with it.</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3762375" cy="533400"/>
          </a:xfrm>
          <a:prstGeom prst="rect">
            <a:avLst/>
          </a:prstGeom>
          <a:noFill/>
        </p:spPr>
        <p:txBody>
          <a:bodyPr wrap="square" lIns="0" rIns="0" tIns="0" bIns="0" anchor="t"/>
          <a:lstStyle/>
          <a:p>
            <a:pPr algn="l"/>
            <a:r>
              <a:rPr sz="2850" b="1" i="0">
                <a:solidFill>
                  <a:srgbClr val="201914"/>
                </a:solidFill>
                <a:latin typeface="Arial"/>
              </a:rPr>
              <a:t>SAY</a:t>
            </a:r>
          </a:p>
        </p:txBody>
      </p:sp>
      <p:sp>
        <p:nvSpPr>
          <p:cNvPr id="6" name="TextBox 5"/>
          <p:cNvSpPr txBox="1"/>
          <p:nvPr/>
        </p:nvSpPr>
        <p:spPr>
          <a:xfrm>
            <a:off x="1047750" y="3810000"/>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‘I want good nutrition for my child. He doesn't eat properly.’</a:t>
            </a:r>
          </a:p>
        </p:txBody>
      </p:sp>
      <p:sp>
        <p:nvSpPr>
          <p:cNvPr id="7" name="Rectangle 6"/>
          <p:cNvSpPr/>
          <p:nvPr/>
        </p:nvSpPr>
        <p:spPr>
          <a:xfrm>
            <a:off x="519112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143250"/>
            <a:ext cx="3762375" cy="533400"/>
          </a:xfrm>
          <a:prstGeom prst="rect">
            <a:avLst/>
          </a:prstGeom>
          <a:noFill/>
        </p:spPr>
        <p:txBody>
          <a:bodyPr wrap="square" lIns="0" rIns="0" tIns="0" bIns="0" anchor="t"/>
          <a:lstStyle/>
          <a:p>
            <a:pPr algn="l"/>
            <a:r>
              <a:rPr sz="2850" b="1" i="0">
                <a:solidFill>
                  <a:srgbClr val="201914"/>
                </a:solidFill>
                <a:latin typeface="Arial"/>
              </a:rPr>
              <a:t>THINK</a:t>
            </a:r>
          </a:p>
        </p:txBody>
      </p:sp>
      <p:sp>
        <p:nvSpPr>
          <p:cNvPr id="9" name="TextBox 8"/>
          <p:cNvSpPr txBox="1"/>
          <p:nvPr/>
        </p:nvSpPr>
        <p:spPr>
          <a:xfrm>
            <a:off x="5191125" y="3810000"/>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‘Is he shorter than he should be? Did I do something wrong? Is there still time?’</a:t>
            </a:r>
          </a:p>
        </p:txBody>
      </p:sp>
      <p:sp>
        <p:nvSpPr>
          <p:cNvPr id="10" name="Rectangle 9"/>
          <p:cNvSpPr/>
          <p:nvPr/>
        </p:nvSpPr>
        <p:spPr>
          <a:xfrm>
            <a:off x="933450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143250"/>
            <a:ext cx="3762375" cy="533400"/>
          </a:xfrm>
          <a:prstGeom prst="rect">
            <a:avLst/>
          </a:prstGeom>
          <a:noFill/>
        </p:spPr>
        <p:txBody>
          <a:bodyPr wrap="square" lIns="0" rIns="0" tIns="0" bIns="0" anchor="t"/>
          <a:lstStyle/>
          <a:p>
            <a:pPr algn="l"/>
            <a:r>
              <a:rPr sz="2850" b="1" i="0">
                <a:solidFill>
                  <a:srgbClr val="201914"/>
                </a:solidFill>
                <a:latin typeface="Arial"/>
              </a:rPr>
              <a:t>FEEL</a:t>
            </a:r>
          </a:p>
        </p:txBody>
      </p:sp>
      <p:sp>
        <p:nvSpPr>
          <p:cNvPr id="12" name="TextBox 11"/>
          <p:cNvSpPr txBox="1"/>
          <p:nvPr/>
        </p:nvSpPr>
        <p:spPr>
          <a:xfrm>
            <a:off x="9334500" y="3810000"/>
            <a:ext cx="3762375" cy="1466850"/>
          </a:xfrm>
          <a:prstGeom prst="rect">
            <a:avLst/>
          </a:prstGeom>
          <a:noFill/>
        </p:spPr>
        <p:txBody>
          <a:bodyPr wrap="square" lIns="0" rIns="0" tIns="0" bIns="0" anchor="t"/>
          <a:lstStyle/>
          <a:p>
            <a:pPr algn="l">
              <a:lnSpc>
                <a:spcPct val="105000"/>
              </a:lnSpc>
            </a:pPr>
            <a:r>
              <a:rPr sz="2100" b="0" i="0">
                <a:solidFill>
                  <a:srgbClr val="665B53"/>
                </a:solidFill>
                <a:latin typeface="Arial"/>
              </a:rPr>
              <a:t>Anxiety about a closing window. Guilt. Fear of being judged at the next family gathering.</a:t>
            </a:r>
          </a:p>
        </p:txBody>
      </p:sp>
      <p:sp>
        <p:nvSpPr>
          <p:cNvPr id="13" name="Rectangle 12"/>
          <p:cNvSpPr/>
          <p:nvPr/>
        </p:nvSpPr>
        <p:spPr>
          <a:xfrm>
            <a:off x="13477875"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143250"/>
            <a:ext cx="3762375" cy="533400"/>
          </a:xfrm>
          <a:prstGeom prst="rect">
            <a:avLst/>
          </a:prstGeom>
          <a:noFill/>
        </p:spPr>
        <p:txBody>
          <a:bodyPr wrap="square" lIns="0" rIns="0" tIns="0" bIns="0" anchor="t"/>
          <a:lstStyle/>
          <a:p>
            <a:pPr algn="l"/>
            <a:r>
              <a:rPr sz="2850" b="1" i="0">
                <a:solidFill>
                  <a:srgbClr val="201914"/>
                </a:solidFill>
                <a:latin typeface="Arial"/>
              </a:rPr>
              <a:t>DO</a:t>
            </a:r>
          </a:p>
        </p:txBody>
      </p:sp>
      <p:sp>
        <p:nvSpPr>
          <p:cNvPr id="15" name="TextBox 14"/>
          <p:cNvSpPr txBox="1"/>
          <p:nvPr/>
        </p:nvSpPr>
        <p:spPr>
          <a:xfrm>
            <a:off x="13477875" y="3810000"/>
            <a:ext cx="3762375" cy="1466850"/>
          </a:xfrm>
          <a:prstGeom prst="rect">
            <a:avLst/>
          </a:prstGeom>
          <a:noFill/>
        </p:spPr>
        <p:txBody>
          <a:bodyPr wrap="square" lIns="0" rIns="0" tIns="0" bIns="0" anchor="t"/>
          <a:lstStyle/>
          <a:p>
            <a:pPr algn="l">
              <a:lnSpc>
                <a:spcPct val="105000"/>
              </a:lnSpc>
            </a:pPr>
            <a:r>
              <a:rPr sz="2100" b="0" i="0">
                <a:solidFill>
                  <a:srgbClr val="665B53"/>
                </a:solidFill>
                <a:latin typeface="Arial"/>
              </a:rPr>
              <a:t>Pencil marks on the door frame. Comparisons with cousins. Six years of buying without checking.</a:t>
            </a:r>
          </a:p>
        </p:txBody>
      </p:sp>
      <p:sp>
        <p:nvSpPr>
          <p:cNvPr id="16" name="Rectangle 15"/>
          <p:cNvSpPr/>
          <p:nvPr/>
        </p:nvSpPr>
        <p:spPr>
          <a:xfrm>
            <a:off x="1047750" y="7429500"/>
            <a:ext cx="16192500" cy="2171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43050" y="7886700"/>
            <a:ext cx="15240000" cy="1123950"/>
          </a:xfrm>
          <a:prstGeom prst="rect">
            <a:avLst/>
          </a:prstGeom>
          <a:noFill/>
        </p:spPr>
        <p:txBody>
          <a:bodyPr wrap="square" lIns="0" rIns="0" tIns="0" bIns="0" anchor="t"/>
          <a:lstStyle/>
          <a:p>
            <a:pPr algn="l">
              <a:lnSpc>
                <a:spcPct val="114000"/>
              </a:lnSpc>
            </a:pPr>
            <a:r>
              <a:rPr sz="2850" b="0" i="0">
                <a:solidFill>
                  <a:srgbClr val="F5F1E9"/>
                </a:solidFill>
                <a:latin typeface="Georgia"/>
              </a:rPr>
              <a:t>Say is about biology; Think and Feel are about comparison and judgement; Do proves the purchase is not outcome-driven at all. The disagreement is the finding.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3</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What each quadrant is for</a:t>
            </a:r>
          </a:p>
        </p:txBody>
      </p:sp>
      <p:sp>
        <p:nvSpPr>
          <p:cNvPr id="4" name="Rectangle 3"/>
          <p:cNvSpPr/>
          <p:nvPr/>
        </p:nvSpPr>
        <p:spPr>
          <a:xfrm>
            <a:off x="1047750" y="2838450"/>
            <a:ext cx="16192500" cy="117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200400"/>
            <a:ext cx="1571625" cy="438150"/>
          </a:xfrm>
          <a:prstGeom prst="rect">
            <a:avLst/>
          </a:prstGeom>
          <a:noFill/>
        </p:spPr>
        <p:txBody>
          <a:bodyPr wrap="square" lIns="0" rIns="0" tIns="0" bIns="0" anchor="t"/>
          <a:lstStyle/>
          <a:p>
            <a:pPr algn="l"/>
            <a:r>
              <a:rPr sz="2400" b="1" i="0">
                <a:solidFill>
                  <a:srgbClr val="201914"/>
                </a:solidFill>
                <a:latin typeface="Arial"/>
              </a:rPr>
              <a:t>Say</a:t>
            </a:r>
          </a:p>
        </p:txBody>
      </p:sp>
      <p:sp>
        <p:nvSpPr>
          <p:cNvPr id="6" name="TextBox 5"/>
          <p:cNvSpPr txBox="1"/>
          <p:nvPr/>
        </p:nvSpPr>
        <p:spPr>
          <a:xfrm>
            <a:off x="3457575" y="3067050"/>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Ask. Interviews, reviews, complaints, what she tells friends.</a:t>
            </a:r>
          </a:p>
        </p:txBody>
      </p:sp>
      <p:sp>
        <p:nvSpPr>
          <p:cNvPr id="7" name="TextBox 6"/>
          <p:cNvSpPr txBox="1"/>
          <p:nvPr/>
        </p:nvSpPr>
        <p:spPr>
          <a:xfrm>
            <a:off x="8143875" y="3067050"/>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The language of your advertising — you must speak in her words.</a:t>
            </a:r>
          </a:p>
        </p:txBody>
      </p:sp>
      <p:sp>
        <p:nvSpPr>
          <p:cNvPr id="8" name="TextBox 7"/>
          <p:cNvSpPr txBox="1"/>
          <p:nvPr/>
        </p:nvSpPr>
        <p:spPr>
          <a:xfrm>
            <a:off x="12830175" y="3067050"/>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Mistaking it for the reason. It is the only quadrant she has vocabulary for.</a:t>
            </a:r>
          </a:p>
        </p:txBody>
      </p:sp>
      <p:sp>
        <p:nvSpPr>
          <p:cNvPr id="9" name="Rectangle 8"/>
          <p:cNvSpPr/>
          <p:nvPr/>
        </p:nvSpPr>
        <p:spPr>
          <a:xfrm>
            <a:off x="1047750" y="4219575"/>
            <a:ext cx="16192500" cy="117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2550" y="4581525"/>
            <a:ext cx="1571625" cy="438150"/>
          </a:xfrm>
          <a:prstGeom prst="rect">
            <a:avLst/>
          </a:prstGeom>
          <a:noFill/>
        </p:spPr>
        <p:txBody>
          <a:bodyPr wrap="square" lIns="0" rIns="0" tIns="0" bIns="0" anchor="t"/>
          <a:lstStyle/>
          <a:p>
            <a:pPr algn="l"/>
            <a:r>
              <a:rPr sz="2400" b="1" i="0">
                <a:solidFill>
                  <a:srgbClr val="201914"/>
                </a:solidFill>
                <a:latin typeface="Arial"/>
              </a:rPr>
              <a:t>Do</a:t>
            </a:r>
          </a:p>
        </p:txBody>
      </p:sp>
      <p:sp>
        <p:nvSpPr>
          <p:cNvPr id="11" name="TextBox 10"/>
          <p:cNvSpPr txBox="1"/>
          <p:nvPr/>
        </p:nvSpPr>
        <p:spPr>
          <a:xfrm>
            <a:off x="3457575" y="4286250"/>
            <a:ext cx="4381500" cy="1038225"/>
          </a:xfrm>
          <a:prstGeom prst="rect">
            <a:avLst/>
          </a:prstGeom>
          <a:noFill/>
        </p:spPr>
        <p:txBody>
          <a:bodyPr wrap="square" lIns="0" rIns="0" tIns="0" bIns="0" anchor="t"/>
          <a:lstStyle/>
          <a:p>
            <a:pPr algn="l">
              <a:lnSpc>
                <a:spcPct val="106000"/>
              </a:lnSpc>
            </a:pPr>
            <a:r>
              <a:rPr sz="1950" b="0" i="0">
                <a:solidFill>
                  <a:srgbClr val="201914"/>
                </a:solidFill>
                <a:latin typeface="Arial"/>
              </a:rPr>
              <a:t>Watch. Observation, purchase records, workarounds, what happens in private.</a:t>
            </a:r>
          </a:p>
        </p:txBody>
      </p:sp>
      <p:sp>
        <p:nvSpPr>
          <p:cNvPr id="12" name="TextBox 11"/>
          <p:cNvSpPr txBox="1"/>
          <p:nvPr/>
        </p:nvSpPr>
        <p:spPr>
          <a:xfrm>
            <a:off x="8143875" y="4448175"/>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Evidence. Every claim in the other three has to be anchored here.</a:t>
            </a:r>
          </a:p>
        </p:txBody>
      </p:sp>
      <p:sp>
        <p:nvSpPr>
          <p:cNvPr id="13" name="TextBox 12"/>
          <p:cNvSpPr txBox="1"/>
          <p:nvPr/>
        </p:nvSpPr>
        <p:spPr>
          <a:xfrm>
            <a:off x="12830175" y="4448175"/>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Behaviour without context — you see the act and guess the motive.</a:t>
            </a:r>
          </a:p>
        </p:txBody>
      </p:sp>
      <p:sp>
        <p:nvSpPr>
          <p:cNvPr id="14" name="Rectangle 13"/>
          <p:cNvSpPr/>
          <p:nvPr/>
        </p:nvSpPr>
        <p:spPr>
          <a:xfrm>
            <a:off x="1047750" y="5600700"/>
            <a:ext cx="16192500" cy="117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2550" y="5962650"/>
            <a:ext cx="1571625" cy="438150"/>
          </a:xfrm>
          <a:prstGeom prst="rect">
            <a:avLst/>
          </a:prstGeom>
          <a:noFill/>
        </p:spPr>
        <p:txBody>
          <a:bodyPr wrap="square" lIns="0" rIns="0" tIns="0" bIns="0" anchor="t"/>
          <a:lstStyle/>
          <a:p>
            <a:pPr algn="l"/>
            <a:r>
              <a:rPr sz="2400" b="1" i="0">
                <a:solidFill>
                  <a:srgbClr val="201914"/>
                </a:solidFill>
                <a:latin typeface="Arial"/>
              </a:rPr>
              <a:t>Think</a:t>
            </a:r>
          </a:p>
        </p:txBody>
      </p:sp>
      <p:sp>
        <p:nvSpPr>
          <p:cNvPr id="16" name="TextBox 15"/>
          <p:cNvSpPr txBox="1"/>
          <p:nvPr/>
        </p:nvSpPr>
        <p:spPr>
          <a:xfrm>
            <a:off x="3457575" y="5829300"/>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Infer from Do and See, then test with laddering.</a:t>
            </a:r>
          </a:p>
        </p:txBody>
      </p:sp>
      <p:sp>
        <p:nvSpPr>
          <p:cNvPr id="17" name="TextBox 16"/>
          <p:cNvSpPr txBox="1"/>
          <p:nvPr/>
        </p:nvSpPr>
        <p:spPr>
          <a:xfrm>
            <a:off x="8143875" y="5829300"/>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The objections you have to answer before she buys.</a:t>
            </a:r>
          </a:p>
        </p:txBody>
      </p:sp>
      <p:sp>
        <p:nvSpPr>
          <p:cNvPr id="18" name="TextBox 17"/>
          <p:cNvSpPr txBox="1"/>
          <p:nvPr/>
        </p:nvSpPr>
        <p:spPr>
          <a:xfrm>
            <a:off x="12830175" y="5829300"/>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The easiest quadrant to fill with your own thoughts and call it research.</a:t>
            </a:r>
          </a:p>
        </p:txBody>
      </p:sp>
      <p:sp>
        <p:nvSpPr>
          <p:cNvPr id="19" name="Rectangle 18"/>
          <p:cNvSpPr/>
          <p:nvPr/>
        </p:nvSpPr>
        <p:spPr>
          <a:xfrm>
            <a:off x="1047750" y="6981825"/>
            <a:ext cx="16192500" cy="117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52550" y="7343775"/>
            <a:ext cx="1571625" cy="438150"/>
          </a:xfrm>
          <a:prstGeom prst="rect">
            <a:avLst/>
          </a:prstGeom>
          <a:noFill/>
        </p:spPr>
        <p:txBody>
          <a:bodyPr wrap="square" lIns="0" rIns="0" tIns="0" bIns="0" anchor="t"/>
          <a:lstStyle/>
          <a:p>
            <a:pPr algn="l"/>
            <a:r>
              <a:rPr sz="2400" b="1" i="0">
                <a:solidFill>
                  <a:srgbClr val="201914"/>
                </a:solidFill>
                <a:latin typeface="Arial"/>
              </a:rPr>
              <a:t>Feel</a:t>
            </a:r>
          </a:p>
        </p:txBody>
      </p:sp>
      <p:sp>
        <p:nvSpPr>
          <p:cNvPr id="21" name="TextBox 20"/>
          <p:cNvSpPr txBox="1"/>
          <p:nvPr/>
        </p:nvSpPr>
        <p:spPr>
          <a:xfrm>
            <a:off x="3457575" y="7210425"/>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Infer from behaviour only anxiety or pride explains.</a:t>
            </a:r>
          </a:p>
        </p:txBody>
      </p:sp>
      <p:sp>
        <p:nvSpPr>
          <p:cNvPr id="22" name="TextBox 21"/>
          <p:cNvSpPr txBox="1"/>
          <p:nvPr/>
        </p:nvSpPr>
        <p:spPr>
          <a:xfrm>
            <a:off x="8143875" y="7210425"/>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Where the willingness to pay lives, and what the product must resolve.</a:t>
            </a:r>
          </a:p>
        </p:txBody>
      </p:sp>
      <p:sp>
        <p:nvSpPr>
          <p:cNvPr id="23" name="TextBox 22"/>
          <p:cNvSpPr txBox="1"/>
          <p:nvPr/>
        </p:nvSpPr>
        <p:spPr>
          <a:xfrm>
            <a:off x="12830175" y="7210425"/>
            <a:ext cx="4381500" cy="714375"/>
          </a:xfrm>
          <a:prstGeom prst="rect">
            <a:avLst/>
          </a:prstGeom>
          <a:noFill/>
        </p:spPr>
        <p:txBody>
          <a:bodyPr wrap="square" lIns="0" rIns="0" tIns="0" bIns="0" anchor="t"/>
          <a:lstStyle/>
          <a:p>
            <a:pPr algn="l">
              <a:lnSpc>
                <a:spcPct val="106000"/>
              </a:lnSpc>
            </a:pPr>
            <a:r>
              <a:rPr sz="1950" b="0" i="0">
                <a:solidFill>
                  <a:srgbClr val="201914"/>
                </a:solidFill>
                <a:latin typeface="Arial"/>
              </a:rPr>
              <a:t>Sentimentality. Writing what you wish she felt, in flattering language.</a:t>
            </a:r>
          </a:p>
        </p:txBody>
      </p:sp>
      <p:sp>
        <p:nvSpPr>
          <p:cNvPr id="24" name="TextBox 23"/>
          <p:cNvSpPr txBox="1"/>
          <p:nvPr/>
        </p:nvSpPr>
        <p:spPr>
          <a:xfrm>
            <a:off x="1047750" y="8534400"/>
            <a:ext cx="16192500" cy="1104900"/>
          </a:xfrm>
          <a:prstGeom prst="rect">
            <a:avLst/>
          </a:prstGeom>
          <a:noFill/>
        </p:spPr>
        <p:txBody>
          <a:bodyPr wrap="square" lIns="0" rIns="0" tIns="0" bIns="0" anchor="t"/>
          <a:lstStyle/>
          <a:p>
            <a:pPr algn="l">
              <a:lnSpc>
                <a:spcPct val="114000"/>
              </a:lnSpc>
            </a:pPr>
            <a:r>
              <a:rPr sz="2850" b="1" i="0">
                <a:solidFill>
                  <a:srgbClr val="50453D"/>
                </a:solidFill>
                <a:latin typeface="Arial"/>
              </a:rPr>
              <a:t>Say you get by asking and Do by watching. Think and Feel can only be inferred from those two — which is exactly why they are the two people invent.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1AM · A CHILD WHO CANNOT BREATHE PROPERLY</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A second map, in a completely different room</a:t>
            </a:r>
          </a:p>
        </p:txBody>
      </p:sp>
      <p:sp>
        <p:nvSpPr>
          <p:cNvPr id="4" name="Rectangle 3"/>
          <p:cNvSpPr/>
          <p:nvPr/>
        </p:nvSpPr>
        <p:spPr>
          <a:xfrm>
            <a:off x="1047750" y="3629025"/>
            <a:ext cx="7905750" cy="43053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4010025"/>
            <a:ext cx="7067550" cy="352425"/>
          </a:xfrm>
          <a:prstGeom prst="rect">
            <a:avLst/>
          </a:prstGeom>
          <a:noFill/>
        </p:spPr>
        <p:txBody>
          <a:bodyPr wrap="square" lIns="0" rIns="0" tIns="0" bIns="0" anchor="t"/>
          <a:lstStyle/>
          <a:p>
            <a:pPr algn="l"/>
            <a:r>
              <a:rPr sz="2100" b="1" i="0" spc="180">
                <a:solidFill>
                  <a:srgbClr val="5E534A"/>
                </a:solidFill>
                <a:latin typeface="Arial"/>
              </a:rPr>
              <a:t>WHAT SHE SAYS</a:t>
            </a:r>
          </a:p>
        </p:txBody>
      </p:sp>
      <p:sp>
        <p:nvSpPr>
          <p:cNvPr id="6" name="TextBox 5"/>
          <p:cNvSpPr txBox="1"/>
          <p:nvPr/>
        </p:nvSpPr>
        <p:spPr>
          <a:xfrm>
            <a:off x="1466850" y="4543425"/>
            <a:ext cx="7067550" cy="428625"/>
          </a:xfrm>
          <a:prstGeom prst="rect">
            <a:avLst/>
          </a:prstGeom>
          <a:noFill/>
        </p:spPr>
        <p:txBody>
          <a:bodyPr wrap="square" lIns="0" rIns="0" tIns="0" bIns="0" anchor="t"/>
          <a:lstStyle/>
          <a:p>
            <a:pPr algn="l">
              <a:lnSpc>
                <a:spcPct val="106000"/>
              </a:lnSpc>
            </a:pPr>
            <a:r>
              <a:rPr sz="2100" b="0" i="0">
                <a:solidFill>
                  <a:srgbClr val="201914"/>
                </a:solidFill>
                <a:latin typeface="Arial"/>
              </a:rPr>
              <a:t>‘It clears his chest and he sleeps better.’</a:t>
            </a:r>
          </a:p>
        </p:txBody>
      </p:sp>
      <p:sp>
        <p:nvSpPr>
          <p:cNvPr id="7" name="TextBox 6"/>
          <p:cNvSpPr txBox="1"/>
          <p:nvPr/>
        </p:nvSpPr>
        <p:spPr>
          <a:xfrm>
            <a:off x="1466850" y="5181600"/>
            <a:ext cx="7067550" cy="781050"/>
          </a:xfrm>
          <a:prstGeom prst="rect">
            <a:avLst/>
          </a:prstGeom>
          <a:noFill/>
        </p:spPr>
        <p:txBody>
          <a:bodyPr wrap="square" lIns="0" rIns="0" tIns="0" bIns="0" anchor="t"/>
          <a:lstStyle/>
          <a:p>
            <a:pPr algn="l">
              <a:lnSpc>
                <a:spcPct val="106000"/>
              </a:lnSpc>
            </a:pPr>
            <a:r>
              <a:rPr sz="2100" b="0" i="0">
                <a:solidFill>
                  <a:srgbClr val="201914"/>
                </a:solidFill>
                <a:latin typeface="Arial"/>
              </a:rPr>
              <a:t>Functional, accurate, and the whole of her vocabulary for it.</a:t>
            </a:r>
          </a:p>
        </p:txBody>
      </p:sp>
      <p:sp>
        <p:nvSpPr>
          <p:cNvPr id="8" name="TextBox 7"/>
          <p:cNvSpPr txBox="1"/>
          <p:nvPr/>
        </p:nvSpPr>
        <p:spPr>
          <a:xfrm>
            <a:off x="1466850" y="6172200"/>
            <a:ext cx="7067550" cy="781050"/>
          </a:xfrm>
          <a:prstGeom prst="rect">
            <a:avLst/>
          </a:prstGeom>
          <a:noFill/>
        </p:spPr>
        <p:txBody>
          <a:bodyPr wrap="square" lIns="0" rIns="0" tIns="0" bIns="0" anchor="t"/>
          <a:lstStyle/>
          <a:p>
            <a:pPr algn="l">
              <a:lnSpc>
                <a:spcPct val="106000"/>
              </a:lnSpc>
            </a:pPr>
            <a:r>
              <a:rPr sz="2100" b="0" i="0">
                <a:solidFill>
                  <a:srgbClr val="201914"/>
                </a:solidFill>
                <a:latin typeface="Arial"/>
              </a:rPr>
              <a:t>What she feels is helplessness — the child is ill, at night, and there is very little she can do.</a:t>
            </a:r>
          </a:p>
        </p:txBody>
      </p:sp>
      <p:sp>
        <p:nvSpPr>
          <p:cNvPr id="9" name="Rectangle 8"/>
          <p:cNvSpPr/>
          <p:nvPr/>
        </p:nvSpPr>
        <p:spPr>
          <a:xfrm>
            <a:off x="9334500" y="3629025"/>
            <a:ext cx="7905750" cy="43053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4010025"/>
            <a:ext cx="7067550" cy="352425"/>
          </a:xfrm>
          <a:prstGeom prst="rect">
            <a:avLst/>
          </a:prstGeom>
          <a:noFill/>
        </p:spPr>
        <p:txBody>
          <a:bodyPr wrap="square" lIns="0" rIns="0" tIns="0" bIns="0" anchor="t"/>
          <a:lstStyle/>
          <a:p>
            <a:pPr algn="l"/>
            <a:r>
              <a:rPr sz="2100" b="1" i="0" spc="180">
                <a:solidFill>
                  <a:srgbClr val="EF806F"/>
                </a:solidFill>
                <a:latin typeface="Arial"/>
              </a:rPr>
              <a:t>WHAT SHE DOES</a:t>
            </a:r>
          </a:p>
        </p:txBody>
      </p:sp>
      <p:sp>
        <p:nvSpPr>
          <p:cNvPr id="11" name="TextBox 10"/>
          <p:cNvSpPr txBox="1"/>
          <p:nvPr/>
        </p:nvSpPr>
        <p:spPr>
          <a:xfrm>
            <a:off x="9753600" y="4543425"/>
            <a:ext cx="7067550" cy="781050"/>
          </a:xfrm>
          <a:prstGeom prst="rect">
            <a:avLst/>
          </a:prstGeom>
          <a:noFill/>
        </p:spPr>
        <p:txBody>
          <a:bodyPr wrap="square" lIns="0" rIns="0" tIns="0" bIns="0" anchor="t"/>
          <a:lstStyle/>
          <a:p>
            <a:pPr algn="l">
              <a:lnSpc>
                <a:spcPct val="106000"/>
              </a:lnSpc>
            </a:pPr>
            <a:r>
              <a:rPr sz="2100" b="0" i="0">
                <a:solidFill>
                  <a:srgbClr val="F5F1E9"/>
                </a:solidFill>
                <a:latin typeface="Arial"/>
              </a:rPr>
              <a:t>Applies it by hand, slowly — chest, back, sometimes the soles of his feet.</a:t>
            </a:r>
          </a:p>
        </p:txBody>
      </p:sp>
      <p:sp>
        <p:nvSpPr>
          <p:cNvPr id="12" name="TextBox 11"/>
          <p:cNvSpPr txBox="1"/>
          <p:nvPr/>
        </p:nvSpPr>
        <p:spPr>
          <a:xfrm>
            <a:off x="9753600" y="5534025"/>
            <a:ext cx="7067550" cy="781050"/>
          </a:xfrm>
          <a:prstGeom prst="rect">
            <a:avLst/>
          </a:prstGeom>
          <a:noFill/>
        </p:spPr>
        <p:txBody>
          <a:bodyPr wrap="square" lIns="0" rIns="0" tIns="0" bIns="0" anchor="t"/>
          <a:lstStyle/>
          <a:p>
            <a:pPr algn="l">
              <a:lnSpc>
                <a:spcPct val="106000"/>
              </a:lnSpc>
            </a:pPr>
            <a:r>
              <a:rPr sz="2100" b="0" i="0">
                <a:solidFill>
                  <a:srgbClr val="F5F1E9"/>
                </a:solidFill>
                <a:latin typeface="Arial"/>
              </a:rPr>
              <a:t>Sitting on the edge of the bed, often long after his nose has actually cleared.</a:t>
            </a:r>
          </a:p>
        </p:txBody>
      </p:sp>
      <p:sp>
        <p:nvSpPr>
          <p:cNvPr id="13" name="TextBox 12"/>
          <p:cNvSpPr txBox="1"/>
          <p:nvPr/>
        </p:nvSpPr>
        <p:spPr>
          <a:xfrm>
            <a:off x="9753600" y="6524625"/>
            <a:ext cx="7067550" cy="781050"/>
          </a:xfrm>
          <a:prstGeom prst="rect">
            <a:avLst/>
          </a:prstGeom>
          <a:noFill/>
        </p:spPr>
        <p:txBody>
          <a:bodyPr wrap="square" lIns="0" rIns="0" tIns="0" bIns="0" anchor="t"/>
          <a:lstStyle/>
          <a:p>
            <a:pPr algn="l">
              <a:lnSpc>
                <a:spcPct val="106000"/>
              </a:lnSpc>
            </a:pPr>
            <a:r>
              <a:rPr sz="2100" b="0" i="0">
                <a:solidFill>
                  <a:srgbClr val="F5F1E9"/>
                </a:solidFill>
                <a:latin typeface="Arial"/>
              </a:rPr>
              <a:t>Replace it with an equally effective tablet and the product is destroyed.</a:t>
            </a:r>
          </a:p>
        </p:txBody>
      </p:sp>
      <p:sp>
        <p:nvSpPr>
          <p:cNvPr id="14" name="TextBox 13"/>
          <p:cNvSpPr txBox="1"/>
          <p:nvPr/>
        </p:nvSpPr>
        <p:spPr>
          <a:xfrm>
            <a:off x="1047750" y="8334375"/>
            <a:ext cx="16192500" cy="1266825"/>
          </a:xfrm>
          <a:prstGeom prst="rect">
            <a:avLst/>
          </a:prstGeom>
          <a:noFill/>
        </p:spPr>
        <p:txBody>
          <a:bodyPr wrap="square" lIns="0" rIns="0" tIns="0" bIns="0" anchor="t"/>
          <a:lstStyle/>
          <a:p>
            <a:pPr algn="l">
              <a:lnSpc>
                <a:spcPct val="114000"/>
              </a:lnSpc>
            </a:pPr>
            <a:r>
              <a:rPr sz="3300" b="0" i="0">
                <a:solidFill>
                  <a:srgbClr val="362C24"/>
                </a:solidFill>
                <a:latin typeface="Georgia"/>
              </a:rPr>
              <a:t>The application is a ritual of care performed by a helpless person — it converts a night of anxious waiting into an action she can take.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TWO CATEGORIES, ONE STRUCTURE</a:t>
            </a:r>
          </a:p>
        </p:txBody>
      </p:sp>
      <p:sp>
        <p:nvSpPr>
          <p:cNvPr id="3" name="TextBox 2"/>
          <p:cNvSpPr txBox="1"/>
          <p:nvPr/>
        </p:nvSpPr>
        <p:spPr>
          <a:xfrm>
            <a:off x="1047750" y="1504950"/>
            <a:ext cx="16192500" cy="2295525"/>
          </a:xfrm>
          <a:prstGeom prst="rect">
            <a:avLst/>
          </a:prstGeom>
          <a:noFill/>
        </p:spPr>
        <p:txBody>
          <a:bodyPr wrap="square" lIns="0" rIns="0" tIns="0" bIns="0" anchor="t"/>
          <a:lstStyle/>
          <a:p>
            <a:pPr algn="l">
              <a:lnSpc>
                <a:spcPct val="88600"/>
              </a:lnSpc>
            </a:pPr>
            <a:r>
              <a:rPr sz="5250" b="1" i="0" spc="-142">
                <a:solidFill>
                  <a:srgbClr val="201914"/>
                </a:solidFill>
                <a:latin typeface="Arial"/>
              </a:rPr>
              <a:t>A brand that listened only to Say would have built something respectable and much less valuable</a:t>
            </a:r>
          </a:p>
        </p:txBody>
      </p:sp>
      <p:sp>
        <p:nvSpPr>
          <p:cNvPr id="4" name="Rectangle 3"/>
          <p:cNvSpPr/>
          <p:nvPr/>
        </p:nvSpPr>
        <p:spPr>
          <a:xfrm>
            <a:off x="1047750" y="4238625"/>
            <a:ext cx="7905750" cy="36957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4619625"/>
            <a:ext cx="7067550" cy="352425"/>
          </a:xfrm>
          <a:prstGeom prst="rect">
            <a:avLst/>
          </a:prstGeom>
          <a:noFill/>
        </p:spPr>
        <p:txBody>
          <a:bodyPr wrap="square" lIns="0" rIns="0" tIns="0" bIns="0" anchor="t"/>
          <a:lstStyle/>
          <a:p>
            <a:pPr algn="l"/>
            <a:r>
              <a:rPr sz="2100" b="1" i="0" spc="180">
                <a:solidFill>
                  <a:srgbClr val="5E534A"/>
                </a:solidFill>
                <a:latin typeface="Arial"/>
              </a:rPr>
              <a:t>THE HEALTH DRINK</a:t>
            </a:r>
          </a:p>
        </p:txBody>
      </p:sp>
      <p:sp>
        <p:nvSpPr>
          <p:cNvPr id="6" name="TextBox 5"/>
          <p:cNvSpPr txBox="1"/>
          <p:nvPr/>
        </p:nvSpPr>
        <p:spPr>
          <a:xfrm>
            <a:off x="1466850" y="5153025"/>
            <a:ext cx="7067550" cy="381000"/>
          </a:xfrm>
          <a:prstGeom prst="rect">
            <a:avLst/>
          </a:prstGeom>
          <a:noFill/>
        </p:spPr>
        <p:txBody>
          <a:bodyPr wrap="square" lIns="0" rIns="0" tIns="0" bIns="0" anchor="t"/>
          <a:lstStyle/>
          <a:p>
            <a:pPr algn="l">
              <a:lnSpc>
                <a:spcPct val="106000"/>
              </a:lnSpc>
            </a:pPr>
            <a:r>
              <a:rPr sz="1800" b="0" i="0">
                <a:solidFill>
                  <a:srgbClr val="201914"/>
                </a:solidFill>
                <a:latin typeface="Arial"/>
              </a:rPr>
              <a:t>Says nutrition — measures height.</a:t>
            </a:r>
          </a:p>
        </p:txBody>
      </p:sp>
      <p:sp>
        <p:nvSpPr>
          <p:cNvPr id="7" name="TextBox 6"/>
          <p:cNvSpPr txBox="1"/>
          <p:nvPr/>
        </p:nvSpPr>
        <p:spPr>
          <a:xfrm>
            <a:off x="1466850" y="5743575"/>
            <a:ext cx="7067550" cy="685800"/>
          </a:xfrm>
          <a:prstGeom prst="rect">
            <a:avLst/>
          </a:prstGeom>
          <a:noFill/>
        </p:spPr>
        <p:txBody>
          <a:bodyPr wrap="square" lIns="0" rIns="0" tIns="0" bIns="0" anchor="t"/>
          <a:lstStyle/>
          <a:p>
            <a:pPr algn="l">
              <a:lnSpc>
                <a:spcPct val="106000"/>
              </a:lnSpc>
            </a:pPr>
            <a:r>
              <a:rPr sz="1800" b="0" i="0">
                <a:solidFill>
                  <a:srgbClr val="201914"/>
                </a:solidFill>
                <a:latin typeface="Arial"/>
              </a:rPr>
              <a:t>Built for Do: taller, stronger, sharper, and free height and weight measurement camps.</a:t>
            </a:r>
          </a:p>
        </p:txBody>
      </p:sp>
      <p:sp>
        <p:nvSpPr>
          <p:cNvPr id="8" name="TextBox 7"/>
          <p:cNvSpPr txBox="1"/>
          <p:nvPr/>
        </p:nvSpPr>
        <p:spPr>
          <a:xfrm>
            <a:off x="1466850" y="6638925"/>
            <a:ext cx="7067550" cy="685800"/>
          </a:xfrm>
          <a:prstGeom prst="rect">
            <a:avLst/>
          </a:prstGeom>
          <a:noFill/>
        </p:spPr>
        <p:txBody>
          <a:bodyPr wrap="square" lIns="0" rIns="0" tIns="0" bIns="0" anchor="t"/>
          <a:lstStyle/>
          <a:p>
            <a:pPr algn="l">
              <a:lnSpc>
                <a:spcPct val="106000"/>
              </a:lnSpc>
            </a:pPr>
            <a:r>
              <a:rPr sz="1800" b="0" i="0">
                <a:solidFill>
                  <a:srgbClr val="201914"/>
                </a:solidFill>
                <a:latin typeface="Arial"/>
              </a:rPr>
              <a:t>A Say-only brand builds a longer ingredient list and a claim about micronutrients.</a:t>
            </a:r>
          </a:p>
        </p:txBody>
      </p:sp>
      <p:sp>
        <p:nvSpPr>
          <p:cNvPr id="9" name="Rectangle 8"/>
          <p:cNvSpPr/>
          <p:nvPr/>
        </p:nvSpPr>
        <p:spPr>
          <a:xfrm>
            <a:off x="9334500" y="4238625"/>
            <a:ext cx="7905750" cy="3695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4619625"/>
            <a:ext cx="7067550" cy="352425"/>
          </a:xfrm>
          <a:prstGeom prst="rect">
            <a:avLst/>
          </a:prstGeom>
          <a:noFill/>
        </p:spPr>
        <p:txBody>
          <a:bodyPr wrap="square" lIns="0" rIns="0" tIns="0" bIns="0" anchor="t"/>
          <a:lstStyle/>
          <a:p>
            <a:pPr algn="l"/>
            <a:r>
              <a:rPr sz="2100" b="1" i="0" spc="180">
                <a:solidFill>
                  <a:srgbClr val="EF806F"/>
                </a:solidFill>
                <a:latin typeface="Arial"/>
              </a:rPr>
              <a:t>VICKS VAPORUB</a:t>
            </a:r>
          </a:p>
        </p:txBody>
      </p:sp>
      <p:sp>
        <p:nvSpPr>
          <p:cNvPr id="11" name="TextBox 10"/>
          <p:cNvSpPr txBox="1"/>
          <p:nvPr/>
        </p:nvSpPr>
        <p:spPr>
          <a:xfrm>
            <a:off x="9753600" y="5153025"/>
            <a:ext cx="7067550" cy="685800"/>
          </a:xfrm>
          <a:prstGeom prst="rect">
            <a:avLst/>
          </a:prstGeom>
          <a:noFill/>
        </p:spPr>
        <p:txBody>
          <a:bodyPr wrap="square" lIns="0" rIns="0" tIns="0" bIns="0" anchor="t"/>
          <a:lstStyle/>
          <a:p>
            <a:pPr algn="l">
              <a:lnSpc>
                <a:spcPct val="106000"/>
              </a:lnSpc>
            </a:pPr>
            <a:r>
              <a:rPr sz="1800" b="0" i="0">
                <a:solidFill>
                  <a:srgbClr val="F5F1E9"/>
                </a:solidFill>
                <a:latin typeface="Arial"/>
              </a:rPr>
              <a:t>Says decongestion — keeps applying past the point of decongestion.</a:t>
            </a:r>
          </a:p>
        </p:txBody>
      </p:sp>
      <p:sp>
        <p:nvSpPr>
          <p:cNvPr id="12" name="TextBox 11"/>
          <p:cNvSpPr txBox="1"/>
          <p:nvPr/>
        </p:nvSpPr>
        <p:spPr>
          <a:xfrm>
            <a:off x="9753600" y="6048375"/>
            <a:ext cx="7067550" cy="685800"/>
          </a:xfrm>
          <a:prstGeom prst="rect">
            <a:avLst/>
          </a:prstGeom>
          <a:noFill/>
        </p:spPr>
        <p:txBody>
          <a:bodyPr wrap="square" lIns="0" rIns="0" tIns="0" bIns="0" anchor="t"/>
          <a:lstStyle/>
          <a:p>
            <a:pPr algn="l">
              <a:lnSpc>
                <a:spcPct val="106000"/>
              </a:lnSpc>
            </a:pPr>
            <a:r>
              <a:rPr sz="1800" b="0" i="0">
                <a:solidFill>
                  <a:srgbClr val="F5F1E9"/>
                </a:solidFill>
                <a:latin typeface="Arial"/>
              </a:rPr>
              <a:t>Built for Do: a mother's touch, and a format that requires another person's hands.</a:t>
            </a:r>
          </a:p>
        </p:txBody>
      </p:sp>
      <p:sp>
        <p:nvSpPr>
          <p:cNvPr id="13" name="TextBox 12"/>
          <p:cNvSpPr txBox="1"/>
          <p:nvPr/>
        </p:nvSpPr>
        <p:spPr>
          <a:xfrm>
            <a:off x="9753600" y="6943725"/>
            <a:ext cx="7067550" cy="685800"/>
          </a:xfrm>
          <a:prstGeom prst="rect">
            <a:avLst/>
          </a:prstGeom>
          <a:noFill/>
        </p:spPr>
        <p:txBody>
          <a:bodyPr wrap="square" lIns="0" rIns="0" tIns="0" bIns="0" anchor="t"/>
          <a:lstStyle/>
          <a:p>
            <a:pPr algn="l">
              <a:lnSpc>
                <a:spcPct val="106000"/>
              </a:lnSpc>
            </a:pPr>
            <a:r>
              <a:rPr sz="1800" b="0" i="0">
                <a:solidFill>
                  <a:srgbClr val="F5F1E9"/>
                </a:solidFill>
                <a:latin typeface="Arial"/>
              </a:rPr>
              <a:t>A Say-only brand builds a faster spray — functionally better, and it destroys the ritual.</a:t>
            </a:r>
          </a:p>
        </p:txBody>
      </p:sp>
      <p:sp>
        <p:nvSpPr>
          <p:cNvPr id="14" name="TextBox 13"/>
          <p:cNvSpPr txBox="1"/>
          <p:nvPr/>
        </p:nvSpPr>
        <p:spPr>
          <a:xfrm>
            <a:off x="1047750" y="8334375"/>
            <a:ext cx="16192500" cy="1266825"/>
          </a:xfrm>
          <a:prstGeom prst="rect">
            <a:avLst/>
          </a:prstGeom>
          <a:noFill/>
        </p:spPr>
        <p:txBody>
          <a:bodyPr wrap="square" lIns="0" rIns="0" tIns="0" bIns="0" anchor="t"/>
          <a:lstStyle/>
          <a:p>
            <a:pPr algn="l">
              <a:lnSpc>
                <a:spcPct val="114000"/>
              </a:lnSpc>
            </a:pPr>
            <a:r>
              <a:rPr sz="3300" b="0" i="0">
                <a:solidFill>
                  <a:srgbClr val="362C24"/>
                </a:solidFill>
                <a:latin typeface="Georgia"/>
              </a:rPr>
              <a:t>Not because customers lie. Because the Say quadrant is the only one they have words for.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TRY THESE YOURSELF · BE HONEST</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What they say decides it — and what actually decides it</a:t>
            </a:r>
          </a:p>
        </p:txBody>
      </p:sp>
      <p:sp>
        <p:nvSpPr>
          <p:cNvPr id="4" name="Rectangle 3"/>
          <p:cNvSpPr/>
          <p:nvPr/>
        </p:nvSpPr>
        <p:spPr>
          <a:xfrm>
            <a:off x="1047750" y="3629025"/>
            <a:ext cx="3848100" cy="498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90650" y="3971925"/>
            <a:ext cx="3162300" cy="1257300"/>
          </a:xfrm>
          <a:prstGeom prst="rect">
            <a:avLst/>
          </a:prstGeom>
          <a:noFill/>
        </p:spPr>
        <p:txBody>
          <a:bodyPr wrap="square" lIns="0" rIns="0" tIns="0" bIns="0" anchor="t"/>
          <a:lstStyle/>
          <a:p>
            <a:pPr algn="l"/>
            <a:r>
              <a:rPr sz="3750" b="1" i="0">
                <a:solidFill>
                  <a:srgbClr val="201914"/>
                </a:solidFill>
                <a:latin typeface="Arial"/>
              </a:rPr>
              <a:t>Choosing a restaurant</a:t>
            </a:r>
          </a:p>
        </p:txBody>
      </p:sp>
      <p:sp>
        <p:nvSpPr>
          <p:cNvPr id="6" name="TextBox 5"/>
          <p:cNvSpPr txBox="1"/>
          <p:nvPr/>
        </p:nvSpPr>
        <p:spPr>
          <a:xfrm>
            <a:off x="1390650" y="5438775"/>
            <a:ext cx="3162300" cy="923925"/>
          </a:xfrm>
          <a:prstGeom prst="rect">
            <a:avLst/>
          </a:prstGeom>
          <a:noFill/>
        </p:spPr>
        <p:txBody>
          <a:bodyPr wrap="square" lIns="0" rIns="0" tIns="0" bIns="0" anchor="t"/>
          <a:lstStyle/>
          <a:p>
            <a:pPr algn="l">
              <a:lnSpc>
                <a:spcPct val="105000"/>
              </a:lnSpc>
            </a:pPr>
            <a:r>
              <a:rPr sz="2550" b="0" i="0">
                <a:solidFill>
                  <a:srgbClr val="50453D"/>
                </a:solidFill>
                <a:latin typeface="Arial"/>
              </a:rPr>
              <a:t>They say: food quality and price.</a:t>
            </a:r>
          </a:p>
        </p:txBody>
      </p:sp>
      <p:sp>
        <p:nvSpPr>
          <p:cNvPr id="7" name="Rectangle 6"/>
          <p:cNvSpPr/>
          <p:nvPr/>
        </p:nvSpPr>
        <p:spPr>
          <a:xfrm>
            <a:off x="5162550" y="3629025"/>
            <a:ext cx="3848100" cy="498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05450" y="3971925"/>
            <a:ext cx="3162300" cy="1257300"/>
          </a:xfrm>
          <a:prstGeom prst="rect">
            <a:avLst/>
          </a:prstGeom>
          <a:noFill/>
        </p:spPr>
        <p:txBody>
          <a:bodyPr wrap="square" lIns="0" rIns="0" tIns="0" bIns="0" anchor="t"/>
          <a:lstStyle/>
          <a:p>
            <a:pPr algn="l"/>
            <a:r>
              <a:rPr sz="3750" b="1" i="0">
                <a:solidFill>
                  <a:srgbClr val="201914"/>
                </a:solidFill>
                <a:latin typeface="Arial"/>
              </a:rPr>
              <a:t>Revising for an exam</a:t>
            </a:r>
          </a:p>
        </p:txBody>
      </p:sp>
      <p:sp>
        <p:nvSpPr>
          <p:cNvPr id="9" name="TextBox 8"/>
          <p:cNvSpPr txBox="1"/>
          <p:nvPr/>
        </p:nvSpPr>
        <p:spPr>
          <a:xfrm>
            <a:off x="5505450" y="5438775"/>
            <a:ext cx="3162300" cy="923925"/>
          </a:xfrm>
          <a:prstGeom prst="rect">
            <a:avLst/>
          </a:prstGeom>
          <a:noFill/>
        </p:spPr>
        <p:txBody>
          <a:bodyPr wrap="square" lIns="0" rIns="0" tIns="0" bIns="0" anchor="t"/>
          <a:lstStyle/>
          <a:p>
            <a:pPr algn="l">
              <a:lnSpc>
                <a:spcPct val="105000"/>
              </a:lnSpc>
            </a:pPr>
            <a:r>
              <a:rPr sz="2550" b="0" i="0">
                <a:solidFill>
                  <a:srgbClr val="50453D"/>
                </a:solidFill>
                <a:latin typeface="Arial"/>
              </a:rPr>
              <a:t>They say: a written study schedule.</a:t>
            </a:r>
          </a:p>
        </p:txBody>
      </p:sp>
      <p:sp>
        <p:nvSpPr>
          <p:cNvPr id="10" name="Rectangle 9"/>
          <p:cNvSpPr/>
          <p:nvPr/>
        </p:nvSpPr>
        <p:spPr>
          <a:xfrm>
            <a:off x="9277350" y="3629025"/>
            <a:ext cx="3848100" cy="498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20250" y="3971925"/>
            <a:ext cx="3162300" cy="1257300"/>
          </a:xfrm>
          <a:prstGeom prst="rect">
            <a:avLst/>
          </a:prstGeom>
          <a:noFill/>
        </p:spPr>
        <p:txBody>
          <a:bodyPr wrap="square" lIns="0" rIns="0" tIns="0" bIns="0" anchor="t"/>
          <a:lstStyle/>
          <a:p>
            <a:pPr algn="l"/>
            <a:r>
              <a:rPr sz="3750" b="1" i="0">
                <a:solidFill>
                  <a:srgbClr val="201914"/>
                </a:solidFill>
                <a:latin typeface="Arial"/>
              </a:rPr>
              <a:t>Buying earphones</a:t>
            </a:r>
          </a:p>
        </p:txBody>
      </p:sp>
      <p:sp>
        <p:nvSpPr>
          <p:cNvPr id="12" name="TextBox 11"/>
          <p:cNvSpPr txBox="1"/>
          <p:nvPr/>
        </p:nvSpPr>
        <p:spPr>
          <a:xfrm>
            <a:off x="9620250" y="5438775"/>
            <a:ext cx="3162300" cy="923925"/>
          </a:xfrm>
          <a:prstGeom prst="rect">
            <a:avLst/>
          </a:prstGeom>
          <a:noFill/>
        </p:spPr>
        <p:txBody>
          <a:bodyPr wrap="square" lIns="0" rIns="0" tIns="0" bIns="0" anchor="t"/>
          <a:lstStyle/>
          <a:p>
            <a:pPr algn="l">
              <a:lnSpc>
                <a:spcPct val="105000"/>
              </a:lnSpc>
            </a:pPr>
            <a:r>
              <a:rPr sz="2550" b="0" i="0">
                <a:solidFill>
                  <a:srgbClr val="50453D"/>
                </a:solidFill>
                <a:latin typeface="Arial"/>
              </a:rPr>
              <a:t>They say: sound quality.</a:t>
            </a:r>
          </a:p>
        </p:txBody>
      </p:sp>
      <p:sp>
        <p:nvSpPr>
          <p:cNvPr id="13" name="Rectangle 12"/>
          <p:cNvSpPr/>
          <p:nvPr/>
        </p:nvSpPr>
        <p:spPr>
          <a:xfrm>
            <a:off x="13392150" y="3629025"/>
            <a:ext cx="3848100" cy="4981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35050" y="3971925"/>
            <a:ext cx="3162300" cy="1219200"/>
          </a:xfrm>
          <a:prstGeom prst="rect">
            <a:avLst/>
          </a:prstGeom>
          <a:noFill/>
        </p:spPr>
        <p:txBody>
          <a:bodyPr wrap="square" lIns="0" rIns="0" tIns="0" bIns="0" anchor="t"/>
          <a:lstStyle/>
          <a:p>
            <a:pPr algn="l"/>
            <a:r>
              <a:rPr sz="3600" b="1" i="0">
                <a:solidFill>
                  <a:srgbClr val="201914"/>
                </a:solidFill>
                <a:latin typeface="Arial"/>
              </a:rPr>
              <a:t>A health drink for a child</a:t>
            </a:r>
          </a:p>
        </p:txBody>
      </p:sp>
      <p:sp>
        <p:nvSpPr>
          <p:cNvPr id="15" name="TextBox 14"/>
          <p:cNvSpPr txBox="1"/>
          <p:nvPr/>
        </p:nvSpPr>
        <p:spPr>
          <a:xfrm>
            <a:off x="13735050" y="5400675"/>
            <a:ext cx="3162300" cy="504825"/>
          </a:xfrm>
          <a:prstGeom prst="rect">
            <a:avLst/>
          </a:prstGeom>
          <a:noFill/>
        </p:spPr>
        <p:txBody>
          <a:bodyPr wrap="square" lIns="0" rIns="0" tIns="0" bIns="0" anchor="t"/>
          <a:lstStyle/>
          <a:p>
            <a:pPr algn="l">
              <a:lnSpc>
                <a:spcPct val="105000"/>
              </a:lnSpc>
            </a:pPr>
            <a:r>
              <a:rPr sz="2550" b="0" i="0">
                <a:solidFill>
                  <a:srgbClr val="50453D"/>
                </a:solidFill>
                <a:latin typeface="Arial"/>
              </a:rPr>
              <a:t>She says: nutrition.</a:t>
            </a:r>
          </a:p>
        </p:txBody>
      </p:sp>
      <p:sp>
        <p:nvSpPr>
          <p:cNvPr id="16" name="TextBox 15"/>
          <p:cNvSpPr txBox="1"/>
          <p:nvPr/>
        </p:nvSpPr>
        <p:spPr>
          <a:xfrm>
            <a:off x="1047750" y="8934450"/>
            <a:ext cx="16192500" cy="647700"/>
          </a:xfrm>
          <a:prstGeom prst="rect">
            <a:avLst/>
          </a:prstGeom>
          <a:noFill/>
        </p:spPr>
        <p:txBody>
          <a:bodyPr wrap="square" lIns="0" rIns="0" tIns="0" bIns="0" anchor="t"/>
          <a:lstStyle/>
          <a:p>
            <a:pPr algn="l">
              <a:lnSpc>
                <a:spcPct val="114000"/>
              </a:lnSpc>
            </a:pPr>
            <a:r>
              <a:rPr sz="3150" b="0" i="0">
                <a:solidFill>
                  <a:srgbClr val="433830"/>
                </a:solidFill>
                <a:latin typeface="Georgia"/>
              </a:rPr>
              <a:t>Answer the first two for yourself, honestly. Then write what actually decided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ANSWERS</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What they say decides it — and what actually decides it</a:t>
            </a:r>
          </a:p>
        </p:txBody>
      </p:sp>
      <p:sp>
        <p:nvSpPr>
          <p:cNvPr id="4" name="Rectangle 3"/>
          <p:cNvSpPr/>
          <p:nvPr/>
        </p:nvSpPr>
        <p:spPr>
          <a:xfrm>
            <a:off x="10477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90650" y="3971925"/>
            <a:ext cx="3162300" cy="1123950"/>
          </a:xfrm>
          <a:prstGeom prst="rect">
            <a:avLst/>
          </a:prstGeom>
          <a:noFill/>
        </p:spPr>
        <p:txBody>
          <a:bodyPr wrap="square" lIns="0" rIns="0" tIns="0" bIns="0" anchor="t"/>
          <a:lstStyle/>
          <a:p>
            <a:pPr algn="l"/>
            <a:r>
              <a:rPr sz="3300" b="1" i="0">
                <a:solidFill>
                  <a:srgbClr val="201914"/>
                </a:solidFill>
                <a:latin typeface="Arial"/>
              </a:rPr>
              <a:t>Choosing a restaurant</a:t>
            </a:r>
          </a:p>
        </p:txBody>
      </p:sp>
      <p:sp>
        <p:nvSpPr>
          <p:cNvPr id="6" name="TextBox 5"/>
          <p:cNvSpPr txBox="1"/>
          <p:nvPr/>
        </p:nvSpPr>
        <p:spPr>
          <a:xfrm>
            <a:off x="1390650" y="5305425"/>
            <a:ext cx="3162300" cy="828675"/>
          </a:xfrm>
          <a:prstGeom prst="rect">
            <a:avLst/>
          </a:prstGeom>
          <a:noFill/>
        </p:spPr>
        <p:txBody>
          <a:bodyPr wrap="square" lIns="0" rIns="0" tIns="0" bIns="0" anchor="t"/>
          <a:lstStyle/>
          <a:p>
            <a:pPr algn="l">
              <a:lnSpc>
                <a:spcPct val="105000"/>
              </a:lnSpc>
            </a:pPr>
            <a:r>
              <a:rPr sz="2250" b="0" i="0">
                <a:solidFill>
                  <a:srgbClr val="50453D"/>
                </a:solidFill>
                <a:latin typeface="Arial"/>
              </a:rPr>
              <a:t>They say: food quality and price.</a:t>
            </a:r>
          </a:p>
        </p:txBody>
      </p:sp>
      <p:sp>
        <p:nvSpPr>
          <p:cNvPr id="7" name="Rectangle 6"/>
          <p:cNvSpPr/>
          <p:nvPr/>
        </p:nvSpPr>
        <p:spPr>
          <a:xfrm>
            <a:off x="1047750" y="6867525"/>
            <a:ext cx="3848100" cy="27717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90650" y="7172325"/>
            <a:ext cx="3162300" cy="904875"/>
          </a:xfrm>
          <a:prstGeom prst="rect">
            <a:avLst/>
          </a:prstGeom>
          <a:noFill/>
        </p:spPr>
        <p:txBody>
          <a:bodyPr wrap="square" lIns="0" rIns="0" tIns="0" bIns="0" anchor="t"/>
          <a:lstStyle/>
          <a:p>
            <a:pPr algn="l">
              <a:lnSpc>
                <a:spcPct val="102000"/>
              </a:lnSpc>
            </a:pPr>
            <a:r>
              <a:rPr sz="2550" b="1" i="0">
                <a:solidFill>
                  <a:srgbClr val="F5F1E9"/>
                </a:solidFill>
                <a:latin typeface="Arial"/>
              </a:rPr>
              <a:t>Photographs and ratings</a:t>
            </a:r>
          </a:p>
        </p:txBody>
      </p:sp>
      <p:sp>
        <p:nvSpPr>
          <p:cNvPr id="9" name="TextBox 8"/>
          <p:cNvSpPr txBox="1"/>
          <p:nvPr/>
        </p:nvSpPr>
        <p:spPr>
          <a:xfrm>
            <a:off x="1390650" y="8210550"/>
            <a:ext cx="3162300" cy="1123950"/>
          </a:xfrm>
          <a:prstGeom prst="rect">
            <a:avLst/>
          </a:prstGeom>
          <a:noFill/>
        </p:spPr>
        <p:txBody>
          <a:bodyPr wrap="square" lIns="0" rIns="0" tIns="0" bIns="0" anchor="t"/>
          <a:lstStyle/>
          <a:p>
            <a:pPr algn="l">
              <a:lnSpc>
                <a:spcPct val="105000"/>
              </a:lnSpc>
            </a:pPr>
            <a:r>
              <a:rPr sz="2100" b="0" i="0">
                <a:solidFill>
                  <a:srgbClr val="C8BBB1"/>
                </a:solidFill>
                <a:latin typeface="Arial"/>
              </a:rPr>
              <a:t>Delivery time, and what a friend posted. Almost none of it assesses food.</a:t>
            </a:r>
          </a:p>
        </p:txBody>
      </p:sp>
      <p:sp>
        <p:nvSpPr>
          <p:cNvPr id="10" name="Rectangle 9"/>
          <p:cNvSpPr/>
          <p:nvPr/>
        </p:nvSpPr>
        <p:spPr>
          <a:xfrm>
            <a:off x="51625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05450" y="3971925"/>
            <a:ext cx="3162300" cy="1123950"/>
          </a:xfrm>
          <a:prstGeom prst="rect">
            <a:avLst/>
          </a:prstGeom>
          <a:noFill/>
        </p:spPr>
        <p:txBody>
          <a:bodyPr wrap="square" lIns="0" rIns="0" tIns="0" bIns="0" anchor="t"/>
          <a:lstStyle/>
          <a:p>
            <a:pPr algn="l"/>
            <a:r>
              <a:rPr sz="3300" b="1" i="0">
                <a:solidFill>
                  <a:srgbClr val="201914"/>
                </a:solidFill>
                <a:latin typeface="Arial"/>
              </a:rPr>
              <a:t>Revising for an exam</a:t>
            </a:r>
          </a:p>
        </p:txBody>
      </p:sp>
      <p:sp>
        <p:nvSpPr>
          <p:cNvPr id="12" name="TextBox 11"/>
          <p:cNvSpPr txBox="1"/>
          <p:nvPr/>
        </p:nvSpPr>
        <p:spPr>
          <a:xfrm>
            <a:off x="5505450" y="5305425"/>
            <a:ext cx="3162300" cy="828675"/>
          </a:xfrm>
          <a:prstGeom prst="rect">
            <a:avLst/>
          </a:prstGeom>
          <a:noFill/>
        </p:spPr>
        <p:txBody>
          <a:bodyPr wrap="square" lIns="0" rIns="0" tIns="0" bIns="0" anchor="t"/>
          <a:lstStyle/>
          <a:p>
            <a:pPr algn="l">
              <a:lnSpc>
                <a:spcPct val="105000"/>
              </a:lnSpc>
            </a:pPr>
            <a:r>
              <a:rPr sz="2250" b="0" i="0">
                <a:solidFill>
                  <a:srgbClr val="50453D"/>
                </a:solidFill>
                <a:latin typeface="Arial"/>
              </a:rPr>
              <a:t>They say: a written study schedule.</a:t>
            </a:r>
          </a:p>
        </p:txBody>
      </p:sp>
      <p:sp>
        <p:nvSpPr>
          <p:cNvPr id="13" name="Rectangle 12"/>
          <p:cNvSpPr/>
          <p:nvPr/>
        </p:nvSpPr>
        <p:spPr>
          <a:xfrm>
            <a:off x="5162550" y="7277100"/>
            <a:ext cx="3848100" cy="23622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05450" y="7581900"/>
            <a:ext cx="3162300" cy="495300"/>
          </a:xfrm>
          <a:prstGeom prst="rect">
            <a:avLst/>
          </a:prstGeom>
          <a:noFill/>
        </p:spPr>
        <p:txBody>
          <a:bodyPr wrap="square" lIns="0" rIns="0" tIns="0" bIns="0" anchor="t"/>
          <a:lstStyle/>
          <a:p>
            <a:pPr algn="l">
              <a:lnSpc>
                <a:spcPct val="102000"/>
              </a:lnSpc>
            </a:pPr>
            <a:r>
              <a:rPr sz="2550" b="1" i="0">
                <a:solidFill>
                  <a:srgbClr val="FCF8F1"/>
                </a:solidFill>
                <a:latin typeface="Arial"/>
              </a:rPr>
              <a:t>Panic bursts</a:t>
            </a:r>
          </a:p>
        </p:txBody>
      </p:sp>
      <p:sp>
        <p:nvSpPr>
          <p:cNvPr id="15" name="TextBox 14"/>
          <p:cNvSpPr txBox="1"/>
          <p:nvPr/>
        </p:nvSpPr>
        <p:spPr>
          <a:xfrm>
            <a:off x="5505450" y="8210550"/>
            <a:ext cx="3162300" cy="1123950"/>
          </a:xfrm>
          <a:prstGeom prst="rect">
            <a:avLst/>
          </a:prstGeom>
          <a:noFill/>
        </p:spPr>
        <p:txBody>
          <a:bodyPr wrap="square" lIns="0" rIns="0" tIns="0" bIns="0" anchor="t"/>
          <a:lstStyle/>
          <a:p>
            <a:pPr algn="l">
              <a:lnSpc>
                <a:spcPct val="105000"/>
              </a:lnSpc>
            </a:pPr>
            <a:r>
              <a:rPr sz="2100" b="0" i="0">
                <a:solidFill>
                  <a:srgbClr val="FCF8F1"/>
                </a:solidFill>
                <a:latin typeface="Arial"/>
              </a:rPr>
              <a:t>The schedule was written once in January and never reopened.</a:t>
            </a:r>
          </a:p>
        </p:txBody>
      </p:sp>
      <p:sp>
        <p:nvSpPr>
          <p:cNvPr id="16" name="Rectangle 15"/>
          <p:cNvSpPr/>
          <p:nvPr/>
        </p:nvSpPr>
        <p:spPr>
          <a:xfrm>
            <a:off x="92773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20250" y="3971925"/>
            <a:ext cx="3162300" cy="1123950"/>
          </a:xfrm>
          <a:prstGeom prst="rect">
            <a:avLst/>
          </a:prstGeom>
          <a:noFill/>
        </p:spPr>
        <p:txBody>
          <a:bodyPr wrap="square" lIns="0" rIns="0" tIns="0" bIns="0" anchor="t"/>
          <a:lstStyle/>
          <a:p>
            <a:pPr algn="l"/>
            <a:r>
              <a:rPr sz="3300" b="1" i="0">
                <a:solidFill>
                  <a:srgbClr val="201914"/>
                </a:solidFill>
                <a:latin typeface="Arial"/>
              </a:rPr>
              <a:t>Buying earphones</a:t>
            </a:r>
          </a:p>
        </p:txBody>
      </p:sp>
      <p:sp>
        <p:nvSpPr>
          <p:cNvPr id="18" name="TextBox 17"/>
          <p:cNvSpPr txBox="1"/>
          <p:nvPr/>
        </p:nvSpPr>
        <p:spPr>
          <a:xfrm>
            <a:off x="9620250" y="5305425"/>
            <a:ext cx="3162300" cy="828675"/>
          </a:xfrm>
          <a:prstGeom prst="rect">
            <a:avLst/>
          </a:prstGeom>
          <a:noFill/>
        </p:spPr>
        <p:txBody>
          <a:bodyPr wrap="square" lIns="0" rIns="0" tIns="0" bIns="0" anchor="t"/>
          <a:lstStyle/>
          <a:p>
            <a:pPr algn="l">
              <a:lnSpc>
                <a:spcPct val="105000"/>
              </a:lnSpc>
            </a:pPr>
            <a:r>
              <a:rPr sz="2250" b="0" i="0">
                <a:solidFill>
                  <a:srgbClr val="50453D"/>
                </a:solidFill>
                <a:latin typeface="Arial"/>
              </a:rPr>
              <a:t>They say: sound quality.</a:t>
            </a:r>
          </a:p>
        </p:txBody>
      </p:sp>
      <p:sp>
        <p:nvSpPr>
          <p:cNvPr id="19" name="Rectangle 18"/>
          <p:cNvSpPr/>
          <p:nvPr/>
        </p:nvSpPr>
        <p:spPr>
          <a:xfrm>
            <a:off x="9277350" y="6867525"/>
            <a:ext cx="3848100" cy="27717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0250" y="7172325"/>
            <a:ext cx="3162300" cy="904875"/>
          </a:xfrm>
          <a:prstGeom prst="rect">
            <a:avLst/>
          </a:prstGeom>
          <a:noFill/>
        </p:spPr>
        <p:txBody>
          <a:bodyPr wrap="square" lIns="0" rIns="0" tIns="0" bIns="0" anchor="t"/>
          <a:lstStyle/>
          <a:p>
            <a:pPr algn="l">
              <a:lnSpc>
                <a:spcPct val="102000"/>
              </a:lnSpc>
            </a:pPr>
            <a:r>
              <a:rPr sz="2550" b="1" i="0">
                <a:solidFill>
                  <a:srgbClr val="F5F1E9"/>
                </a:solidFill>
                <a:latin typeface="Arial"/>
              </a:rPr>
              <a:t>Looks and breakage</a:t>
            </a:r>
          </a:p>
        </p:txBody>
      </p:sp>
      <p:sp>
        <p:nvSpPr>
          <p:cNvPr id="21" name="TextBox 20"/>
          <p:cNvSpPr txBox="1"/>
          <p:nvPr/>
        </p:nvSpPr>
        <p:spPr>
          <a:xfrm>
            <a:off x="9620250" y="8210550"/>
            <a:ext cx="3162300" cy="1123950"/>
          </a:xfrm>
          <a:prstGeom prst="rect">
            <a:avLst/>
          </a:prstGeom>
          <a:noFill/>
        </p:spPr>
        <p:txBody>
          <a:bodyPr wrap="square" lIns="0" rIns="0" tIns="0" bIns="0" anchor="t"/>
          <a:lstStyle/>
          <a:p>
            <a:pPr algn="l">
              <a:lnSpc>
                <a:spcPct val="105000"/>
              </a:lnSpc>
            </a:pPr>
            <a:r>
              <a:rPr sz="2100" b="0" i="0">
                <a:solidFill>
                  <a:srgbClr val="C8BBB1"/>
                </a:solidFill>
                <a:latin typeface="Arial"/>
              </a:rPr>
              <a:t>How they look in the ear, and how often the last pair failed.</a:t>
            </a:r>
          </a:p>
        </p:txBody>
      </p:sp>
      <p:sp>
        <p:nvSpPr>
          <p:cNvPr id="22" name="Rectangle 21"/>
          <p:cNvSpPr/>
          <p:nvPr/>
        </p:nvSpPr>
        <p:spPr>
          <a:xfrm>
            <a:off x="13392150" y="3629025"/>
            <a:ext cx="3848100" cy="60102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35050" y="3971925"/>
            <a:ext cx="3162300" cy="1123950"/>
          </a:xfrm>
          <a:prstGeom prst="rect">
            <a:avLst/>
          </a:prstGeom>
          <a:noFill/>
        </p:spPr>
        <p:txBody>
          <a:bodyPr wrap="square" lIns="0" rIns="0" tIns="0" bIns="0" anchor="t"/>
          <a:lstStyle/>
          <a:p>
            <a:pPr algn="l"/>
            <a:r>
              <a:rPr sz="3300" b="1" i="0">
                <a:solidFill>
                  <a:srgbClr val="201914"/>
                </a:solidFill>
                <a:latin typeface="Arial"/>
              </a:rPr>
              <a:t>A health drink for a child</a:t>
            </a:r>
          </a:p>
        </p:txBody>
      </p:sp>
      <p:sp>
        <p:nvSpPr>
          <p:cNvPr id="24" name="TextBox 23"/>
          <p:cNvSpPr txBox="1"/>
          <p:nvPr/>
        </p:nvSpPr>
        <p:spPr>
          <a:xfrm>
            <a:off x="13735050" y="5305425"/>
            <a:ext cx="3162300" cy="457200"/>
          </a:xfrm>
          <a:prstGeom prst="rect">
            <a:avLst/>
          </a:prstGeom>
          <a:noFill/>
        </p:spPr>
        <p:txBody>
          <a:bodyPr wrap="square" lIns="0" rIns="0" tIns="0" bIns="0" anchor="t"/>
          <a:lstStyle/>
          <a:p>
            <a:pPr algn="l">
              <a:lnSpc>
                <a:spcPct val="105000"/>
              </a:lnSpc>
            </a:pPr>
            <a:r>
              <a:rPr sz="2250" b="0" i="0">
                <a:solidFill>
                  <a:srgbClr val="50453D"/>
                </a:solidFill>
                <a:latin typeface="Arial"/>
              </a:rPr>
              <a:t>She says: nutrition.</a:t>
            </a:r>
          </a:p>
        </p:txBody>
      </p:sp>
      <p:sp>
        <p:nvSpPr>
          <p:cNvPr id="25" name="Rectangle 24"/>
          <p:cNvSpPr/>
          <p:nvPr/>
        </p:nvSpPr>
        <p:spPr>
          <a:xfrm>
            <a:off x="13392150" y="6867525"/>
            <a:ext cx="3848100" cy="27717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35050" y="7172325"/>
            <a:ext cx="3162300" cy="904875"/>
          </a:xfrm>
          <a:prstGeom prst="rect">
            <a:avLst/>
          </a:prstGeom>
          <a:noFill/>
        </p:spPr>
        <p:txBody>
          <a:bodyPr wrap="square" lIns="0" rIns="0" tIns="0" bIns="0" anchor="t"/>
          <a:lstStyle/>
          <a:p>
            <a:pPr algn="l">
              <a:lnSpc>
                <a:spcPct val="102000"/>
              </a:lnSpc>
            </a:pPr>
            <a:r>
              <a:rPr sz="2550" b="1" i="0">
                <a:solidFill>
                  <a:srgbClr val="FCF8F1"/>
                </a:solidFill>
                <a:latin typeface="Arial"/>
              </a:rPr>
              <a:t>Height and the circle</a:t>
            </a:r>
          </a:p>
        </p:txBody>
      </p:sp>
      <p:sp>
        <p:nvSpPr>
          <p:cNvPr id="27" name="TextBox 26"/>
          <p:cNvSpPr txBox="1"/>
          <p:nvPr/>
        </p:nvSpPr>
        <p:spPr>
          <a:xfrm>
            <a:off x="13735050" y="8210550"/>
            <a:ext cx="3162300" cy="1123950"/>
          </a:xfrm>
          <a:prstGeom prst="rect">
            <a:avLst/>
          </a:prstGeom>
          <a:noFill/>
        </p:spPr>
        <p:txBody>
          <a:bodyPr wrap="square" lIns="0" rIns="0" tIns="0" bIns="0" anchor="t"/>
          <a:lstStyle/>
          <a:p>
            <a:pPr algn="l">
              <a:lnSpc>
                <a:spcPct val="105000"/>
              </a:lnSpc>
            </a:pPr>
            <a:r>
              <a:rPr sz="2100" b="0" i="0">
                <a:solidFill>
                  <a:srgbClr val="FCF8F1"/>
                </a:solidFill>
                <a:latin typeface="Arial"/>
              </a:rPr>
              <a:t>Comparison with cousins, and what her sister-in-law buys.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4</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Anxiety is not deficiency</a:t>
            </a:r>
          </a:p>
        </p:txBody>
      </p:sp>
      <p:sp>
        <p:nvSpPr>
          <p:cNvPr id="4" name="Rectangle 3"/>
          <p:cNvSpPr/>
          <p:nvPr/>
        </p:nvSpPr>
        <p:spPr>
          <a:xfrm>
            <a:off x="1047750" y="2838450"/>
            <a:ext cx="7905750" cy="4219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19450"/>
            <a:ext cx="7067550" cy="352425"/>
          </a:xfrm>
          <a:prstGeom prst="rect">
            <a:avLst/>
          </a:prstGeom>
          <a:noFill/>
        </p:spPr>
        <p:txBody>
          <a:bodyPr wrap="square" lIns="0" rIns="0" tIns="0" bIns="0" anchor="t"/>
          <a:lstStyle/>
          <a:p>
            <a:pPr algn="l"/>
            <a:r>
              <a:rPr sz="2100" b="1" i="0" spc="180">
                <a:solidFill>
                  <a:srgbClr val="5E534A"/>
                </a:solidFill>
                <a:latin typeface="Arial"/>
              </a:rPr>
              <a:t>THE DEFICIENCY MESSAGE</a:t>
            </a:r>
          </a:p>
        </p:txBody>
      </p:sp>
      <p:sp>
        <p:nvSpPr>
          <p:cNvPr id="6" name="TextBox 5"/>
          <p:cNvSpPr txBox="1"/>
          <p:nvPr/>
        </p:nvSpPr>
        <p:spPr>
          <a:xfrm>
            <a:off x="1466850" y="3752850"/>
            <a:ext cx="7067550" cy="485775"/>
          </a:xfrm>
          <a:prstGeom prst="rect">
            <a:avLst/>
          </a:prstGeom>
          <a:noFill/>
        </p:spPr>
        <p:txBody>
          <a:bodyPr wrap="square" lIns="0" rIns="0" tIns="0" bIns="0" anchor="t"/>
          <a:lstStyle/>
          <a:p>
            <a:pPr algn="l">
              <a:lnSpc>
                <a:spcPct val="106000"/>
              </a:lnSpc>
            </a:pPr>
            <a:r>
              <a:rPr sz="2400" b="0" i="0">
                <a:solidFill>
                  <a:srgbClr val="201914"/>
                </a:solidFill>
                <a:latin typeface="Arial"/>
              </a:rPr>
              <a:t>‘Your child is behind.’</a:t>
            </a:r>
          </a:p>
        </p:txBody>
      </p:sp>
      <p:sp>
        <p:nvSpPr>
          <p:cNvPr id="7" name="TextBox 6"/>
          <p:cNvSpPr txBox="1"/>
          <p:nvPr/>
        </p:nvSpPr>
        <p:spPr>
          <a:xfrm>
            <a:off x="1466850" y="4448175"/>
            <a:ext cx="7067550" cy="885825"/>
          </a:xfrm>
          <a:prstGeom prst="rect">
            <a:avLst/>
          </a:prstGeom>
          <a:noFill/>
        </p:spPr>
        <p:txBody>
          <a:bodyPr wrap="square" lIns="0" rIns="0" tIns="0" bIns="0" anchor="t"/>
          <a:lstStyle/>
          <a:p>
            <a:pPr algn="l">
              <a:lnSpc>
                <a:spcPct val="106000"/>
              </a:lnSpc>
            </a:pPr>
            <a:r>
              <a:rPr sz="2400" b="0" i="0">
                <a:solidFill>
                  <a:srgbClr val="201914"/>
                </a:solidFill>
                <a:latin typeface="Arial"/>
              </a:rPr>
              <a:t>Triggers shame — and buying the product becomes an admission.</a:t>
            </a:r>
          </a:p>
        </p:txBody>
      </p:sp>
      <p:sp>
        <p:nvSpPr>
          <p:cNvPr id="8" name="TextBox 7"/>
          <p:cNvSpPr txBox="1"/>
          <p:nvPr/>
        </p:nvSpPr>
        <p:spPr>
          <a:xfrm>
            <a:off x="1466850" y="5543550"/>
            <a:ext cx="7067550" cy="485775"/>
          </a:xfrm>
          <a:prstGeom prst="rect">
            <a:avLst/>
          </a:prstGeom>
          <a:noFill/>
        </p:spPr>
        <p:txBody>
          <a:bodyPr wrap="square" lIns="0" rIns="0" tIns="0" bIns="0" anchor="t"/>
          <a:lstStyle/>
          <a:p>
            <a:pPr algn="l">
              <a:lnSpc>
                <a:spcPct val="106000"/>
              </a:lnSpc>
            </a:pPr>
            <a:r>
              <a:rPr sz="2400" b="0" i="0">
                <a:solidFill>
                  <a:srgbClr val="201914"/>
                </a:solidFill>
                <a:latin typeface="Arial"/>
              </a:rPr>
              <a:t>So the customer avoids it.</a:t>
            </a:r>
          </a:p>
        </p:txBody>
      </p:sp>
      <p:sp>
        <p:nvSpPr>
          <p:cNvPr id="9" name="Rectangle 8"/>
          <p:cNvSpPr/>
          <p:nvPr/>
        </p:nvSpPr>
        <p:spPr>
          <a:xfrm>
            <a:off x="9334500" y="2838450"/>
            <a:ext cx="7905750" cy="4219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3219450"/>
            <a:ext cx="7067550" cy="352425"/>
          </a:xfrm>
          <a:prstGeom prst="rect">
            <a:avLst/>
          </a:prstGeom>
          <a:noFill/>
        </p:spPr>
        <p:txBody>
          <a:bodyPr wrap="square" lIns="0" rIns="0" tIns="0" bIns="0" anchor="t"/>
          <a:lstStyle/>
          <a:p>
            <a:pPr algn="l"/>
            <a:r>
              <a:rPr sz="2100" b="1" i="0" spc="180">
                <a:solidFill>
                  <a:srgbClr val="FCF8F1"/>
                </a:solidFill>
                <a:latin typeface="Arial"/>
              </a:rPr>
              <a:t>THE ANXIETY MESSAGE</a:t>
            </a:r>
          </a:p>
        </p:txBody>
      </p:sp>
      <p:sp>
        <p:nvSpPr>
          <p:cNvPr id="11" name="TextBox 10"/>
          <p:cNvSpPr txBox="1"/>
          <p:nvPr/>
        </p:nvSpPr>
        <p:spPr>
          <a:xfrm>
            <a:off x="9753600" y="3752850"/>
            <a:ext cx="7067550" cy="885825"/>
          </a:xfrm>
          <a:prstGeom prst="rect">
            <a:avLst/>
          </a:prstGeom>
          <a:noFill/>
        </p:spPr>
        <p:txBody>
          <a:bodyPr wrap="square" lIns="0" rIns="0" tIns="0" bIns="0" anchor="t"/>
          <a:lstStyle/>
          <a:p>
            <a:pPr algn="l">
              <a:lnSpc>
                <a:spcPct val="106000"/>
              </a:lnSpc>
            </a:pPr>
            <a:r>
              <a:rPr sz="2400" b="0" i="0">
                <a:solidFill>
                  <a:srgbClr val="F5F1E9"/>
                </a:solidFill>
                <a:latin typeface="Arial"/>
              </a:rPr>
              <a:t>‘Children grow at different rates, and the window matters.’</a:t>
            </a:r>
          </a:p>
        </p:txBody>
      </p:sp>
      <p:sp>
        <p:nvSpPr>
          <p:cNvPr id="12" name="TextBox 11"/>
          <p:cNvSpPr txBox="1"/>
          <p:nvPr/>
        </p:nvSpPr>
        <p:spPr>
          <a:xfrm>
            <a:off x="9753600" y="4848225"/>
            <a:ext cx="7067550" cy="485775"/>
          </a:xfrm>
          <a:prstGeom prst="rect">
            <a:avLst/>
          </a:prstGeom>
          <a:noFill/>
        </p:spPr>
        <p:txBody>
          <a:bodyPr wrap="square" lIns="0" rIns="0" tIns="0" bIns="0" anchor="t"/>
          <a:lstStyle/>
          <a:p>
            <a:pPr algn="l">
              <a:lnSpc>
                <a:spcPct val="106000"/>
              </a:lnSpc>
            </a:pPr>
            <a:r>
              <a:rPr sz="2400" b="0" i="0">
                <a:solidFill>
                  <a:srgbClr val="F5F1E9"/>
                </a:solidFill>
                <a:latin typeface="Arial"/>
              </a:rPr>
              <a:t>Triggers protective action, which is a purchase.</a:t>
            </a:r>
          </a:p>
        </p:txBody>
      </p:sp>
      <p:sp>
        <p:nvSpPr>
          <p:cNvPr id="13" name="TextBox 12"/>
          <p:cNvSpPr txBox="1"/>
          <p:nvPr/>
        </p:nvSpPr>
        <p:spPr>
          <a:xfrm>
            <a:off x="9753600" y="5543550"/>
            <a:ext cx="7067550" cy="885825"/>
          </a:xfrm>
          <a:prstGeom prst="rect">
            <a:avLst/>
          </a:prstGeom>
          <a:noFill/>
        </p:spPr>
        <p:txBody>
          <a:bodyPr wrap="square" lIns="0" rIns="0" tIns="0" bIns="0" anchor="t"/>
          <a:lstStyle/>
          <a:p>
            <a:pPr algn="l">
              <a:lnSpc>
                <a:spcPct val="106000"/>
              </a:lnSpc>
            </a:pPr>
            <a:r>
              <a:rPr sz="2400" b="0" i="0">
                <a:solidFill>
                  <a:srgbClr val="F5F1E9"/>
                </a:solidFill>
                <a:latin typeface="Arial"/>
              </a:rPr>
              <a:t>The child in the advertisement was always already tall — the aspiration, never the diagnosis.</a:t>
            </a:r>
          </a:p>
        </p:txBody>
      </p:sp>
      <p:sp>
        <p:nvSpPr>
          <p:cNvPr id="14" name="TextBox 13"/>
          <p:cNvSpPr txBox="1"/>
          <p:nvPr/>
        </p:nvSpPr>
        <p:spPr>
          <a:xfrm>
            <a:off x="1047750" y="7458075"/>
            <a:ext cx="16192500" cy="1857375"/>
          </a:xfrm>
          <a:prstGeom prst="rect">
            <a:avLst/>
          </a:prstGeom>
          <a:noFill/>
        </p:spPr>
        <p:txBody>
          <a:bodyPr wrap="square" lIns="0" rIns="0" tIns="0" bIns="0" anchor="t"/>
          <a:lstStyle/>
          <a:p>
            <a:pPr algn="l">
              <a:lnSpc>
                <a:spcPct val="114000"/>
              </a:lnSpc>
            </a:pPr>
            <a:r>
              <a:rPr sz="3300" b="0" i="0">
                <a:solidFill>
                  <a:srgbClr val="362C24"/>
                </a:solidFill>
                <a:latin typeface="Georgia"/>
              </a:rPr>
              <a:t>Insurance advertising never tells you that you have failed to protect your family. A fitness product that opens by calling you unfit loses the customer in the first frame.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BUYER AND USER</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Two maps, two jobs, one glass of milk</a:t>
            </a:r>
          </a:p>
        </p:txBody>
      </p:sp>
      <p:sp>
        <p:nvSpPr>
          <p:cNvPr id="4" name="Rectangle 3"/>
          <p:cNvSpPr/>
          <p:nvPr/>
        </p:nvSpPr>
        <p:spPr>
          <a:xfrm>
            <a:off x="1047750" y="2838450"/>
            <a:ext cx="7905750" cy="44481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19450"/>
            <a:ext cx="7067550" cy="352425"/>
          </a:xfrm>
          <a:prstGeom prst="rect">
            <a:avLst/>
          </a:prstGeom>
          <a:noFill/>
        </p:spPr>
        <p:txBody>
          <a:bodyPr wrap="square" lIns="0" rIns="0" tIns="0" bIns="0" anchor="t"/>
          <a:lstStyle/>
          <a:p>
            <a:pPr algn="l"/>
            <a:r>
              <a:rPr sz="2100" b="1" i="0" spc="180">
                <a:solidFill>
                  <a:srgbClr val="5E534A"/>
                </a:solidFill>
                <a:latin typeface="Arial"/>
              </a:rPr>
              <a:t>HER MAP — SHE BUYS IT</a:t>
            </a:r>
          </a:p>
        </p:txBody>
      </p:sp>
      <p:sp>
        <p:nvSpPr>
          <p:cNvPr id="6" name="TextBox 5"/>
          <p:cNvSpPr txBox="1"/>
          <p:nvPr/>
        </p:nvSpPr>
        <p:spPr>
          <a:xfrm>
            <a:off x="1466850" y="3752850"/>
            <a:ext cx="7067550" cy="828675"/>
          </a:xfrm>
          <a:prstGeom prst="rect">
            <a:avLst/>
          </a:prstGeom>
          <a:noFill/>
        </p:spPr>
        <p:txBody>
          <a:bodyPr wrap="square" lIns="0" rIns="0" tIns="0" bIns="0" anchor="t"/>
          <a:lstStyle/>
          <a:p>
            <a:pPr algn="l">
              <a:lnSpc>
                <a:spcPct val="106000"/>
              </a:lnSpc>
            </a:pPr>
            <a:r>
              <a:rPr sz="2250" b="0" i="0">
                <a:solidFill>
                  <a:srgbClr val="201914"/>
                </a:solidFill>
                <a:latin typeface="Arial"/>
              </a:rPr>
              <a:t>Think: is he falling behind? Feel: guilt, and comparison.</a:t>
            </a:r>
          </a:p>
        </p:txBody>
      </p:sp>
      <p:sp>
        <p:nvSpPr>
          <p:cNvPr id="7" name="TextBox 6"/>
          <p:cNvSpPr txBox="1"/>
          <p:nvPr/>
        </p:nvSpPr>
        <p:spPr>
          <a:xfrm>
            <a:off x="1466850" y="4791075"/>
            <a:ext cx="7067550" cy="828675"/>
          </a:xfrm>
          <a:prstGeom prst="rect">
            <a:avLst/>
          </a:prstGeom>
          <a:noFill/>
        </p:spPr>
        <p:txBody>
          <a:bodyPr wrap="square" lIns="0" rIns="0" tIns="0" bIns="0" anchor="t"/>
          <a:lstStyle/>
          <a:p>
            <a:pPr algn="l">
              <a:lnSpc>
                <a:spcPct val="106000"/>
              </a:lnSpc>
            </a:pPr>
            <a:r>
              <a:rPr sz="2250" b="0" i="0">
                <a:solidFill>
                  <a:srgbClr val="201914"/>
                </a:solidFill>
                <a:latin typeface="Arial"/>
              </a:rPr>
              <a:t>Her Think and Feel quadrants are where the willingness to pay lives.</a:t>
            </a:r>
          </a:p>
        </p:txBody>
      </p:sp>
      <p:sp>
        <p:nvSpPr>
          <p:cNvPr id="8" name="TextBox 7"/>
          <p:cNvSpPr txBox="1"/>
          <p:nvPr/>
        </p:nvSpPr>
        <p:spPr>
          <a:xfrm>
            <a:off x="1466850" y="5829300"/>
            <a:ext cx="7067550" cy="457200"/>
          </a:xfrm>
          <a:prstGeom prst="rect">
            <a:avLst/>
          </a:prstGeom>
          <a:noFill/>
        </p:spPr>
        <p:txBody>
          <a:bodyPr wrap="square" lIns="0" rIns="0" tIns="0" bIns="0" anchor="t"/>
          <a:lstStyle/>
          <a:p>
            <a:pPr algn="l">
              <a:lnSpc>
                <a:spcPct val="106000"/>
              </a:lnSpc>
            </a:pPr>
            <a:r>
              <a:rPr sz="2250" b="0" i="0">
                <a:solidFill>
                  <a:srgbClr val="201914"/>
                </a:solidFill>
                <a:latin typeface="Arial"/>
              </a:rPr>
              <a:t>So the message and the packaging answer her.</a:t>
            </a:r>
          </a:p>
        </p:txBody>
      </p:sp>
      <p:sp>
        <p:nvSpPr>
          <p:cNvPr id="9" name="Rectangle 8"/>
          <p:cNvSpPr/>
          <p:nvPr/>
        </p:nvSpPr>
        <p:spPr>
          <a:xfrm>
            <a:off x="9334500" y="2838450"/>
            <a:ext cx="7905750" cy="44481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3219450"/>
            <a:ext cx="7067550" cy="352425"/>
          </a:xfrm>
          <a:prstGeom prst="rect">
            <a:avLst/>
          </a:prstGeom>
          <a:noFill/>
        </p:spPr>
        <p:txBody>
          <a:bodyPr wrap="square" lIns="0" rIns="0" tIns="0" bIns="0" anchor="t"/>
          <a:lstStyle/>
          <a:p>
            <a:pPr algn="l"/>
            <a:r>
              <a:rPr sz="2100" b="1" i="0" spc="180">
                <a:solidFill>
                  <a:srgbClr val="EF806F"/>
                </a:solidFill>
                <a:latin typeface="Arial"/>
              </a:rPr>
              <a:t>HIS MAP — HE DRINKS IT</a:t>
            </a:r>
          </a:p>
        </p:txBody>
      </p:sp>
      <p:sp>
        <p:nvSpPr>
          <p:cNvPr id="11" name="TextBox 10"/>
          <p:cNvSpPr txBox="1"/>
          <p:nvPr/>
        </p:nvSpPr>
        <p:spPr>
          <a:xfrm>
            <a:off x="9753600" y="3752850"/>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Say: it tastes good, or horrible. Think: do my friends drink this?</a:t>
            </a:r>
          </a:p>
        </p:txBody>
      </p:sp>
      <p:sp>
        <p:nvSpPr>
          <p:cNvPr id="12" name="TextBox 11"/>
          <p:cNvSpPr txBox="1"/>
          <p:nvPr/>
        </p:nvSpPr>
        <p:spPr>
          <a:xfrm>
            <a:off x="9753600" y="4791075"/>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Feel: bored by the entire subject. Do: whatever gets him out of the kitchen fastest.</a:t>
            </a:r>
          </a:p>
        </p:txBody>
      </p:sp>
      <p:sp>
        <p:nvSpPr>
          <p:cNvPr id="13" name="TextBox 12"/>
          <p:cNvSpPr txBox="1"/>
          <p:nvPr/>
        </p:nvSpPr>
        <p:spPr>
          <a:xfrm>
            <a:off x="9753600" y="5829300"/>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So the taste, the format and the ritual have to survive him.</a:t>
            </a:r>
          </a:p>
        </p:txBody>
      </p:sp>
      <p:sp>
        <p:nvSpPr>
          <p:cNvPr id="14" name="TextBox 13"/>
          <p:cNvSpPr txBox="1"/>
          <p:nvPr/>
        </p:nvSpPr>
        <p:spPr>
          <a:xfrm>
            <a:off x="1047750" y="7686675"/>
            <a:ext cx="16192500" cy="1857375"/>
          </a:xfrm>
          <a:prstGeom prst="rect">
            <a:avLst/>
          </a:prstGeom>
          <a:noFill/>
        </p:spPr>
        <p:txBody>
          <a:bodyPr wrap="square" lIns="0" rIns="0" tIns="0" bIns="0" anchor="t"/>
          <a:lstStyle/>
          <a:p>
            <a:pPr algn="l">
              <a:lnSpc>
                <a:spcPct val="114000"/>
              </a:lnSpc>
            </a:pPr>
            <a:r>
              <a:rPr sz="3300" b="0" i="0">
                <a:solidFill>
                  <a:srgbClr val="362C24"/>
                </a:solidFill>
                <a:latin typeface="Georgia"/>
              </a:rPr>
              <a:t>Forty years of chocolate and flavour variants aimed at the child, while height was advertised to the mother. A team that optimises only for the buyer ships something that sells once and never again.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BOUNDARY</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Three ways an empathy map goes wrong</a:t>
            </a:r>
          </a:p>
        </p:txBody>
      </p:sp>
      <p:sp>
        <p:nvSpPr>
          <p:cNvPr id="4" name="Rectangle 3"/>
          <p:cNvSpPr/>
          <p:nvPr/>
        </p:nvSpPr>
        <p:spPr>
          <a:xfrm>
            <a:off x="1047750" y="2838450"/>
            <a:ext cx="16192500" cy="21240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390900"/>
            <a:ext cx="3352800" cy="1009650"/>
          </a:xfrm>
          <a:prstGeom prst="rect">
            <a:avLst/>
          </a:prstGeom>
          <a:noFill/>
        </p:spPr>
        <p:txBody>
          <a:bodyPr wrap="square" lIns="0" rIns="0" tIns="0" bIns="0" anchor="t"/>
          <a:lstStyle/>
          <a:p>
            <a:pPr algn="l"/>
            <a:r>
              <a:rPr sz="3000" b="1" i="0">
                <a:solidFill>
                  <a:srgbClr val="201914"/>
                </a:solidFill>
                <a:latin typeface="Arial"/>
              </a:rPr>
              <a:t>1 · The projected map</a:t>
            </a:r>
          </a:p>
        </p:txBody>
      </p:sp>
      <p:sp>
        <p:nvSpPr>
          <p:cNvPr id="6" name="TextBox 5"/>
          <p:cNvSpPr txBox="1"/>
          <p:nvPr/>
        </p:nvSpPr>
        <p:spPr>
          <a:xfrm>
            <a:off x="5238750" y="3267075"/>
            <a:ext cx="5848350" cy="1266825"/>
          </a:xfrm>
          <a:prstGeom prst="rect">
            <a:avLst/>
          </a:prstGeom>
          <a:noFill/>
        </p:spPr>
        <p:txBody>
          <a:bodyPr wrap="square" lIns="0" rIns="0" tIns="0" bIns="0" anchor="t"/>
          <a:lstStyle/>
          <a:p>
            <a:pPr algn="l">
              <a:lnSpc>
                <a:spcPct val="106000"/>
              </a:lnSpc>
            </a:pPr>
            <a:r>
              <a:rPr sz="2400" b="0" i="0">
                <a:solidFill>
                  <a:srgbClr val="201914"/>
                </a:solidFill>
                <a:latin typeface="Arial"/>
              </a:rPr>
              <a:t>The team fills Think and Feel with its own thoughts and feelings, then treats the document as research.</a:t>
            </a:r>
          </a:p>
        </p:txBody>
      </p:sp>
      <p:sp>
        <p:nvSpPr>
          <p:cNvPr id="7" name="TextBox 6"/>
          <p:cNvSpPr txBox="1"/>
          <p:nvPr/>
        </p:nvSpPr>
        <p:spPr>
          <a:xfrm>
            <a:off x="11391900" y="3067050"/>
            <a:ext cx="5848350" cy="1666875"/>
          </a:xfrm>
          <a:prstGeom prst="rect">
            <a:avLst/>
          </a:prstGeom>
          <a:noFill/>
        </p:spPr>
        <p:txBody>
          <a:bodyPr wrap="square" lIns="0" rIns="0" tIns="0" bIns="0" anchor="t"/>
          <a:lstStyle/>
          <a:p>
            <a:pPr algn="l">
              <a:lnSpc>
                <a:spcPct val="106000"/>
              </a:lnSpc>
            </a:pPr>
            <a:r>
              <a:rPr sz="2400" b="0" i="0">
                <a:solidFill>
                  <a:srgbClr val="201914"/>
                </a:solidFill>
                <a:latin typeface="Arial"/>
              </a:rPr>
              <a:t>The tell: a mother's map written entirely by 24-year-old product managers contains no aunt, no class photograph and no paediatrician's wall chart.</a:t>
            </a:r>
          </a:p>
        </p:txBody>
      </p:sp>
      <p:sp>
        <p:nvSpPr>
          <p:cNvPr id="8" name="Rectangle 7"/>
          <p:cNvSpPr/>
          <p:nvPr/>
        </p:nvSpPr>
        <p:spPr>
          <a:xfrm>
            <a:off x="1047750" y="5172075"/>
            <a:ext cx="16192500" cy="21240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2550" y="5724525"/>
            <a:ext cx="3352800" cy="1009650"/>
          </a:xfrm>
          <a:prstGeom prst="rect">
            <a:avLst/>
          </a:prstGeom>
          <a:noFill/>
        </p:spPr>
        <p:txBody>
          <a:bodyPr wrap="square" lIns="0" rIns="0" tIns="0" bIns="0" anchor="t"/>
          <a:lstStyle/>
          <a:p>
            <a:pPr algn="l"/>
            <a:r>
              <a:rPr sz="3000" b="1" i="0">
                <a:solidFill>
                  <a:srgbClr val="201914"/>
                </a:solidFill>
                <a:latin typeface="Arial"/>
              </a:rPr>
              <a:t>2 · The map with no evidence</a:t>
            </a:r>
          </a:p>
        </p:txBody>
      </p:sp>
      <p:sp>
        <p:nvSpPr>
          <p:cNvPr id="10" name="TextBox 9"/>
          <p:cNvSpPr txBox="1"/>
          <p:nvPr/>
        </p:nvSpPr>
        <p:spPr>
          <a:xfrm>
            <a:off x="5238750" y="5400675"/>
            <a:ext cx="5848350" cy="1666875"/>
          </a:xfrm>
          <a:prstGeom prst="rect">
            <a:avLst/>
          </a:prstGeom>
          <a:noFill/>
        </p:spPr>
        <p:txBody>
          <a:bodyPr wrap="square" lIns="0" rIns="0" tIns="0" bIns="0" anchor="t"/>
          <a:lstStyle/>
          <a:p>
            <a:pPr algn="l">
              <a:lnSpc>
                <a:spcPct val="106000"/>
              </a:lnSpc>
            </a:pPr>
            <a:r>
              <a:rPr sz="2400" b="0" i="0">
                <a:solidFill>
                  <a:srgbClr val="201914"/>
                </a:solidFill>
                <a:latin typeface="Arial"/>
              </a:rPr>
              <a:t>Entries that cannot be traced to a room. Sentiment in Feel, the team's reasoning in Think, nothing in Do that anchors either.</a:t>
            </a:r>
          </a:p>
        </p:txBody>
      </p:sp>
      <p:sp>
        <p:nvSpPr>
          <p:cNvPr id="11" name="TextBox 10"/>
          <p:cNvSpPr txBox="1"/>
          <p:nvPr/>
        </p:nvSpPr>
        <p:spPr>
          <a:xfrm>
            <a:off x="11391900" y="5400675"/>
            <a:ext cx="5848350" cy="1666875"/>
          </a:xfrm>
          <a:prstGeom prst="rect">
            <a:avLst/>
          </a:prstGeom>
          <a:noFill/>
        </p:spPr>
        <p:txBody>
          <a:bodyPr wrap="square" lIns="0" rIns="0" tIns="0" bIns="0" anchor="t"/>
          <a:lstStyle/>
          <a:p>
            <a:pPr algn="l">
              <a:lnSpc>
                <a:spcPct val="106000"/>
              </a:lnSpc>
            </a:pPr>
            <a:r>
              <a:rPr sz="2400" b="0" i="0">
                <a:solidFill>
                  <a:srgbClr val="201914"/>
                </a:solidFill>
                <a:latin typeface="Arial"/>
              </a:rPr>
              <a:t>The tell: ask what she does that only this feeling explains, and nobody can answer. ‘Wants the best for her family’ explains nothing.</a:t>
            </a:r>
          </a:p>
        </p:txBody>
      </p:sp>
      <p:sp>
        <p:nvSpPr>
          <p:cNvPr id="12" name="Rectangle 11"/>
          <p:cNvSpPr/>
          <p:nvPr/>
        </p:nvSpPr>
        <p:spPr>
          <a:xfrm>
            <a:off x="1047750" y="7505700"/>
            <a:ext cx="16192500" cy="21240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2550" y="8058150"/>
            <a:ext cx="3352800" cy="1009650"/>
          </a:xfrm>
          <a:prstGeom prst="rect">
            <a:avLst/>
          </a:prstGeom>
          <a:noFill/>
        </p:spPr>
        <p:txBody>
          <a:bodyPr wrap="square" lIns="0" rIns="0" tIns="0" bIns="0" anchor="t"/>
          <a:lstStyle/>
          <a:p>
            <a:pPr algn="l"/>
            <a:r>
              <a:rPr sz="3000" b="1" i="0">
                <a:solidFill>
                  <a:srgbClr val="201914"/>
                </a:solidFill>
                <a:latin typeface="Arial"/>
              </a:rPr>
              <a:t>3 · Selling the feeling back</a:t>
            </a:r>
          </a:p>
        </p:txBody>
      </p:sp>
      <p:sp>
        <p:nvSpPr>
          <p:cNvPr id="14" name="TextBox 13"/>
          <p:cNvSpPr txBox="1"/>
          <p:nvPr/>
        </p:nvSpPr>
        <p:spPr>
          <a:xfrm>
            <a:off x="5238750" y="7734300"/>
            <a:ext cx="5848350" cy="1666875"/>
          </a:xfrm>
          <a:prstGeom prst="rect">
            <a:avLst/>
          </a:prstGeom>
          <a:noFill/>
        </p:spPr>
        <p:txBody>
          <a:bodyPr wrap="square" lIns="0" rIns="0" tIns="0" bIns="0" anchor="t"/>
          <a:lstStyle/>
          <a:p>
            <a:pPr algn="l">
              <a:lnSpc>
                <a:spcPct val="106000"/>
              </a:lnSpc>
            </a:pPr>
            <a:r>
              <a:rPr sz="2400" b="0" i="0">
                <a:solidFill>
                  <a:srgbClr val="201914"/>
                </a:solidFill>
                <a:latin typeface="Arial"/>
              </a:rPr>
              <a:t>The map is accurate, and the company's growth then depends on the fear getting worse. A business decision, not a research error.</a:t>
            </a:r>
          </a:p>
        </p:txBody>
      </p:sp>
      <p:sp>
        <p:nvSpPr>
          <p:cNvPr id="15" name="TextBox 14"/>
          <p:cNvSpPr txBox="1"/>
          <p:nvPr/>
        </p:nvSpPr>
        <p:spPr>
          <a:xfrm>
            <a:off x="11391900" y="7734300"/>
            <a:ext cx="5848350" cy="1666875"/>
          </a:xfrm>
          <a:prstGeom prst="rect">
            <a:avLst/>
          </a:prstGeom>
          <a:noFill/>
        </p:spPr>
        <p:txBody>
          <a:bodyPr wrap="square" lIns="0" rIns="0" tIns="0" bIns="0" anchor="t"/>
          <a:lstStyle/>
          <a:p>
            <a:pPr algn="l">
              <a:lnSpc>
                <a:spcPct val="106000"/>
              </a:lnSpc>
            </a:pPr>
            <a:r>
              <a:rPr sz="2400" b="0" i="0">
                <a:solidFill>
                  <a:srgbClr val="201914"/>
                </a:solidFill>
                <a:latin typeface="Arial"/>
              </a:rPr>
              <a:t>The tell: the category found a real anxiety about height in a country where height is used to judge people — and then built forty years of advertising on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EF806F"/>
                </a:solidFill>
                <a:latin typeface="Arial"/>
              </a:rPr>
              <a:t>ARGUE IT · BOTH SIDES GET DEFENDED</a:t>
            </a:r>
          </a:p>
        </p:txBody>
      </p:sp>
      <p:sp>
        <p:nvSpPr>
          <p:cNvPr id="3" name="TextBox 2"/>
          <p:cNvSpPr txBox="1"/>
          <p:nvPr/>
        </p:nvSpPr>
        <p:spPr>
          <a:xfrm>
            <a:off x="1714500" y="3333750"/>
            <a:ext cx="14859000" cy="2486025"/>
          </a:xfrm>
          <a:prstGeom prst="rect">
            <a:avLst/>
          </a:prstGeom>
          <a:noFill/>
        </p:spPr>
        <p:txBody>
          <a:bodyPr wrap="square" lIns="0" rIns="0" tIns="0" bIns="0" anchor="t"/>
          <a:lstStyle/>
          <a:p>
            <a:pPr algn="ctr">
              <a:lnSpc>
                <a:spcPct val="88000"/>
              </a:lnSpc>
            </a:pPr>
            <a:r>
              <a:rPr sz="5700" b="1" i="0" spc="-250">
                <a:solidFill>
                  <a:srgbClr val="F5F1E9"/>
                </a:solidFill>
                <a:latin typeface="Arial"/>
              </a:rPr>
              <a:t>Was it legitimate to build forty years of advertising on a mother's fear about her child's height?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USE THE TEST, NOT A VERDICT</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Finding, amplifying, resolving</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5143500" cy="600075"/>
          </a:xfrm>
          <a:prstGeom prst="rect">
            <a:avLst/>
          </a:prstGeom>
          <a:noFill/>
        </p:spPr>
        <p:txBody>
          <a:bodyPr wrap="square" lIns="0" rIns="0" tIns="0" bIns="0" anchor="t"/>
          <a:lstStyle/>
          <a:p>
            <a:pPr algn="l"/>
            <a:r>
              <a:rPr sz="3300" b="1" i="0">
                <a:solidFill>
                  <a:srgbClr val="201914"/>
                </a:solidFill>
                <a:latin typeface="Arial"/>
              </a:rPr>
              <a:t>FINDING a feeling</a:t>
            </a:r>
          </a:p>
        </p:txBody>
      </p:sp>
      <p:sp>
        <p:nvSpPr>
          <p:cNvPr id="6" name="TextBox 5"/>
          <p:cNvSpPr txBox="1"/>
          <p:nvPr/>
        </p:nvSpPr>
        <p:spPr>
          <a:xfrm>
            <a:off x="1047750" y="3876675"/>
            <a:ext cx="5143500" cy="923925"/>
          </a:xfrm>
          <a:prstGeom prst="rect">
            <a:avLst/>
          </a:prstGeom>
          <a:noFill/>
        </p:spPr>
        <p:txBody>
          <a:bodyPr wrap="square" lIns="0" rIns="0" tIns="0" bIns="0" anchor="t"/>
          <a:lstStyle/>
          <a:p>
            <a:pPr algn="l">
              <a:lnSpc>
                <a:spcPct val="105000"/>
              </a:lnSpc>
            </a:pPr>
            <a:r>
              <a:rPr sz="2550" b="0" i="0">
                <a:solidFill>
                  <a:srgbClr val="665B53"/>
                </a:solidFill>
                <a:latin typeface="Arial"/>
              </a:rPr>
              <a:t>Always legitimate. It is what this entire course teaches you to do.</a:t>
            </a:r>
          </a:p>
        </p:txBody>
      </p:sp>
      <p:sp>
        <p:nvSpPr>
          <p:cNvPr id="7" name="Rectangle 6"/>
          <p:cNvSpPr/>
          <p:nvPr/>
        </p:nvSpPr>
        <p:spPr>
          <a:xfrm>
            <a:off x="65722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143250"/>
            <a:ext cx="5143500" cy="600075"/>
          </a:xfrm>
          <a:prstGeom prst="rect">
            <a:avLst/>
          </a:prstGeom>
          <a:noFill/>
        </p:spPr>
        <p:txBody>
          <a:bodyPr wrap="square" lIns="0" rIns="0" tIns="0" bIns="0" anchor="t"/>
          <a:lstStyle/>
          <a:p>
            <a:pPr algn="l"/>
            <a:r>
              <a:rPr sz="3300" b="1" i="0">
                <a:solidFill>
                  <a:srgbClr val="201914"/>
                </a:solidFill>
                <a:latin typeface="Arial"/>
              </a:rPr>
              <a:t>AMPLIFYING it</a:t>
            </a:r>
          </a:p>
        </p:txBody>
      </p:sp>
      <p:sp>
        <p:nvSpPr>
          <p:cNvPr id="9" name="TextBox 8"/>
          <p:cNvSpPr txBox="1"/>
          <p:nvPr/>
        </p:nvSpPr>
        <p:spPr>
          <a:xfrm>
            <a:off x="6572250" y="3876675"/>
            <a:ext cx="5143500" cy="2190750"/>
          </a:xfrm>
          <a:prstGeom prst="rect">
            <a:avLst/>
          </a:prstGeom>
          <a:noFill/>
        </p:spPr>
        <p:txBody>
          <a:bodyPr wrap="square" lIns="0" rIns="0" tIns="0" bIns="0" anchor="t"/>
          <a:lstStyle/>
          <a:p>
            <a:pPr algn="l">
              <a:lnSpc>
                <a:spcPct val="105000"/>
              </a:lnSpc>
            </a:pPr>
            <a:r>
              <a:rPr sz="2550" b="0" i="0">
                <a:solidFill>
                  <a:srgbClr val="665B53"/>
                </a:solidFill>
                <a:latin typeface="Arial"/>
              </a:rPr>
              <a:t>Needs a defence. Every advertisement that said height matters made the fear slightly larger, and the category needed it to.</a:t>
            </a:r>
          </a:p>
        </p:txBody>
      </p:sp>
      <p:sp>
        <p:nvSpPr>
          <p:cNvPr id="10" name="Rectangle 9"/>
          <p:cNvSpPr/>
          <p:nvPr/>
        </p:nvSpPr>
        <p:spPr>
          <a:xfrm>
            <a:off x="12096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143250"/>
            <a:ext cx="5143500" cy="600075"/>
          </a:xfrm>
          <a:prstGeom prst="rect">
            <a:avLst/>
          </a:prstGeom>
          <a:noFill/>
        </p:spPr>
        <p:txBody>
          <a:bodyPr wrap="square" lIns="0" rIns="0" tIns="0" bIns="0" anchor="t"/>
          <a:lstStyle/>
          <a:p>
            <a:pPr algn="l"/>
            <a:r>
              <a:rPr sz="3300" b="1" i="0">
                <a:solidFill>
                  <a:srgbClr val="201914"/>
                </a:solidFill>
                <a:latin typeface="Arial"/>
              </a:rPr>
              <a:t>RESOLVING it</a:t>
            </a:r>
          </a:p>
        </p:txBody>
      </p:sp>
      <p:sp>
        <p:nvSpPr>
          <p:cNvPr id="12" name="TextBox 11"/>
          <p:cNvSpPr txBox="1"/>
          <p:nvPr/>
        </p:nvSpPr>
        <p:spPr>
          <a:xfrm>
            <a:off x="12096750" y="3876675"/>
            <a:ext cx="5143500" cy="2190750"/>
          </a:xfrm>
          <a:prstGeom prst="rect">
            <a:avLst/>
          </a:prstGeom>
          <a:noFill/>
        </p:spPr>
        <p:txBody>
          <a:bodyPr wrap="square" lIns="0" rIns="0" tIns="0" bIns="0" anchor="t"/>
          <a:lstStyle/>
          <a:p>
            <a:pPr algn="l">
              <a:lnSpc>
                <a:spcPct val="105000"/>
              </a:lnSpc>
            </a:pPr>
            <a:r>
              <a:rPr sz="2550" b="0" i="0">
                <a:solidFill>
                  <a:srgbClr val="665B53"/>
                </a:solidFill>
                <a:latin typeface="Arial"/>
              </a:rPr>
              <a:t>The only one that leaves the customer better off. Vicks answers helplessness with a ritual, and does not need her more frightened next winter.</a:t>
            </a:r>
          </a:p>
        </p:txBody>
      </p:sp>
      <p:sp>
        <p:nvSpPr>
          <p:cNvPr id="13" name="Rectangle 12"/>
          <p:cNvSpPr/>
          <p:nvPr/>
        </p:nvSpPr>
        <p:spPr>
          <a:xfrm>
            <a:off x="1047750" y="7429500"/>
            <a:ext cx="16192500" cy="2171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43050" y="7886700"/>
            <a:ext cx="15240000" cy="1123950"/>
          </a:xfrm>
          <a:prstGeom prst="rect">
            <a:avLst/>
          </a:prstGeom>
          <a:noFill/>
        </p:spPr>
        <p:txBody>
          <a:bodyPr wrap="square" lIns="0" rIns="0" tIns="0" bIns="0" anchor="t"/>
          <a:lstStyle/>
          <a:p>
            <a:pPr algn="l">
              <a:lnSpc>
                <a:spcPct val="114000"/>
              </a:lnSpc>
            </a:pPr>
            <a:r>
              <a:rPr sz="2850" b="0" i="0">
                <a:solidFill>
                  <a:srgbClr val="F5F1E9"/>
                </a:solidFill>
                <a:latin typeface="Georgia"/>
              </a:rPr>
              <a:t>The practical version, for your own product: if my customer's anxiety halved tomorrow, would my revenue fall?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ACTIVITY · BUILD THE PARENT WHO DECIDES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Build the buyer, then get inside her head</a:t>
            </a:r>
          </a:p>
        </p:txBody>
      </p:sp>
      <p:sp>
        <p:nvSpPr>
          <p:cNvPr id="4" name="TextBox 3"/>
          <p:cNvSpPr txBox="1"/>
          <p:nvPr/>
        </p:nvSpPr>
        <p:spPr>
          <a:xfrm>
            <a:off x="1247775" y="2838450"/>
            <a:ext cx="16192500" cy="1019175"/>
          </a:xfrm>
          <a:prstGeom prst="rect">
            <a:avLst/>
          </a:prstGeom>
          <a:noFill/>
        </p:spPr>
        <p:txBody>
          <a:bodyPr wrap="square" lIns="0" rIns="0" tIns="0" bIns="0" anchor="t"/>
          <a:lstStyle/>
          <a:p>
            <a:pPr algn="l">
              <a:lnSpc>
                <a:spcPct val="105000"/>
              </a:lnSpc>
            </a:pPr>
            <a:r>
              <a:rPr sz="2850" b="1" i="0">
                <a:solidFill>
                  <a:srgbClr val="201914"/>
                </a:solidFill>
                <a:latin typeface="Arial"/>
              </a:rPr>
              <a:t>A thirteen-year-old has asked for his first smartphone. Your customer is not him — he has no money and no veto. Build the parent who decides.</a:t>
            </a:r>
          </a:p>
        </p:txBody>
      </p:sp>
      <p:sp>
        <p:nvSpPr>
          <p:cNvPr id="5" name="TextBox 4"/>
          <p:cNvSpPr txBox="1"/>
          <p:nvPr/>
        </p:nvSpPr>
        <p:spPr>
          <a:xfrm>
            <a:off x="1247775" y="4238625"/>
            <a:ext cx="285750" cy="390525"/>
          </a:xfrm>
          <a:prstGeom prst="rect">
            <a:avLst/>
          </a:prstGeom>
          <a:noFill/>
        </p:spPr>
        <p:txBody>
          <a:bodyPr wrap="square" lIns="0" rIns="0" tIns="0" bIns="0" anchor="t"/>
          <a:lstStyle/>
          <a:p>
            <a:pPr algn="l"/>
            <a:r>
              <a:rPr sz="2400" b="1" i="0">
                <a:solidFill>
                  <a:srgbClr val="C35141"/>
                </a:solidFill>
                <a:latin typeface="Arial"/>
              </a:rPr>
              <a:t>1</a:t>
            </a:r>
          </a:p>
        </p:txBody>
      </p:sp>
      <p:sp>
        <p:nvSpPr>
          <p:cNvPr id="6" name="TextBox 5"/>
          <p:cNvSpPr txBox="1"/>
          <p:nvPr/>
        </p:nvSpPr>
        <p:spPr>
          <a:xfrm>
            <a:off x="1609725" y="4238625"/>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NAME and DEMOGRAPHICS — two lines, no more. This is the least useful part of the document.</a:t>
            </a:r>
          </a:p>
        </p:txBody>
      </p:sp>
      <p:sp>
        <p:nvSpPr>
          <p:cNvPr id="7" name="TextBox 6"/>
          <p:cNvSpPr txBox="1"/>
          <p:nvPr/>
        </p:nvSpPr>
        <p:spPr>
          <a:xfrm>
            <a:off x="1247775" y="5638800"/>
            <a:ext cx="285750" cy="390525"/>
          </a:xfrm>
          <a:prstGeom prst="rect">
            <a:avLst/>
          </a:prstGeom>
          <a:noFill/>
        </p:spPr>
        <p:txBody>
          <a:bodyPr wrap="square" lIns="0" rIns="0" tIns="0" bIns="0" anchor="t"/>
          <a:lstStyle/>
          <a:p>
            <a:pPr algn="l"/>
            <a:r>
              <a:rPr sz="2400" b="1" i="0">
                <a:solidFill>
                  <a:srgbClr val="C35141"/>
                </a:solidFill>
                <a:latin typeface="Arial"/>
              </a:rPr>
              <a:t>2</a:t>
            </a:r>
          </a:p>
        </p:txBody>
      </p:sp>
      <p:sp>
        <p:nvSpPr>
          <p:cNvPr id="8" name="TextBox 7"/>
          <p:cNvSpPr txBox="1"/>
          <p:nvPr/>
        </p:nvSpPr>
        <p:spPr>
          <a:xfrm>
            <a:off x="1609725" y="5638800"/>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GOALS — what is she trying to achieve by buying this? In her words, not in marketing language.</a:t>
            </a:r>
          </a:p>
        </p:txBody>
      </p:sp>
      <p:sp>
        <p:nvSpPr>
          <p:cNvPr id="9" name="TextBox 8"/>
          <p:cNvSpPr txBox="1"/>
          <p:nvPr/>
        </p:nvSpPr>
        <p:spPr>
          <a:xfrm>
            <a:off x="1247775" y="7038975"/>
            <a:ext cx="285750" cy="390525"/>
          </a:xfrm>
          <a:prstGeom prst="rect">
            <a:avLst/>
          </a:prstGeom>
          <a:noFill/>
        </p:spPr>
        <p:txBody>
          <a:bodyPr wrap="square" lIns="0" rIns="0" tIns="0" bIns="0" anchor="t"/>
          <a:lstStyle/>
          <a:p>
            <a:pPr algn="l"/>
            <a:r>
              <a:rPr sz="2400" b="1" i="0">
                <a:solidFill>
                  <a:srgbClr val="C35141"/>
                </a:solidFill>
                <a:latin typeface="Arial"/>
              </a:rPr>
              <a:t>3</a:t>
            </a:r>
          </a:p>
        </p:txBody>
      </p:sp>
      <p:sp>
        <p:nvSpPr>
          <p:cNvPr id="10" name="TextBox 9"/>
          <p:cNvSpPr txBox="1"/>
          <p:nvPr/>
        </p:nvSpPr>
        <p:spPr>
          <a:xfrm>
            <a:off x="1609725" y="7038975"/>
            <a:ext cx="6667500" cy="876300"/>
          </a:xfrm>
          <a:prstGeom prst="rect">
            <a:avLst/>
          </a:prstGeom>
          <a:noFill/>
        </p:spPr>
        <p:txBody>
          <a:bodyPr wrap="square" lIns="0" rIns="0" tIns="0" bIns="0" anchor="t"/>
          <a:lstStyle/>
          <a:p>
            <a:pPr algn="l">
              <a:lnSpc>
                <a:spcPct val="105000"/>
              </a:lnSpc>
            </a:pPr>
            <a:r>
              <a:rPr sz="2400" b="0" i="0">
                <a:solidFill>
                  <a:srgbClr val="201914"/>
                </a:solidFill>
                <a:latin typeface="Arial"/>
              </a:rPr>
              <a:t>FRUSTRATIONS — what is confusing, risky or humiliating about making this decision today?</a:t>
            </a:r>
          </a:p>
        </p:txBody>
      </p:sp>
      <p:sp>
        <p:nvSpPr>
          <p:cNvPr id="11" name="TextBox 10"/>
          <p:cNvSpPr txBox="1"/>
          <p:nvPr/>
        </p:nvSpPr>
        <p:spPr>
          <a:xfrm>
            <a:off x="1247775" y="8048625"/>
            <a:ext cx="285750" cy="390525"/>
          </a:xfrm>
          <a:prstGeom prst="rect">
            <a:avLst/>
          </a:prstGeom>
          <a:noFill/>
        </p:spPr>
        <p:txBody>
          <a:bodyPr wrap="square" lIns="0" rIns="0" tIns="0" bIns="0" anchor="t"/>
          <a:lstStyle/>
          <a:p>
            <a:pPr algn="l"/>
            <a:r>
              <a:rPr sz="2400" b="1" i="0">
                <a:solidFill>
                  <a:srgbClr val="C35141"/>
                </a:solidFill>
                <a:latin typeface="Arial"/>
              </a:rPr>
              <a:t>4</a:t>
            </a:r>
          </a:p>
        </p:txBody>
      </p:sp>
      <p:sp>
        <p:nvSpPr>
          <p:cNvPr id="12" name="TextBox 11"/>
          <p:cNvSpPr txBox="1"/>
          <p:nvPr/>
        </p:nvSpPr>
        <p:spPr>
          <a:xfrm>
            <a:off x="1609725" y="8048625"/>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CURRENT BEHAVIOUR — who does she ask for advice, and what does he do in the meantime?</a:t>
            </a:r>
          </a:p>
        </p:txBody>
      </p:sp>
      <p:sp>
        <p:nvSpPr>
          <p:cNvPr id="13" name="TextBox 12"/>
          <p:cNvSpPr txBox="1"/>
          <p:nvPr/>
        </p:nvSpPr>
        <p:spPr>
          <a:xfrm>
            <a:off x="9629775" y="4238625"/>
            <a:ext cx="285750" cy="390525"/>
          </a:xfrm>
          <a:prstGeom prst="rect">
            <a:avLst/>
          </a:prstGeom>
          <a:noFill/>
        </p:spPr>
        <p:txBody>
          <a:bodyPr wrap="square" lIns="0" rIns="0" tIns="0" bIns="0" anchor="t"/>
          <a:lstStyle/>
          <a:p>
            <a:pPr algn="l"/>
            <a:r>
              <a:rPr sz="2400" b="1" i="0">
                <a:solidFill>
                  <a:srgbClr val="C35141"/>
                </a:solidFill>
                <a:latin typeface="Arial"/>
              </a:rPr>
              <a:t>5</a:t>
            </a:r>
          </a:p>
        </p:txBody>
      </p:sp>
      <p:sp>
        <p:nvSpPr>
          <p:cNvPr id="14" name="TextBox 13"/>
          <p:cNvSpPr txBox="1"/>
          <p:nvPr/>
        </p:nvSpPr>
        <p:spPr>
          <a:xfrm>
            <a:off x="9991725" y="4238625"/>
            <a:ext cx="6667500" cy="876300"/>
          </a:xfrm>
          <a:prstGeom prst="rect">
            <a:avLst/>
          </a:prstGeom>
          <a:noFill/>
        </p:spPr>
        <p:txBody>
          <a:bodyPr wrap="square" lIns="0" rIns="0" tIns="0" bIns="0" anchor="t"/>
          <a:lstStyle/>
          <a:p>
            <a:pPr algn="l">
              <a:lnSpc>
                <a:spcPct val="105000"/>
              </a:lnSpc>
            </a:pPr>
            <a:r>
              <a:rPr sz="2400" b="0" i="0">
                <a:solidFill>
                  <a:srgbClr val="201914"/>
                </a:solidFill>
                <a:latin typeface="Arial"/>
              </a:rPr>
              <a:t>DAY IN THE LIFE — real times in it, including when the child is unsupervised.</a:t>
            </a:r>
          </a:p>
        </p:txBody>
      </p:sp>
      <p:sp>
        <p:nvSpPr>
          <p:cNvPr id="15" name="TextBox 14"/>
          <p:cNvSpPr txBox="1"/>
          <p:nvPr/>
        </p:nvSpPr>
        <p:spPr>
          <a:xfrm>
            <a:off x="9629775" y="5248275"/>
            <a:ext cx="285750" cy="390525"/>
          </a:xfrm>
          <a:prstGeom prst="rect">
            <a:avLst/>
          </a:prstGeom>
          <a:noFill/>
        </p:spPr>
        <p:txBody>
          <a:bodyPr wrap="square" lIns="0" rIns="0" tIns="0" bIns="0" anchor="t"/>
          <a:lstStyle/>
          <a:p>
            <a:pPr algn="l"/>
            <a:r>
              <a:rPr sz="2400" b="1" i="0">
                <a:solidFill>
                  <a:srgbClr val="C35141"/>
                </a:solidFill>
                <a:latin typeface="Arial"/>
              </a:rPr>
              <a:t>6</a:t>
            </a:r>
          </a:p>
        </p:txBody>
      </p:sp>
      <p:sp>
        <p:nvSpPr>
          <p:cNvPr id="16" name="TextBox 15"/>
          <p:cNvSpPr txBox="1"/>
          <p:nvPr/>
        </p:nvSpPr>
        <p:spPr>
          <a:xfrm>
            <a:off x="9991725" y="5248275"/>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THE ELEVEN O'CLOCK WORRY — at least one line she would never say out loud to a shopkeeper.</a:t>
            </a:r>
          </a:p>
        </p:txBody>
      </p:sp>
      <p:sp>
        <p:nvSpPr>
          <p:cNvPr id="17" name="TextBox 16"/>
          <p:cNvSpPr txBox="1"/>
          <p:nvPr/>
        </p:nvSpPr>
        <p:spPr>
          <a:xfrm>
            <a:off x="9629775" y="6648450"/>
            <a:ext cx="285750" cy="390525"/>
          </a:xfrm>
          <a:prstGeom prst="rect">
            <a:avLst/>
          </a:prstGeom>
          <a:noFill/>
        </p:spPr>
        <p:txBody>
          <a:bodyPr wrap="square" lIns="0" rIns="0" tIns="0" bIns="0" anchor="t"/>
          <a:lstStyle/>
          <a:p>
            <a:pPr algn="l"/>
            <a:r>
              <a:rPr sz="2400" b="1" i="0">
                <a:solidFill>
                  <a:srgbClr val="C35141"/>
                </a:solidFill>
                <a:latin typeface="Arial"/>
              </a:rPr>
              <a:t>7</a:t>
            </a:r>
          </a:p>
        </p:txBody>
      </p:sp>
      <p:sp>
        <p:nvSpPr>
          <p:cNvPr id="18" name="TextBox 17"/>
          <p:cNvSpPr txBox="1"/>
          <p:nvPr/>
        </p:nvSpPr>
        <p:spPr>
          <a:xfrm>
            <a:off x="9991725" y="6648450"/>
            <a:ext cx="6667500" cy="876300"/>
          </a:xfrm>
          <a:prstGeom prst="rect">
            <a:avLst/>
          </a:prstGeom>
          <a:noFill/>
        </p:spPr>
        <p:txBody>
          <a:bodyPr wrap="square" lIns="0" rIns="0" tIns="0" bIns="0" anchor="t"/>
          <a:lstStyle/>
          <a:p>
            <a:pPr algn="l">
              <a:lnSpc>
                <a:spcPct val="105000"/>
              </a:lnSpc>
            </a:pPr>
            <a:r>
              <a:rPr sz="2400" b="0" i="0">
                <a:solidFill>
                  <a:srgbClr val="201914"/>
                </a:solidFill>
                <a:latin typeface="Arial"/>
              </a:rPr>
              <a:t>TRIGGER — an event, on a day, with a consequence. Not a mood.</a:t>
            </a:r>
          </a:p>
        </p:txBody>
      </p:sp>
      <p:sp>
        <p:nvSpPr>
          <p:cNvPr id="19" name="TextBox 18"/>
          <p:cNvSpPr txBox="1"/>
          <p:nvPr/>
        </p:nvSpPr>
        <p:spPr>
          <a:xfrm>
            <a:off x="9629775" y="7658100"/>
            <a:ext cx="285750" cy="390525"/>
          </a:xfrm>
          <a:prstGeom prst="rect">
            <a:avLst/>
          </a:prstGeom>
          <a:noFill/>
        </p:spPr>
        <p:txBody>
          <a:bodyPr wrap="square" lIns="0" rIns="0" tIns="0" bIns="0" anchor="t"/>
          <a:lstStyle/>
          <a:p>
            <a:pPr algn="l"/>
            <a:r>
              <a:rPr sz="2400" b="1" i="0">
                <a:solidFill>
                  <a:srgbClr val="C35141"/>
                </a:solidFill>
                <a:latin typeface="Arial"/>
              </a:rPr>
              <a:t>8</a:t>
            </a:r>
          </a:p>
        </p:txBody>
      </p:sp>
      <p:sp>
        <p:nvSpPr>
          <p:cNvPr id="20" name="TextBox 19"/>
          <p:cNvSpPr txBox="1"/>
          <p:nvPr/>
        </p:nvSpPr>
        <p:spPr>
          <a:xfrm>
            <a:off x="9991725" y="7658100"/>
            <a:ext cx="6667500" cy="876300"/>
          </a:xfrm>
          <a:prstGeom prst="rect">
            <a:avLst/>
          </a:prstGeom>
          <a:noFill/>
        </p:spPr>
        <p:txBody>
          <a:bodyPr wrap="square" lIns="0" rIns="0" tIns="0" bIns="0" anchor="t"/>
          <a:lstStyle/>
          <a:p>
            <a:pPr algn="l">
              <a:lnSpc>
                <a:spcPct val="105000"/>
              </a:lnSpc>
            </a:pPr>
            <a:r>
              <a:rPr sz="2400" b="0" i="0">
                <a:solidFill>
                  <a:srgbClr val="201914"/>
                </a:solidFill>
                <a:latin typeface="Arial"/>
              </a:rPr>
              <a:t>NOW MAP HER — Say, Think, Feel, Do — and circle the one place two of the four disagree.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THEN MAKE IT DECIDE SOMETHING</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Four decisions. Answer each from her, not from your opinion.</a:t>
            </a:r>
          </a:p>
        </p:txBody>
      </p:sp>
      <p:sp>
        <p:nvSpPr>
          <p:cNvPr id="4" name="TextBox 3"/>
          <p:cNvSpPr txBox="1"/>
          <p:nvPr/>
        </p:nvSpPr>
        <p:spPr>
          <a:xfrm>
            <a:off x="1276350" y="3629025"/>
            <a:ext cx="3762375" cy="971550"/>
          </a:xfrm>
          <a:prstGeom prst="rect">
            <a:avLst/>
          </a:prstGeom>
          <a:noFill/>
        </p:spPr>
        <p:txBody>
          <a:bodyPr wrap="square" lIns="0" rIns="0" tIns="0" bIns="0" anchor="t"/>
          <a:lstStyle/>
          <a:p>
            <a:pPr algn="l"/>
            <a:r>
              <a:rPr sz="1800" b="1" i="0" spc="150">
                <a:solidFill>
                  <a:srgbClr val="5E534A"/>
                </a:solidFill>
                <a:latin typeface="Arial"/>
              </a:rPr>
              <a:t>#</a:t>
            </a:r>
          </a:p>
        </p:txBody>
      </p:sp>
      <p:sp>
        <p:nvSpPr>
          <p:cNvPr id="5" name="TextBox 4"/>
          <p:cNvSpPr txBox="1"/>
          <p:nvPr/>
        </p:nvSpPr>
        <p:spPr>
          <a:xfrm>
            <a:off x="5324475" y="3629025"/>
            <a:ext cx="3762375" cy="971550"/>
          </a:xfrm>
          <a:prstGeom prst="rect">
            <a:avLst/>
          </a:prstGeom>
          <a:noFill/>
        </p:spPr>
        <p:txBody>
          <a:bodyPr wrap="square" lIns="0" rIns="0" tIns="0" bIns="0" anchor="t"/>
          <a:lstStyle/>
          <a:p>
            <a:pPr algn="l"/>
            <a:r>
              <a:rPr sz="1800" b="1" i="0" spc="150">
                <a:solidFill>
                  <a:srgbClr val="5E534A"/>
                </a:solidFill>
                <a:latin typeface="Arial"/>
              </a:rPr>
              <a:t>THE DECISION</a:t>
            </a:r>
          </a:p>
        </p:txBody>
      </p:sp>
      <p:sp>
        <p:nvSpPr>
          <p:cNvPr id="6" name="TextBox 5"/>
          <p:cNvSpPr txBox="1"/>
          <p:nvPr/>
        </p:nvSpPr>
        <p:spPr>
          <a:xfrm>
            <a:off x="9372600" y="3629025"/>
            <a:ext cx="3762375" cy="971550"/>
          </a:xfrm>
          <a:prstGeom prst="rect">
            <a:avLst/>
          </a:prstGeom>
          <a:noFill/>
        </p:spPr>
        <p:txBody>
          <a:bodyPr wrap="square" lIns="0" rIns="0" tIns="0" bIns="0" anchor="t"/>
          <a:lstStyle/>
          <a:p>
            <a:pPr algn="l"/>
            <a:r>
              <a:rPr sz="1800" b="1" i="0" spc="150">
                <a:solidFill>
                  <a:srgbClr val="5E534A"/>
                </a:solidFill>
                <a:latin typeface="Arial"/>
              </a:rPr>
              <a:t>HER ANSWER</a:t>
            </a:r>
          </a:p>
        </p:txBody>
      </p:sp>
      <p:sp>
        <p:nvSpPr>
          <p:cNvPr id="7" name="TextBox 6"/>
          <p:cNvSpPr txBox="1"/>
          <p:nvPr/>
        </p:nvSpPr>
        <p:spPr>
          <a:xfrm>
            <a:off x="13420725" y="3629025"/>
            <a:ext cx="3762375" cy="971550"/>
          </a:xfrm>
          <a:prstGeom prst="rect">
            <a:avLst/>
          </a:prstGeom>
          <a:noFill/>
        </p:spPr>
        <p:txBody>
          <a:bodyPr wrap="square" lIns="0" rIns="0" tIns="0" bIns="0" anchor="t"/>
          <a:lstStyle/>
          <a:p>
            <a:pPr algn="l"/>
            <a:r>
              <a:rPr sz="1800" b="1" i="0" spc="150">
                <a:solidFill>
                  <a:srgbClr val="5E534A"/>
                </a:solidFill>
                <a:latin typeface="Arial"/>
              </a:rPr>
              <a:t>THE LINE OF YOUR DOCUMENT THAT DECIDED IT</a:t>
            </a:r>
          </a:p>
        </p:txBody>
      </p:sp>
      <p:sp>
        <p:nvSpPr>
          <p:cNvPr id="8" name="Rectangle 7"/>
          <p:cNvSpPr/>
          <p:nvPr/>
        </p:nvSpPr>
        <p:spPr>
          <a:xfrm>
            <a:off x="1047750" y="4733925"/>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6350" y="5181600"/>
            <a:ext cx="571500" cy="390525"/>
          </a:xfrm>
          <a:prstGeom prst="rect">
            <a:avLst/>
          </a:prstGeom>
          <a:noFill/>
        </p:spPr>
        <p:txBody>
          <a:bodyPr wrap="square" lIns="0" rIns="0" tIns="0" bIns="0" anchor="t"/>
          <a:lstStyle/>
          <a:p>
            <a:pPr algn="l"/>
            <a:r>
              <a:rPr sz="2400" b="1" i="0">
                <a:solidFill>
                  <a:srgbClr val="C35141"/>
                </a:solidFill>
                <a:latin typeface="Arial"/>
              </a:rPr>
              <a:t>1</a:t>
            </a:r>
          </a:p>
        </p:txBody>
      </p:sp>
      <p:sp>
        <p:nvSpPr>
          <p:cNvPr id="10" name="Rectangle 9"/>
          <p:cNvSpPr/>
          <p:nvPr/>
        </p:nvSpPr>
        <p:spPr>
          <a:xfrm>
            <a:off x="1047750" y="57626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7750" y="5772150"/>
            <a:ext cx="16192500" cy="7905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76350" y="5972175"/>
            <a:ext cx="571500" cy="390525"/>
          </a:xfrm>
          <a:prstGeom prst="rect">
            <a:avLst/>
          </a:prstGeom>
          <a:noFill/>
        </p:spPr>
        <p:txBody>
          <a:bodyPr wrap="square" lIns="0" rIns="0" tIns="0" bIns="0" anchor="t"/>
          <a:lstStyle/>
          <a:p>
            <a:pPr algn="l"/>
            <a:r>
              <a:rPr sz="2400" b="1" i="0">
                <a:solidFill>
                  <a:srgbClr val="C35141"/>
                </a:solidFill>
                <a:latin typeface="Arial"/>
              </a:rPr>
              <a:t>2</a:t>
            </a:r>
          </a:p>
        </p:txBody>
      </p:sp>
      <p:sp>
        <p:nvSpPr>
          <p:cNvPr id="13" name="Rectangle 12"/>
          <p:cNvSpPr/>
          <p:nvPr/>
        </p:nvSpPr>
        <p:spPr>
          <a:xfrm>
            <a:off x="1047750" y="65532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76350" y="6762750"/>
            <a:ext cx="571500" cy="390525"/>
          </a:xfrm>
          <a:prstGeom prst="rect">
            <a:avLst/>
          </a:prstGeom>
          <a:noFill/>
        </p:spPr>
        <p:txBody>
          <a:bodyPr wrap="square" lIns="0" rIns="0" tIns="0" bIns="0" anchor="t"/>
          <a:lstStyle/>
          <a:p>
            <a:pPr algn="l"/>
            <a:r>
              <a:rPr sz="2400" b="1" i="0">
                <a:solidFill>
                  <a:srgbClr val="C35141"/>
                </a:solidFill>
                <a:latin typeface="Arial"/>
              </a:rPr>
              <a:t>3</a:t>
            </a:r>
          </a:p>
        </p:txBody>
      </p:sp>
      <p:sp>
        <p:nvSpPr>
          <p:cNvPr id="15" name="Rectangle 14"/>
          <p:cNvSpPr/>
          <p:nvPr/>
        </p:nvSpPr>
        <p:spPr>
          <a:xfrm>
            <a:off x="1047750" y="7343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7750" y="7353300"/>
            <a:ext cx="16192500" cy="7905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76350" y="7553325"/>
            <a:ext cx="571500" cy="390525"/>
          </a:xfrm>
          <a:prstGeom prst="rect">
            <a:avLst/>
          </a:prstGeom>
          <a:noFill/>
        </p:spPr>
        <p:txBody>
          <a:bodyPr wrap="square" lIns="0" rIns="0" tIns="0" bIns="0" anchor="t"/>
          <a:lstStyle/>
          <a:p>
            <a:pPr algn="l"/>
            <a:r>
              <a:rPr sz="2400" b="1" i="0">
                <a:solidFill>
                  <a:srgbClr val="C35141"/>
                </a:solidFill>
                <a:latin typeface="Arial"/>
              </a:rPr>
              <a:t>4</a:t>
            </a:r>
          </a:p>
        </p:txBody>
      </p:sp>
      <p:sp>
        <p:nvSpPr>
          <p:cNvPr id="18" name="Rectangle 17"/>
          <p:cNvSpPr/>
          <p:nvPr/>
        </p:nvSpPr>
        <p:spPr>
          <a:xfrm>
            <a:off x="1047750" y="81343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7750" y="8467725"/>
            <a:ext cx="16192500" cy="1104900"/>
          </a:xfrm>
          <a:prstGeom prst="rect">
            <a:avLst/>
          </a:prstGeom>
          <a:noFill/>
        </p:spPr>
        <p:txBody>
          <a:bodyPr wrap="square" lIns="0" rIns="0" tIns="0" bIns="0" anchor="t"/>
          <a:lstStyle/>
          <a:p>
            <a:pPr algn="l">
              <a:lnSpc>
                <a:spcPct val="114000"/>
              </a:lnSpc>
            </a:pPr>
            <a:r>
              <a:rPr sz="2850" b="1" i="0">
                <a:solidFill>
                  <a:srgbClr val="50453D"/>
                </a:solidFill>
                <a:latin typeface="Arial"/>
              </a:rPr>
              <a:t>Controls in the advertising or hidden in the settings? · ₹9,000 or ₹18,000? · Camera or battery? · Online, or a shop where she can hold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THREE WORKED EXAMPLES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The line that decided the product</a:t>
            </a:r>
          </a:p>
        </p:txBody>
      </p:sp>
      <p:sp>
        <p:nvSpPr>
          <p:cNvPr id="4" name="Rectangle 3"/>
          <p:cNvSpPr/>
          <p:nvPr/>
        </p:nvSpPr>
        <p:spPr>
          <a:xfrm>
            <a:off x="10477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57550"/>
            <a:ext cx="4324350" cy="457200"/>
          </a:xfrm>
          <a:prstGeom prst="rect">
            <a:avLst/>
          </a:prstGeom>
          <a:noFill/>
        </p:spPr>
        <p:txBody>
          <a:bodyPr wrap="square" lIns="0" rIns="0" tIns="0" bIns="0" anchor="t"/>
          <a:lstStyle/>
          <a:p>
            <a:pPr algn="l"/>
            <a:r>
              <a:rPr sz="2400" b="1" i="0">
                <a:solidFill>
                  <a:srgbClr val="201914"/>
                </a:solidFill>
                <a:latin typeface="Arial"/>
              </a:rPr>
              <a:t>Country Delight · Meera, 38</a:t>
            </a:r>
          </a:p>
        </p:txBody>
      </p:sp>
      <p:sp>
        <p:nvSpPr>
          <p:cNvPr id="6" name="TextBox 5"/>
          <p:cNvSpPr txBox="1"/>
          <p:nvPr/>
        </p:nvSpPr>
        <p:spPr>
          <a:xfrm>
            <a:off x="1466850" y="396240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11pm worry: </a:t>
            </a:r>
            <a:r>
              <a:rPr sz="1800" b="0" i="0">
                <a:solidFill>
                  <a:srgbClr val="201914"/>
                </a:solidFill>
                <a:latin typeface="Arial"/>
              </a:rPr>
              <a:t>that something she serves her children every single day is quietly harming them.</a:t>
            </a:r>
          </a:p>
        </p:txBody>
      </p:sp>
      <p:sp>
        <p:nvSpPr>
          <p:cNvPr id="7" name="TextBox 6"/>
          <p:cNvSpPr txBox="1"/>
          <p:nvPr/>
        </p:nvSpPr>
        <p:spPr>
          <a:xfrm>
            <a:off x="1466850" y="5076825"/>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Trigger: </a:t>
            </a:r>
            <a:r>
              <a:rPr sz="1800" b="0" i="0">
                <a:solidFill>
                  <a:srgbClr val="201914"/>
                </a:solidFill>
                <a:latin typeface="Arial"/>
              </a:rPr>
              <a:t>a newspaper story about adulteration, in a week when her younger child was ill.</a:t>
            </a:r>
          </a:p>
        </p:txBody>
      </p:sp>
      <p:sp>
        <p:nvSpPr>
          <p:cNvPr id="8" name="TextBox 7"/>
          <p:cNvSpPr txBox="1"/>
          <p:nvPr/>
        </p:nvSpPr>
        <p:spPr>
          <a:xfrm>
            <a:off x="1466850" y="619125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Decided: </a:t>
            </a:r>
            <a:r>
              <a:rPr sz="1800" b="0" i="0">
                <a:solidFill>
                  <a:srgbClr val="201914"/>
                </a:solidFill>
                <a:latin typeface="Arial"/>
              </a:rPr>
              <a:t>a fixed pre-7am slot, sealed packs with dates, testing claims on the pack.</a:t>
            </a:r>
          </a:p>
        </p:txBody>
      </p:sp>
      <p:sp>
        <p:nvSpPr>
          <p:cNvPr id="9" name="Rectangle 8"/>
          <p:cNvSpPr/>
          <p:nvPr/>
        </p:nvSpPr>
        <p:spPr>
          <a:xfrm>
            <a:off x="1466850" y="7134225"/>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6850" y="7458075"/>
            <a:ext cx="4324350" cy="438150"/>
          </a:xfrm>
          <a:prstGeom prst="rect">
            <a:avLst/>
          </a:prstGeom>
          <a:noFill/>
        </p:spPr>
        <p:txBody>
          <a:bodyPr wrap="square" lIns="0" rIns="0" tIns="0" bIns="0" anchor="t"/>
          <a:lstStyle/>
          <a:p>
            <a:pPr algn="l"/>
            <a:r>
              <a:rPr sz="2250" b="1" i="0">
                <a:solidFill>
                  <a:srgbClr val="A8372A"/>
                </a:solidFill>
                <a:latin typeface="Arial"/>
              </a:rPr>
              <a:t>Self-image — responsibility</a:t>
            </a:r>
          </a:p>
        </p:txBody>
      </p:sp>
      <p:sp>
        <p:nvSpPr>
          <p:cNvPr id="11" name="TextBox 10"/>
          <p:cNvSpPr txBox="1"/>
          <p:nvPr/>
        </p:nvSpPr>
        <p:spPr>
          <a:xfrm>
            <a:off x="1466850" y="7991475"/>
            <a:ext cx="4324350" cy="1266825"/>
          </a:xfrm>
          <a:prstGeom prst="rect">
            <a:avLst/>
          </a:prstGeom>
          <a:noFill/>
        </p:spPr>
        <p:txBody>
          <a:bodyPr wrap="square" lIns="0" rIns="0" tIns="0" bIns="0" anchor="t"/>
          <a:lstStyle/>
          <a:p>
            <a:pPr algn="l">
              <a:lnSpc>
                <a:spcPct val="105000"/>
              </a:lnSpc>
            </a:pPr>
            <a:r>
              <a:rPr sz="1800" b="0" i="0">
                <a:solidFill>
                  <a:srgbClr val="564B42"/>
                </a:solidFill>
                <a:latin typeface="Arial"/>
              </a:rPr>
              <a:t>‘Health-conscious mother who prefers fresh products’ is too polite. It misses that she is frightened, and fear is what funds a 40 per cent premium.</a:t>
            </a:r>
          </a:p>
        </p:txBody>
      </p:sp>
      <p:sp>
        <p:nvSpPr>
          <p:cNvPr id="12" name="Rectangle 11"/>
          <p:cNvSpPr/>
          <p:nvPr/>
        </p:nvSpPr>
        <p:spPr>
          <a:xfrm>
            <a:off x="6553200" y="2838450"/>
            <a:ext cx="5162550" cy="68008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72300" y="3257550"/>
            <a:ext cx="4324350" cy="457200"/>
          </a:xfrm>
          <a:prstGeom prst="rect">
            <a:avLst/>
          </a:prstGeom>
          <a:noFill/>
        </p:spPr>
        <p:txBody>
          <a:bodyPr wrap="square" lIns="0" rIns="0" tIns="0" bIns="0" anchor="t"/>
          <a:lstStyle/>
          <a:p>
            <a:pPr algn="l"/>
            <a:r>
              <a:rPr sz="2400" b="1" i="0">
                <a:solidFill>
                  <a:srgbClr val="F5F1E9"/>
                </a:solidFill>
                <a:latin typeface="Arial"/>
              </a:rPr>
              <a:t>Cult.fit · Vivek, 29</a:t>
            </a:r>
          </a:p>
        </p:txBody>
      </p:sp>
      <p:sp>
        <p:nvSpPr>
          <p:cNvPr id="14" name="TextBox 13"/>
          <p:cNvSpPr txBox="1"/>
          <p:nvPr/>
        </p:nvSpPr>
        <p:spPr>
          <a:xfrm>
            <a:off x="6972300" y="3962400"/>
            <a:ext cx="4324350" cy="962025"/>
          </a:xfrm>
          <a:prstGeom prst="rect">
            <a:avLst/>
          </a:prstGeom>
          <a:noFill/>
        </p:spPr>
        <p:txBody>
          <a:bodyPr wrap="square" lIns="0" rIns="0" tIns="0" bIns="0" anchor="t"/>
          <a:lstStyle/>
          <a:p>
            <a:pPr algn="l">
              <a:lnSpc>
                <a:spcPct val="104000"/>
              </a:lnSpc>
            </a:pPr>
            <a:r>
              <a:rPr sz="1800" b="1" i="0">
                <a:solidFill>
                  <a:srgbClr val="F5F1E9"/>
                </a:solidFill>
                <a:latin typeface="Arial"/>
              </a:rPr>
              <a:t>11pm worry: </a:t>
            </a:r>
            <a:r>
              <a:rPr sz="1800" b="0" i="0">
                <a:solidFill>
                  <a:srgbClr val="F5F1E9"/>
                </a:solidFill>
                <a:latin typeface="Arial"/>
              </a:rPr>
              <a:t>that he is becoming someone who does not follow through on anything.</a:t>
            </a:r>
          </a:p>
        </p:txBody>
      </p:sp>
      <p:sp>
        <p:nvSpPr>
          <p:cNvPr id="15" name="TextBox 14"/>
          <p:cNvSpPr txBox="1"/>
          <p:nvPr/>
        </p:nvSpPr>
        <p:spPr>
          <a:xfrm>
            <a:off x="6972300" y="5076825"/>
            <a:ext cx="4324350" cy="666750"/>
          </a:xfrm>
          <a:prstGeom prst="rect">
            <a:avLst/>
          </a:prstGeom>
          <a:noFill/>
        </p:spPr>
        <p:txBody>
          <a:bodyPr wrap="square" lIns="0" rIns="0" tIns="0" bIns="0" anchor="t"/>
          <a:lstStyle/>
          <a:p>
            <a:pPr algn="l">
              <a:lnSpc>
                <a:spcPct val="104000"/>
              </a:lnSpc>
            </a:pPr>
            <a:r>
              <a:rPr sz="1800" b="1" i="0">
                <a:solidFill>
                  <a:srgbClr val="F5F1E9"/>
                </a:solidFill>
                <a:latin typeface="Arial"/>
              </a:rPr>
              <a:t>Trigger: </a:t>
            </a:r>
            <a:r>
              <a:rPr sz="1800" b="0" i="0">
                <a:solidFill>
                  <a:srgbClr val="F5F1E9"/>
                </a:solidFill>
                <a:latin typeface="Arial"/>
              </a:rPr>
              <a:t>a photograph from a wedding that he did not want to look at twice.</a:t>
            </a:r>
          </a:p>
        </p:txBody>
      </p:sp>
      <p:sp>
        <p:nvSpPr>
          <p:cNvPr id="16" name="TextBox 15"/>
          <p:cNvSpPr txBox="1"/>
          <p:nvPr/>
        </p:nvSpPr>
        <p:spPr>
          <a:xfrm>
            <a:off x="6972300" y="5895975"/>
            <a:ext cx="4324350" cy="962025"/>
          </a:xfrm>
          <a:prstGeom prst="rect">
            <a:avLst/>
          </a:prstGeom>
          <a:noFill/>
        </p:spPr>
        <p:txBody>
          <a:bodyPr wrap="square" lIns="0" rIns="0" tIns="0" bIns="0" anchor="t"/>
          <a:lstStyle/>
          <a:p>
            <a:pPr algn="l">
              <a:lnSpc>
                <a:spcPct val="104000"/>
              </a:lnSpc>
            </a:pPr>
            <a:r>
              <a:rPr sz="1800" b="1" i="0">
                <a:solidFill>
                  <a:srgbClr val="F5F1E9"/>
                </a:solidFill>
                <a:latin typeface="Arial"/>
              </a:rPr>
              <a:t>Decided: </a:t>
            </a:r>
            <a:r>
              <a:rPr sz="1800" b="0" i="0">
                <a:solidFill>
                  <a:srgbClr val="F5F1E9"/>
                </a:solidFill>
                <a:latin typeface="Arial"/>
              </a:rPr>
              <a:t>booked classes with cancellation penalties, streaks, and a trainer who uses his name.</a:t>
            </a:r>
          </a:p>
        </p:txBody>
      </p:sp>
      <p:sp>
        <p:nvSpPr>
          <p:cNvPr id="17" name="Rectangle 16"/>
          <p:cNvSpPr/>
          <p:nvPr/>
        </p:nvSpPr>
        <p:spPr>
          <a:xfrm>
            <a:off x="6972300" y="6781800"/>
            <a:ext cx="4210050" cy="19050"/>
          </a:xfrm>
          <a:prstGeom prst="rect">
            <a:avLst/>
          </a:prstGeom>
          <a:solidFill>
            <a:srgbClr val="504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72300" y="7105650"/>
            <a:ext cx="4324350" cy="790575"/>
          </a:xfrm>
          <a:prstGeom prst="rect">
            <a:avLst/>
          </a:prstGeom>
          <a:noFill/>
        </p:spPr>
        <p:txBody>
          <a:bodyPr wrap="square" lIns="0" rIns="0" tIns="0" bIns="0" anchor="t"/>
          <a:lstStyle/>
          <a:p>
            <a:pPr algn="l"/>
            <a:r>
              <a:rPr sz="2250" b="1" i="0">
                <a:solidFill>
                  <a:srgbClr val="FFAF9F"/>
                </a:solidFill>
                <a:latin typeface="Arial"/>
              </a:rPr>
              <a:t>Self-image — a history of quitting</a:t>
            </a:r>
          </a:p>
        </p:txBody>
      </p:sp>
      <p:sp>
        <p:nvSpPr>
          <p:cNvPr id="19" name="TextBox 18"/>
          <p:cNvSpPr txBox="1"/>
          <p:nvPr/>
        </p:nvSpPr>
        <p:spPr>
          <a:xfrm>
            <a:off x="6972300" y="7991475"/>
            <a:ext cx="4324350" cy="1266825"/>
          </a:xfrm>
          <a:prstGeom prst="rect">
            <a:avLst/>
          </a:prstGeom>
          <a:noFill/>
        </p:spPr>
        <p:txBody>
          <a:bodyPr wrap="square" lIns="0" rIns="0" tIns="0" bIns="0" anchor="t"/>
          <a:lstStyle/>
          <a:p>
            <a:pPr algn="l">
              <a:lnSpc>
                <a:spcPct val="105000"/>
              </a:lnSpc>
            </a:pPr>
            <a:r>
              <a:rPr sz="1800" b="0" i="0">
                <a:solidFill>
                  <a:srgbClr val="C8BBB1"/>
                </a:solidFill>
                <a:latin typeface="Arial"/>
              </a:rPr>
              <a:t>‘Fitness enthusiast who wants to get in shape.’ The word enthusiast is the flattering error: he has quit twice, and that history is the entire design brief.</a:t>
            </a:r>
          </a:p>
        </p:txBody>
      </p:sp>
      <p:sp>
        <p:nvSpPr>
          <p:cNvPr id="20" name="Rectangle 19"/>
          <p:cNvSpPr/>
          <p:nvPr/>
        </p:nvSpPr>
        <p:spPr>
          <a:xfrm>
            <a:off x="120586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477750" y="3257550"/>
            <a:ext cx="4324350" cy="457200"/>
          </a:xfrm>
          <a:prstGeom prst="rect">
            <a:avLst/>
          </a:prstGeom>
          <a:noFill/>
        </p:spPr>
        <p:txBody>
          <a:bodyPr wrap="square" lIns="0" rIns="0" tIns="0" bIns="0" anchor="t"/>
          <a:lstStyle/>
          <a:p>
            <a:pPr algn="l"/>
            <a:r>
              <a:rPr sz="2400" b="1" i="0">
                <a:solidFill>
                  <a:srgbClr val="201914"/>
                </a:solidFill>
                <a:latin typeface="Arial"/>
              </a:rPr>
              <a:t>Zivame · Divya, 25</a:t>
            </a:r>
          </a:p>
        </p:txBody>
      </p:sp>
      <p:sp>
        <p:nvSpPr>
          <p:cNvPr id="22" name="TextBox 21"/>
          <p:cNvSpPr txBox="1"/>
          <p:nvPr/>
        </p:nvSpPr>
        <p:spPr>
          <a:xfrm>
            <a:off x="12477750" y="396240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11pm worry: </a:t>
            </a:r>
            <a:r>
              <a:rPr sz="1800" b="0" i="0">
                <a:solidFill>
                  <a:srgbClr val="201914"/>
                </a:solidFill>
                <a:latin typeface="Arial"/>
              </a:rPr>
              <a:t>nothing she would ever say out loud to a shopkeeper — which is precisely the point.</a:t>
            </a:r>
          </a:p>
        </p:txBody>
      </p:sp>
      <p:sp>
        <p:nvSpPr>
          <p:cNvPr id="23" name="TextBox 22"/>
          <p:cNvSpPr txBox="1"/>
          <p:nvPr/>
        </p:nvSpPr>
        <p:spPr>
          <a:xfrm>
            <a:off x="12477750" y="5076825"/>
            <a:ext cx="4324350" cy="666750"/>
          </a:xfrm>
          <a:prstGeom prst="rect">
            <a:avLst/>
          </a:prstGeom>
          <a:noFill/>
        </p:spPr>
        <p:txBody>
          <a:bodyPr wrap="square" lIns="0" rIns="0" tIns="0" bIns="0" anchor="t"/>
          <a:lstStyle/>
          <a:p>
            <a:pPr algn="l">
              <a:lnSpc>
                <a:spcPct val="104000"/>
              </a:lnSpc>
            </a:pPr>
            <a:r>
              <a:rPr sz="1800" b="1" i="0">
                <a:solidFill>
                  <a:srgbClr val="201914"/>
                </a:solidFill>
                <a:latin typeface="Arial"/>
              </a:rPr>
              <a:t>Trigger: </a:t>
            </a:r>
            <a:r>
              <a:rPr sz="1800" b="0" i="0">
                <a:solidFill>
                  <a:srgbClr val="201914"/>
                </a:solidFill>
                <a:latin typeface="Arial"/>
              </a:rPr>
              <a:t>discovering she had been wearing the wrong size for years.</a:t>
            </a:r>
          </a:p>
        </p:txBody>
      </p:sp>
      <p:sp>
        <p:nvSpPr>
          <p:cNvPr id="24" name="TextBox 23"/>
          <p:cNvSpPr txBox="1"/>
          <p:nvPr/>
        </p:nvSpPr>
        <p:spPr>
          <a:xfrm>
            <a:off x="12477750" y="5895975"/>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Decided: </a:t>
            </a:r>
            <a:r>
              <a:rPr sz="1800" b="0" i="0">
                <a:solidFill>
                  <a:srgbClr val="201914"/>
                </a:solidFill>
                <a:latin typeface="Arial"/>
              </a:rPr>
              <a:t>discreet packaging, a fit quiz instead of a fitting room, private fitting rooms later.</a:t>
            </a:r>
          </a:p>
        </p:txBody>
      </p:sp>
      <p:sp>
        <p:nvSpPr>
          <p:cNvPr id="25" name="Rectangle 24"/>
          <p:cNvSpPr/>
          <p:nvPr/>
        </p:nvSpPr>
        <p:spPr>
          <a:xfrm>
            <a:off x="12477750" y="7134225"/>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77750" y="7458075"/>
            <a:ext cx="4324350" cy="438150"/>
          </a:xfrm>
          <a:prstGeom prst="rect">
            <a:avLst/>
          </a:prstGeom>
          <a:noFill/>
        </p:spPr>
        <p:txBody>
          <a:bodyPr wrap="square" lIns="0" rIns="0" tIns="0" bIns="0" anchor="t"/>
          <a:lstStyle/>
          <a:p>
            <a:pPr algn="l"/>
            <a:r>
              <a:rPr sz="2250" b="1" i="0">
                <a:solidFill>
                  <a:srgbClr val="A8372A"/>
                </a:solidFill>
                <a:latin typeface="Arial"/>
              </a:rPr>
              <a:t>Self-image — embarrassment</a:t>
            </a:r>
          </a:p>
        </p:txBody>
      </p:sp>
      <p:sp>
        <p:nvSpPr>
          <p:cNvPr id="27" name="TextBox 26"/>
          <p:cNvSpPr txBox="1"/>
          <p:nvPr/>
        </p:nvSpPr>
        <p:spPr>
          <a:xfrm>
            <a:off x="12477750" y="7991475"/>
            <a:ext cx="4324350" cy="1266825"/>
          </a:xfrm>
          <a:prstGeom prst="rect">
            <a:avLst/>
          </a:prstGeom>
          <a:noFill/>
        </p:spPr>
        <p:txBody>
          <a:bodyPr wrap="square" lIns="0" rIns="0" tIns="0" bIns="0" anchor="t"/>
          <a:lstStyle/>
          <a:p>
            <a:pPr algn="l">
              <a:lnSpc>
                <a:spcPct val="105000"/>
              </a:lnSpc>
            </a:pPr>
            <a:r>
              <a:rPr sz="1800" b="0" i="0">
                <a:solidFill>
                  <a:srgbClr val="564B42"/>
                </a:solidFill>
                <a:latin typeface="Arial"/>
              </a:rPr>
              <a:t>‘Young woman shopping for innerwear online’ records the channel and omits the reason, which is the only line that mattered.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THREE MORE, IN OTHER CATEGORIES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Where the insight lives changes the product</a:t>
            </a:r>
          </a:p>
        </p:txBody>
      </p:sp>
      <p:sp>
        <p:nvSpPr>
          <p:cNvPr id="4" name="Rectangle 3"/>
          <p:cNvSpPr/>
          <p:nvPr/>
        </p:nvSpPr>
        <p:spPr>
          <a:xfrm>
            <a:off x="10477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57550"/>
            <a:ext cx="4324350" cy="838200"/>
          </a:xfrm>
          <a:prstGeom prst="rect">
            <a:avLst/>
          </a:prstGeom>
          <a:noFill/>
        </p:spPr>
        <p:txBody>
          <a:bodyPr wrap="square" lIns="0" rIns="0" tIns="0" bIns="0" anchor="t"/>
          <a:lstStyle/>
          <a:p>
            <a:pPr algn="l"/>
            <a:r>
              <a:rPr sz="2400" b="1" i="0">
                <a:solidFill>
                  <a:srgbClr val="201914"/>
                </a:solidFill>
                <a:latin typeface="Arial"/>
              </a:rPr>
              <a:t>A woman's first day at a gym</a:t>
            </a:r>
          </a:p>
        </p:txBody>
      </p:sp>
      <p:sp>
        <p:nvSpPr>
          <p:cNvPr id="6" name="TextBox 5"/>
          <p:cNvSpPr txBox="1"/>
          <p:nvPr/>
        </p:nvSpPr>
        <p:spPr>
          <a:xfrm>
            <a:off x="1466850" y="4343400"/>
            <a:ext cx="4324350" cy="666750"/>
          </a:xfrm>
          <a:prstGeom prst="rect">
            <a:avLst/>
          </a:prstGeom>
          <a:noFill/>
        </p:spPr>
        <p:txBody>
          <a:bodyPr wrap="square" lIns="0" rIns="0" tIns="0" bIns="0" anchor="t"/>
          <a:lstStyle/>
          <a:p>
            <a:pPr algn="l">
              <a:lnSpc>
                <a:spcPct val="104000"/>
              </a:lnSpc>
            </a:pPr>
            <a:r>
              <a:rPr sz="1800" b="1" i="0">
                <a:solidFill>
                  <a:srgbClr val="201914"/>
                </a:solidFill>
                <a:latin typeface="Arial"/>
              </a:rPr>
              <a:t>Say: </a:t>
            </a:r>
            <a:r>
              <a:rPr sz="1800" b="0" i="0">
                <a:solidFill>
                  <a:srgbClr val="201914"/>
                </a:solidFill>
                <a:latin typeface="Arial"/>
              </a:rPr>
              <a:t>‘I want to get fitter and build a routine.’</a:t>
            </a:r>
          </a:p>
        </p:txBody>
      </p:sp>
      <p:sp>
        <p:nvSpPr>
          <p:cNvPr id="7" name="TextBox 6"/>
          <p:cNvSpPr txBox="1"/>
          <p:nvPr/>
        </p:nvSpPr>
        <p:spPr>
          <a:xfrm>
            <a:off x="1466850" y="516255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Do: </a:t>
            </a:r>
            <a:r>
              <a:rPr sz="1800" b="0" i="0">
                <a:solidFill>
                  <a:srgbClr val="201914"/>
                </a:solidFill>
                <a:latin typeface="Arial"/>
              </a:rPr>
              <a:t>uses only the treadmill, comes at the emptiest hour, leaves after twenty-five minutes, stops in week three.</a:t>
            </a:r>
          </a:p>
        </p:txBody>
      </p:sp>
      <p:sp>
        <p:nvSpPr>
          <p:cNvPr id="8" name="TextBox 7"/>
          <p:cNvSpPr txBox="1"/>
          <p:nvPr/>
        </p:nvSpPr>
        <p:spPr>
          <a:xfrm>
            <a:off x="1466850" y="6276975"/>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Feel: </a:t>
            </a:r>
            <a:r>
              <a:rPr sz="1800" b="0" i="0">
                <a:solidFill>
                  <a:srgbClr val="201914"/>
                </a:solidFill>
                <a:latin typeface="Arial"/>
              </a:rPr>
              <a:t>exposure — being visibly the least competent person in a room of competent people.</a:t>
            </a:r>
          </a:p>
        </p:txBody>
      </p:sp>
      <p:sp>
        <p:nvSpPr>
          <p:cNvPr id="9" name="Rectangle 8"/>
          <p:cNvSpPr/>
          <p:nvPr/>
        </p:nvSpPr>
        <p:spPr>
          <a:xfrm>
            <a:off x="1466850" y="7134225"/>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6850" y="7458075"/>
            <a:ext cx="4324350" cy="438150"/>
          </a:xfrm>
          <a:prstGeom prst="rect">
            <a:avLst/>
          </a:prstGeom>
          <a:noFill/>
        </p:spPr>
        <p:txBody>
          <a:bodyPr wrap="square" lIns="0" rIns="0" tIns="0" bIns="0" anchor="t"/>
          <a:lstStyle/>
          <a:p>
            <a:pPr algn="l"/>
            <a:r>
              <a:rPr sz="2250" b="1" i="0">
                <a:solidFill>
                  <a:srgbClr val="A8372A"/>
                </a:solidFill>
                <a:latin typeface="Arial"/>
              </a:rPr>
              <a:t>Feel carried it</a:t>
            </a:r>
          </a:p>
        </p:txBody>
      </p:sp>
      <p:sp>
        <p:nvSpPr>
          <p:cNvPr id="11" name="TextBox 10"/>
          <p:cNvSpPr txBox="1"/>
          <p:nvPr/>
        </p:nvSpPr>
        <p:spPr>
          <a:xfrm>
            <a:off x="1466850" y="7991475"/>
            <a:ext cx="4324350" cy="1266825"/>
          </a:xfrm>
          <a:prstGeom prst="rect">
            <a:avLst/>
          </a:prstGeom>
          <a:noFill/>
        </p:spPr>
        <p:txBody>
          <a:bodyPr wrap="square" lIns="0" rIns="0" tIns="0" bIns="0" anchor="t"/>
          <a:lstStyle/>
          <a:p>
            <a:pPr algn="l">
              <a:lnSpc>
                <a:spcPct val="105000"/>
              </a:lnSpc>
            </a:pPr>
            <a:r>
              <a:rPr sz="1800" b="0" i="0">
                <a:solidFill>
                  <a:srgbClr val="564B42"/>
                </a:solidFill>
                <a:latin typeface="Arial"/>
              </a:rPr>
              <a:t>Drop-off in week three is almost never a motivation problem. It is an exposure problem, and it is visible in which equipment goes unused.</a:t>
            </a:r>
          </a:p>
        </p:txBody>
      </p:sp>
      <p:sp>
        <p:nvSpPr>
          <p:cNvPr id="12" name="Rectangle 11"/>
          <p:cNvSpPr/>
          <p:nvPr/>
        </p:nvSpPr>
        <p:spPr>
          <a:xfrm>
            <a:off x="6553200" y="2838450"/>
            <a:ext cx="5162550" cy="68008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72300" y="3257550"/>
            <a:ext cx="4324350" cy="838200"/>
          </a:xfrm>
          <a:prstGeom prst="rect">
            <a:avLst/>
          </a:prstGeom>
          <a:noFill/>
        </p:spPr>
        <p:txBody>
          <a:bodyPr wrap="square" lIns="0" rIns="0" tIns="0" bIns="0" anchor="t"/>
          <a:lstStyle/>
          <a:p>
            <a:pPr algn="l"/>
            <a:r>
              <a:rPr sz="2400" b="1" i="0">
                <a:solidFill>
                  <a:srgbClr val="F5F1E9"/>
                </a:solidFill>
                <a:latin typeface="Arial"/>
              </a:rPr>
              <a:t>A kirana owner offered a QR code</a:t>
            </a:r>
          </a:p>
        </p:txBody>
      </p:sp>
      <p:sp>
        <p:nvSpPr>
          <p:cNvPr id="14" name="TextBox 13"/>
          <p:cNvSpPr txBox="1"/>
          <p:nvPr/>
        </p:nvSpPr>
        <p:spPr>
          <a:xfrm>
            <a:off x="6972300" y="4343400"/>
            <a:ext cx="4324350" cy="666750"/>
          </a:xfrm>
          <a:prstGeom prst="rect">
            <a:avLst/>
          </a:prstGeom>
          <a:noFill/>
        </p:spPr>
        <p:txBody>
          <a:bodyPr wrap="square" lIns="0" rIns="0" tIns="0" bIns="0" anchor="t"/>
          <a:lstStyle/>
          <a:p>
            <a:pPr algn="l">
              <a:lnSpc>
                <a:spcPct val="104000"/>
              </a:lnSpc>
            </a:pPr>
            <a:r>
              <a:rPr sz="1800" b="1" i="0">
                <a:solidFill>
                  <a:srgbClr val="F5F1E9"/>
                </a:solidFill>
                <a:latin typeface="Arial"/>
              </a:rPr>
              <a:t>Say: </a:t>
            </a:r>
            <a:r>
              <a:rPr sz="1800" b="0" i="0">
                <a:solidFill>
                  <a:srgbClr val="F5F1E9"/>
                </a:solidFill>
                <a:latin typeface="Arial"/>
              </a:rPr>
              <a:t>‘My customers pay cash. This is not necessary for a shop like mine.’</a:t>
            </a:r>
          </a:p>
        </p:txBody>
      </p:sp>
      <p:sp>
        <p:nvSpPr>
          <p:cNvPr id="15" name="TextBox 14"/>
          <p:cNvSpPr txBox="1"/>
          <p:nvPr/>
        </p:nvSpPr>
        <p:spPr>
          <a:xfrm>
            <a:off x="6972300" y="5162550"/>
            <a:ext cx="4324350" cy="962025"/>
          </a:xfrm>
          <a:prstGeom prst="rect">
            <a:avLst/>
          </a:prstGeom>
          <a:noFill/>
        </p:spPr>
        <p:txBody>
          <a:bodyPr wrap="square" lIns="0" rIns="0" tIns="0" bIns="0" anchor="t"/>
          <a:lstStyle/>
          <a:p>
            <a:pPr algn="l">
              <a:lnSpc>
                <a:spcPct val="104000"/>
              </a:lnSpc>
            </a:pPr>
            <a:r>
              <a:rPr sz="1800" b="1" i="0">
                <a:solidFill>
                  <a:srgbClr val="F5F1E9"/>
                </a:solidFill>
                <a:latin typeface="Arial"/>
              </a:rPr>
              <a:t>Do: </a:t>
            </a:r>
            <a:r>
              <a:rPr sz="1800" b="0" i="0">
                <a:solidFill>
                  <a:srgbClr val="F5F1E9"/>
                </a:solidFill>
                <a:latin typeface="Arial"/>
              </a:rPr>
              <a:t>accepts it, props it where he can see it, and checks the phone after every single payment for a month.</a:t>
            </a:r>
          </a:p>
        </p:txBody>
      </p:sp>
      <p:sp>
        <p:nvSpPr>
          <p:cNvPr id="16" name="TextBox 15"/>
          <p:cNvSpPr txBox="1"/>
          <p:nvPr/>
        </p:nvSpPr>
        <p:spPr>
          <a:xfrm>
            <a:off x="6972300" y="6276975"/>
            <a:ext cx="4324350" cy="962025"/>
          </a:xfrm>
          <a:prstGeom prst="rect">
            <a:avLst/>
          </a:prstGeom>
          <a:noFill/>
        </p:spPr>
        <p:txBody>
          <a:bodyPr wrap="square" lIns="0" rIns="0" tIns="0" bIns="0" anchor="t"/>
          <a:lstStyle/>
          <a:p>
            <a:pPr algn="l">
              <a:lnSpc>
                <a:spcPct val="104000"/>
              </a:lnSpc>
            </a:pPr>
            <a:r>
              <a:rPr sz="1800" b="1" i="0">
                <a:solidFill>
                  <a:srgbClr val="F5F1E9"/>
                </a:solidFill>
                <a:latin typeface="Arial"/>
              </a:rPr>
              <a:t>Think: </a:t>
            </a:r>
            <a:r>
              <a:rPr sz="1800" b="0" i="0">
                <a:solidFill>
                  <a:srgbClr val="F5F1E9"/>
                </a:solidFill>
                <a:latin typeface="Arial"/>
              </a:rPr>
              <a:t>will this show my income to somebody? What if the money does not arrive?</a:t>
            </a:r>
          </a:p>
        </p:txBody>
      </p:sp>
      <p:sp>
        <p:nvSpPr>
          <p:cNvPr id="17" name="Rectangle 16"/>
          <p:cNvSpPr/>
          <p:nvPr/>
        </p:nvSpPr>
        <p:spPr>
          <a:xfrm>
            <a:off x="6972300" y="7134225"/>
            <a:ext cx="4210050" cy="19050"/>
          </a:xfrm>
          <a:prstGeom prst="rect">
            <a:avLst/>
          </a:prstGeom>
          <a:solidFill>
            <a:srgbClr val="504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72300" y="7458075"/>
            <a:ext cx="4324350" cy="438150"/>
          </a:xfrm>
          <a:prstGeom prst="rect">
            <a:avLst/>
          </a:prstGeom>
          <a:noFill/>
        </p:spPr>
        <p:txBody>
          <a:bodyPr wrap="square" lIns="0" rIns="0" tIns="0" bIns="0" anchor="t"/>
          <a:lstStyle/>
          <a:p>
            <a:pPr algn="l"/>
            <a:r>
              <a:rPr sz="2250" b="1" i="0">
                <a:solidFill>
                  <a:srgbClr val="FFAF9F"/>
                </a:solidFill>
                <a:latin typeface="Arial"/>
              </a:rPr>
              <a:t>Do carried it</a:t>
            </a:r>
          </a:p>
        </p:txBody>
      </p:sp>
      <p:sp>
        <p:nvSpPr>
          <p:cNvPr id="19" name="TextBox 18"/>
          <p:cNvSpPr txBox="1"/>
          <p:nvPr/>
        </p:nvSpPr>
        <p:spPr>
          <a:xfrm>
            <a:off x="6972300" y="7991475"/>
            <a:ext cx="4324350" cy="1266825"/>
          </a:xfrm>
          <a:prstGeom prst="rect">
            <a:avLst/>
          </a:prstGeom>
          <a:noFill/>
        </p:spPr>
        <p:txBody>
          <a:bodyPr wrap="square" lIns="0" rIns="0" tIns="0" bIns="0" anchor="t"/>
          <a:lstStyle/>
          <a:p>
            <a:pPr algn="l">
              <a:lnSpc>
                <a:spcPct val="105000"/>
              </a:lnSpc>
            </a:pPr>
            <a:r>
              <a:rPr sz="1800" b="0" i="0">
                <a:solidFill>
                  <a:srgbClr val="C8BBB1"/>
                </a:solidFill>
                <a:latin typeface="Arial"/>
              </a:rPr>
              <a:t>The audio confirmation speaker on every counter in India exists because somebody watched the Do quadrant instead of arguing with the Say quadrant.</a:t>
            </a:r>
          </a:p>
        </p:txBody>
      </p:sp>
      <p:sp>
        <p:nvSpPr>
          <p:cNvPr id="20" name="Rectangle 19"/>
          <p:cNvSpPr/>
          <p:nvPr/>
        </p:nvSpPr>
        <p:spPr>
          <a:xfrm>
            <a:off x="120586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477750" y="3257550"/>
            <a:ext cx="4324350" cy="838200"/>
          </a:xfrm>
          <a:prstGeom prst="rect">
            <a:avLst/>
          </a:prstGeom>
          <a:noFill/>
        </p:spPr>
        <p:txBody>
          <a:bodyPr wrap="square" lIns="0" rIns="0" tIns="0" bIns="0" anchor="t"/>
          <a:lstStyle/>
          <a:p>
            <a:pPr algn="l"/>
            <a:r>
              <a:rPr sz="2400" b="1" i="0">
                <a:solidFill>
                  <a:srgbClr val="201914"/>
                </a:solidFill>
                <a:latin typeface="Arial"/>
              </a:rPr>
              <a:t>A woman taking a cab alone at 11pm</a:t>
            </a:r>
          </a:p>
        </p:txBody>
      </p:sp>
      <p:sp>
        <p:nvSpPr>
          <p:cNvPr id="22" name="TextBox 21"/>
          <p:cNvSpPr txBox="1"/>
          <p:nvPr/>
        </p:nvSpPr>
        <p:spPr>
          <a:xfrm>
            <a:off x="12477750" y="4343400"/>
            <a:ext cx="4324350" cy="371475"/>
          </a:xfrm>
          <a:prstGeom prst="rect">
            <a:avLst/>
          </a:prstGeom>
          <a:noFill/>
        </p:spPr>
        <p:txBody>
          <a:bodyPr wrap="square" lIns="0" rIns="0" tIns="0" bIns="0" anchor="t"/>
          <a:lstStyle/>
          <a:p>
            <a:pPr algn="l">
              <a:lnSpc>
                <a:spcPct val="104000"/>
              </a:lnSpc>
            </a:pPr>
            <a:r>
              <a:rPr sz="1800" b="1" i="0">
                <a:solidFill>
                  <a:srgbClr val="201914"/>
                </a:solidFill>
                <a:latin typeface="Arial"/>
              </a:rPr>
              <a:t>Say: </a:t>
            </a:r>
            <a:r>
              <a:rPr sz="1800" b="0" i="0">
                <a:solidFill>
                  <a:srgbClr val="201914"/>
                </a:solidFill>
                <a:latin typeface="Arial"/>
              </a:rPr>
              <a:t>‘It's fine, I do this all the time.’</a:t>
            </a:r>
          </a:p>
        </p:txBody>
      </p:sp>
      <p:sp>
        <p:nvSpPr>
          <p:cNvPr id="23" name="TextBox 22"/>
          <p:cNvSpPr txBox="1"/>
          <p:nvPr/>
        </p:nvSpPr>
        <p:spPr>
          <a:xfrm>
            <a:off x="12477750" y="4867275"/>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Do: </a:t>
            </a:r>
            <a:r>
              <a:rPr sz="1800" b="0" i="0">
                <a:solidFill>
                  <a:srgbClr val="201914"/>
                </a:solidFill>
                <a:latin typeface="Arial"/>
              </a:rPr>
              <a:t>shares the trip with two people, photographs the number plate, stays on a call, sits behind the driver.</a:t>
            </a:r>
          </a:p>
        </p:txBody>
      </p:sp>
      <p:sp>
        <p:nvSpPr>
          <p:cNvPr id="24" name="TextBox 23"/>
          <p:cNvSpPr txBox="1"/>
          <p:nvPr/>
        </p:nvSpPr>
        <p:spPr>
          <a:xfrm>
            <a:off x="12477750" y="5981700"/>
            <a:ext cx="4324350" cy="666750"/>
          </a:xfrm>
          <a:prstGeom prst="rect">
            <a:avLst/>
          </a:prstGeom>
          <a:noFill/>
        </p:spPr>
        <p:txBody>
          <a:bodyPr wrap="square" lIns="0" rIns="0" tIns="0" bIns="0" anchor="t"/>
          <a:lstStyle/>
          <a:p>
            <a:pPr algn="l">
              <a:lnSpc>
                <a:spcPct val="104000"/>
              </a:lnSpc>
            </a:pPr>
            <a:r>
              <a:rPr sz="1800" b="1" i="0">
                <a:solidFill>
                  <a:srgbClr val="201914"/>
                </a:solidFill>
                <a:latin typeface="Arial"/>
              </a:rPr>
              <a:t>Feel: </a:t>
            </a:r>
            <a:r>
              <a:rPr sz="1800" b="0" i="0">
                <a:solidFill>
                  <a:srgbClr val="201914"/>
                </a:solidFill>
                <a:latin typeface="Arial"/>
              </a:rPr>
              <a:t>alertness that does not switch off for the whole journey.</a:t>
            </a:r>
          </a:p>
        </p:txBody>
      </p:sp>
      <p:sp>
        <p:nvSpPr>
          <p:cNvPr id="25" name="Rectangle 24"/>
          <p:cNvSpPr/>
          <p:nvPr/>
        </p:nvSpPr>
        <p:spPr>
          <a:xfrm>
            <a:off x="12477750" y="7134225"/>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77750" y="7458075"/>
            <a:ext cx="4324350" cy="438150"/>
          </a:xfrm>
          <a:prstGeom prst="rect">
            <a:avLst/>
          </a:prstGeom>
          <a:noFill/>
        </p:spPr>
        <p:txBody>
          <a:bodyPr wrap="square" lIns="0" rIns="0" tIns="0" bIns="0" anchor="t"/>
          <a:lstStyle/>
          <a:p>
            <a:pPr algn="l"/>
            <a:r>
              <a:rPr sz="2250" b="1" i="0">
                <a:solidFill>
                  <a:srgbClr val="A8372A"/>
                </a:solidFill>
                <a:latin typeface="Arial"/>
              </a:rPr>
              <a:t>Do carried it</a:t>
            </a:r>
          </a:p>
        </p:txBody>
      </p:sp>
      <p:sp>
        <p:nvSpPr>
          <p:cNvPr id="27" name="TextBox 26"/>
          <p:cNvSpPr txBox="1"/>
          <p:nvPr/>
        </p:nvSpPr>
        <p:spPr>
          <a:xfrm>
            <a:off x="12477750" y="7991475"/>
            <a:ext cx="4324350" cy="1266825"/>
          </a:xfrm>
          <a:prstGeom prst="rect">
            <a:avLst/>
          </a:prstGeom>
          <a:noFill/>
        </p:spPr>
        <p:txBody>
          <a:bodyPr wrap="square" lIns="0" rIns="0" tIns="0" bIns="0" anchor="t"/>
          <a:lstStyle/>
          <a:p>
            <a:pPr algn="l">
              <a:lnSpc>
                <a:spcPct val="105000"/>
              </a:lnSpc>
            </a:pPr>
            <a:r>
              <a:rPr sz="1800" b="0" i="0">
                <a:solidFill>
                  <a:srgbClr val="564B42"/>
                </a:solidFill>
                <a:latin typeface="Arial"/>
              </a:rPr>
              <a:t>Count the rituals. Four workarounds performed silently every night is a product specification written by the customer without being asked.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READ AFTER CLASS · DO NOT MEMORISE</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Six terms, in plain English</a:t>
            </a:r>
          </a:p>
        </p:txBody>
      </p:sp>
      <p:sp>
        <p:nvSpPr>
          <p:cNvPr id="4" name="TextBox 3"/>
          <p:cNvSpPr txBox="1"/>
          <p:nvPr/>
        </p:nvSpPr>
        <p:spPr>
          <a:xfrm>
            <a:off x="1047750" y="2838450"/>
            <a:ext cx="5191125" cy="533400"/>
          </a:xfrm>
          <a:prstGeom prst="rect">
            <a:avLst/>
          </a:prstGeom>
          <a:noFill/>
        </p:spPr>
        <p:txBody>
          <a:bodyPr wrap="square" lIns="0" rIns="0" tIns="0" bIns="0" anchor="t"/>
          <a:lstStyle/>
          <a:p>
            <a:pPr algn="l"/>
            <a:r>
              <a:rPr sz="2850" b="1" i="0">
                <a:solidFill>
                  <a:srgbClr val="201914"/>
                </a:solidFill>
                <a:latin typeface="Arial"/>
              </a:rPr>
              <a:t>The seven-slot persona</a:t>
            </a:r>
          </a:p>
        </p:txBody>
      </p:sp>
      <p:sp>
        <p:nvSpPr>
          <p:cNvPr id="5" name="Rectangle 4"/>
          <p:cNvSpPr/>
          <p:nvPr/>
        </p:nvSpPr>
        <p:spPr>
          <a:xfrm>
            <a:off x="1047750" y="3486150"/>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3714750"/>
            <a:ext cx="5191125" cy="1695450"/>
          </a:xfrm>
          <a:prstGeom prst="rect">
            <a:avLst/>
          </a:prstGeom>
          <a:noFill/>
        </p:spPr>
        <p:txBody>
          <a:bodyPr wrap="square" lIns="0" rIns="0" tIns="0" bIns="0" anchor="t"/>
          <a:lstStyle/>
          <a:p>
            <a:pPr algn="l">
              <a:lnSpc>
                <a:spcPct val="105000"/>
              </a:lnSpc>
            </a:pPr>
            <a:r>
              <a:rPr sz="1950" b="0" i="0">
                <a:solidFill>
                  <a:srgbClr val="201914"/>
                </a:solidFill>
                <a:latin typeface="Arial"/>
              </a:rPr>
              <a:t>One named person in seven parts — name, demographics, goals, frustrations, current behaviour, day in the life, trigger — specific enough that a stranger could say whether they have met someone like that.</a:t>
            </a:r>
          </a:p>
        </p:txBody>
      </p:sp>
      <p:sp>
        <p:nvSpPr>
          <p:cNvPr id="7" name="TextBox 6"/>
          <p:cNvSpPr txBox="1"/>
          <p:nvPr/>
        </p:nvSpPr>
        <p:spPr>
          <a:xfrm>
            <a:off x="6619875" y="2838450"/>
            <a:ext cx="5191125" cy="533400"/>
          </a:xfrm>
          <a:prstGeom prst="rect">
            <a:avLst/>
          </a:prstGeom>
          <a:noFill/>
        </p:spPr>
        <p:txBody>
          <a:bodyPr wrap="square" lIns="0" rIns="0" tIns="0" bIns="0" anchor="t"/>
          <a:lstStyle/>
          <a:p>
            <a:pPr algn="l"/>
            <a:r>
              <a:rPr sz="2850" b="1" i="0">
                <a:solidFill>
                  <a:srgbClr val="201914"/>
                </a:solidFill>
                <a:latin typeface="Arial"/>
              </a:rPr>
              <a:t>The trigger event</a:t>
            </a:r>
          </a:p>
        </p:txBody>
      </p:sp>
      <p:sp>
        <p:nvSpPr>
          <p:cNvPr id="8" name="Rectangle 7"/>
          <p:cNvSpPr/>
          <p:nvPr/>
        </p:nvSpPr>
        <p:spPr>
          <a:xfrm>
            <a:off x="6619875" y="3486150"/>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19875" y="3714750"/>
            <a:ext cx="5191125" cy="1695450"/>
          </a:xfrm>
          <a:prstGeom prst="rect">
            <a:avLst/>
          </a:prstGeom>
          <a:noFill/>
        </p:spPr>
        <p:txBody>
          <a:bodyPr wrap="square" lIns="0" rIns="0" tIns="0" bIns="0" anchor="t"/>
          <a:lstStyle/>
          <a:p>
            <a:pPr algn="l">
              <a:lnSpc>
                <a:spcPct val="105000"/>
              </a:lnSpc>
            </a:pPr>
            <a:r>
              <a:rPr sz="1950" b="0" i="0">
                <a:solidFill>
                  <a:srgbClr val="201914"/>
                </a:solidFill>
                <a:latin typeface="Arial"/>
              </a:rPr>
              <a:t>The specific event that turns a standing need into an active search. A ₹500 late fee. A cracked screen. It tells you when to be present, which is worth more than knowing who they are.</a:t>
            </a:r>
          </a:p>
        </p:txBody>
      </p:sp>
      <p:sp>
        <p:nvSpPr>
          <p:cNvPr id="10" name="TextBox 9"/>
          <p:cNvSpPr txBox="1"/>
          <p:nvPr/>
        </p:nvSpPr>
        <p:spPr>
          <a:xfrm>
            <a:off x="12192000" y="2838450"/>
            <a:ext cx="5191125" cy="533400"/>
          </a:xfrm>
          <a:prstGeom prst="rect">
            <a:avLst/>
          </a:prstGeom>
          <a:noFill/>
        </p:spPr>
        <p:txBody>
          <a:bodyPr wrap="square" lIns="0" rIns="0" tIns="0" bIns="0" anchor="t"/>
          <a:lstStyle/>
          <a:p>
            <a:pPr algn="l"/>
            <a:r>
              <a:rPr sz="2850" b="1" i="0">
                <a:solidFill>
                  <a:srgbClr val="201914"/>
                </a:solidFill>
                <a:latin typeface="Arial"/>
              </a:rPr>
              <a:t>Segment, ICP and persona</a:t>
            </a:r>
          </a:p>
        </p:txBody>
      </p:sp>
      <p:sp>
        <p:nvSpPr>
          <p:cNvPr id="11" name="Rectangle 10"/>
          <p:cNvSpPr/>
          <p:nvPr/>
        </p:nvSpPr>
        <p:spPr>
          <a:xfrm>
            <a:off x="12192000" y="3486150"/>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92000" y="3714750"/>
            <a:ext cx="5191125" cy="1371600"/>
          </a:xfrm>
          <a:prstGeom prst="rect">
            <a:avLst/>
          </a:prstGeom>
          <a:noFill/>
        </p:spPr>
        <p:txBody>
          <a:bodyPr wrap="square" lIns="0" rIns="0" tIns="0" bIns="0" anchor="t"/>
          <a:lstStyle/>
          <a:p>
            <a:pPr algn="l">
              <a:lnSpc>
                <a:spcPct val="105000"/>
              </a:lnSpc>
            </a:pPr>
            <a:r>
              <a:rPr sz="1950" b="0" i="0">
                <a:solidFill>
                  <a:srgbClr val="201914"/>
                </a:solidFill>
                <a:latin typeface="Arial"/>
              </a:rPr>
              <a:t>The segment is the group you serve, the ICP is the filter that says who qualifies, and the persona is the one human being you keep in mind when you argue.</a:t>
            </a:r>
          </a:p>
        </p:txBody>
      </p:sp>
      <p:sp>
        <p:nvSpPr>
          <p:cNvPr id="13" name="TextBox 12"/>
          <p:cNvSpPr txBox="1"/>
          <p:nvPr/>
        </p:nvSpPr>
        <p:spPr>
          <a:xfrm>
            <a:off x="1047750" y="6238875"/>
            <a:ext cx="5191125" cy="533400"/>
          </a:xfrm>
          <a:prstGeom prst="rect">
            <a:avLst/>
          </a:prstGeom>
          <a:noFill/>
        </p:spPr>
        <p:txBody>
          <a:bodyPr wrap="square" lIns="0" rIns="0" tIns="0" bIns="0" anchor="t"/>
          <a:lstStyle/>
          <a:p>
            <a:pPr algn="l"/>
            <a:r>
              <a:rPr sz="2850" b="1" i="0">
                <a:solidFill>
                  <a:srgbClr val="201914"/>
                </a:solidFill>
                <a:latin typeface="Arial"/>
              </a:rPr>
              <a:t>The empathy map</a:t>
            </a:r>
          </a:p>
        </p:txBody>
      </p:sp>
      <p:sp>
        <p:nvSpPr>
          <p:cNvPr id="14" name="Rectangle 13"/>
          <p:cNvSpPr/>
          <p:nvPr/>
        </p:nvSpPr>
        <p:spPr>
          <a:xfrm>
            <a:off x="1047750" y="6886575"/>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7750" y="7115175"/>
            <a:ext cx="5191125" cy="1695450"/>
          </a:xfrm>
          <a:prstGeom prst="rect">
            <a:avLst/>
          </a:prstGeom>
          <a:noFill/>
        </p:spPr>
        <p:txBody>
          <a:bodyPr wrap="square" lIns="0" rIns="0" tIns="0" bIns="0" anchor="t"/>
          <a:lstStyle/>
          <a:p>
            <a:pPr algn="l">
              <a:lnSpc>
                <a:spcPct val="105000"/>
              </a:lnSpc>
            </a:pPr>
            <a:r>
              <a:rPr sz="1950" b="0" i="0">
                <a:solidFill>
                  <a:srgbClr val="201914"/>
                </a:solidFill>
                <a:latin typeface="Arial"/>
              </a:rPr>
              <a:t>Four quadrants — Say, Think, Feel, Do — filled in for one person during one period of their life, so that the contradictions between them become visible. The contradictions are the output.</a:t>
            </a:r>
          </a:p>
        </p:txBody>
      </p:sp>
      <p:sp>
        <p:nvSpPr>
          <p:cNvPr id="16" name="TextBox 15"/>
          <p:cNvSpPr txBox="1"/>
          <p:nvPr/>
        </p:nvSpPr>
        <p:spPr>
          <a:xfrm>
            <a:off x="6619875" y="6238875"/>
            <a:ext cx="5191125" cy="533400"/>
          </a:xfrm>
          <a:prstGeom prst="rect">
            <a:avLst/>
          </a:prstGeom>
          <a:noFill/>
        </p:spPr>
        <p:txBody>
          <a:bodyPr wrap="square" lIns="0" rIns="0" tIns="0" bIns="0" anchor="t"/>
          <a:lstStyle/>
          <a:p>
            <a:pPr algn="l"/>
            <a:r>
              <a:rPr sz="2850" b="1" i="0">
                <a:solidFill>
                  <a:srgbClr val="201914"/>
                </a:solidFill>
                <a:latin typeface="Arial"/>
              </a:rPr>
              <a:t>The Say-Do gap</a:t>
            </a:r>
          </a:p>
        </p:txBody>
      </p:sp>
      <p:sp>
        <p:nvSpPr>
          <p:cNvPr id="17" name="Rectangle 16"/>
          <p:cNvSpPr/>
          <p:nvPr/>
        </p:nvSpPr>
        <p:spPr>
          <a:xfrm>
            <a:off x="6619875" y="6886575"/>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9875" y="7115175"/>
            <a:ext cx="5191125" cy="1695450"/>
          </a:xfrm>
          <a:prstGeom prst="rect">
            <a:avLst/>
          </a:prstGeom>
          <a:noFill/>
        </p:spPr>
        <p:txBody>
          <a:bodyPr wrap="square" lIns="0" rIns="0" tIns="0" bIns="0" anchor="t"/>
          <a:lstStyle/>
          <a:p>
            <a:pPr algn="l">
              <a:lnSpc>
                <a:spcPct val="105000"/>
              </a:lnSpc>
            </a:pPr>
            <a:r>
              <a:rPr sz="1950" b="0" i="0">
                <a:solidFill>
                  <a:srgbClr val="201914"/>
                </a:solidFill>
                <a:latin typeface="Arial"/>
              </a:rPr>
              <a:t>The reliable difference between what a customer reports about their own behaviour and what they actually do. Build for Do, speak in the language of Say, and never read the gap back to her.</a:t>
            </a:r>
          </a:p>
        </p:txBody>
      </p:sp>
      <p:sp>
        <p:nvSpPr>
          <p:cNvPr id="19" name="TextBox 18"/>
          <p:cNvSpPr txBox="1"/>
          <p:nvPr/>
        </p:nvSpPr>
        <p:spPr>
          <a:xfrm>
            <a:off x="12192000" y="6238875"/>
            <a:ext cx="5191125" cy="533400"/>
          </a:xfrm>
          <a:prstGeom prst="rect">
            <a:avLst/>
          </a:prstGeom>
          <a:noFill/>
        </p:spPr>
        <p:txBody>
          <a:bodyPr wrap="square" lIns="0" rIns="0" tIns="0" bIns="0" anchor="t"/>
          <a:lstStyle/>
          <a:p>
            <a:pPr algn="l"/>
            <a:r>
              <a:rPr sz="2850" b="1" i="0">
                <a:solidFill>
                  <a:srgbClr val="201914"/>
                </a:solidFill>
                <a:latin typeface="Arial"/>
              </a:rPr>
              <a:t>Buyer and user as two maps</a:t>
            </a:r>
          </a:p>
        </p:txBody>
      </p:sp>
      <p:sp>
        <p:nvSpPr>
          <p:cNvPr id="20" name="Rectangle 19"/>
          <p:cNvSpPr/>
          <p:nvPr/>
        </p:nvSpPr>
        <p:spPr>
          <a:xfrm>
            <a:off x="12192000" y="6886575"/>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192000" y="7115175"/>
            <a:ext cx="5191125" cy="1371600"/>
          </a:xfrm>
          <a:prstGeom prst="rect">
            <a:avLst/>
          </a:prstGeom>
          <a:noFill/>
        </p:spPr>
        <p:txBody>
          <a:bodyPr wrap="square" lIns="0" rIns="0" tIns="0" bIns="0" anchor="t"/>
          <a:lstStyle/>
          <a:p>
            <a:pPr algn="l">
              <a:lnSpc>
                <a:spcPct val="105000"/>
              </a:lnSpc>
            </a:pPr>
            <a:r>
              <a:rPr sz="1950" b="0" i="0">
                <a:solidFill>
                  <a:srgbClr val="201914"/>
                </a:solidFill>
                <a:latin typeface="Arial"/>
              </a:rPr>
              <a:t>When the person paying is not the person using, you need two documents — one to win the purchase and one to keep it. Averaging them describes nobody.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2838450"/>
            <a:ext cx="16192500" cy="323850"/>
          </a:xfrm>
          <a:prstGeom prst="rect">
            <a:avLst/>
          </a:prstGeom>
          <a:noFill/>
        </p:spPr>
        <p:txBody>
          <a:bodyPr wrap="square" lIns="0" rIns="0" tIns="0" bIns="0" anchor="t"/>
          <a:lstStyle/>
          <a:p>
            <a:pPr algn="l"/>
            <a:r>
              <a:rPr sz="1950" b="1" i="0" spc="312">
                <a:solidFill>
                  <a:srgbClr val="EF806F"/>
                </a:solidFill>
                <a:latin typeface="Arial"/>
              </a:rPr>
              <a:t>NEXT SESSION</a:t>
            </a:r>
          </a:p>
        </p:txBody>
      </p:sp>
      <p:sp>
        <p:nvSpPr>
          <p:cNvPr id="3" name="TextBox 2"/>
          <p:cNvSpPr txBox="1"/>
          <p:nvPr/>
        </p:nvSpPr>
        <p:spPr>
          <a:xfrm>
            <a:off x="1047750" y="3429000"/>
            <a:ext cx="15697200" cy="3562350"/>
          </a:xfrm>
          <a:prstGeom prst="rect">
            <a:avLst/>
          </a:prstGeom>
          <a:noFill/>
        </p:spPr>
        <p:txBody>
          <a:bodyPr wrap="square" lIns="0" rIns="0" tIns="0" bIns="0" anchor="t"/>
          <a:lstStyle/>
          <a:p>
            <a:pPr algn="l">
              <a:lnSpc>
                <a:spcPct val="90000"/>
              </a:lnSpc>
            </a:pPr>
            <a:r>
              <a:rPr sz="8100" b="1" i="0" spc="-250">
                <a:solidFill>
                  <a:srgbClr val="F5F1E9"/>
                </a:solidFill>
                <a:latin typeface="Arial"/>
              </a:rPr>
              <a:t>A holiday has fifteen steps, and almost all the misery is concentrated in two of them.</a:t>
            </a:r>
          </a:p>
        </p:txBody>
      </p:sp>
      <p:sp>
        <p:nvSpPr>
          <p:cNvPr id="4" name="TextBox 3"/>
          <p:cNvSpPr txBox="1"/>
          <p:nvPr/>
        </p:nvSpPr>
        <p:spPr>
          <a:xfrm>
            <a:off x="1047750" y="7562850"/>
            <a:ext cx="13735050" cy="1981200"/>
          </a:xfrm>
          <a:prstGeom prst="rect">
            <a:avLst/>
          </a:prstGeom>
          <a:noFill/>
        </p:spPr>
        <p:txBody>
          <a:bodyPr wrap="square" lIns="0" rIns="0" tIns="0" bIns="0" anchor="t"/>
          <a:lstStyle/>
          <a:p>
            <a:pPr algn="l">
              <a:lnSpc>
                <a:spcPct val="112000"/>
              </a:lnSpc>
            </a:pPr>
            <a:r>
              <a:rPr sz="3600" b="0" i="0">
                <a:solidFill>
                  <a:srgbClr val="C1B5AB"/>
                </a:solidFill>
                <a:latin typeface="Georgia"/>
              </a:rPr>
              <a:t>Ask a family how they booked a trip and they will describe three steps. Next time we count the real ones, draw the feeling as a line, and find out where the money should go.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