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1" r:id="rId43"/>
    <p:sldId id="292" r:id="rId44"/>
    <p:sldId id="293" r:id="rId45"/>
    <p:sldId id="294" r:id="rId46"/>
    <p:sldId id="295" r:id="rId47"/>
    <p:sldId id="296" r:id="rId48"/>
    <p:sldId id="297" r:id="rId49"/>
    <p:sldId id="298" r:id="rId50"/>
    <p:sldId id="299" r:id="rId51"/>
    <p:sldId id="300" r:id="rId5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ZENITH SCHOOL OF AI · CUSTOMER DISCOVERY · CLASS 13</a:t>
            </a:r>
          </a:p>
        </p:txBody>
      </p:sp>
      <p:sp>
        <p:nvSpPr>
          <p:cNvPr id="3" name="TextBox 2"/>
          <p:cNvSpPr txBox="1"/>
          <p:nvPr/>
        </p:nvSpPr>
        <p:spPr>
          <a:xfrm>
            <a:off x="1047750" y="3209925"/>
            <a:ext cx="16192500" cy="1209675"/>
          </a:xfrm>
          <a:prstGeom prst="rect">
            <a:avLst/>
          </a:prstGeom>
          <a:noFill/>
        </p:spPr>
        <p:txBody>
          <a:bodyPr wrap="square" lIns="0" rIns="0" tIns="0" bIns="0" anchor="t">
            <a:noAutofit/>
          </a:bodyPr>
          <a:lstStyle/>
          <a:p>
            <a:pPr algn="l">
              <a:lnSpc>
                <a:spcPct val="98000"/>
              </a:lnSpc>
            </a:pPr>
            <a:r>
              <a:rPr sz="9900" b="1" i="0" spc="-120">
                <a:solidFill>
                  <a:srgbClr val="F5F1E9"/>
                </a:solidFill>
                <a:latin typeface="Arial"/>
              </a:rPr>
              <a:t>The Interview Itself</a:t>
            </a:r>
          </a:p>
        </p:txBody>
      </p:sp>
      <p:sp>
        <p:nvSpPr>
          <p:cNvPr id="4" name="TextBox 3"/>
          <p:cNvSpPr txBox="1"/>
          <p:nvPr/>
        </p:nvSpPr>
        <p:spPr>
          <a:xfrm>
            <a:off x="1047750" y="4743450"/>
            <a:ext cx="13811250" cy="1133475"/>
          </a:xfrm>
          <a:prstGeom prst="rect">
            <a:avLst/>
          </a:prstGeom>
          <a:noFill/>
        </p:spPr>
        <p:txBody>
          <a:bodyPr wrap="square" lIns="0" rIns="0" tIns="0" bIns="0" anchor="t">
            <a:noAutofit/>
          </a:bodyPr>
          <a:lstStyle/>
          <a:p>
            <a:pPr algn="l">
              <a:lnSpc>
                <a:spcPct val="110000"/>
              </a:lnSpc>
            </a:pPr>
            <a:r>
              <a:rPr sz="3600" b="0" i="1">
                <a:solidFill>
                  <a:srgbClr val="C1B5AB"/>
                </a:solidFill>
                <a:latin typeface="Georgia"/>
              </a:rPr>
              <a:t>A good question will get you a useless answer. Everything that matters happens in the four seconds after that.</a:t>
            </a:r>
          </a:p>
        </p:txBody>
      </p:sp>
      <p:sp>
        <p:nvSpPr>
          <p:cNvPr id="5" name="Rectangle 4"/>
          <p:cNvSpPr/>
          <p:nvPr/>
        </p:nvSpPr>
        <p:spPr>
          <a:xfrm>
            <a:off x="1047750" y="8877300"/>
            <a:ext cx="16192500" cy="19050"/>
          </a:xfrm>
          <a:prstGeom prst="rect">
            <a:avLst/>
          </a:prstGeom>
          <a:solidFill>
            <a:srgbClr val="3E332B"/>
          </a:solidFill>
          <a:ln>
            <a:noFill/>
          </a:ln>
          <a:effectLst/>
        </p:spPr>
        <p:txBody>
          <a:bodyPr rtlCol="0" anchor="ctr"/>
          <a:lstStyle/>
          <a:p>
            <a:pPr algn="ctr"/>
          </a:p>
        </p:txBody>
      </p:sp>
      <p:sp>
        <p:nvSpPr>
          <p:cNvPr id="6" name="TextBox 5"/>
          <p:cNvSpPr txBox="1"/>
          <p:nvPr/>
        </p:nvSpPr>
        <p:spPr>
          <a:xfrm>
            <a:off x="104775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The Five Rules</a:t>
            </a:r>
          </a:p>
        </p:txBody>
      </p:sp>
      <p:sp>
        <p:nvSpPr>
          <p:cNvPr id="7" name="TextBox 6"/>
          <p:cNvSpPr txBox="1"/>
          <p:nvPr/>
        </p:nvSpPr>
        <p:spPr>
          <a:xfrm>
            <a:off x="533400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The Answer Ladder</a:t>
            </a:r>
          </a:p>
        </p:txBody>
      </p:sp>
      <p:sp>
        <p:nvSpPr>
          <p:cNvPr id="8" name="TextBox 7"/>
          <p:cNvSpPr txBox="1"/>
          <p:nvPr/>
        </p:nvSpPr>
        <p:spPr>
          <a:xfrm>
            <a:off x="962025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The Interview Arc</a:t>
            </a:r>
          </a:p>
        </p:txBody>
      </p:sp>
      <p:sp>
        <p:nvSpPr>
          <p:cNvPr id="9" name="TextBox 8"/>
          <p:cNvSpPr txBox="1"/>
          <p:nvPr/>
        </p:nvSpPr>
        <p:spPr>
          <a:xfrm>
            <a:off x="1390650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The Three Jobs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WHERE WE LEFT OFF</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You now know which question to ask. Nobody has told you what happens next.</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Question Ladder</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Behaviour, frustration, opinion. Remembering is reliable, describing a pattern is vaguer, imagining is the least reliable of the three.</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Kill Criterion</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Write the finding that would make you stop, with a number and a time period, before the research begins.</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Asymmetry Rule</a:t>
            </a:r>
          </a:p>
        </p:txBody>
      </p:sp>
      <p:sp>
        <p:nvSpPr>
          <p:cNvPr id="12" name="TextBox 11"/>
          <p:cNvSpPr txBox="1"/>
          <p:nvPr/>
        </p:nvSpPr>
        <p:spPr>
          <a:xfrm>
            <a:off x="12096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Anything you learned by reading, your competitor can learn by reading. The advantage is in what you find out afterwards.</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Last session graded the question. Today: what you do once the answer arrives, and the order the next nine go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TWO INTERVIEWS · ONE STUDENT · THE HOSTEL-MONEY APP · AN EXCERPT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Watch the first interviewer closely</a:t>
            </a:r>
          </a:p>
        </p:txBody>
      </p:sp>
      <p:sp>
        <p:nvSpPr>
          <p:cNvPr id="4" name="TextBox 3"/>
          <p:cNvSpPr txBox="1"/>
          <p:nvPr/>
        </p:nvSpPr>
        <p:spPr>
          <a:xfrm>
            <a:off x="1314450" y="2838450"/>
            <a:ext cx="8191500" cy="323850"/>
          </a:xfrm>
          <a:prstGeom prst="rect">
            <a:avLst/>
          </a:prstGeom>
          <a:noFill/>
        </p:spPr>
        <p:txBody>
          <a:bodyPr wrap="square" lIns="0" rIns="0" tIns="0" bIns="0" anchor="t">
            <a:noAutofit/>
          </a:bodyPr>
          <a:lstStyle/>
          <a:p>
            <a:pPr algn="l">
              <a:lnSpc>
                <a:spcPct val="108000"/>
              </a:lnSpc>
            </a:pPr>
            <a:r>
              <a:rPr sz="1800" b="1" i="0" spc="120">
                <a:solidFill>
                  <a:srgbClr val="7B6F66"/>
                </a:solidFill>
                <a:latin typeface="Arial"/>
              </a:rPr>
              <a:t>THE INTERVIEWER</a:t>
            </a:r>
          </a:p>
        </p:txBody>
      </p:sp>
      <p:sp>
        <p:nvSpPr>
          <p:cNvPr id="5" name="TextBox 4"/>
          <p:cNvSpPr txBox="1"/>
          <p:nvPr/>
        </p:nvSpPr>
        <p:spPr>
          <a:xfrm>
            <a:off x="9886950" y="2838450"/>
            <a:ext cx="7048500" cy="323850"/>
          </a:xfrm>
          <a:prstGeom prst="rect">
            <a:avLst/>
          </a:prstGeom>
          <a:noFill/>
        </p:spPr>
        <p:txBody>
          <a:bodyPr wrap="square" lIns="0" rIns="0" tIns="0" bIns="0" anchor="t">
            <a:noAutofit/>
          </a:bodyPr>
          <a:lstStyle/>
          <a:p>
            <a:pPr algn="l">
              <a:lnSpc>
                <a:spcPct val="108000"/>
              </a:lnSpc>
            </a:pPr>
            <a:r>
              <a:rPr sz="1800" b="1" i="0" spc="120">
                <a:solidFill>
                  <a:srgbClr val="7B6F66"/>
                </a:solidFill>
                <a:latin typeface="Arial"/>
              </a:rPr>
              <a:t>THE STUDENT</a:t>
            </a:r>
          </a:p>
        </p:txBody>
      </p:sp>
      <p:sp>
        <p:nvSpPr>
          <p:cNvPr id="6" name="Rectangle 5"/>
          <p:cNvSpPr/>
          <p:nvPr/>
        </p:nvSpPr>
        <p:spPr>
          <a:xfrm>
            <a:off x="1047750" y="3276600"/>
            <a:ext cx="16192500" cy="28575"/>
          </a:xfrm>
          <a:prstGeom prst="rect">
            <a:avLst/>
          </a:prstGeom>
          <a:solidFill>
            <a:srgbClr val="201914"/>
          </a:solidFill>
          <a:ln>
            <a:noFill/>
          </a:ln>
          <a:effectLst/>
        </p:spPr>
        <p:txBody>
          <a:bodyPr rtlCol="0" anchor="ctr"/>
          <a:lstStyle/>
          <a:p>
            <a:pPr algn="ctr"/>
          </a:p>
        </p:txBody>
      </p:sp>
      <p:sp>
        <p:nvSpPr>
          <p:cNvPr id="7" name="TextBox 6"/>
          <p:cNvSpPr txBox="1"/>
          <p:nvPr/>
        </p:nvSpPr>
        <p:spPr>
          <a:xfrm>
            <a:off x="1314450" y="3638550"/>
            <a:ext cx="8001000" cy="1107247"/>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So, we're building an app that helps students split expenses in hostels. Don't you find it really annoying when people don't pay you back?</a:t>
            </a:r>
          </a:p>
        </p:txBody>
      </p:sp>
      <p:sp>
        <p:nvSpPr>
          <p:cNvPr id="8" name="TextBox 7"/>
          <p:cNvSpPr txBox="1"/>
          <p:nvPr/>
        </p:nvSpPr>
        <p:spPr>
          <a:xfrm>
            <a:off x="9886950" y="3980627"/>
            <a:ext cx="6953250" cy="423093"/>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Yeah, definitely, it's annoying.</a:t>
            </a:r>
          </a:p>
        </p:txBody>
      </p:sp>
      <p:sp>
        <p:nvSpPr>
          <p:cNvPr id="9" name="Rectangle 8"/>
          <p:cNvSpPr/>
          <p:nvPr/>
        </p:nvSpPr>
        <p:spPr>
          <a:xfrm>
            <a:off x="1047750" y="4860097"/>
            <a:ext cx="16192500" cy="1042965"/>
          </a:xfrm>
          <a:prstGeom prst="rect">
            <a:avLst/>
          </a:prstGeom>
          <a:solidFill>
            <a:srgbClr val="F3EEE6"/>
          </a:solidFill>
          <a:ln>
            <a:noFill/>
          </a:ln>
          <a:effectLst/>
        </p:spPr>
        <p:txBody>
          <a:bodyPr rtlCol="0" anchor="ctr"/>
          <a:lstStyle/>
          <a:p>
            <a:pPr algn="ctr"/>
          </a:p>
        </p:txBody>
      </p:sp>
      <p:sp>
        <p:nvSpPr>
          <p:cNvPr id="10" name="TextBox 9"/>
          <p:cNvSpPr txBox="1"/>
          <p:nvPr/>
        </p:nvSpPr>
        <p:spPr>
          <a:xfrm>
            <a:off x="1314450" y="5031547"/>
            <a:ext cx="8001000" cy="757215"/>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Right, exactly, that's what everyone says. So would you use an app that tracked all of it automatically and sent reminders?</a:t>
            </a:r>
          </a:p>
        </p:txBody>
      </p:sp>
      <p:sp>
        <p:nvSpPr>
          <p:cNvPr id="11" name="TextBox 10"/>
          <p:cNvSpPr txBox="1"/>
          <p:nvPr/>
        </p:nvSpPr>
        <p:spPr>
          <a:xfrm>
            <a:off x="9886950" y="5198608"/>
            <a:ext cx="6953250" cy="423093"/>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Yeah, that sounds useful actually.</a:t>
            </a:r>
          </a:p>
        </p:txBody>
      </p:sp>
      <p:sp>
        <p:nvSpPr>
          <p:cNvPr id="12" name="Rectangle 11"/>
          <p:cNvSpPr/>
          <p:nvPr/>
        </p:nvSpPr>
        <p:spPr>
          <a:xfrm>
            <a:off x="1047750" y="5903062"/>
            <a:ext cx="16192500" cy="9525"/>
          </a:xfrm>
          <a:prstGeom prst="rect">
            <a:avLst/>
          </a:prstGeom>
          <a:solidFill>
            <a:srgbClr val="D8CFC7"/>
          </a:solidFill>
          <a:ln>
            <a:noFill/>
          </a:ln>
          <a:effectLst/>
        </p:spPr>
        <p:txBody>
          <a:bodyPr rtlCol="0" anchor="ctr"/>
          <a:lstStyle/>
          <a:p>
            <a:pPr algn="ctr"/>
          </a:p>
        </p:txBody>
      </p:sp>
      <p:sp>
        <p:nvSpPr>
          <p:cNvPr id="13" name="TextBox 12"/>
          <p:cNvSpPr txBox="1"/>
          <p:nvPr/>
        </p:nvSpPr>
        <p:spPr>
          <a:xfrm>
            <a:off x="1314450" y="6074512"/>
            <a:ext cx="8001000" cy="757215"/>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Perfect, that's exactly what we're building. Would you pay something like fifty rupees a month for it?</a:t>
            </a:r>
          </a:p>
        </p:txBody>
      </p:sp>
      <p:sp>
        <p:nvSpPr>
          <p:cNvPr id="14" name="TextBox 13"/>
          <p:cNvSpPr txBox="1"/>
          <p:nvPr/>
        </p:nvSpPr>
        <p:spPr>
          <a:xfrm>
            <a:off x="9886950" y="6241572"/>
            <a:ext cx="6953250" cy="423093"/>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Yeah, fifty is fine, that's nothing.</a:t>
            </a:r>
          </a:p>
        </p:txBody>
      </p:sp>
      <p:sp>
        <p:nvSpPr>
          <p:cNvPr id="15" name="Rectangle 14"/>
          <p:cNvSpPr/>
          <p:nvPr/>
        </p:nvSpPr>
        <p:spPr>
          <a:xfrm>
            <a:off x="1047750" y="6946026"/>
            <a:ext cx="16192500" cy="708843"/>
          </a:xfrm>
          <a:prstGeom prst="rect">
            <a:avLst/>
          </a:prstGeom>
          <a:solidFill>
            <a:srgbClr val="F3EEE6"/>
          </a:solidFill>
          <a:ln>
            <a:noFill/>
          </a:ln>
          <a:effectLst/>
        </p:spPr>
        <p:txBody>
          <a:bodyPr rtlCol="0" anchor="ctr"/>
          <a:lstStyle/>
          <a:p>
            <a:pPr algn="ctr"/>
          </a:p>
        </p:txBody>
      </p:sp>
      <p:sp>
        <p:nvSpPr>
          <p:cNvPr id="16" name="TextBox 15"/>
          <p:cNvSpPr txBox="1"/>
          <p:nvPr/>
        </p:nvSpPr>
        <p:spPr>
          <a:xfrm>
            <a:off x="1314450" y="7125432"/>
            <a:ext cx="8001000" cy="407182"/>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Great. Thanks so much, this was really helpful.</a:t>
            </a:r>
          </a:p>
        </p:txBody>
      </p:sp>
      <p:sp>
        <p:nvSpPr>
          <p:cNvPr id="17" name="TextBox 16"/>
          <p:cNvSpPr txBox="1"/>
          <p:nvPr/>
        </p:nvSpPr>
        <p:spPr>
          <a:xfrm>
            <a:off x="9886950" y="7117476"/>
            <a:ext cx="6953250" cy="423093"/>
          </a:xfrm>
          <a:prstGeom prst="rect">
            <a:avLst/>
          </a:prstGeom>
          <a:noFill/>
        </p:spPr>
        <p:txBody>
          <a:bodyPr wrap="square" lIns="0" rIns="0" tIns="0" bIns="0" anchor="t">
            <a:noAutofit/>
          </a:bodyPr>
          <a:lstStyle/>
          <a:p>
            <a:pPr algn="l">
              <a:lnSpc>
                <a:spcPct val="108000"/>
              </a:lnSpc>
            </a:pPr>
          </a:p>
        </p:txBody>
      </p:sp>
      <p:sp>
        <p:nvSpPr>
          <p:cNvPr id="18" name="Rectangle 17"/>
          <p:cNvSpPr/>
          <p:nvPr/>
        </p:nvSpPr>
        <p:spPr>
          <a:xfrm>
            <a:off x="1047750" y="7654869"/>
            <a:ext cx="16192500" cy="9525"/>
          </a:xfrm>
          <a:prstGeom prst="rect">
            <a:avLst/>
          </a:prstGeom>
          <a:solidFill>
            <a:srgbClr val="D8CFC7"/>
          </a:solidFill>
          <a:ln>
            <a:noFill/>
          </a:ln>
          <a:effectLst/>
        </p:spPr>
        <p:txBody>
          <a:bodyPr rtlCol="0" anchor="ctr"/>
          <a:lstStyle/>
          <a:p>
            <a:pPr algn="ctr"/>
          </a:p>
        </p:txBody>
      </p:sp>
      <p:sp>
        <p:nvSpPr>
          <p:cNvPr id="19" name="TextBox 18"/>
          <p:cNvSpPr txBox="1"/>
          <p:nvPr/>
        </p:nvSpPr>
        <p:spPr>
          <a:xfrm>
            <a:off x="1047750" y="8096250"/>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He leaves believing four things: the problem is real, the solution is wanted, the features are validated and the price is fine.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PAUSE AND ANSWER · BEFORE YOU MOVE ON</a:t>
            </a:r>
          </a:p>
        </p:txBody>
      </p:sp>
      <p:sp>
        <p:nvSpPr>
          <p:cNvPr id="3" name="TextBox 2"/>
          <p:cNvSpPr txBox="1"/>
          <p:nvPr/>
        </p:nvSpPr>
        <p:spPr>
          <a:xfrm>
            <a:off x="1714500" y="4215384"/>
            <a:ext cx="14859000" cy="2046732"/>
          </a:xfrm>
          <a:prstGeom prst="rect">
            <a:avLst/>
          </a:prstGeom>
          <a:noFill/>
        </p:spPr>
        <p:txBody>
          <a:bodyPr wrap="square" lIns="0" rIns="0" tIns="0" bIns="0" anchor="t">
            <a:noAutofit/>
          </a:bodyPr>
          <a:lstStyle/>
          <a:p>
            <a:pPr algn="l">
              <a:lnSpc>
                <a:spcPct val="105000"/>
              </a:lnSpc>
            </a:pPr>
            <a:r>
              <a:rPr sz="6000" b="1" i="0">
                <a:solidFill>
                  <a:srgbClr val="F5F1E9"/>
                </a:solidFill>
                <a:latin typeface="Arial"/>
              </a:rPr>
              <a:t>At which exact line was that interview 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WHAT MOST PEOPLE SAY</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Everybody picks a later line. The interview ended at the first one.</a:t>
            </a:r>
          </a:p>
        </p:txBody>
      </p:sp>
      <p:sp>
        <p:nvSpPr>
          <p:cNvPr id="4" name="Rectangle 3"/>
          <p:cNvSpPr/>
          <p:nvPr/>
        </p:nvSpPr>
        <p:spPr>
          <a:xfrm>
            <a:off x="1047750" y="3409950"/>
            <a:ext cx="2219325"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'Would you use an app that tracked it all?'</a:t>
            </a:r>
          </a:p>
        </p:txBody>
      </p:sp>
      <p:sp>
        <p:nvSpPr>
          <p:cNvPr id="6" name="TextBox 5"/>
          <p:cNvSpPr txBox="1"/>
          <p:nvPr/>
        </p:nvSpPr>
        <p:spPr>
          <a:xfrm>
            <a:off x="1047750"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By then it was already over. He knew the right answer and was being kind.</a:t>
            </a:r>
          </a:p>
        </p:txBody>
      </p:sp>
      <p:sp>
        <p:nvSpPr>
          <p:cNvPr id="7" name="Rectangle 6"/>
          <p:cNvSpPr/>
          <p:nvPr/>
        </p:nvSpPr>
        <p:spPr>
          <a:xfrm>
            <a:off x="5191125" y="3409950"/>
            <a:ext cx="2219325"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5191125"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'Would you pay fifty rupees?'</a:t>
            </a:r>
          </a:p>
        </p:txBody>
      </p:sp>
      <p:sp>
        <p:nvSpPr>
          <p:cNvPr id="9" name="TextBox 8"/>
          <p:cNvSpPr txBox="1"/>
          <p:nvPr/>
        </p:nvSpPr>
        <p:spPr>
          <a:xfrm>
            <a:off x="5191125"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A price for a product he had just praised. It measures his manners, not his wallet.</a:t>
            </a:r>
          </a:p>
        </p:txBody>
      </p:sp>
      <p:sp>
        <p:nvSpPr>
          <p:cNvPr id="10" name="Rectangle 9"/>
          <p:cNvSpPr/>
          <p:nvPr/>
        </p:nvSpPr>
        <p:spPr>
          <a:xfrm>
            <a:off x="9334500" y="3409950"/>
            <a:ext cx="2219325"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9334500"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'Don't you find it really annoying...'</a:t>
            </a:r>
          </a:p>
        </p:txBody>
      </p:sp>
      <p:sp>
        <p:nvSpPr>
          <p:cNvPr id="12" name="TextBox 11"/>
          <p:cNvSpPr txBox="1"/>
          <p:nvPr/>
        </p:nvSpPr>
        <p:spPr>
          <a:xfrm>
            <a:off x="9334500"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Closer. The question carried its own answer, and it was the second half of the opening sentence.</a:t>
            </a:r>
          </a:p>
        </p:txBody>
      </p:sp>
      <p:sp>
        <p:nvSpPr>
          <p:cNvPr id="13" name="Rectangle 12"/>
          <p:cNvSpPr/>
          <p:nvPr/>
        </p:nvSpPr>
        <p:spPr>
          <a:xfrm>
            <a:off x="13477875" y="3409950"/>
            <a:ext cx="3762375" cy="3711783"/>
          </a:xfrm>
          <a:prstGeom prst="rect">
            <a:avLst/>
          </a:prstGeom>
          <a:solidFill>
            <a:srgbClr val="C35141"/>
          </a:solidFill>
          <a:ln>
            <a:noFill/>
          </a:ln>
          <a:effectLst/>
        </p:spPr>
        <p:txBody>
          <a:bodyPr rtlCol="0" anchor="ctr"/>
          <a:lstStyle/>
          <a:p>
            <a:pPr algn="ctr"/>
          </a:p>
        </p:txBody>
      </p:sp>
      <p:sp>
        <p:nvSpPr>
          <p:cNvPr id="14" name="TextBox 13"/>
          <p:cNvSpPr txBox="1"/>
          <p:nvPr/>
        </p:nvSpPr>
        <p:spPr>
          <a:xfrm>
            <a:off x="13858875" y="3790950"/>
            <a:ext cx="3000375" cy="838535"/>
          </a:xfrm>
          <a:prstGeom prst="rect">
            <a:avLst/>
          </a:prstGeom>
          <a:noFill/>
        </p:spPr>
        <p:txBody>
          <a:bodyPr wrap="square" lIns="0" rIns="0" tIns="0" bIns="0" anchor="t">
            <a:noAutofit/>
          </a:bodyPr>
          <a:lstStyle/>
          <a:p>
            <a:pPr algn="l">
              <a:lnSpc>
                <a:spcPct val="102000"/>
              </a:lnSpc>
            </a:pPr>
            <a:r>
              <a:rPr sz="2600" b="1" i="0">
                <a:solidFill>
                  <a:srgbClr val="F5F1E9"/>
                </a:solidFill>
                <a:latin typeface="Arial"/>
              </a:rPr>
              <a:t>The first sentence</a:t>
            </a:r>
          </a:p>
        </p:txBody>
      </p:sp>
      <p:sp>
        <p:nvSpPr>
          <p:cNvPr id="15" name="TextBox 14"/>
          <p:cNvSpPr txBox="1"/>
          <p:nvPr/>
        </p:nvSpPr>
        <p:spPr>
          <a:xfrm>
            <a:off x="13858875" y="4781885"/>
            <a:ext cx="3000375" cy="3381040"/>
          </a:xfrm>
          <a:prstGeom prst="rect">
            <a:avLst/>
          </a:prstGeom>
          <a:noFill/>
        </p:spPr>
        <p:txBody>
          <a:bodyPr wrap="square" lIns="0" rIns="0" tIns="0" bIns="0" anchor="t">
            <a:noAutofit/>
          </a:bodyPr>
          <a:lstStyle/>
          <a:p>
            <a:pPr algn="l">
              <a:lnSpc>
                <a:spcPct val="110000"/>
              </a:lnSpc>
            </a:pPr>
            <a:r>
              <a:rPr sz="2300" b="0" i="0">
                <a:solidFill>
                  <a:srgbClr val="F5F1E9"/>
                </a:solidFill>
                <a:latin typeface="Arial"/>
              </a:rPr>
              <a:t>'We're building an app that...' From that moment he stopped describing his life and started helping you.</a:t>
            </a:r>
          </a:p>
        </p:txBody>
      </p:sp>
      <p:sp>
        <p:nvSpPr>
          <p:cNvPr id="16" name="TextBox 15"/>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The interview did not fade. It ended in the opening line and ran on for ninety seconds as a different activity that looked identical from outside.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SAME STUDENT · A DIFFERENT INTERVIEWER · AN EXCERPT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second one asks almost nothing</a:t>
            </a:r>
          </a:p>
        </p:txBody>
      </p:sp>
      <p:sp>
        <p:nvSpPr>
          <p:cNvPr id="4" name="TextBox 3"/>
          <p:cNvSpPr txBox="1"/>
          <p:nvPr/>
        </p:nvSpPr>
        <p:spPr>
          <a:xfrm>
            <a:off x="1314450" y="2838450"/>
            <a:ext cx="4953000" cy="323850"/>
          </a:xfrm>
          <a:prstGeom prst="rect">
            <a:avLst/>
          </a:prstGeom>
          <a:noFill/>
        </p:spPr>
        <p:txBody>
          <a:bodyPr wrap="square" lIns="0" rIns="0" tIns="0" bIns="0" anchor="t">
            <a:noAutofit/>
          </a:bodyPr>
          <a:lstStyle/>
          <a:p>
            <a:pPr algn="l">
              <a:lnSpc>
                <a:spcPct val="108000"/>
              </a:lnSpc>
            </a:pPr>
            <a:r>
              <a:rPr sz="1800" b="1" i="0" spc="120">
                <a:solidFill>
                  <a:srgbClr val="7B6F66"/>
                </a:solidFill>
                <a:latin typeface="Arial"/>
              </a:rPr>
              <a:t>THE INTERVIEWER</a:t>
            </a:r>
          </a:p>
        </p:txBody>
      </p:sp>
      <p:sp>
        <p:nvSpPr>
          <p:cNvPr id="5" name="TextBox 4"/>
          <p:cNvSpPr txBox="1"/>
          <p:nvPr/>
        </p:nvSpPr>
        <p:spPr>
          <a:xfrm>
            <a:off x="6648450" y="2838450"/>
            <a:ext cx="10287000" cy="323850"/>
          </a:xfrm>
          <a:prstGeom prst="rect">
            <a:avLst/>
          </a:prstGeom>
          <a:noFill/>
        </p:spPr>
        <p:txBody>
          <a:bodyPr wrap="square" lIns="0" rIns="0" tIns="0" bIns="0" anchor="t">
            <a:noAutofit/>
          </a:bodyPr>
          <a:lstStyle/>
          <a:p>
            <a:pPr algn="l">
              <a:lnSpc>
                <a:spcPct val="108000"/>
              </a:lnSpc>
            </a:pPr>
            <a:r>
              <a:rPr sz="1800" b="1" i="0" spc="120">
                <a:solidFill>
                  <a:srgbClr val="7B6F66"/>
                </a:solidFill>
                <a:latin typeface="Arial"/>
              </a:rPr>
              <a:t>THE STUDENT</a:t>
            </a:r>
          </a:p>
        </p:txBody>
      </p:sp>
      <p:sp>
        <p:nvSpPr>
          <p:cNvPr id="6" name="Rectangle 5"/>
          <p:cNvSpPr/>
          <p:nvPr/>
        </p:nvSpPr>
        <p:spPr>
          <a:xfrm>
            <a:off x="1047750" y="3276600"/>
            <a:ext cx="16192500" cy="28575"/>
          </a:xfrm>
          <a:prstGeom prst="rect">
            <a:avLst/>
          </a:prstGeom>
          <a:solidFill>
            <a:srgbClr val="201914"/>
          </a:solidFill>
          <a:ln>
            <a:noFill/>
          </a:ln>
          <a:effectLst/>
        </p:spPr>
        <p:txBody>
          <a:bodyPr rtlCol="0" anchor="ctr"/>
          <a:lstStyle/>
          <a:p>
            <a:pPr algn="ctr"/>
          </a:p>
        </p:txBody>
      </p:sp>
      <p:sp>
        <p:nvSpPr>
          <p:cNvPr id="7" name="TextBox 6"/>
          <p:cNvSpPr txBox="1"/>
          <p:nvPr/>
        </p:nvSpPr>
        <p:spPr>
          <a:xfrm>
            <a:off x="1314450" y="3638550"/>
            <a:ext cx="4762500" cy="1107247"/>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Tell me about the last time money came up between you and the people you live with.</a:t>
            </a:r>
          </a:p>
        </p:txBody>
      </p:sp>
      <p:sp>
        <p:nvSpPr>
          <p:cNvPr id="8" name="TextBox 7"/>
          <p:cNvSpPr txBox="1"/>
          <p:nvPr/>
        </p:nvSpPr>
        <p:spPr>
          <a:xfrm>
            <a:off x="6648450" y="3797656"/>
            <a:ext cx="10191750" cy="789036"/>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Last month, with the electricity bill. It was around ₹2,400. I paid it, and two of them sent money and the third one didn't.</a:t>
            </a:r>
          </a:p>
        </p:txBody>
      </p:sp>
      <p:sp>
        <p:nvSpPr>
          <p:cNvPr id="9" name="Rectangle 8"/>
          <p:cNvSpPr/>
          <p:nvPr/>
        </p:nvSpPr>
        <p:spPr>
          <a:xfrm>
            <a:off x="1047750" y="4860097"/>
            <a:ext cx="16192500" cy="708843"/>
          </a:xfrm>
          <a:prstGeom prst="rect">
            <a:avLst/>
          </a:prstGeom>
          <a:solidFill>
            <a:srgbClr val="F3EEE6"/>
          </a:solidFill>
          <a:ln>
            <a:noFill/>
          </a:ln>
          <a:effectLst/>
        </p:spPr>
        <p:txBody>
          <a:bodyPr rtlCol="0" anchor="ctr"/>
          <a:lstStyle/>
          <a:p>
            <a:pPr algn="ctr"/>
          </a:p>
        </p:txBody>
      </p:sp>
      <p:sp>
        <p:nvSpPr>
          <p:cNvPr id="10" name="TextBox 9"/>
          <p:cNvSpPr txBox="1"/>
          <p:nvPr/>
        </p:nvSpPr>
        <p:spPr>
          <a:xfrm>
            <a:off x="1314450" y="5039502"/>
            <a:ext cx="4762500" cy="407182"/>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And then?</a:t>
            </a:r>
          </a:p>
        </p:txBody>
      </p:sp>
      <p:sp>
        <p:nvSpPr>
          <p:cNvPr id="11" name="TextBox 10"/>
          <p:cNvSpPr txBox="1"/>
          <p:nvPr/>
        </p:nvSpPr>
        <p:spPr>
          <a:xfrm>
            <a:off x="6648450" y="5031547"/>
            <a:ext cx="10191750" cy="423093"/>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Nothing really. I didn't say anything for like a week.</a:t>
            </a:r>
          </a:p>
        </p:txBody>
      </p:sp>
      <p:sp>
        <p:nvSpPr>
          <p:cNvPr id="12" name="Rectangle 11"/>
          <p:cNvSpPr/>
          <p:nvPr/>
        </p:nvSpPr>
        <p:spPr>
          <a:xfrm>
            <a:off x="1047750" y="5568940"/>
            <a:ext cx="16192500" cy="9525"/>
          </a:xfrm>
          <a:prstGeom prst="rect">
            <a:avLst/>
          </a:prstGeom>
          <a:solidFill>
            <a:srgbClr val="D8CFC7"/>
          </a:solidFill>
          <a:ln>
            <a:noFill/>
          </a:ln>
          <a:effectLst/>
        </p:spPr>
        <p:txBody>
          <a:bodyPr rtlCol="0" anchor="ctr"/>
          <a:lstStyle/>
          <a:p>
            <a:pPr algn="ctr"/>
          </a:p>
        </p:txBody>
      </p:sp>
      <p:sp>
        <p:nvSpPr>
          <p:cNvPr id="13" name="TextBox 12"/>
          <p:cNvSpPr txBox="1"/>
          <p:nvPr/>
        </p:nvSpPr>
        <p:spPr>
          <a:xfrm>
            <a:off x="1314450" y="5748345"/>
            <a:ext cx="4762500" cy="407182"/>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Why not?</a:t>
            </a:r>
          </a:p>
        </p:txBody>
      </p:sp>
      <p:sp>
        <p:nvSpPr>
          <p:cNvPr id="14" name="TextBox 13"/>
          <p:cNvSpPr txBox="1"/>
          <p:nvPr/>
        </p:nvSpPr>
        <p:spPr>
          <a:xfrm>
            <a:off x="6648450" y="5740390"/>
            <a:ext cx="10191750" cy="423093"/>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It felt weird to ask. It's only ₹800.</a:t>
            </a:r>
          </a:p>
        </p:txBody>
      </p:sp>
      <p:sp>
        <p:nvSpPr>
          <p:cNvPr id="15" name="Rectangle 14"/>
          <p:cNvSpPr/>
          <p:nvPr/>
        </p:nvSpPr>
        <p:spPr>
          <a:xfrm>
            <a:off x="1047750" y="6277783"/>
            <a:ext cx="16192500" cy="1074786"/>
          </a:xfrm>
          <a:prstGeom prst="rect">
            <a:avLst/>
          </a:prstGeom>
          <a:solidFill>
            <a:srgbClr val="F3EEE6"/>
          </a:solidFill>
          <a:ln>
            <a:noFill/>
          </a:ln>
          <a:effectLst/>
        </p:spPr>
        <p:txBody>
          <a:bodyPr rtlCol="0" anchor="ctr"/>
          <a:lstStyle/>
          <a:p>
            <a:pPr algn="ctr"/>
          </a:p>
        </p:txBody>
      </p:sp>
      <p:sp>
        <p:nvSpPr>
          <p:cNvPr id="16" name="TextBox 15"/>
          <p:cNvSpPr txBox="1"/>
          <p:nvPr/>
        </p:nvSpPr>
        <p:spPr>
          <a:xfrm>
            <a:off x="1314450" y="6640159"/>
            <a:ext cx="4762500" cy="407182"/>
          </a:xfrm>
          <a:prstGeom prst="rect">
            <a:avLst/>
          </a:prstGeom>
          <a:noFill/>
        </p:spPr>
        <p:txBody>
          <a:bodyPr wrap="square" lIns="0" rIns="0" tIns="0" bIns="0" anchor="t">
            <a:noAutofit/>
          </a:bodyPr>
          <a:lstStyle/>
          <a:p>
            <a:pPr algn="l">
              <a:lnSpc>
                <a:spcPct val="108000"/>
              </a:lnSpc>
            </a:pPr>
            <a:r>
              <a:rPr sz="2200" b="1" i="1">
                <a:solidFill>
                  <a:srgbClr val="C35141"/>
                </a:solidFill>
                <a:latin typeface="Arial"/>
              </a:rPr>
              <a:t>[five seconds of silence]</a:t>
            </a:r>
          </a:p>
        </p:txBody>
      </p:sp>
      <p:sp>
        <p:nvSpPr>
          <p:cNvPr id="17" name="TextBox 16"/>
          <p:cNvSpPr txBox="1"/>
          <p:nvPr/>
        </p:nvSpPr>
        <p:spPr>
          <a:xfrm>
            <a:off x="6648450" y="6449233"/>
            <a:ext cx="10191750" cy="789036"/>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Also, he's kind of the one who decides stuff in the group. If I'd made it a thing about ₹800, I'd have looked cheap.</a:t>
            </a:r>
          </a:p>
        </p:txBody>
      </p:sp>
      <p:sp>
        <p:nvSpPr>
          <p:cNvPr id="18" name="Rectangle 17"/>
          <p:cNvSpPr/>
          <p:nvPr/>
        </p:nvSpPr>
        <p:spPr>
          <a:xfrm>
            <a:off x="1047750" y="7352568"/>
            <a:ext cx="16192500" cy="9525"/>
          </a:xfrm>
          <a:prstGeom prst="rect">
            <a:avLst/>
          </a:prstGeom>
          <a:solidFill>
            <a:srgbClr val="D8CFC7"/>
          </a:solidFill>
          <a:ln>
            <a:noFill/>
          </a:ln>
          <a:effectLst/>
        </p:spPr>
        <p:txBody>
          <a:bodyPr rtlCol="0" anchor="ctr"/>
          <a:lstStyle/>
          <a:p>
            <a:pPr algn="ctr"/>
          </a:p>
        </p:txBody>
      </p:sp>
      <p:sp>
        <p:nvSpPr>
          <p:cNvPr id="19" name="TextBox 18"/>
          <p:cNvSpPr txBox="1"/>
          <p:nvPr/>
        </p:nvSpPr>
        <p:spPr>
          <a:xfrm>
            <a:off x="1314450" y="7714945"/>
            <a:ext cx="4762500" cy="407182"/>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Say more about that.</a:t>
            </a:r>
          </a:p>
        </p:txBody>
      </p:sp>
      <p:sp>
        <p:nvSpPr>
          <p:cNvPr id="20" name="TextBox 19"/>
          <p:cNvSpPr txBox="1"/>
          <p:nvPr/>
        </p:nvSpPr>
        <p:spPr>
          <a:xfrm>
            <a:off x="6648450" y="7524018"/>
            <a:ext cx="10191750" cy="789036"/>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He's got more money than the rest of us, so if I chase him for it, it feels like I'm the poor one. It's easier to just eat it.</a:t>
            </a:r>
          </a:p>
        </p:txBody>
      </p:sp>
      <p:sp>
        <p:nvSpPr>
          <p:cNvPr id="21" name="Rectangle 20"/>
          <p:cNvSpPr/>
          <p:nvPr/>
        </p:nvSpPr>
        <p:spPr>
          <a:xfrm>
            <a:off x="1047750" y="8427354"/>
            <a:ext cx="16192500" cy="708843"/>
          </a:xfrm>
          <a:prstGeom prst="rect">
            <a:avLst/>
          </a:prstGeom>
          <a:solidFill>
            <a:srgbClr val="F3EEE6"/>
          </a:solidFill>
          <a:ln>
            <a:noFill/>
          </a:ln>
          <a:effectLst/>
        </p:spPr>
        <p:txBody>
          <a:bodyPr rtlCol="0" anchor="ctr"/>
          <a:lstStyle/>
          <a:p>
            <a:pPr algn="ctr"/>
          </a:p>
        </p:txBody>
      </p:sp>
      <p:sp>
        <p:nvSpPr>
          <p:cNvPr id="22" name="TextBox 21"/>
          <p:cNvSpPr txBox="1"/>
          <p:nvPr/>
        </p:nvSpPr>
        <p:spPr>
          <a:xfrm>
            <a:off x="1314450" y="8606760"/>
            <a:ext cx="4762500" cy="407182"/>
          </a:xfrm>
          <a:prstGeom prst="rect">
            <a:avLst/>
          </a:prstGeom>
          <a:noFill/>
        </p:spPr>
        <p:txBody>
          <a:bodyPr wrap="square" lIns="0" rIns="0" tIns="0" bIns="0" anchor="t">
            <a:noAutofit/>
          </a:bodyPr>
          <a:lstStyle/>
          <a:p>
            <a:pPr algn="l">
              <a:lnSpc>
                <a:spcPct val="108000"/>
              </a:lnSpc>
            </a:pPr>
            <a:r>
              <a:rPr sz="2200" b="0" i="0">
                <a:solidFill>
                  <a:srgbClr val="201914"/>
                </a:solidFill>
                <a:latin typeface="Arial"/>
              </a:rPr>
              <a:t>How many times has that happened?</a:t>
            </a:r>
          </a:p>
        </p:txBody>
      </p:sp>
      <p:sp>
        <p:nvSpPr>
          <p:cNvPr id="23" name="TextBox 22"/>
          <p:cNvSpPr txBox="1"/>
          <p:nvPr/>
        </p:nvSpPr>
        <p:spPr>
          <a:xfrm>
            <a:off x="6648450" y="8598804"/>
            <a:ext cx="10191750" cy="423093"/>
          </a:xfrm>
          <a:prstGeom prst="rect">
            <a:avLst/>
          </a:prstGeom>
          <a:noFill/>
        </p:spPr>
        <p:txBody>
          <a:bodyPr wrap="square" lIns="0" rIns="0" tIns="0" bIns="0" anchor="t">
            <a:noAutofit/>
          </a:bodyPr>
          <a:lstStyle/>
          <a:p>
            <a:pPr algn="l">
              <a:lnSpc>
                <a:spcPct val="108000"/>
              </a:lnSpc>
            </a:pPr>
            <a:r>
              <a:rPr sz="2300" b="0" i="1">
                <a:solidFill>
                  <a:srgbClr val="665B53"/>
                </a:solidFill>
                <a:latin typeface="Georgia"/>
              </a:rPr>
              <a:t>Probably four or five times this year.</a:t>
            </a:r>
          </a:p>
        </p:txBody>
      </p:sp>
      <p:sp>
        <p:nvSpPr>
          <p:cNvPr id="24" name="Rectangle 23"/>
          <p:cNvSpPr/>
          <p:nvPr/>
        </p:nvSpPr>
        <p:spPr>
          <a:xfrm>
            <a:off x="1047750" y="9136197"/>
            <a:ext cx="16192500" cy="9525"/>
          </a:xfrm>
          <a:prstGeom prst="rect">
            <a:avLst/>
          </a:prstGeom>
          <a:solidFill>
            <a:srgbClr val="D8CFC7"/>
          </a:solidFill>
          <a:ln>
            <a:noFill/>
          </a:ln>
          <a:effectLst/>
        </p:spPr>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WHAT THE SECOND INTERVIEWER GOT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Four things the first interviewer will never know</a:t>
            </a:r>
          </a:p>
        </p:txBody>
      </p:sp>
      <p:sp>
        <p:nvSpPr>
          <p:cNvPr id="4" name="Rectangle 3"/>
          <p:cNvSpPr/>
          <p:nvPr/>
        </p:nvSpPr>
        <p:spPr>
          <a:xfrm>
            <a:off x="1047750" y="2838450"/>
            <a:ext cx="3762375" cy="49530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181350"/>
            <a:ext cx="2924175" cy="857250"/>
          </a:xfrm>
          <a:prstGeom prst="rect">
            <a:avLst/>
          </a:prstGeom>
          <a:noFill/>
        </p:spPr>
        <p:txBody>
          <a:bodyPr wrap="square" lIns="0" rIns="0" tIns="0" bIns="0" anchor="t">
            <a:noAutofit/>
          </a:bodyPr>
          <a:lstStyle/>
          <a:p>
            <a:pPr algn="l">
              <a:lnSpc>
                <a:spcPct val="100000"/>
              </a:lnSpc>
            </a:pPr>
            <a:r>
              <a:rPr sz="6000" b="1" i="0" spc="-100">
                <a:solidFill>
                  <a:srgbClr val="201914"/>
                </a:solidFill>
                <a:latin typeface="Arial"/>
              </a:rPr>
              <a:t>₹2,400</a:t>
            </a:r>
          </a:p>
        </p:txBody>
      </p:sp>
      <p:sp>
        <p:nvSpPr>
          <p:cNvPr id="6" name="TextBox 5"/>
          <p:cNvSpPr txBox="1"/>
          <p:nvPr/>
        </p:nvSpPr>
        <p:spPr>
          <a:xfrm>
            <a:off x="1466850" y="40576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a real amount</a:t>
            </a:r>
          </a:p>
        </p:txBody>
      </p:sp>
      <p:sp>
        <p:nvSpPr>
          <p:cNvPr id="7" name="TextBox 6"/>
          <p:cNvSpPr txBox="1"/>
          <p:nvPr/>
        </p:nvSpPr>
        <p:spPr>
          <a:xfrm>
            <a:off x="1466850" y="4598670"/>
            <a:ext cx="2924175" cy="2811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The bill was ₹2,400. He paid it. One of three never sent his ₹800.</a:t>
            </a:r>
          </a:p>
        </p:txBody>
      </p:sp>
      <p:sp>
        <p:nvSpPr>
          <p:cNvPr id="8" name="Rectangle 7"/>
          <p:cNvSpPr/>
          <p:nvPr/>
        </p:nvSpPr>
        <p:spPr>
          <a:xfrm>
            <a:off x="5191125" y="2838450"/>
            <a:ext cx="3762375" cy="4953000"/>
          </a:xfrm>
          <a:prstGeom prst="rect">
            <a:avLst/>
          </a:prstGeom>
          <a:solidFill>
            <a:srgbClr val="F0EAE1"/>
          </a:solidFill>
          <a:ln>
            <a:noFill/>
          </a:ln>
          <a:effectLst/>
        </p:spPr>
        <p:txBody>
          <a:bodyPr rtlCol="0" anchor="ctr"/>
          <a:lstStyle/>
          <a:p>
            <a:pPr algn="ctr"/>
          </a:p>
        </p:txBody>
      </p:sp>
      <p:sp>
        <p:nvSpPr>
          <p:cNvPr id="9" name="TextBox 8"/>
          <p:cNvSpPr txBox="1"/>
          <p:nvPr/>
        </p:nvSpPr>
        <p:spPr>
          <a:xfrm>
            <a:off x="5610225" y="3181350"/>
            <a:ext cx="2924175" cy="857250"/>
          </a:xfrm>
          <a:prstGeom prst="rect">
            <a:avLst/>
          </a:prstGeom>
          <a:noFill/>
        </p:spPr>
        <p:txBody>
          <a:bodyPr wrap="square" lIns="0" rIns="0" tIns="0" bIns="0" anchor="t">
            <a:noAutofit/>
          </a:bodyPr>
          <a:lstStyle/>
          <a:p>
            <a:pPr algn="l">
              <a:lnSpc>
                <a:spcPct val="100000"/>
              </a:lnSpc>
            </a:pPr>
            <a:r>
              <a:rPr sz="6000" b="1" i="0" spc="-100">
                <a:solidFill>
                  <a:srgbClr val="201914"/>
                </a:solidFill>
                <a:latin typeface="Arial"/>
              </a:rPr>
              <a:t>4 or 5</a:t>
            </a:r>
          </a:p>
        </p:txBody>
      </p:sp>
      <p:sp>
        <p:nvSpPr>
          <p:cNvPr id="10" name="TextBox 9"/>
          <p:cNvSpPr txBox="1"/>
          <p:nvPr/>
        </p:nvSpPr>
        <p:spPr>
          <a:xfrm>
            <a:off x="5610225" y="40576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times this year</a:t>
            </a:r>
          </a:p>
        </p:txBody>
      </p:sp>
      <p:sp>
        <p:nvSpPr>
          <p:cNvPr id="11" name="TextBox 10"/>
          <p:cNvSpPr txBox="1"/>
          <p:nvPr/>
        </p:nvSpPr>
        <p:spPr>
          <a:xfrm>
            <a:off x="5610225" y="4598670"/>
            <a:ext cx="2924175" cy="2811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A real frequency. Not 'sometimes', not 'it's annoying'.</a:t>
            </a:r>
          </a:p>
        </p:txBody>
      </p:sp>
      <p:sp>
        <p:nvSpPr>
          <p:cNvPr id="12" name="Rectangle 11"/>
          <p:cNvSpPr/>
          <p:nvPr/>
        </p:nvSpPr>
        <p:spPr>
          <a:xfrm>
            <a:off x="9334500" y="2838450"/>
            <a:ext cx="3762375" cy="4953000"/>
          </a:xfrm>
          <a:prstGeom prst="rect">
            <a:avLst/>
          </a:prstGeom>
          <a:solidFill>
            <a:srgbClr val="F0EAE1"/>
          </a:solidFill>
          <a:ln>
            <a:noFill/>
          </a:ln>
          <a:effectLst/>
        </p:spPr>
        <p:txBody>
          <a:bodyPr rtlCol="0" anchor="ctr"/>
          <a:lstStyle/>
          <a:p>
            <a:pPr algn="ctr"/>
          </a:p>
        </p:txBody>
      </p:sp>
      <p:sp>
        <p:nvSpPr>
          <p:cNvPr id="13" name="TextBox 12"/>
          <p:cNvSpPr txBox="1"/>
          <p:nvPr/>
        </p:nvSpPr>
        <p:spPr>
          <a:xfrm>
            <a:off x="9753600" y="3181350"/>
            <a:ext cx="2924175" cy="857250"/>
          </a:xfrm>
          <a:prstGeom prst="rect">
            <a:avLst/>
          </a:prstGeom>
          <a:noFill/>
        </p:spPr>
        <p:txBody>
          <a:bodyPr wrap="square" lIns="0" rIns="0" tIns="0" bIns="0" anchor="t">
            <a:noAutofit/>
          </a:bodyPr>
          <a:lstStyle/>
          <a:p>
            <a:pPr algn="l">
              <a:lnSpc>
                <a:spcPct val="100000"/>
              </a:lnSpc>
            </a:pPr>
            <a:r>
              <a:rPr sz="6000" b="1" i="0" spc="-100">
                <a:solidFill>
                  <a:srgbClr val="201914"/>
                </a:solidFill>
                <a:latin typeface="Arial"/>
              </a:rPr>
              <a:t>Status</a:t>
            </a:r>
          </a:p>
        </p:txBody>
      </p:sp>
      <p:sp>
        <p:nvSpPr>
          <p:cNvPr id="14" name="TextBox 13"/>
          <p:cNvSpPr txBox="1"/>
          <p:nvPr/>
        </p:nvSpPr>
        <p:spPr>
          <a:xfrm>
            <a:off x="9753600" y="40576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the real reason</a:t>
            </a:r>
          </a:p>
        </p:txBody>
      </p:sp>
      <p:sp>
        <p:nvSpPr>
          <p:cNvPr id="15" name="TextBox 14"/>
          <p:cNvSpPr txBox="1"/>
          <p:nvPr/>
        </p:nvSpPr>
        <p:spPr>
          <a:xfrm>
            <a:off x="9753600" y="4598670"/>
            <a:ext cx="2924175" cy="2811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Not forgetfulness or bad accounting. If he chases, he looks like the poor one in the group.</a:t>
            </a:r>
          </a:p>
        </p:txBody>
      </p:sp>
      <p:sp>
        <p:nvSpPr>
          <p:cNvPr id="16" name="Rectangle 15"/>
          <p:cNvSpPr/>
          <p:nvPr/>
        </p:nvSpPr>
        <p:spPr>
          <a:xfrm>
            <a:off x="13477875" y="2838450"/>
            <a:ext cx="3762375" cy="4953000"/>
          </a:xfrm>
          <a:prstGeom prst="rect">
            <a:avLst/>
          </a:prstGeom>
          <a:solidFill>
            <a:srgbClr val="C35141"/>
          </a:solidFill>
          <a:ln>
            <a:noFill/>
          </a:ln>
          <a:effectLst/>
        </p:spPr>
        <p:txBody>
          <a:bodyPr rtlCol="0" anchor="ctr"/>
          <a:lstStyle/>
          <a:p>
            <a:pPr algn="ctr"/>
          </a:p>
        </p:txBody>
      </p:sp>
      <p:sp>
        <p:nvSpPr>
          <p:cNvPr id="17" name="TextBox 16"/>
          <p:cNvSpPr txBox="1"/>
          <p:nvPr/>
        </p:nvSpPr>
        <p:spPr>
          <a:xfrm>
            <a:off x="13896975" y="3181350"/>
            <a:ext cx="2924175" cy="857250"/>
          </a:xfrm>
          <a:prstGeom prst="rect">
            <a:avLst/>
          </a:prstGeom>
          <a:noFill/>
        </p:spPr>
        <p:txBody>
          <a:bodyPr wrap="square" lIns="0" rIns="0" tIns="0" bIns="0" anchor="t">
            <a:noAutofit/>
          </a:bodyPr>
          <a:lstStyle/>
          <a:p>
            <a:pPr algn="l">
              <a:lnSpc>
                <a:spcPct val="100000"/>
              </a:lnSpc>
            </a:pPr>
            <a:r>
              <a:rPr sz="6000" b="1" i="0" spc="-100">
                <a:solidFill>
                  <a:srgbClr val="F5F1E9"/>
                </a:solidFill>
                <a:latin typeface="Arial"/>
              </a:rPr>
              <a:t>Nobody</a:t>
            </a:r>
          </a:p>
        </p:txBody>
      </p:sp>
      <p:sp>
        <p:nvSpPr>
          <p:cNvPr id="18" name="TextBox 17"/>
          <p:cNvSpPr txBox="1"/>
          <p:nvPr/>
        </p:nvSpPr>
        <p:spPr>
          <a:xfrm>
            <a:off x="13896975" y="4057650"/>
            <a:ext cx="2924175" cy="331470"/>
          </a:xfrm>
          <a:prstGeom prst="rect">
            <a:avLst/>
          </a:prstGeom>
          <a:noFill/>
        </p:spPr>
        <p:txBody>
          <a:bodyPr wrap="square" lIns="0" rIns="0" tIns="0" bIns="0" anchor="t">
            <a:noAutofit/>
          </a:bodyPr>
          <a:lstStyle/>
          <a:p>
            <a:pPr algn="l">
              <a:lnSpc>
                <a:spcPct val="105000"/>
              </a:lnSpc>
            </a:pPr>
            <a:r>
              <a:rPr sz="1800" b="1" i="0">
                <a:solidFill>
                  <a:srgbClr val="F5F1E9"/>
                </a:solidFill>
                <a:latin typeface="Arial"/>
              </a:rPr>
              <a:t>should have to ask</a:t>
            </a:r>
          </a:p>
        </p:txBody>
      </p:sp>
      <p:sp>
        <p:nvSpPr>
          <p:cNvPr id="19" name="TextBox 18"/>
          <p:cNvSpPr txBox="1"/>
          <p:nvPr/>
        </p:nvSpPr>
        <p:spPr>
          <a:xfrm>
            <a:off x="13896975" y="4598670"/>
            <a:ext cx="2924175" cy="2811780"/>
          </a:xfrm>
          <a:prstGeom prst="rect">
            <a:avLst/>
          </a:prstGeom>
          <a:noFill/>
        </p:spPr>
        <p:txBody>
          <a:bodyPr wrap="square" lIns="0" rIns="0" tIns="0" bIns="0" anchor="t">
            <a:noAutofit/>
          </a:bodyPr>
          <a:lstStyle/>
          <a:p>
            <a:pPr algn="l">
              <a:lnSpc>
                <a:spcPct val="110000"/>
              </a:lnSpc>
            </a:pPr>
            <a:r>
              <a:rPr sz="2300" b="0" i="0">
                <a:solidFill>
                  <a:srgbClr val="F5F1E9"/>
                </a:solidFill>
                <a:latin typeface="Arial"/>
              </a:rPr>
              <a:t>The first interviewer would have built reminders. A reminder with your name on it makes the problem worse.</a:t>
            </a:r>
          </a:p>
        </p:txBody>
      </p:sp>
      <p:sp>
        <p:nvSpPr>
          <p:cNvPr id="20" name="TextBox 1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The second interviewer asked about the past, asked what happened, asked why, and then said nothing. That is the whole technique.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5900562"/>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CASE STUDY</a:t>
            </a:r>
          </a:p>
        </p:txBody>
      </p:sp>
      <p:sp>
        <p:nvSpPr>
          <p:cNvPr id="3" name="TextBox 2"/>
          <p:cNvSpPr txBox="1"/>
          <p:nvPr/>
        </p:nvSpPr>
        <p:spPr>
          <a:xfrm>
            <a:off x="1047750" y="6453012"/>
            <a:ext cx="16192500" cy="1264676"/>
          </a:xfrm>
          <a:prstGeom prst="rect">
            <a:avLst/>
          </a:prstGeom>
          <a:noFill/>
        </p:spPr>
        <p:txBody>
          <a:bodyPr wrap="square" lIns="0" rIns="0" tIns="0" bIns="0" anchor="t">
            <a:noAutofit/>
          </a:bodyPr>
          <a:lstStyle/>
          <a:p>
            <a:pPr algn="l">
              <a:lnSpc>
                <a:spcPct val="98000"/>
              </a:lnSpc>
            </a:pPr>
            <a:r>
              <a:rPr sz="8100" b="1" i="0" spc="-120">
                <a:solidFill>
                  <a:srgbClr val="F5F1E9"/>
                </a:solidFill>
                <a:latin typeface="Arial"/>
              </a:rPr>
              <a:t>Airbnb and Urban Company</a:t>
            </a:r>
          </a:p>
        </p:txBody>
      </p:sp>
      <p:sp>
        <p:nvSpPr>
          <p:cNvPr id="4" name="TextBox 3"/>
          <p:cNvSpPr txBox="1"/>
          <p:nvPr/>
        </p:nvSpPr>
        <p:spPr>
          <a:xfrm>
            <a:off x="1047750" y="7870088"/>
            <a:ext cx="14287500" cy="1845412"/>
          </a:xfrm>
          <a:prstGeom prst="rect">
            <a:avLst/>
          </a:prstGeom>
          <a:noFill/>
        </p:spPr>
        <p:txBody>
          <a:bodyPr wrap="square" lIns="0" rIns="0" tIns="0" bIns="0" anchor="t">
            <a:noAutofit/>
          </a:bodyPr>
          <a:lstStyle/>
          <a:p>
            <a:pPr algn="l">
              <a:lnSpc>
                <a:spcPct val="110000"/>
              </a:lnSpc>
            </a:pPr>
            <a:r>
              <a:rPr sz="3600" b="0" i="1">
                <a:solidFill>
                  <a:srgbClr val="C1B5AB"/>
                </a:solidFill>
                <a:latin typeface="Georgia"/>
              </a:rPr>
              <a:t>Two founders got on a plane because a mentor said stop staring at laptops. Three founders in Delhi interviewed both sides of their own marketplace.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AIRBNB · 2009 · Y COMBINATOR</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advice sounded too obvious to be worth anything.</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instruction</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Paul Graham told Brian Chesky and Joe Gebbia that most of their listings were in New York. Go there. Not a call, not a survey: sit in their living rooms.</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What two founders found</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Anxiety at the moment of booking. Relief on arrival. And dark, blurry photographs that gave a nervous guest nothing to trust.</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fix</a:t>
            </a:r>
          </a:p>
        </p:txBody>
      </p:sp>
      <p:sp>
        <p:nvSpPr>
          <p:cNvPr id="12" name="TextBox 11"/>
          <p:cNvSpPr txBox="1"/>
          <p:nvPr/>
        </p:nvSpPr>
        <p:spPr>
          <a:xfrm>
            <a:off x="12096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They borrowed a camera and photographed the rooms properly themselves. Listings with good photographs performed dramatically better.</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 survey tells you how many people report something. An interview tells you why, what happened, and what they did next.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AIRBNB · WHY NO SURVEY COULD HAVE FOUND IT</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Obvious the moment you see it. Invisible from any distance.</a:t>
            </a:r>
          </a:p>
        </p:txBody>
      </p:sp>
      <p:sp>
        <p:nvSpPr>
          <p:cNvPr id="4" name="Rectangle 3"/>
          <p:cNvSpPr/>
          <p:nvPr/>
        </p:nvSpPr>
        <p:spPr>
          <a:xfrm>
            <a:off x="1047750" y="3409950"/>
            <a:ext cx="7905750" cy="45720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3409950"/>
            <a:ext cx="7905750" cy="45720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THE PEOPLE YOU COULD HAVE ASKED</a:t>
            </a:r>
          </a:p>
        </p:txBody>
      </p:sp>
      <p:sp>
        <p:nvSpPr>
          <p:cNvPr id="7" name="TextBox 6"/>
          <p:cNvSpPr txBox="1"/>
          <p:nvPr/>
        </p:nvSpPr>
        <p:spPr>
          <a:xfrm>
            <a:off x="146685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201914"/>
                </a:solidFill>
                <a:latin typeface="Arial"/>
              </a:rPr>
              <a:t>No host writes 'my photographs are bad'. If they knew, they would have taken better ones.</a:t>
            </a:r>
          </a:p>
          <a:p>
            <a:pPr algn="l">
              <a:lnSpc>
                <a:spcPct val="112000"/>
              </a:lnSpc>
              <a:spcAft>
                <a:spcPts val="1200"/>
              </a:spcAft>
            </a:pPr>
            <a:r>
              <a:rPr sz="2800" b="0" i="0">
                <a:solidFill>
                  <a:srgbClr val="201914"/>
                </a:solidFill>
                <a:latin typeface="Arial"/>
              </a:rPr>
              <a:t>No guest says 'improve the photography'. Guests do not think like sellers.</a:t>
            </a:r>
          </a:p>
          <a:p>
            <a:pPr algn="l">
              <a:lnSpc>
                <a:spcPct val="112000"/>
              </a:lnSpc>
            </a:pPr>
            <a:r>
              <a:rPr sz="2800" b="0" i="0">
                <a:solidFill>
                  <a:srgbClr val="201914"/>
                </a:solidFill>
                <a:latin typeface="Arial"/>
              </a:rPr>
              <a:t>A survey returns neither sentence.</a:t>
            </a:r>
          </a:p>
        </p:txBody>
      </p:sp>
      <p:sp>
        <p:nvSpPr>
          <p:cNvPr id="8" name="TextBox 7"/>
          <p:cNvSpPr txBox="1"/>
          <p:nvPr/>
        </p:nvSpPr>
        <p:spPr>
          <a:xfrm>
            <a:off x="975360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THE PERSON STANDING IN THE ROOM</a:t>
            </a:r>
          </a:p>
        </p:txBody>
      </p:sp>
      <p:sp>
        <p:nvSpPr>
          <p:cNvPr id="9" name="TextBox 8"/>
          <p:cNvSpPr txBox="1"/>
          <p:nvPr/>
        </p:nvSpPr>
        <p:spPr>
          <a:xfrm>
            <a:off x="975360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F5F1E9"/>
                </a:solidFill>
                <a:latin typeface="Arial"/>
              </a:rPr>
              <a:t>Holding the listing in one hand and the room in their head at the same moment.</a:t>
            </a:r>
          </a:p>
          <a:p>
            <a:pPr algn="l">
              <a:lnSpc>
                <a:spcPct val="112000"/>
              </a:lnSpc>
              <a:spcAft>
                <a:spcPts val="1200"/>
              </a:spcAft>
            </a:pPr>
            <a:r>
              <a:rPr sz="2800" b="0" i="0">
                <a:solidFill>
                  <a:srgbClr val="F5F1E9"/>
                </a:solidFill>
                <a:latin typeface="Arial"/>
              </a:rPr>
              <a:t>Sees the dark photograph and the anxious guest together.</a:t>
            </a:r>
          </a:p>
          <a:p>
            <a:pPr algn="l">
              <a:lnSpc>
                <a:spcPct val="112000"/>
              </a:lnSpc>
            </a:pPr>
            <a:r>
              <a:rPr sz="2800" b="0" i="0">
                <a:solidFill>
                  <a:srgbClr val="F5F1E9"/>
                </a:solidFill>
                <a:latin typeface="Arial"/>
              </a:rPr>
              <a:t>Almost every valuable interview finding has this property.</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You only find it by standing in the flat, looking at the photograph, and looking at the flat.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URBAN COMPANY · DELHI · 2014</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Everybody builds the customer's app. These three interviewed the plumber.</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Who they were</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Abhiraj Singh Bhal, Varun Khaitan and Raghav Chandra. Two from IIT Kanpur. All three had started and shut down ventures before.</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What customers said</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Finding a good plumber is hard. No price list, no way to check quality, and the price is argued at the end. So build a directory.</a:t>
            </a:r>
          </a:p>
        </p:txBody>
      </p:sp>
      <p:sp>
        <p:nvSpPr>
          <p:cNvPr id="10" name="Rectangle 9"/>
          <p:cNvSpPr/>
          <p:nvPr/>
        </p:nvSpPr>
        <p:spPr>
          <a:xfrm>
            <a:off x="12096750" y="3409950"/>
            <a:ext cx="5143500" cy="3624275"/>
          </a:xfrm>
          <a:prstGeom prst="rect">
            <a:avLst/>
          </a:prstGeom>
          <a:solidFill>
            <a:srgbClr val="C35141"/>
          </a:solidFill>
          <a:ln>
            <a:noFill/>
          </a:ln>
          <a:effectLst/>
        </p:spPr>
        <p:txBody>
          <a:bodyPr rtlCol="0" anchor="ctr"/>
          <a:lstStyle/>
          <a:p>
            <a:pPr algn="ctr"/>
          </a:p>
        </p:txBody>
      </p:sp>
      <p:sp>
        <p:nvSpPr>
          <p:cNvPr id="11" name="TextBox 10"/>
          <p:cNvSpPr txBox="1"/>
          <p:nvPr/>
        </p:nvSpPr>
        <p:spPr>
          <a:xfrm>
            <a:off x="12477750" y="3790950"/>
            <a:ext cx="4381500" cy="507949"/>
          </a:xfrm>
          <a:prstGeom prst="rect">
            <a:avLst/>
          </a:prstGeom>
          <a:noFill/>
        </p:spPr>
        <p:txBody>
          <a:bodyPr wrap="square" lIns="0" rIns="0" tIns="0" bIns="0" anchor="t">
            <a:noAutofit/>
          </a:bodyPr>
          <a:lstStyle/>
          <a:p>
            <a:pPr algn="l">
              <a:lnSpc>
                <a:spcPct val="102000"/>
              </a:lnSpc>
            </a:pPr>
            <a:r>
              <a:rPr sz="3000" b="1" i="0">
                <a:solidFill>
                  <a:srgbClr val="F5F1E9"/>
                </a:solidFill>
                <a:latin typeface="Arial"/>
              </a:rPr>
              <a:t>What the plumbers said</a:t>
            </a:r>
          </a:p>
        </p:txBody>
      </p:sp>
      <p:sp>
        <p:nvSpPr>
          <p:cNvPr id="12" name="TextBox 11"/>
          <p:cNvSpPr txBox="1"/>
          <p:nvPr/>
        </p:nvSpPr>
        <p:spPr>
          <a:xfrm>
            <a:off x="12477750" y="4451299"/>
            <a:ext cx="4381500" cy="3711626"/>
          </a:xfrm>
          <a:prstGeom prst="rect">
            <a:avLst/>
          </a:prstGeom>
          <a:noFill/>
        </p:spPr>
        <p:txBody>
          <a:bodyPr wrap="square" lIns="0" rIns="0" tIns="0" bIns="0" anchor="t">
            <a:noAutofit/>
          </a:bodyPr>
          <a:lstStyle/>
          <a:p>
            <a:pPr algn="l">
              <a:lnSpc>
                <a:spcPct val="110000"/>
              </a:lnSpc>
            </a:pPr>
            <a:r>
              <a:rPr sz="2600" b="0" i="0">
                <a:solidFill>
                  <a:srgbClr val="F5F1E9"/>
                </a:solidFill>
                <a:latin typeface="Arial"/>
              </a:rPr>
              <a:t>Work comes through middlemen who take a cut. Your goodwill stays with the contractor. Do excellent work and nothing changes.</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Two problems, so two companies. One lists plumbers. The other trains them, prices them, rates them one by one and lets a higher rating earn more 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GENERAL PRINCIPLE</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customer describes the symptom. Only the supplier knows the cause.</a:t>
            </a:r>
          </a:p>
        </p:txBody>
      </p:sp>
      <p:sp>
        <p:nvSpPr>
          <p:cNvPr id="4" name="Rectangle 3"/>
          <p:cNvSpPr/>
          <p:nvPr/>
        </p:nvSpPr>
        <p:spPr>
          <a:xfrm>
            <a:off x="1047750" y="3409950"/>
            <a:ext cx="7905750" cy="45720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3409950"/>
            <a:ext cx="7905750" cy="45720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THE CUSTOMER SAYS</a:t>
            </a:r>
          </a:p>
        </p:txBody>
      </p:sp>
      <p:sp>
        <p:nvSpPr>
          <p:cNvPr id="7" name="TextBox 6"/>
          <p:cNvSpPr txBox="1"/>
          <p:nvPr/>
        </p:nvSpPr>
        <p:spPr>
          <a:xfrm>
            <a:off x="1466850" y="4362450"/>
            <a:ext cx="7067550" cy="3333750"/>
          </a:xfrm>
          <a:prstGeom prst="rect">
            <a:avLst/>
          </a:prstGeom>
          <a:noFill/>
        </p:spPr>
        <p:txBody>
          <a:bodyPr wrap="square" lIns="0" rIns="0" tIns="0" bIns="0" anchor="t">
            <a:noAutofit/>
          </a:bodyPr>
          <a:lstStyle/>
          <a:p>
            <a:pPr algn="l">
              <a:lnSpc>
                <a:spcPct val="112000"/>
              </a:lnSpc>
              <a:spcAft>
                <a:spcPts val="1200"/>
              </a:spcAft>
            </a:pPr>
            <a:r>
              <a:rPr sz="2600" b="0" i="0">
                <a:solidFill>
                  <a:srgbClr val="201914"/>
                </a:solidFill>
                <a:latin typeface="Arial"/>
              </a:rPr>
              <a:t>The plumber is unreliable.</a:t>
            </a:r>
          </a:p>
          <a:p>
            <a:pPr algn="l">
              <a:lnSpc>
                <a:spcPct val="112000"/>
              </a:lnSpc>
              <a:spcAft>
                <a:spcPts val="1200"/>
              </a:spcAft>
            </a:pPr>
            <a:r>
              <a:rPr sz="2600" b="0" i="0">
                <a:solidFill>
                  <a:srgbClr val="201914"/>
                </a:solidFill>
                <a:latin typeface="Arial"/>
              </a:rPr>
              <a:t>The food arrived cold.</a:t>
            </a:r>
          </a:p>
          <a:p>
            <a:pPr algn="l">
              <a:lnSpc>
                <a:spcPct val="112000"/>
              </a:lnSpc>
            </a:pPr>
            <a:r>
              <a:rPr sz="2600" b="0" i="0">
                <a:solidFill>
                  <a:srgbClr val="201914"/>
                </a:solidFill>
                <a:latin typeface="Arial"/>
              </a:rPr>
              <a:t>The shop was out of stock.</a:t>
            </a:r>
          </a:p>
        </p:txBody>
      </p:sp>
      <p:sp>
        <p:nvSpPr>
          <p:cNvPr id="8" name="TextBox 7"/>
          <p:cNvSpPr txBox="1"/>
          <p:nvPr/>
        </p:nvSpPr>
        <p:spPr>
          <a:xfrm>
            <a:off x="975360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THE PERSON DOING THE WORK SAYS</a:t>
            </a:r>
          </a:p>
        </p:txBody>
      </p:sp>
      <p:sp>
        <p:nvSpPr>
          <p:cNvPr id="9" name="TextBox 8"/>
          <p:cNvSpPr txBox="1"/>
          <p:nvPr/>
        </p:nvSpPr>
        <p:spPr>
          <a:xfrm>
            <a:off x="9753600" y="4362450"/>
            <a:ext cx="7067550" cy="3333750"/>
          </a:xfrm>
          <a:prstGeom prst="rect">
            <a:avLst/>
          </a:prstGeom>
          <a:noFill/>
        </p:spPr>
        <p:txBody>
          <a:bodyPr wrap="square" lIns="0" rIns="0" tIns="0" bIns="0" anchor="t">
            <a:noAutofit/>
          </a:bodyPr>
          <a:lstStyle/>
          <a:p>
            <a:pPr algn="l">
              <a:lnSpc>
                <a:spcPct val="112000"/>
              </a:lnSpc>
              <a:spcAft>
                <a:spcPts val="1200"/>
              </a:spcAft>
            </a:pPr>
            <a:r>
              <a:rPr sz="2600" b="0" i="0">
                <a:solidFill>
                  <a:srgbClr val="F5F1E9"/>
                </a:solidFill>
                <a:latin typeface="Arial"/>
              </a:rPr>
              <a:t>Three jobs through two contractors, and the last customer had not bought the right fittings.</a:t>
            </a:r>
          </a:p>
          <a:p>
            <a:pPr algn="l">
              <a:lnSpc>
                <a:spcPct val="112000"/>
              </a:lnSpc>
              <a:spcAft>
                <a:spcPts val="1200"/>
              </a:spcAft>
            </a:pPr>
            <a:r>
              <a:rPr sz="2600" b="0" i="0">
                <a:solidFill>
                  <a:srgbClr val="F5F1E9"/>
                </a:solidFill>
                <a:latin typeface="Arial"/>
              </a:rPr>
              <a:t>I waited eleven minutes at the gate because security would not let me in.</a:t>
            </a:r>
          </a:p>
          <a:p>
            <a:pPr algn="l">
              <a:lnSpc>
                <a:spcPct val="112000"/>
              </a:lnSpc>
            </a:pPr>
            <a:r>
              <a:rPr sz="2600" b="0" i="0">
                <a:solidFill>
                  <a:srgbClr val="F5F1E9"/>
                </a:solidFill>
                <a:latin typeface="Arial"/>
              </a:rPr>
              <a:t>The distributor's van comes Tuesdays and Saturdays, and I have to buy a full case or nothing.</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The supplier interview is always the harder one to arrange, and that is exactly why the finding is still available.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URBAN COMPANY · FY25 · READ THESE TOGETHER</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plumber interview, ten years later, as metrics</a:t>
            </a:r>
          </a:p>
        </p:txBody>
      </p:sp>
      <p:sp>
        <p:nvSpPr>
          <p:cNvPr id="4" name="Rectangle 3"/>
          <p:cNvSpPr/>
          <p:nvPr/>
        </p:nvSpPr>
        <p:spPr>
          <a:xfrm>
            <a:off x="1047750" y="2838450"/>
            <a:ext cx="3762375" cy="49530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1813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₹1,144.5</a:t>
            </a:r>
          </a:p>
        </p:txBody>
      </p:sp>
      <p:sp>
        <p:nvSpPr>
          <p:cNvPr id="6" name="TextBox 5"/>
          <p:cNvSpPr txBox="1"/>
          <p:nvPr/>
        </p:nvSpPr>
        <p:spPr>
          <a:xfrm>
            <a:off x="1466850" y="40576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crore of operating revenue</a:t>
            </a:r>
          </a:p>
        </p:txBody>
      </p:sp>
      <p:sp>
        <p:nvSpPr>
          <p:cNvPr id="7" name="TextBox 6"/>
          <p:cNvSpPr txBox="1"/>
          <p:nvPr/>
        </p:nvSpPr>
        <p:spPr>
          <a:xfrm>
            <a:off x="1466850" y="4598670"/>
            <a:ext cx="2924175" cy="2811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Up about 38%. Around 6.8 million transacting users across 51 Indian cities, plus the UAE and Singapore.</a:t>
            </a:r>
          </a:p>
        </p:txBody>
      </p:sp>
      <p:sp>
        <p:nvSpPr>
          <p:cNvPr id="8" name="Rectangle 7"/>
          <p:cNvSpPr/>
          <p:nvPr/>
        </p:nvSpPr>
        <p:spPr>
          <a:xfrm>
            <a:off x="5191125" y="2838450"/>
            <a:ext cx="3762375" cy="4953000"/>
          </a:xfrm>
          <a:prstGeom prst="rect">
            <a:avLst/>
          </a:prstGeom>
          <a:solidFill>
            <a:srgbClr val="F0EAE1"/>
          </a:solidFill>
          <a:ln>
            <a:noFill/>
          </a:ln>
          <a:effectLst/>
        </p:spPr>
        <p:txBody>
          <a:bodyPr rtlCol="0" anchor="ctr"/>
          <a:lstStyle/>
          <a:p>
            <a:pPr algn="ctr"/>
          </a:p>
        </p:txBody>
      </p:sp>
      <p:sp>
        <p:nvSpPr>
          <p:cNvPr id="9" name="TextBox 8"/>
          <p:cNvSpPr txBox="1"/>
          <p:nvPr/>
        </p:nvSpPr>
        <p:spPr>
          <a:xfrm>
            <a:off x="5610225" y="31813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82%</a:t>
            </a:r>
          </a:p>
        </p:txBody>
      </p:sp>
      <p:sp>
        <p:nvSpPr>
          <p:cNvPr id="10" name="TextBox 9"/>
          <p:cNvSpPr txBox="1"/>
          <p:nvPr/>
        </p:nvSpPr>
        <p:spPr>
          <a:xfrm>
            <a:off x="5610225" y="4057650"/>
            <a:ext cx="2924175" cy="60579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of transaction value from repeat customers</a:t>
            </a:r>
          </a:p>
        </p:txBody>
      </p:sp>
      <p:sp>
        <p:nvSpPr>
          <p:cNvPr id="11" name="TextBox 10"/>
          <p:cNvSpPr txBox="1"/>
          <p:nvPr/>
        </p:nvSpPr>
        <p:spPr>
          <a:xfrm>
            <a:off x="5610225" y="4872990"/>
            <a:ext cx="2924175" cy="253746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Customers come back when quality is reliable rather than lucky.</a:t>
            </a:r>
          </a:p>
        </p:txBody>
      </p:sp>
      <p:sp>
        <p:nvSpPr>
          <p:cNvPr id="12" name="Rectangle 11"/>
          <p:cNvSpPr/>
          <p:nvPr/>
        </p:nvSpPr>
        <p:spPr>
          <a:xfrm>
            <a:off x="9334500" y="2838450"/>
            <a:ext cx="3762375" cy="4953000"/>
          </a:xfrm>
          <a:prstGeom prst="rect">
            <a:avLst/>
          </a:prstGeom>
          <a:solidFill>
            <a:srgbClr val="C35141"/>
          </a:solidFill>
          <a:ln>
            <a:noFill/>
          </a:ln>
          <a:effectLst/>
        </p:spPr>
        <p:txBody>
          <a:bodyPr rtlCol="0" anchor="ctr"/>
          <a:lstStyle/>
          <a:p>
            <a:pPr algn="ctr"/>
          </a:p>
        </p:txBody>
      </p:sp>
      <p:sp>
        <p:nvSpPr>
          <p:cNvPr id="13" name="TextBox 12"/>
          <p:cNvSpPr txBox="1"/>
          <p:nvPr/>
        </p:nvSpPr>
        <p:spPr>
          <a:xfrm>
            <a:off x="9753600" y="3181350"/>
            <a:ext cx="2924175" cy="857250"/>
          </a:xfrm>
          <a:prstGeom prst="rect">
            <a:avLst/>
          </a:prstGeom>
          <a:noFill/>
        </p:spPr>
        <p:txBody>
          <a:bodyPr wrap="square" lIns="0" rIns="0" tIns="0" bIns="0" anchor="t">
            <a:noAutofit/>
          </a:bodyPr>
          <a:lstStyle/>
          <a:p>
            <a:pPr algn="l">
              <a:lnSpc>
                <a:spcPct val="100000"/>
              </a:lnSpc>
            </a:pPr>
            <a:r>
              <a:rPr sz="5400" b="1" i="0" spc="-100">
                <a:solidFill>
                  <a:srgbClr val="F5F1E9"/>
                </a:solidFill>
                <a:latin typeface="Arial"/>
              </a:rPr>
              <a:t>₹26,400</a:t>
            </a:r>
          </a:p>
        </p:txBody>
      </p:sp>
      <p:sp>
        <p:nvSpPr>
          <p:cNvPr id="14" name="TextBox 13"/>
          <p:cNvSpPr txBox="1"/>
          <p:nvPr/>
        </p:nvSpPr>
        <p:spPr>
          <a:xfrm>
            <a:off x="9753600" y="4057650"/>
            <a:ext cx="2924175" cy="605790"/>
          </a:xfrm>
          <a:prstGeom prst="rect">
            <a:avLst/>
          </a:prstGeom>
          <a:noFill/>
        </p:spPr>
        <p:txBody>
          <a:bodyPr wrap="square" lIns="0" rIns="0" tIns="0" bIns="0" anchor="t">
            <a:noAutofit/>
          </a:bodyPr>
          <a:lstStyle/>
          <a:p>
            <a:pPr algn="l">
              <a:lnSpc>
                <a:spcPct val="105000"/>
              </a:lnSpc>
            </a:pPr>
            <a:r>
              <a:rPr sz="1800" b="1" i="0">
                <a:solidFill>
                  <a:srgbClr val="F5F1E9"/>
                </a:solidFill>
                <a:latin typeface="Arial"/>
              </a:rPr>
              <a:t>average monthly earnings per service partner</a:t>
            </a:r>
          </a:p>
        </p:txBody>
      </p:sp>
      <p:sp>
        <p:nvSpPr>
          <p:cNvPr id="15" name="TextBox 14"/>
          <p:cNvSpPr txBox="1"/>
          <p:nvPr/>
        </p:nvSpPr>
        <p:spPr>
          <a:xfrm>
            <a:off x="9753600" y="4872990"/>
            <a:ext cx="2924175" cy="2537460"/>
          </a:xfrm>
          <a:prstGeom prst="rect">
            <a:avLst/>
          </a:prstGeom>
          <a:noFill/>
        </p:spPr>
        <p:txBody>
          <a:bodyPr wrap="square" lIns="0" rIns="0" tIns="0" bIns="0" anchor="t">
            <a:noAutofit/>
          </a:bodyPr>
          <a:lstStyle/>
          <a:p>
            <a:pPr algn="l">
              <a:lnSpc>
                <a:spcPct val="110000"/>
              </a:lnSpc>
            </a:pPr>
            <a:r>
              <a:rPr sz="2300" b="0" i="0">
                <a:solidFill>
                  <a:srgbClr val="F5F1E9"/>
                </a:solidFill>
                <a:latin typeface="Arial"/>
              </a:rPr>
              <a:t>Up about 16% year on year.</a:t>
            </a:r>
          </a:p>
        </p:txBody>
      </p:sp>
      <p:sp>
        <p:nvSpPr>
          <p:cNvPr id="16" name="Rectangle 15"/>
          <p:cNvSpPr/>
          <p:nvPr/>
        </p:nvSpPr>
        <p:spPr>
          <a:xfrm>
            <a:off x="13477875" y="2838450"/>
            <a:ext cx="3762375" cy="495300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13896975" y="31813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4.81</a:t>
            </a:r>
          </a:p>
        </p:txBody>
      </p:sp>
      <p:sp>
        <p:nvSpPr>
          <p:cNvPr id="18" name="TextBox 17"/>
          <p:cNvSpPr txBox="1"/>
          <p:nvPr/>
        </p:nvSpPr>
        <p:spPr>
          <a:xfrm>
            <a:off x="13896975" y="4057650"/>
            <a:ext cx="2924175" cy="60579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average customer rating out of 5</a:t>
            </a:r>
          </a:p>
        </p:txBody>
      </p:sp>
      <p:sp>
        <p:nvSpPr>
          <p:cNvPr id="19" name="TextBox 18"/>
          <p:cNvSpPr txBox="1"/>
          <p:nvPr/>
        </p:nvSpPr>
        <p:spPr>
          <a:xfrm>
            <a:off x="13896975" y="4872990"/>
            <a:ext cx="2924175" cy="253746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Quality measured for the individual, not for an agency.</a:t>
            </a:r>
          </a:p>
        </p:txBody>
      </p:sp>
      <p:sp>
        <p:nvSpPr>
          <p:cNvPr id="20" name="TextBox 1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Professionals earn more and their earnings are rising. Customers return. A system that did not reward being good now does.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1 · FIVE RULES, ONE PER MOVE</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Five Rules</a:t>
            </a:r>
          </a:p>
        </p:txBody>
      </p:sp>
      <p:sp>
        <p:nvSpPr>
          <p:cNvPr id="4" name="TextBox 3"/>
          <p:cNvSpPr txBox="1"/>
          <p:nvPr/>
        </p:nvSpPr>
        <p:spPr>
          <a:xfrm>
            <a:off x="1314450" y="2838450"/>
            <a:ext cx="3619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RULE</a:t>
            </a:r>
          </a:p>
        </p:txBody>
      </p:sp>
      <p:sp>
        <p:nvSpPr>
          <p:cNvPr id="5" name="TextBox 4"/>
          <p:cNvSpPr txBox="1"/>
          <p:nvPr/>
        </p:nvSpPr>
        <p:spPr>
          <a:xfrm>
            <a:off x="5124450" y="2838450"/>
            <a:ext cx="6477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MEANS</a:t>
            </a:r>
          </a:p>
        </p:txBody>
      </p:sp>
      <p:sp>
        <p:nvSpPr>
          <p:cNvPr id="6" name="TextBox 5"/>
          <p:cNvSpPr txBox="1"/>
          <p:nvPr/>
        </p:nvSpPr>
        <p:spPr>
          <a:xfrm>
            <a:off x="11791950" y="2838450"/>
            <a:ext cx="49911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THE TELL THAT YOU BROKE IT</a:t>
            </a:r>
          </a:p>
        </p:txBody>
      </p:sp>
      <p:sp>
        <p:nvSpPr>
          <p:cNvPr id="7" name="Rectangle 6"/>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3698081"/>
            <a:ext cx="3524250" cy="565366"/>
          </a:xfrm>
          <a:prstGeom prst="rect">
            <a:avLst/>
          </a:prstGeom>
          <a:noFill/>
        </p:spPr>
        <p:txBody>
          <a:bodyPr wrap="square" lIns="0" rIns="0" tIns="0" bIns="0" anchor="t">
            <a:noAutofit/>
          </a:bodyPr>
          <a:lstStyle/>
          <a:p>
            <a:pPr algn="l">
              <a:lnSpc>
                <a:spcPct val="105000"/>
              </a:lnSpc>
            </a:pPr>
            <a:r>
              <a:rPr sz="1900" b="1" i="0">
                <a:solidFill>
                  <a:srgbClr val="201914"/>
                </a:solidFill>
                <a:latin typeface="Arial"/>
              </a:rPr>
              <a:t>1 · Ask about the past</a:t>
            </a:r>
          </a:p>
        </p:txBody>
      </p:sp>
      <p:sp>
        <p:nvSpPr>
          <p:cNvPr id="9" name="TextBox 8"/>
          <p:cNvSpPr txBox="1"/>
          <p:nvPr/>
        </p:nvSpPr>
        <p:spPr>
          <a:xfrm>
            <a:off x="5124450" y="3698081"/>
            <a:ext cx="6381750" cy="565366"/>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'Tell me about the last time', not 'would you ever'.</a:t>
            </a:r>
          </a:p>
        </p:txBody>
      </p:sp>
      <p:sp>
        <p:nvSpPr>
          <p:cNvPr id="10" name="TextBox 9"/>
          <p:cNvSpPr txBox="1"/>
          <p:nvPr/>
        </p:nvSpPr>
        <p:spPr>
          <a:xfrm>
            <a:off x="11791950" y="3698081"/>
            <a:ext cx="4895850" cy="565366"/>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You said 'would you' or 'do you think you'd'.</a:t>
            </a:r>
          </a:p>
        </p:txBody>
      </p:sp>
      <p:sp>
        <p:nvSpPr>
          <p:cNvPr id="11" name="Rectangle 10"/>
          <p:cNvSpPr/>
          <p:nvPr/>
        </p:nvSpPr>
        <p:spPr>
          <a:xfrm>
            <a:off x="1047750" y="4127716"/>
            <a:ext cx="16192500" cy="859269"/>
          </a:xfrm>
          <a:prstGeom prst="rect">
            <a:avLst/>
          </a:prstGeom>
          <a:solidFill>
            <a:srgbClr val="F3EEE6"/>
          </a:solidFill>
          <a:ln>
            <a:noFill/>
          </a:ln>
          <a:effectLst/>
        </p:spPr>
        <p:txBody>
          <a:bodyPr rtlCol="0" anchor="ctr"/>
          <a:lstStyle/>
          <a:p>
            <a:pPr algn="ctr"/>
          </a:p>
        </p:txBody>
      </p:sp>
      <p:sp>
        <p:nvSpPr>
          <p:cNvPr id="12" name="Rectangle 11"/>
          <p:cNvSpPr/>
          <p:nvPr/>
        </p:nvSpPr>
        <p:spPr>
          <a:xfrm>
            <a:off x="1047750" y="4127716"/>
            <a:ext cx="16192500" cy="9525"/>
          </a:xfrm>
          <a:prstGeom prst="rect">
            <a:avLst/>
          </a:prstGeom>
          <a:solidFill>
            <a:srgbClr val="D8CFC7"/>
          </a:solidFill>
          <a:ln>
            <a:noFill/>
          </a:ln>
          <a:effectLst/>
        </p:spPr>
        <p:txBody>
          <a:bodyPr rtlCol="0" anchor="ctr"/>
          <a:lstStyle/>
          <a:p>
            <a:pPr algn="ctr"/>
          </a:p>
        </p:txBody>
      </p:sp>
      <p:sp>
        <p:nvSpPr>
          <p:cNvPr id="13" name="TextBox 12"/>
          <p:cNvSpPr txBox="1"/>
          <p:nvPr/>
        </p:nvSpPr>
        <p:spPr>
          <a:xfrm>
            <a:off x="1314450" y="4263447"/>
            <a:ext cx="3524250" cy="859269"/>
          </a:xfrm>
          <a:prstGeom prst="rect">
            <a:avLst/>
          </a:prstGeom>
          <a:noFill/>
        </p:spPr>
        <p:txBody>
          <a:bodyPr wrap="square" lIns="0" rIns="0" tIns="0" bIns="0" anchor="t">
            <a:noAutofit/>
          </a:bodyPr>
          <a:lstStyle/>
          <a:p>
            <a:pPr algn="l">
              <a:lnSpc>
                <a:spcPct val="105000"/>
              </a:lnSpc>
            </a:pPr>
            <a:r>
              <a:rPr sz="1900" b="1" i="0">
                <a:solidFill>
                  <a:srgbClr val="201914"/>
                </a:solidFill>
                <a:latin typeface="Arial"/>
              </a:rPr>
              <a:t>2 · Never lead the witness</a:t>
            </a:r>
          </a:p>
        </p:txBody>
      </p:sp>
      <p:sp>
        <p:nvSpPr>
          <p:cNvPr id="14" name="TextBox 13"/>
          <p:cNvSpPr txBox="1"/>
          <p:nvPr/>
        </p:nvSpPr>
        <p:spPr>
          <a:xfrm>
            <a:off x="5124450" y="4263447"/>
            <a:ext cx="63817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Never put the emotion, the problem or the answer inside your own question.</a:t>
            </a:r>
          </a:p>
        </p:txBody>
      </p:sp>
      <p:sp>
        <p:nvSpPr>
          <p:cNvPr id="15" name="TextBox 14"/>
          <p:cNvSpPr txBox="1"/>
          <p:nvPr/>
        </p:nvSpPr>
        <p:spPr>
          <a:xfrm>
            <a:off x="11791950" y="4263447"/>
            <a:ext cx="48958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A feeling word in your question: annoying, awkward, frustrating.</a:t>
            </a:r>
          </a:p>
        </p:txBody>
      </p:sp>
      <p:sp>
        <p:nvSpPr>
          <p:cNvPr id="16" name="Rectangle 15"/>
          <p:cNvSpPr/>
          <p:nvPr/>
        </p:nvSpPr>
        <p:spPr>
          <a:xfrm>
            <a:off x="1047750" y="4986985"/>
            <a:ext cx="16192500" cy="9525"/>
          </a:xfrm>
          <a:prstGeom prst="rect">
            <a:avLst/>
          </a:prstGeom>
          <a:solidFill>
            <a:srgbClr val="D8CFC7"/>
          </a:solidFill>
          <a:ln>
            <a:noFill/>
          </a:ln>
          <a:effectLst/>
        </p:spPr>
        <p:txBody>
          <a:bodyPr rtlCol="0" anchor="ctr"/>
          <a:lstStyle/>
          <a:p>
            <a:pPr algn="ctr"/>
          </a:p>
        </p:txBody>
      </p:sp>
      <p:sp>
        <p:nvSpPr>
          <p:cNvPr id="17" name="TextBox 16"/>
          <p:cNvSpPr txBox="1"/>
          <p:nvPr/>
        </p:nvSpPr>
        <p:spPr>
          <a:xfrm>
            <a:off x="1314450" y="5122716"/>
            <a:ext cx="3524250" cy="859269"/>
          </a:xfrm>
          <a:prstGeom prst="rect">
            <a:avLst/>
          </a:prstGeom>
          <a:noFill/>
        </p:spPr>
        <p:txBody>
          <a:bodyPr wrap="square" lIns="0" rIns="0" tIns="0" bIns="0" anchor="t">
            <a:noAutofit/>
          </a:bodyPr>
          <a:lstStyle/>
          <a:p>
            <a:pPr algn="l">
              <a:lnSpc>
                <a:spcPct val="105000"/>
              </a:lnSpc>
            </a:pPr>
            <a:r>
              <a:rPr sz="1900" b="1" i="0">
                <a:solidFill>
                  <a:srgbClr val="201914"/>
                </a:solidFill>
                <a:latin typeface="Arial"/>
              </a:rPr>
              <a:t>3 · Drill with why</a:t>
            </a:r>
          </a:p>
        </p:txBody>
      </p:sp>
      <p:sp>
        <p:nvSpPr>
          <p:cNvPr id="18" name="TextBox 17"/>
          <p:cNvSpPr txBox="1"/>
          <p:nvPr/>
        </p:nvSpPr>
        <p:spPr>
          <a:xfrm>
            <a:off x="5124450" y="5122716"/>
            <a:ext cx="63817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Follow anything interesting at least three levels down.</a:t>
            </a:r>
          </a:p>
        </p:txBody>
      </p:sp>
      <p:sp>
        <p:nvSpPr>
          <p:cNvPr id="19" name="TextBox 18"/>
          <p:cNvSpPr txBox="1"/>
          <p:nvPr/>
        </p:nvSpPr>
        <p:spPr>
          <a:xfrm>
            <a:off x="11791950" y="5122716"/>
            <a:ext cx="48958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You moved to your next question after one answer.</a:t>
            </a:r>
          </a:p>
        </p:txBody>
      </p:sp>
      <p:sp>
        <p:nvSpPr>
          <p:cNvPr id="20" name="Rectangle 19"/>
          <p:cNvSpPr/>
          <p:nvPr/>
        </p:nvSpPr>
        <p:spPr>
          <a:xfrm>
            <a:off x="1047750" y="5846254"/>
            <a:ext cx="16192500" cy="859269"/>
          </a:xfrm>
          <a:prstGeom prst="rect">
            <a:avLst/>
          </a:prstGeom>
          <a:solidFill>
            <a:srgbClr val="F3EEE6"/>
          </a:solidFill>
          <a:ln>
            <a:noFill/>
          </a:ln>
          <a:effectLst/>
        </p:spPr>
        <p:txBody>
          <a:bodyPr rtlCol="0" anchor="ctr"/>
          <a:lstStyle/>
          <a:p>
            <a:pPr algn="ctr"/>
          </a:p>
        </p:txBody>
      </p:sp>
      <p:sp>
        <p:nvSpPr>
          <p:cNvPr id="21" name="Rectangle 20"/>
          <p:cNvSpPr/>
          <p:nvPr/>
        </p:nvSpPr>
        <p:spPr>
          <a:xfrm>
            <a:off x="1047750" y="5846254"/>
            <a:ext cx="16192500" cy="9525"/>
          </a:xfrm>
          <a:prstGeom prst="rect">
            <a:avLst/>
          </a:prstGeom>
          <a:solidFill>
            <a:srgbClr val="D8CFC7"/>
          </a:solidFill>
          <a:ln>
            <a:noFill/>
          </a:ln>
          <a:effectLst/>
        </p:spPr>
        <p:txBody>
          <a:bodyPr rtlCol="0" anchor="ctr"/>
          <a:lstStyle/>
          <a:p>
            <a:pPr algn="ctr"/>
          </a:p>
        </p:txBody>
      </p:sp>
      <p:sp>
        <p:nvSpPr>
          <p:cNvPr id="22" name="TextBox 21"/>
          <p:cNvSpPr txBox="1"/>
          <p:nvPr/>
        </p:nvSpPr>
        <p:spPr>
          <a:xfrm>
            <a:off x="1314450" y="5981986"/>
            <a:ext cx="3524250" cy="859269"/>
          </a:xfrm>
          <a:prstGeom prst="rect">
            <a:avLst/>
          </a:prstGeom>
          <a:noFill/>
        </p:spPr>
        <p:txBody>
          <a:bodyPr wrap="square" lIns="0" rIns="0" tIns="0" bIns="0" anchor="t">
            <a:noAutofit/>
          </a:bodyPr>
          <a:lstStyle/>
          <a:p>
            <a:pPr algn="l">
              <a:lnSpc>
                <a:spcPct val="105000"/>
              </a:lnSpc>
            </a:pPr>
            <a:r>
              <a:rPr sz="1900" b="1" i="0">
                <a:solidFill>
                  <a:srgbClr val="201914"/>
                </a:solidFill>
                <a:latin typeface="Arial"/>
              </a:rPr>
              <a:t>4 · Hold the silence</a:t>
            </a:r>
          </a:p>
        </p:txBody>
      </p:sp>
      <p:sp>
        <p:nvSpPr>
          <p:cNvPr id="23" name="TextBox 22"/>
          <p:cNvSpPr txBox="1"/>
          <p:nvPr/>
        </p:nvSpPr>
        <p:spPr>
          <a:xfrm>
            <a:off x="5124450" y="5981986"/>
            <a:ext cx="63817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When they stop, count to five in your head before you speak.</a:t>
            </a:r>
          </a:p>
        </p:txBody>
      </p:sp>
      <p:sp>
        <p:nvSpPr>
          <p:cNvPr id="24" name="TextBox 23"/>
          <p:cNvSpPr txBox="1"/>
          <p:nvPr/>
        </p:nvSpPr>
        <p:spPr>
          <a:xfrm>
            <a:off x="11791950" y="5981986"/>
            <a:ext cx="48958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You spoke before five and filled it with a narrower question.</a:t>
            </a:r>
          </a:p>
        </p:txBody>
      </p:sp>
      <p:sp>
        <p:nvSpPr>
          <p:cNvPr id="25" name="Rectangle 24"/>
          <p:cNvSpPr/>
          <p:nvPr/>
        </p:nvSpPr>
        <p:spPr>
          <a:xfrm>
            <a:off x="1047750" y="6705524"/>
            <a:ext cx="16192500" cy="9525"/>
          </a:xfrm>
          <a:prstGeom prst="rect">
            <a:avLst/>
          </a:prstGeom>
          <a:solidFill>
            <a:srgbClr val="D8CFC7"/>
          </a:solidFill>
          <a:ln>
            <a:noFill/>
          </a:ln>
          <a:effectLst/>
        </p:spPr>
        <p:txBody>
          <a:bodyPr rtlCol="0" anchor="ctr"/>
          <a:lstStyle/>
          <a:p>
            <a:pPr algn="ctr"/>
          </a:p>
        </p:txBody>
      </p:sp>
      <p:sp>
        <p:nvSpPr>
          <p:cNvPr id="26" name="TextBox 25"/>
          <p:cNvSpPr txBox="1"/>
          <p:nvPr/>
        </p:nvSpPr>
        <p:spPr>
          <a:xfrm>
            <a:off x="1314450" y="6841255"/>
            <a:ext cx="3524250" cy="859269"/>
          </a:xfrm>
          <a:prstGeom prst="rect">
            <a:avLst/>
          </a:prstGeom>
          <a:noFill/>
        </p:spPr>
        <p:txBody>
          <a:bodyPr wrap="square" lIns="0" rIns="0" tIns="0" bIns="0" anchor="t">
            <a:noAutofit/>
          </a:bodyPr>
          <a:lstStyle/>
          <a:p>
            <a:pPr algn="l">
              <a:lnSpc>
                <a:spcPct val="105000"/>
              </a:lnSpc>
            </a:pPr>
            <a:r>
              <a:rPr sz="1900" b="1" i="0">
                <a:solidFill>
                  <a:srgbClr val="201914"/>
                </a:solidFill>
                <a:latin typeface="Arial"/>
              </a:rPr>
              <a:t>5 · Never pitch</a:t>
            </a:r>
          </a:p>
        </p:txBody>
      </p:sp>
      <p:sp>
        <p:nvSpPr>
          <p:cNvPr id="27" name="TextBox 26"/>
          <p:cNvSpPr txBox="1"/>
          <p:nvPr/>
        </p:nvSpPr>
        <p:spPr>
          <a:xfrm>
            <a:off x="5124450" y="6841255"/>
            <a:ext cx="63817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The moment you describe your solution, the interview is over even though the conversation continues.</a:t>
            </a:r>
          </a:p>
        </p:txBody>
      </p:sp>
      <p:sp>
        <p:nvSpPr>
          <p:cNvPr id="28" name="TextBox 27"/>
          <p:cNvSpPr txBox="1"/>
          <p:nvPr/>
        </p:nvSpPr>
        <p:spPr>
          <a:xfrm>
            <a:off x="11791950" y="6841255"/>
            <a:ext cx="4895850" cy="859269"/>
          </a:xfrm>
          <a:prstGeom prst="rect">
            <a:avLst/>
          </a:prstGeom>
          <a:noFill/>
        </p:spPr>
        <p:txBody>
          <a:bodyPr wrap="square" lIns="0" rIns="0" tIns="0" bIns="0" anchor="t">
            <a:noAutofit/>
          </a:bodyPr>
          <a:lstStyle/>
          <a:p>
            <a:pPr algn="l">
              <a:lnSpc>
                <a:spcPct val="105000"/>
              </a:lnSpc>
            </a:pPr>
            <a:r>
              <a:rPr sz="1900" b="0" i="0">
                <a:solidFill>
                  <a:srgbClr val="665B53"/>
                </a:solidFill>
                <a:latin typeface="Arial"/>
              </a:rPr>
              <a:t>'So what we're building is...'</a:t>
            </a:r>
          </a:p>
        </p:txBody>
      </p:sp>
      <p:sp>
        <p:nvSpPr>
          <p:cNvPr id="29" name="Rectangle 28"/>
          <p:cNvSpPr/>
          <p:nvPr/>
        </p:nvSpPr>
        <p:spPr>
          <a:xfrm>
            <a:off x="1047750" y="7564793"/>
            <a:ext cx="16192500" cy="9525"/>
          </a:xfrm>
          <a:prstGeom prst="rect">
            <a:avLst/>
          </a:prstGeom>
          <a:solidFill>
            <a:srgbClr val="D8CFC7"/>
          </a:solidFill>
          <a:ln>
            <a:noFill/>
          </a:ln>
          <a:effectLst/>
        </p:spPr>
        <p:txBody>
          <a:bodyPr rtlCol="0" anchor="ctr"/>
          <a:lstStyle/>
          <a:p>
            <a:pPr algn="ctr"/>
          </a:p>
        </p:txBody>
      </p:sp>
      <p:sp>
        <p:nvSpPr>
          <p:cNvPr id="30" name="TextBox 29"/>
          <p:cNvSpPr txBox="1"/>
          <p:nvPr/>
        </p:nvSpPr>
        <p:spPr>
          <a:xfrm>
            <a:off x="1047750" y="8096250"/>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Rules one and two are about the question, and you did them last session. Rules three, four and five are about what you do after the answer. That is the skill.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2 · BLUE, GREEN, AMBER · SAME COLOURS, DIFFERENT JOB</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Answer Ladder</a:t>
            </a:r>
          </a:p>
        </p:txBody>
      </p:sp>
      <p:sp>
        <p:nvSpPr>
          <p:cNvPr id="4" name="TextBox 3"/>
          <p:cNvSpPr txBox="1"/>
          <p:nvPr/>
        </p:nvSpPr>
        <p:spPr>
          <a:xfrm>
            <a:off x="1314450" y="2838450"/>
            <a:ext cx="2667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ANSWER</a:t>
            </a:r>
          </a:p>
        </p:txBody>
      </p:sp>
      <p:sp>
        <p:nvSpPr>
          <p:cNvPr id="5" name="TextBox 4"/>
          <p:cNvSpPr txBox="1"/>
          <p:nvPr/>
        </p:nvSpPr>
        <p:spPr>
          <a:xfrm>
            <a:off x="4171950" y="2838450"/>
            <a:ext cx="4000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SOUNDS LIKE</a:t>
            </a:r>
          </a:p>
        </p:txBody>
      </p:sp>
      <p:sp>
        <p:nvSpPr>
          <p:cNvPr id="6" name="TextBox 5"/>
          <p:cNvSpPr txBox="1"/>
          <p:nvPr/>
        </p:nvSpPr>
        <p:spPr>
          <a:xfrm>
            <a:off x="8362950" y="2838450"/>
            <a:ext cx="3810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HOW MUCH TO TRUST IT</a:t>
            </a:r>
          </a:p>
        </p:txBody>
      </p:sp>
      <p:sp>
        <p:nvSpPr>
          <p:cNvPr id="7" name="TextBox 6"/>
          <p:cNvSpPr txBox="1"/>
          <p:nvPr/>
        </p:nvSpPr>
        <p:spPr>
          <a:xfrm>
            <a:off x="12363450" y="2838450"/>
            <a:ext cx="44196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THE MOVE THAT DRIVES IT DOWN</a:t>
            </a:r>
          </a:p>
        </p:txBody>
      </p:sp>
      <p:sp>
        <p:nvSpPr>
          <p:cNvPr id="8" name="Rectangle 7"/>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3733800"/>
            <a:ext cx="2571750" cy="1456639"/>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Story (Blue)</a:t>
            </a:r>
          </a:p>
        </p:txBody>
      </p:sp>
      <p:sp>
        <p:nvSpPr>
          <p:cNvPr id="10" name="TextBox 9"/>
          <p:cNvSpPr txBox="1"/>
          <p:nvPr/>
        </p:nvSpPr>
        <p:spPr>
          <a:xfrm>
            <a:off x="4171950" y="3733800"/>
            <a:ext cx="39052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'Last month the bill was ₹2,400, I paid it, and one of them didn't send his share.'</a:t>
            </a:r>
          </a:p>
        </p:txBody>
      </p:sp>
      <p:sp>
        <p:nvSpPr>
          <p:cNvPr id="11" name="TextBox 10"/>
          <p:cNvSpPr txBox="1"/>
          <p:nvPr/>
        </p:nvSpPr>
        <p:spPr>
          <a:xfrm>
            <a:off x="8362950" y="3733800"/>
            <a:ext cx="37147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High. A specific event with a time, a place and a sequence.</a:t>
            </a:r>
          </a:p>
        </p:txBody>
      </p:sp>
      <p:sp>
        <p:nvSpPr>
          <p:cNvPr id="12" name="TextBox 11"/>
          <p:cNvSpPr txBox="1"/>
          <p:nvPr/>
        </p:nvSpPr>
        <p:spPr>
          <a:xfrm>
            <a:off x="12363450" y="3733800"/>
            <a:ext cx="43243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Nothing. You are already there. Drill with why, or ask what happened next.</a:t>
            </a:r>
          </a:p>
        </p:txBody>
      </p:sp>
      <p:sp>
        <p:nvSpPr>
          <p:cNvPr id="13" name="Rectangle 12"/>
          <p:cNvSpPr/>
          <p:nvPr/>
        </p:nvSpPr>
        <p:spPr>
          <a:xfrm>
            <a:off x="1047750" y="5018989"/>
            <a:ext cx="16192500" cy="1456639"/>
          </a:xfrm>
          <a:prstGeom prst="rect">
            <a:avLst/>
          </a:prstGeom>
          <a:solidFill>
            <a:srgbClr val="F3EEE6"/>
          </a:solidFill>
          <a:ln>
            <a:noFill/>
          </a:ln>
          <a:effectLst/>
        </p:spPr>
        <p:txBody>
          <a:bodyPr rtlCol="0" anchor="ctr"/>
          <a:lstStyle/>
          <a:p>
            <a:pPr algn="ctr"/>
          </a:p>
        </p:txBody>
      </p:sp>
      <p:sp>
        <p:nvSpPr>
          <p:cNvPr id="14" name="Rectangle 13"/>
          <p:cNvSpPr/>
          <p:nvPr/>
        </p:nvSpPr>
        <p:spPr>
          <a:xfrm>
            <a:off x="1047750" y="5018989"/>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5190439"/>
            <a:ext cx="2571750" cy="1456639"/>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Pattern (Green)</a:t>
            </a:r>
          </a:p>
        </p:txBody>
      </p:sp>
      <p:sp>
        <p:nvSpPr>
          <p:cNvPr id="16" name="TextBox 15"/>
          <p:cNvSpPr txBox="1"/>
          <p:nvPr/>
        </p:nvSpPr>
        <p:spPr>
          <a:xfrm>
            <a:off x="4171950" y="5190439"/>
            <a:ext cx="39052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'Usually somebody pays and then we sort it out later.'</a:t>
            </a:r>
          </a:p>
        </p:txBody>
      </p:sp>
      <p:sp>
        <p:nvSpPr>
          <p:cNvPr id="17" name="TextBox 16"/>
          <p:cNvSpPr txBox="1"/>
          <p:nvPr/>
        </p:nvSpPr>
        <p:spPr>
          <a:xfrm>
            <a:off x="8362950" y="5190439"/>
            <a:ext cx="37147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Moderate. Accurate about the shape, unreliable about size and frequency.</a:t>
            </a:r>
          </a:p>
        </p:txBody>
      </p:sp>
      <p:sp>
        <p:nvSpPr>
          <p:cNvPr id="18" name="TextBox 17"/>
          <p:cNvSpPr txBox="1"/>
          <p:nvPr/>
        </p:nvSpPr>
        <p:spPr>
          <a:xfrm>
            <a:off x="12363450" y="5190439"/>
            <a:ext cx="43243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'Tell me about the last time that happened.' One instance, not the pattern.</a:t>
            </a:r>
          </a:p>
        </p:txBody>
      </p:sp>
      <p:sp>
        <p:nvSpPr>
          <p:cNvPr id="19" name="Rectangle 18"/>
          <p:cNvSpPr/>
          <p:nvPr/>
        </p:nvSpPr>
        <p:spPr>
          <a:xfrm>
            <a:off x="1047750" y="6475628"/>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6647078"/>
            <a:ext cx="2571750" cy="1456639"/>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Opinion (Amber)</a:t>
            </a:r>
          </a:p>
        </p:txBody>
      </p:sp>
      <p:sp>
        <p:nvSpPr>
          <p:cNvPr id="21" name="TextBox 20"/>
          <p:cNvSpPr txBox="1"/>
          <p:nvPr/>
        </p:nvSpPr>
        <p:spPr>
          <a:xfrm>
            <a:off x="4171950" y="6647078"/>
            <a:ext cx="39052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'It's annoying when people don't pay you back.'</a:t>
            </a:r>
          </a:p>
        </p:txBody>
      </p:sp>
      <p:sp>
        <p:nvSpPr>
          <p:cNvPr id="22" name="TextBox 21"/>
          <p:cNvSpPr txBox="1"/>
          <p:nvPr/>
        </p:nvSpPr>
        <p:spPr>
          <a:xfrm>
            <a:off x="8362950" y="6647078"/>
            <a:ext cx="37147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Low. A socially finished statement anybody would make about anything.</a:t>
            </a:r>
          </a:p>
        </p:txBody>
      </p:sp>
      <p:sp>
        <p:nvSpPr>
          <p:cNvPr id="23" name="TextBox 22"/>
          <p:cNvSpPr txBox="1"/>
          <p:nvPr/>
        </p:nvSpPr>
        <p:spPr>
          <a:xfrm>
            <a:off x="12363450" y="6647078"/>
            <a:ext cx="43243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Silence first. If nothing comes: 'When did that last happen to you?'</a:t>
            </a:r>
          </a:p>
        </p:txBody>
      </p:sp>
      <p:sp>
        <p:nvSpPr>
          <p:cNvPr id="24" name="Rectangle 23"/>
          <p:cNvSpPr/>
          <p:nvPr/>
        </p:nvSpPr>
        <p:spPr>
          <a:xfrm>
            <a:off x="1047750" y="7932268"/>
            <a:ext cx="16192500" cy="9525"/>
          </a:xfrm>
          <a:prstGeom prst="rect">
            <a:avLst/>
          </a:prstGeom>
          <a:solidFill>
            <a:srgbClr val="D8CFC7"/>
          </a:solidFill>
          <a:ln>
            <a:noFill/>
          </a:ln>
          <a:effectLst/>
        </p:spPr>
        <p:txBody>
          <a:bodyPr rtlCol="0" anchor="ctr"/>
          <a:lstStyle/>
          <a:p>
            <a:pPr algn="ctr"/>
          </a:p>
        </p:txBody>
      </p:sp>
      <p:sp>
        <p:nvSpPr>
          <p:cNvPr id="25" name="TextBox 24"/>
          <p:cNvSpPr txBox="1"/>
          <p:nvPr/>
        </p:nvSpPr>
        <p:spPr>
          <a:xfrm>
            <a:off x="1047750" y="8218018"/>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Last session's ladder graded the question. This one grades the answer, because a perfect question routinely gets a useless answer 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RULES FOR USING IT</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You will get amber constantly. That is not your failure.</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Amber is the polite default</a:t>
            </a:r>
          </a:p>
        </p:txBody>
      </p:sp>
      <p:sp>
        <p:nvSpPr>
          <p:cNvPr id="6" name="TextBox 5"/>
          <p:cNvSpPr txBox="1"/>
          <p:nvPr/>
        </p:nvSpPr>
        <p:spPr>
          <a:xfrm>
            <a:off x="10477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 socially finished answer is the fastest way for a person to be helpful. It is not a failure of your question.</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Classify by the most foundational</a:t>
            </a:r>
          </a:p>
        </p:txBody>
      </p:sp>
      <p:sp>
        <p:nvSpPr>
          <p:cNvPr id="9" name="TextBox 8"/>
          <p:cNvSpPr txBox="1"/>
          <p:nvPr/>
        </p:nvSpPr>
        <p:spPr>
          <a:xfrm>
            <a:off x="65722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 real event wrapped in generalisation is blue. Never discard the one real thing buried in a warm sentence.</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Work the ladder, not the list</a:t>
            </a:r>
          </a:p>
        </p:txBody>
      </p:sp>
      <p:sp>
        <p:nvSpPr>
          <p:cNvPr id="12" name="TextBox 11"/>
          <p:cNvSpPr txBox="1"/>
          <p:nvPr/>
        </p:nvSpPr>
        <p:spPr>
          <a:xfrm>
            <a:off x="120967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Your job is not the next question on your page. It is to notice which rung the last answer landed on and move it down.</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An interviewer working a list gets fifteen shallow exchanges. One working the ladder gets three or four real stories, and three stories beat fifty opinions.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TRY THESE YOURSELF · BLUE, GREEN OR AMBER</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Which rung did the answer land on?</a:t>
            </a:r>
          </a:p>
        </p:txBody>
      </p:sp>
      <p:sp>
        <p:nvSpPr>
          <p:cNvPr id="4" name="Rectangle 3"/>
          <p:cNvSpPr/>
          <p:nvPr/>
        </p:nvSpPr>
        <p:spPr>
          <a:xfrm>
            <a:off x="1047750" y="2838450"/>
            <a:ext cx="3762375" cy="591502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'It's really annoying when your food comes late.'</a:t>
            </a:r>
          </a:p>
        </p:txBody>
      </p:sp>
      <p:sp>
        <p:nvSpPr>
          <p:cNvPr id="6" name="TextBox 5"/>
          <p:cNvSpPr txBox="1"/>
          <p:nvPr/>
        </p:nvSpPr>
        <p:spPr>
          <a:xfrm>
            <a:off x="1314450"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You asked a good behavioural question and this is what came back. Which rung, and what do you say next?</a:t>
            </a:r>
          </a:p>
        </p:txBody>
      </p:sp>
      <p:sp>
        <p:nvSpPr>
          <p:cNvPr id="7" name="Rectangle 6"/>
          <p:cNvSpPr/>
          <p:nvPr/>
        </p:nvSpPr>
        <p:spPr>
          <a:xfrm>
            <a:off x="5191125" y="2838450"/>
            <a:ext cx="3762375" cy="5915025"/>
          </a:xfrm>
          <a:prstGeom prst="rect">
            <a:avLst/>
          </a:prstGeom>
          <a:solidFill>
            <a:srgbClr val="F0EAE1"/>
          </a:solidFill>
          <a:ln>
            <a:noFill/>
          </a:ln>
          <a:effectLst/>
        </p:spPr>
        <p:txBody>
          <a:bodyPr rtlCol="0" anchor="ctr"/>
          <a:lstStyle/>
          <a:p>
            <a:pPr algn="ctr"/>
          </a:p>
        </p:txBody>
      </p:sp>
      <p:sp>
        <p:nvSpPr>
          <p:cNvPr id="8" name="TextBox 7"/>
          <p:cNvSpPr txBox="1"/>
          <p:nvPr/>
        </p:nvSpPr>
        <p:spPr>
          <a:xfrm>
            <a:off x="5457825"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 usually just order from the same two places.'</a:t>
            </a:r>
          </a:p>
        </p:txBody>
      </p:sp>
      <p:sp>
        <p:nvSpPr>
          <p:cNvPr id="9" name="TextBox 8"/>
          <p:cNvSpPr txBox="1"/>
          <p:nvPr/>
        </p:nvSpPr>
        <p:spPr>
          <a:xfrm>
            <a:off x="5457825"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An honest sentence. What does it tell you, and what does it hide?</a:t>
            </a:r>
          </a:p>
        </p:txBody>
      </p:sp>
      <p:sp>
        <p:nvSpPr>
          <p:cNvPr id="10" name="Rectangle 9"/>
          <p:cNvSpPr/>
          <p:nvPr/>
        </p:nvSpPr>
        <p:spPr>
          <a:xfrm>
            <a:off x="9334500" y="2838450"/>
            <a:ext cx="3762375" cy="5915025"/>
          </a:xfrm>
          <a:prstGeom prst="rect">
            <a:avLst/>
          </a:prstGeom>
          <a:solidFill>
            <a:srgbClr val="F0EAE1"/>
          </a:solidFill>
          <a:ln>
            <a:noFill/>
          </a:ln>
          <a:effectLst/>
        </p:spPr>
        <p:txBody>
          <a:bodyPr rtlCol="0" anchor="ctr"/>
          <a:lstStyle/>
          <a:p>
            <a:pPr algn="ctr"/>
          </a:p>
        </p:txBody>
      </p:sp>
      <p:sp>
        <p:nvSpPr>
          <p:cNvPr id="11" name="TextBox 10"/>
          <p:cNvSpPr txBox="1"/>
          <p:nvPr/>
        </p:nvSpPr>
        <p:spPr>
          <a:xfrm>
            <a:off x="9601200"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'Last Tuesday it took an hour and ten and I ended up eating Maggi.'</a:t>
            </a:r>
          </a:p>
        </p:txBody>
      </p:sp>
      <p:sp>
        <p:nvSpPr>
          <p:cNvPr id="12" name="TextBox 11"/>
          <p:cNvSpPr txBox="1"/>
          <p:nvPr/>
        </p:nvSpPr>
        <p:spPr>
          <a:xfrm>
            <a:off x="9601200"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The rung is easy to name. This one is a trap for a different reason.</a:t>
            </a:r>
          </a:p>
        </p:txBody>
      </p:sp>
      <p:sp>
        <p:nvSpPr>
          <p:cNvPr id="13" name="Rectangle 12"/>
          <p:cNvSpPr/>
          <p:nvPr/>
        </p:nvSpPr>
        <p:spPr>
          <a:xfrm>
            <a:off x="13477875" y="2838450"/>
            <a:ext cx="3762375" cy="5915025"/>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3744575"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'I'd definitely use something like that.'</a:t>
            </a:r>
          </a:p>
        </p:txBody>
      </p:sp>
      <p:sp>
        <p:nvSpPr>
          <p:cNvPr id="15" name="TextBox 14"/>
          <p:cNvSpPr txBox="1"/>
          <p:nvPr/>
        </p:nvSpPr>
        <p:spPr>
          <a:xfrm>
            <a:off x="13744575"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Said at the end of an interview, after you described your product. Which rung, and what should you conclude?</a:t>
            </a:r>
          </a:p>
        </p:txBody>
      </p:sp>
      <p:sp>
        <p:nvSpPr>
          <p:cNvPr id="16" name="TextBox 15"/>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3300" b="0" i="1">
                <a:solidFill>
                  <a:srgbClr val="362C24"/>
                </a:solidFill>
                <a:latin typeface="Georgia"/>
              </a:rPr>
              <a:t>Name the rung, then say what you do next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Which rung did the answer land on?</a:t>
            </a:r>
          </a:p>
        </p:txBody>
      </p:sp>
      <p:sp>
        <p:nvSpPr>
          <p:cNvPr id="4" name="Rectangle 3"/>
          <p:cNvSpPr/>
          <p:nvPr/>
        </p:nvSpPr>
        <p:spPr>
          <a:xfrm>
            <a:off x="1047750" y="2838450"/>
            <a:ext cx="3762375" cy="29146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'It's really annoying when your food comes late.'</a:t>
            </a:r>
          </a:p>
        </p:txBody>
      </p:sp>
      <p:sp>
        <p:nvSpPr>
          <p:cNvPr id="6" name="TextBox 5"/>
          <p:cNvSpPr txBox="1"/>
          <p:nvPr/>
        </p:nvSpPr>
        <p:spPr>
          <a:xfrm>
            <a:off x="1314450"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good question, a useless answer.</a:t>
            </a:r>
          </a:p>
        </p:txBody>
      </p:sp>
      <p:sp>
        <p:nvSpPr>
          <p:cNvPr id="7" name="Rectangle 6"/>
          <p:cNvSpPr/>
          <p:nvPr/>
        </p:nvSpPr>
        <p:spPr>
          <a:xfrm>
            <a:off x="1047750" y="5981700"/>
            <a:ext cx="3762375" cy="3657600"/>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OPINION · amber</a:t>
            </a:r>
          </a:p>
        </p:txBody>
      </p:sp>
      <p:sp>
        <p:nvSpPr>
          <p:cNvPr id="9" name="TextBox 8"/>
          <p:cNvSpPr txBox="1"/>
          <p:nvPr/>
        </p:nvSpPr>
        <p:spPr>
          <a:xfrm>
            <a:off x="1314450"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Nothing specific happened in that sentence. Count to five. If nothing comes: 'When did that last happen to you?' Most interviewers agree with it, and that closes the topic.</a:t>
            </a:r>
          </a:p>
        </p:txBody>
      </p:sp>
      <p:sp>
        <p:nvSpPr>
          <p:cNvPr id="10" name="Rectangle 9"/>
          <p:cNvSpPr/>
          <p:nvPr/>
        </p:nvSpPr>
        <p:spPr>
          <a:xfrm>
            <a:off x="5191125" y="2838450"/>
            <a:ext cx="3762375" cy="291465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5457825"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 usually just order from the same two places.'</a:t>
            </a:r>
          </a:p>
        </p:txBody>
      </p:sp>
      <p:sp>
        <p:nvSpPr>
          <p:cNvPr id="12" name="TextBox 11"/>
          <p:cNvSpPr txBox="1"/>
          <p:nvPr/>
        </p:nvSpPr>
        <p:spPr>
          <a:xfrm>
            <a:off x="5457825"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Honest, and useful for orientation.</a:t>
            </a:r>
          </a:p>
        </p:txBody>
      </p:sp>
      <p:sp>
        <p:nvSpPr>
          <p:cNvPr id="13" name="Rectangle 12"/>
          <p:cNvSpPr/>
          <p:nvPr/>
        </p:nvSpPr>
        <p:spPr>
          <a:xfrm>
            <a:off x="5191125" y="5981700"/>
            <a:ext cx="3762375" cy="365760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5457825"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PATTERN · green</a:t>
            </a:r>
          </a:p>
        </p:txBody>
      </p:sp>
      <p:sp>
        <p:nvSpPr>
          <p:cNvPr id="15" name="TextBox 14"/>
          <p:cNvSpPr txBox="1"/>
          <p:nvPr/>
        </p:nvSpPr>
        <p:spPr>
          <a:xfrm>
            <a:off x="5457825"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A pattern implies a history, and histories contain changes. Ask: 'Was there ever a third place you used to order from?'</a:t>
            </a:r>
          </a:p>
        </p:txBody>
      </p:sp>
      <p:sp>
        <p:nvSpPr>
          <p:cNvPr id="16" name="Rectangle 15"/>
          <p:cNvSpPr/>
          <p:nvPr/>
        </p:nvSpPr>
        <p:spPr>
          <a:xfrm>
            <a:off x="9334500" y="2838450"/>
            <a:ext cx="3762375" cy="291465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9601200"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'Last Tuesday it took an hour and ten and I ended up eating Maggi.'</a:t>
            </a:r>
          </a:p>
        </p:txBody>
      </p:sp>
      <p:sp>
        <p:nvSpPr>
          <p:cNvPr id="18" name="TextBox 17"/>
          <p:cNvSpPr txBox="1"/>
          <p:nvPr/>
        </p:nvSpPr>
        <p:spPr>
          <a:xfrm>
            <a:off x="9601200"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You have arrived.</a:t>
            </a:r>
          </a:p>
        </p:txBody>
      </p:sp>
      <p:sp>
        <p:nvSpPr>
          <p:cNvPr id="19" name="Rectangle 18"/>
          <p:cNvSpPr/>
          <p:nvPr/>
        </p:nvSpPr>
        <p:spPr>
          <a:xfrm>
            <a:off x="9334500" y="5981700"/>
            <a:ext cx="3762375" cy="3657600"/>
          </a:xfrm>
          <a:prstGeom prst="rect">
            <a:avLst/>
          </a:prstGeom>
          <a:solidFill>
            <a:srgbClr val="C35141"/>
          </a:solidFill>
          <a:ln>
            <a:noFill/>
          </a:ln>
          <a:effectLst/>
        </p:spPr>
        <p:txBody>
          <a:bodyPr rtlCol="0" anchor="ctr"/>
          <a:lstStyle/>
          <a:p>
            <a:pPr algn="ctr"/>
          </a:p>
        </p:txBody>
      </p:sp>
      <p:sp>
        <p:nvSpPr>
          <p:cNvPr id="20" name="TextBox 19"/>
          <p:cNvSpPr txBox="1"/>
          <p:nvPr/>
        </p:nvSpPr>
        <p:spPr>
          <a:xfrm>
            <a:off x="9601200"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STORY · blue. Now stay.</a:t>
            </a:r>
          </a:p>
        </p:txBody>
      </p:sp>
      <p:sp>
        <p:nvSpPr>
          <p:cNvPr id="21" name="TextBox 20"/>
          <p:cNvSpPr txBox="1"/>
          <p:nvPr/>
        </p:nvSpPr>
        <p:spPr>
          <a:xfrm>
            <a:off x="9601200" y="7077075"/>
            <a:ext cx="3228975" cy="2476500"/>
          </a:xfrm>
          <a:prstGeom prst="rect">
            <a:avLst/>
          </a:prstGeom>
          <a:noFill/>
        </p:spPr>
        <p:txBody>
          <a:bodyPr wrap="square" lIns="0" rIns="0" tIns="0" bIns="0" anchor="t">
            <a:noAutofit/>
          </a:bodyPr>
          <a:lstStyle/>
          <a:p>
            <a:pPr algn="l">
              <a:lnSpc>
                <a:spcPct val="110000"/>
              </a:lnSpc>
            </a:pPr>
            <a:r>
              <a:rPr sz="1800" b="0" i="0">
                <a:solidFill>
                  <a:srgbClr val="F5F1E9"/>
                </a:solidFill>
                <a:latin typeface="Arial"/>
              </a:rPr>
              <a:t>Most interviewers write it down and move to question four. Drill instead: why an hour and ten, why not cancel, what did you tell the person you were eating with?</a:t>
            </a:r>
          </a:p>
        </p:txBody>
      </p:sp>
      <p:sp>
        <p:nvSpPr>
          <p:cNvPr id="22" name="Rectangle 21"/>
          <p:cNvSpPr/>
          <p:nvPr/>
        </p:nvSpPr>
        <p:spPr>
          <a:xfrm>
            <a:off x="13477875" y="2838450"/>
            <a:ext cx="3762375" cy="2914650"/>
          </a:xfrm>
          <a:prstGeom prst="rect">
            <a:avLst/>
          </a:prstGeom>
          <a:solidFill>
            <a:srgbClr val="F0EAE1"/>
          </a:solidFill>
          <a:ln>
            <a:noFill/>
          </a:ln>
          <a:effectLst/>
        </p:spPr>
        <p:txBody>
          <a:bodyPr rtlCol="0" anchor="ctr"/>
          <a:lstStyle/>
          <a:p>
            <a:pPr algn="ctr"/>
          </a:p>
        </p:txBody>
      </p:sp>
      <p:sp>
        <p:nvSpPr>
          <p:cNvPr id="23" name="TextBox 22"/>
          <p:cNvSpPr txBox="1"/>
          <p:nvPr/>
        </p:nvSpPr>
        <p:spPr>
          <a:xfrm>
            <a:off x="13744575"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'I'd definitely use something like that.'</a:t>
            </a:r>
          </a:p>
        </p:txBody>
      </p:sp>
      <p:sp>
        <p:nvSpPr>
          <p:cNvPr id="24" name="TextBox 23"/>
          <p:cNvSpPr txBox="1"/>
          <p:nvPr/>
        </p:nvSpPr>
        <p:spPr>
          <a:xfrm>
            <a:off x="13744575"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Said after the pitch.</a:t>
            </a:r>
          </a:p>
        </p:txBody>
      </p:sp>
      <p:sp>
        <p:nvSpPr>
          <p:cNvPr id="25" name="Rectangle 24"/>
          <p:cNvSpPr/>
          <p:nvPr/>
        </p:nvSpPr>
        <p:spPr>
          <a:xfrm>
            <a:off x="13477875" y="5981700"/>
            <a:ext cx="3762375" cy="3657600"/>
          </a:xfrm>
          <a:prstGeom prst="rect">
            <a:avLst/>
          </a:prstGeom>
          <a:solidFill>
            <a:srgbClr val="201914"/>
          </a:solidFill>
          <a:ln>
            <a:noFill/>
          </a:ln>
          <a:effectLst/>
        </p:spPr>
        <p:txBody>
          <a:bodyPr rtlCol="0" anchor="ctr"/>
          <a:lstStyle/>
          <a:p>
            <a:pPr algn="ctr"/>
          </a:p>
        </p:txBody>
      </p:sp>
      <p:sp>
        <p:nvSpPr>
          <p:cNvPr id="26" name="TextBox 25"/>
          <p:cNvSpPr txBox="1"/>
          <p:nvPr/>
        </p:nvSpPr>
        <p:spPr>
          <a:xfrm>
            <a:off x="13744575"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OPINION · amber, and a diagnostic</a:t>
            </a:r>
          </a:p>
        </p:txBody>
      </p:sp>
      <p:sp>
        <p:nvSpPr>
          <p:cNvPr id="27" name="TextBox 26"/>
          <p:cNvSpPr txBox="1"/>
          <p:nvPr/>
        </p:nvSpPr>
        <p:spPr>
          <a:xfrm>
            <a:off x="13744575"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'Something like that' only exists if you described the product. Rule five is already broken. Discard everything after the pitch and change how you open the next 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3 · 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Five-Why Drill</a:t>
            </a:r>
          </a:p>
        </p:txBody>
      </p:sp>
      <p:sp>
        <p:nvSpPr>
          <p:cNvPr id="4" name="TextBox 3"/>
          <p:cNvSpPr txBox="1"/>
          <p:nvPr/>
        </p:nvSpPr>
        <p:spPr>
          <a:xfrm>
            <a:off x="1314450" y="2838450"/>
            <a:ext cx="1714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LEVEL</a:t>
            </a:r>
          </a:p>
        </p:txBody>
      </p:sp>
      <p:sp>
        <p:nvSpPr>
          <p:cNvPr id="5" name="TextBox 4"/>
          <p:cNvSpPr txBox="1"/>
          <p:nvPr/>
        </p:nvSpPr>
        <p:spPr>
          <a:xfrm>
            <a:off x="3219450" y="2838450"/>
            <a:ext cx="5143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THEY SAY</a:t>
            </a:r>
          </a:p>
        </p:txBody>
      </p:sp>
      <p:sp>
        <p:nvSpPr>
          <p:cNvPr id="6" name="TextBox 5"/>
          <p:cNvSpPr txBox="1"/>
          <p:nvPr/>
        </p:nvSpPr>
        <p:spPr>
          <a:xfrm>
            <a:off x="8553450" y="2838450"/>
            <a:ext cx="3429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KIND OF ANSWER</a:t>
            </a:r>
          </a:p>
        </p:txBody>
      </p:sp>
      <p:sp>
        <p:nvSpPr>
          <p:cNvPr id="7" name="TextBox 6"/>
          <p:cNvSpPr txBox="1"/>
          <p:nvPr/>
        </p:nvSpPr>
        <p:spPr>
          <a:xfrm>
            <a:off x="12172950" y="2838450"/>
            <a:ext cx="46101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YOU WOULD BUILD HERE</a:t>
            </a:r>
          </a:p>
        </p:txBody>
      </p:sp>
      <p:sp>
        <p:nvSpPr>
          <p:cNvPr id="8" name="Rectangle 7"/>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3794608"/>
            <a:ext cx="1619250" cy="74295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Start</a:t>
            </a:r>
          </a:p>
        </p:txBody>
      </p:sp>
      <p:sp>
        <p:nvSpPr>
          <p:cNvPr id="10" name="TextBox 9"/>
          <p:cNvSpPr txBox="1"/>
          <p:nvPr/>
        </p:nvSpPr>
        <p:spPr>
          <a:xfrm>
            <a:off x="3219450" y="3794608"/>
            <a:ext cx="50482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'I didn't ask him for the ₹800.'</a:t>
            </a:r>
          </a:p>
        </p:txBody>
      </p:sp>
      <p:sp>
        <p:nvSpPr>
          <p:cNvPr id="11" name="TextBox 10"/>
          <p:cNvSpPr txBox="1"/>
          <p:nvPr/>
        </p:nvSpPr>
        <p:spPr>
          <a:xfrm>
            <a:off x="8553450" y="3794608"/>
            <a:ext cx="33337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An event. Blue.</a:t>
            </a:r>
          </a:p>
        </p:txBody>
      </p:sp>
      <p:sp>
        <p:nvSpPr>
          <p:cNvPr id="12" name="TextBox 11"/>
          <p:cNvSpPr txBox="1"/>
          <p:nvPr/>
        </p:nvSpPr>
        <p:spPr>
          <a:xfrm>
            <a:off x="12172950" y="3794608"/>
            <a:ext cx="45148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Nothing yet.</a:t>
            </a:r>
          </a:p>
        </p:txBody>
      </p:sp>
      <p:sp>
        <p:nvSpPr>
          <p:cNvPr id="13" name="Rectangle 12"/>
          <p:cNvSpPr/>
          <p:nvPr/>
        </p:nvSpPr>
        <p:spPr>
          <a:xfrm>
            <a:off x="1047750" y="4305300"/>
            <a:ext cx="16192500" cy="742950"/>
          </a:xfrm>
          <a:prstGeom prst="rect">
            <a:avLst/>
          </a:prstGeom>
          <a:solidFill>
            <a:srgbClr val="F3EEE6"/>
          </a:solidFill>
          <a:ln>
            <a:noFill/>
          </a:ln>
          <a:effectLst/>
        </p:spPr>
        <p:txBody>
          <a:bodyPr rtlCol="0" anchor="ctr"/>
          <a:lstStyle/>
          <a:p>
            <a:pPr algn="ctr"/>
          </a:p>
        </p:txBody>
      </p:sp>
      <p:sp>
        <p:nvSpPr>
          <p:cNvPr id="14" name="Rectangle 13"/>
          <p:cNvSpPr/>
          <p:nvPr/>
        </p:nvSpPr>
        <p:spPr>
          <a:xfrm>
            <a:off x="1047750" y="4305300"/>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4537558"/>
            <a:ext cx="1619250" cy="74295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Why? 1</a:t>
            </a:r>
          </a:p>
        </p:txBody>
      </p:sp>
      <p:sp>
        <p:nvSpPr>
          <p:cNvPr id="16" name="TextBox 15"/>
          <p:cNvSpPr txBox="1"/>
          <p:nvPr/>
        </p:nvSpPr>
        <p:spPr>
          <a:xfrm>
            <a:off x="3219450" y="4537558"/>
            <a:ext cx="50482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'It felt weird to ask.'</a:t>
            </a:r>
          </a:p>
        </p:txBody>
      </p:sp>
      <p:sp>
        <p:nvSpPr>
          <p:cNvPr id="17" name="TextBox 16"/>
          <p:cNvSpPr txBox="1"/>
          <p:nvPr/>
        </p:nvSpPr>
        <p:spPr>
          <a:xfrm>
            <a:off x="8553450" y="4537558"/>
            <a:ext cx="33337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A feeling, not a reason.</a:t>
            </a:r>
          </a:p>
        </p:txBody>
      </p:sp>
      <p:sp>
        <p:nvSpPr>
          <p:cNvPr id="18" name="TextBox 17"/>
          <p:cNvSpPr txBox="1"/>
          <p:nvPr/>
        </p:nvSpPr>
        <p:spPr>
          <a:xfrm>
            <a:off x="12172950" y="4537558"/>
            <a:ext cx="45148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A reminder app.</a:t>
            </a:r>
          </a:p>
        </p:txBody>
      </p:sp>
      <p:sp>
        <p:nvSpPr>
          <p:cNvPr id="19" name="Rectangle 18"/>
          <p:cNvSpPr/>
          <p:nvPr/>
        </p:nvSpPr>
        <p:spPr>
          <a:xfrm>
            <a:off x="1047750" y="5048250"/>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5280508"/>
            <a:ext cx="1619250" cy="74295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Why? 2</a:t>
            </a:r>
          </a:p>
        </p:txBody>
      </p:sp>
      <p:sp>
        <p:nvSpPr>
          <p:cNvPr id="21" name="TextBox 20"/>
          <p:cNvSpPr txBox="1"/>
          <p:nvPr/>
        </p:nvSpPr>
        <p:spPr>
          <a:xfrm>
            <a:off x="3219450" y="5280508"/>
            <a:ext cx="50482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'It's only ₹800, it seemed petty.'</a:t>
            </a:r>
          </a:p>
        </p:txBody>
      </p:sp>
      <p:sp>
        <p:nvSpPr>
          <p:cNvPr id="22" name="TextBox 21"/>
          <p:cNvSpPr txBox="1"/>
          <p:nvPr/>
        </p:nvSpPr>
        <p:spPr>
          <a:xfrm>
            <a:off x="8553450" y="5280508"/>
            <a:ext cx="33337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A justification. Closer.</a:t>
            </a:r>
          </a:p>
        </p:txBody>
      </p:sp>
      <p:sp>
        <p:nvSpPr>
          <p:cNvPr id="23" name="TextBox 22"/>
          <p:cNvSpPr txBox="1"/>
          <p:nvPr/>
        </p:nvSpPr>
        <p:spPr>
          <a:xfrm>
            <a:off x="12172950" y="5280508"/>
            <a:ext cx="45148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A smaller reminder app.</a:t>
            </a:r>
          </a:p>
        </p:txBody>
      </p:sp>
      <p:sp>
        <p:nvSpPr>
          <p:cNvPr id="24" name="Rectangle 23"/>
          <p:cNvSpPr/>
          <p:nvPr/>
        </p:nvSpPr>
        <p:spPr>
          <a:xfrm>
            <a:off x="1047750" y="5791200"/>
            <a:ext cx="16192500" cy="742950"/>
          </a:xfrm>
          <a:prstGeom prst="rect">
            <a:avLst/>
          </a:prstGeom>
          <a:solidFill>
            <a:srgbClr val="F3EEE6"/>
          </a:solidFill>
          <a:ln>
            <a:noFill/>
          </a:ln>
          <a:effectLst/>
        </p:spPr>
        <p:txBody>
          <a:bodyPr rtlCol="0" anchor="ctr"/>
          <a:lstStyle/>
          <a:p>
            <a:pPr algn="ctr"/>
          </a:p>
        </p:txBody>
      </p:sp>
      <p:sp>
        <p:nvSpPr>
          <p:cNvPr id="25" name="Rectangle 24"/>
          <p:cNvSpPr/>
          <p:nvPr/>
        </p:nvSpPr>
        <p:spPr>
          <a:xfrm>
            <a:off x="1047750" y="5791200"/>
            <a:ext cx="16192500" cy="9525"/>
          </a:xfrm>
          <a:prstGeom prst="rect">
            <a:avLst/>
          </a:prstGeom>
          <a:solidFill>
            <a:srgbClr val="D8CFC7"/>
          </a:solidFill>
          <a:ln>
            <a:noFill/>
          </a:ln>
          <a:effectLst/>
        </p:spPr>
        <p:txBody>
          <a:bodyPr rtlCol="0" anchor="ctr"/>
          <a:lstStyle/>
          <a:p>
            <a:pPr algn="ctr"/>
          </a:p>
        </p:txBody>
      </p:sp>
      <p:sp>
        <p:nvSpPr>
          <p:cNvPr id="26" name="TextBox 25"/>
          <p:cNvSpPr txBox="1"/>
          <p:nvPr/>
        </p:nvSpPr>
        <p:spPr>
          <a:xfrm>
            <a:off x="1314450" y="6023458"/>
            <a:ext cx="1619250" cy="74295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Why? 3</a:t>
            </a:r>
          </a:p>
        </p:txBody>
      </p:sp>
      <p:sp>
        <p:nvSpPr>
          <p:cNvPr id="27" name="TextBox 26"/>
          <p:cNvSpPr txBox="1"/>
          <p:nvPr/>
        </p:nvSpPr>
        <p:spPr>
          <a:xfrm>
            <a:off x="3219450" y="6023458"/>
            <a:ext cx="50482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'He's the one who decides things in the group.'</a:t>
            </a:r>
          </a:p>
        </p:txBody>
      </p:sp>
      <p:sp>
        <p:nvSpPr>
          <p:cNvPr id="28" name="TextBox 27"/>
          <p:cNvSpPr txBox="1"/>
          <p:nvPr/>
        </p:nvSpPr>
        <p:spPr>
          <a:xfrm>
            <a:off x="8553450" y="6023458"/>
            <a:ext cx="33337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Now we are somewhere.</a:t>
            </a:r>
          </a:p>
        </p:txBody>
      </p:sp>
      <p:sp>
        <p:nvSpPr>
          <p:cNvPr id="29" name="TextBox 28"/>
          <p:cNvSpPr txBox="1"/>
          <p:nvPr/>
        </p:nvSpPr>
        <p:spPr>
          <a:xfrm>
            <a:off x="12172950" y="6023458"/>
            <a:ext cx="45148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The problem is who decides, not the money.</a:t>
            </a:r>
          </a:p>
        </p:txBody>
      </p:sp>
      <p:sp>
        <p:nvSpPr>
          <p:cNvPr id="30" name="Rectangle 29"/>
          <p:cNvSpPr/>
          <p:nvPr/>
        </p:nvSpPr>
        <p:spPr>
          <a:xfrm>
            <a:off x="1047750" y="6534150"/>
            <a:ext cx="16192500" cy="742950"/>
          </a:xfrm>
          <a:prstGeom prst="rect">
            <a:avLst/>
          </a:prstGeom>
          <a:solidFill>
            <a:srgbClr val="201914"/>
          </a:solidFill>
          <a:ln>
            <a:noFill/>
          </a:ln>
          <a:effectLst/>
        </p:spPr>
        <p:txBody>
          <a:bodyPr rtlCol="0" anchor="ctr"/>
          <a:lstStyle/>
          <a:p>
            <a:pPr algn="ctr"/>
          </a:p>
        </p:txBody>
      </p:sp>
      <p:sp>
        <p:nvSpPr>
          <p:cNvPr id="31" name="TextBox 30"/>
          <p:cNvSpPr txBox="1"/>
          <p:nvPr/>
        </p:nvSpPr>
        <p:spPr>
          <a:xfrm>
            <a:off x="1314450" y="6627190"/>
            <a:ext cx="1619250" cy="742950"/>
          </a:xfrm>
          <a:prstGeom prst="rect">
            <a:avLst/>
          </a:prstGeom>
          <a:noFill/>
        </p:spPr>
        <p:txBody>
          <a:bodyPr wrap="square" lIns="0" rIns="0" tIns="0" bIns="0" anchor="t">
            <a:noAutofit/>
          </a:bodyPr>
          <a:lstStyle/>
          <a:p>
            <a:pPr algn="l">
              <a:lnSpc>
                <a:spcPct val="105000"/>
              </a:lnSpc>
            </a:pPr>
            <a:r>
              <a:rPr sz="1800" b="1" i="0">
                <a:solidFill>
                  <a:srgbClr val="F5F1E9"/>
                </a:solidFill>
                <a:latin typeface="Arial"/>
              </a:rPr>
              <a:t>Why? 4</a:t>
            </a:r>
          </a:p>
        </p:txBody>
      </p:sp>
      <p:sp>
        <p:nvSpPr>
          <p:cNvPr id="32" name="TextBox 31"/>
          <p:cNvSpPr txBox="1"/>
          <p:nvPr/>
        </p:nvSpPr>
        <p:spPr>
          <a:xfrm>
            <a:off x="3219450" y="6627190"/>
            <a:ext cx="5048250" cy="742950"/>
          </a:xfrm>
          <a:prstGeom prst="rect">
            <a:avLst/>
          </a:prstGeom>
          <a:noFill/>
        </p:spPr>
        <p:txBody>
          <a:bodyPr wrap="square" lIns="0" rIns="0" tIns="0" bIns="0" anchor="t">
            <a:noAutofit/>
          </a:bodyPr>
          <a:lstStyle/>
          <a:p>
            <a:pPr algn="l">
              <a:lnSpc>
                <a:spcPct val="105000"/>
              </a:lnSpc>
            </a:pPr>
            <a:r>
              <a:rPr sz="1800" b="0" i="0">
                <a:solidFill>
                  <a:srgbClr val="F5F1E9"/>
                </a:solidFill>
                <a:latin typeface="Arial"/>
              </a:rPr>
              <a:t>'If I chase him for it, I look like the poor one.'</a:t>
            </a:r>
          </a:p>
        </p:txBody>
      </p:sp>
      <p:sp>
        <p:nvSpPr>
          <p:cNvPr id="33" name="TextBox 32"/>
          <p:cNvSpPr txBox="1"/>
          <p:nvPr/>
        </p:nvSpPr>
        <p:spPr>
          <a:xfrm>
            <a:off x="8553450" y="6627190"/>
            <a:ext cx="3333750" cy="742950"/>
          </a:xfrm>
          <a:prstGeom prst="rect">
            <a:avLst/>
          </a:prstGeom>
          <a:noFill/>
        </p:spPr>
        <p:txBody>
          <a:bodyPr wrap="square" lIns="0" rIns="0" tIns="0" bIns="0" anchor="t">
            <a:noAutofit/>
          </a:bodyPr>
          <a:lstStyle/>
          <a:p>
            <a:pPr algn="l">
              <a:lnSpc>
                <a:spcPct val="105000"/>
              </a:lnSpc>
            </a:pPr>
            <a:r>
              <a:rPr sz="1800" b="0" i="0">
                <a:solidFill>
                  <a:srgbClr val="F5F1E9"/>
                </a:solidFill>
                <a:latin typeface="Arial"/>
              </a:rPr>
              <a:t>The real driver.</a:t>
            </a:r>
          </a:p>
        </p:txBody>
      </p:sp>
      <p:sp>
        <p:nvSpPr>
          <p:cNvPr id="34" name="TextBox 33"/>
          <p:cNvSpPr txBox="1"/>
          <p:nvPr/>
        </p:nvSpPr>
        <p:spPr>
          <a:xfrm>
            <a:off x="12172950" y="6627190"/>
            <a:ext cx="4514850" cy="742950"/>
          </a:xfrm>
          <a:prstGeom prst="rect">
            <a:avLst/>
          </a:prstGeom>
          <a:noFill/>
        </p:spPr>
        <p:txBody>
          <a:bodyPr wrap="square" lIns="0" rIns="0" tIns="0" bIns="0" anchor="t">
            <a:noAutofit/>
          </a:bodyPr>
          <a:lstStyle/>
          <a:p>
            <a:pPr algn="l">
              <a:lnSpc>
                <a:spcPct val="105000"/>
              </a:lnSpc>
            </a:pPr>
            <a:r>
              <a:rPr sz="1800" b="0" i="0">
                <a:solidFill>
                  <a:srgbClr val="F5F1E9"/>
                </a:solidFill>
                <a:latin typeface="Arial"/>
              </a:rPr>
              <a:t>A request that does not come from a person.</a:t>
            </a:r>
          </a:p>
        </p:txBody>
      </p:sp>
      <p:sp>
        <p:nvSpPr>
          <p:cNvPr id="35" name="Rectangle 34"/>
          <p:cNvSpPr/>
          <p:nvPr/>
        </p:nvSpPr>
        <p:spPr>
          <a:xfrm>
            <a:off x="1047750" y="7277100"/>
            <a:ext cx="16192500" cy="742950"/>
          </a:xfrm>
          <a:prstGeom prst="rect">
            <a:avLst/>
          </a:prstGeom>
          <a:solidFill>
            <a:srgbClr val="F3EEE6"/>
          </a:solidFill>
          <a:ln>
            <a:noFill/>
          </a:ln>
          <a:effectLst/>
        </p:spPr>
        <p:txBody>
          <a:bodyPr rtlCol="0" anchor="ctr"/>
          <a:lstStyle/>
          <a:p>
            <a:pPr algn="ctr"/>
          </a:p>
        </p:txBody>
      </p:sp>
      <p:sp>
        <p:nvSpPr>
          <p:cNvPr id="36" name="Rectangle 35"/>
          <p:cNvSpPr/>
          <p:nvPr/>
        </p:nvSpPr>
        <p:spPr>
          <a:xfrm>
            <a:off x="1047750" y="7277100"/>
            <a:ext cx="16192500" cy="9525"/>
          </a:xfrm>
          <a:prstGeom prst="rect">
            <a:avLst/>
          </a:prstGeom>
          <a:solidFill>
            <a:srgbClr val="D8CFC7"/>
          </a:solidFill>
          <a:ln>
            <a:noFill/>
          </a:ln>
          <a:effectLst/>
        </p:spPr>
        <p:txBody>
          <a:bodyPr rtlCol="0" anchor="ctr"/>
          <a:lstStyle/>
          <a:p>
            <a:pPr algn="ctr"/>
          </a:p>
        </p:txBody>
      </p:sp>
      <p:sp>
        <p:nvSpPr>
          <p:cNvPr id="37" name="TextBox 36"/>
          <p:cNvSpPr txBox="1"/>
          <p:nvPr/>
        </p:nvSpPr>
        <p:spPr>
          <a:xfrm>
            <a:off x="1314450" y="7370140"/>
            <a:ext cx="1619250" cy="74295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Why? 5</a:t>
            </a:r>
          </a:p>
        </p:txBody>
      </p:sp>
      <p:sp>
        <p:nvSpPr>
          <p:cNvPr id="38" name="TextBox 37"/>
          <p:cNvSpPr txBox="1"/>
          <p:nvPr/>
        </p:nvSpPr>
        <p:spPr>
          <a:xfrm>
            <a:off x="3219450" y="7370140"/>
            <a:ext cx="50482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'I don't want to be the person people manage around money.'</a:t>
            </a:r>
          </a:p>
        </p:txBody>
      </p:sp>
      <p:sp>
        <p:nvSpPr>
          <p:cNvPr id="39" name="TextBox 38"/>
          <p:cNvSpPr txBox="1"/>
          <p:nvPr/>
        </p:nvSpPr>
        <p:spPr>
          <a:xfrm>
            <a:off x="8553450" y="7370140"/>
            <a:ext cx="33337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Identity.</a:t>
            </a:r>
          </a:p>
        </p:txBody>
      </p:sp>
      <p:sp>
        <p:nvSpPr>
          <p:cNvPr id="40" name="TextBox 39"/>
          <p:cNvSpPr txBox="1"/>
          <p:nvPr/>
        </p:nvSpPr>
        <p:spPr>
          <a:xfrm>
            <a:off x="12172950" y="7370140"/>
            <a:ext cx="4514850" cy="742950"/>
          </a:xfrm>
          <a:prstGeom prst="rect">
            <a:avLst/>
          </a:prstGeom>
          <a:noFill/>
        </p:spPr>
        <p:txBody>
          <a:bodyPr wrap="square" lIns="0" rIns="0" tIns="0" bIns="0" anchor="t">
            <a:noAutofit/>
          </a:bodyPr>
          <a:lstStyle/>
          <a:p>
            <a:pPr algn="l">
              <a:lnSpc>
                <a:spcPct val="105000"/>
              </a:lnSpc>
            </a:pPr>
            <a:r>
              <a:rPr sz="1800" b="0" i="0">
                <a:solidFill>
                  <a:srgbClr val="665B53"/>
                </a:solidFill>
                <a:latin typeface="Arial"/>
              </a:rPr>
              <a:t>The same product, and now you know why.</a:t>
            </a:r>
          </a:p>
        </p:txBody>
      </p:sp>
      <p:sp>
        <p:nvSpPr>
          <p:cNvPr id="41" name="Rectangle 40"/>
          <p:cNvSpPr/>
          <p:nvPr/>
        </p:nvSpPr>
        <p:spPr>
          <a:xfrm>
            <a:off x="1047750" y="8020050"/>
            <a:ext cx="16192500" cy="9525"/>
          </a:xfrm>
          <a:prstGeom prst="rect">
            <a:avLst/>
          </a:prstGeom>
          <a:solidFill>
            <a:srgbClr val="D8CFC7"/>
          </a:solidFill>
          <a:ln>
            <a:noFill/>
          </a:ln>
          <a:effectLst/>
        </p:spPr>
        <p:txBody>
          <a:bodyPr rtlCol="0" anchor="ctr"/>
          <a:lstStyle/>
          <a:p>
            <a:pPr algn="ctr"/>
          </a:p>
        </p:txBody>
      </p:sp>
      <p:sp>
        <p:nvSpPr>
          <p:cNvPr id="42" name="TextBox 41"/>
          <p:cNvSpPr txBox="1"/>
          <p:nvPr/>
        </p:nvSpPr>
        <p:spPr>
          <a:xfrm>
            <a:off x="1047750" y="8305800"/>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Stop at level one and you build a reminder app. Reach level four and you build something where the request comes from the system, not a person.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PRACTICAL THINGS ABOUT RUNNING IT</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Everybody knows to ask why. Almost nobody gets past level two.</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Do not say 'why' five times</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By the third it is an interrogation. Vary it: what made that feel like that? Say more about that. Or repeat their last few words back as a question.</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Discomfort is the signal</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If the conversation is still entirely comfortable at level four, you are still on the surface. Nobody is uncomfortable describing the surface.</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'I don't know' is a door</a:t>
            </a:r>
          </a:p>
        </p:txBody>
      </p:sp>
      <p:sp>
        <p:nvSpPr>
          <p:cNvPr id="12" name="TextBox 11"/>
          <p:cNvSpPr txBox="1"/>
          <p:nvPr/>
        </p:nvSpPr>
        <p:spPr>
          <a:xfrm>
            <a:off x="12096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It is almost always level three announcing itself. Say nothing for five seconds, then 'take your time' or 'even a guess'. What follows is usually the best sentence in the interview.</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The sentence that follows a real 'I don't know' is often the most useful thing said in the whole conversation.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BOUNDARY · WHERE INTERVIEWS MISLEAD</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Three ways this still goes wrong</a:t>
            </a:r>
          </a:p>
        </p:txBody>
      </p:sp>
      <p:sp>
        <p:nvSpPr>
          <p:cNvPr id="4" name="Rectangle 3"/>
          <p:cNvSpPr/>
          <p:nvPr/>
        </p:nvSpPr>
        <p:spPr>
          <a:xfrm>
            <a:off x="1047750" y="312420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helpful respondent</a:t>
            </a:r>
          </a:p>
        </p:txBody>
      </p:sp>
      <p:sp>
        <p:nvSpPr>
          <p:cNvPr id="6" name="TextBox 5"/>
          <p:cNvSpPr txBox="1"/>
          <p:nvPr/>
        </p:nvSpPr>
        <p:spPr>
          <a:xfrm>
            <a:off x="1047750" y="4549673"/>
            <a:ext cx="5143500" cy="354657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Most people will like you and want the conversation to go well, and their way of doing that is encouragement. Never count enthusiasm. Count only what they have already done with their own time and money.</a:t>
            </a:r>
          </a:p>
        </p:txBody>
      </p:sp>
      <p:sp>
        <p:nvSpPr>
          <p:cNvPr id="7" name="Rectangle 6"/>
          <p:cNvSpPr/>
          <p:nvPr/>
        </p:nvSpPr>
        <p:spPr>
          <a:xfrm>
            <a:off x="6572250" y="312420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A sample made of friends</a:t>
            </a:r>
          </a:p>
        </p:txBody>
      </p:sp>
      <p:sp>
        <p:nvSpPr>
          <p:cNvPr id="9" name="TextBox 8"/>
          <p:cNvSpPr txBox="1"/>
          <p:nvPr/>
        </p:nvSpPr>
        <p:spPr>
          <a:xfrm>
            <a:off x="6572250" y="4549673"/>
            <a:ext cx="5143500" cy="354657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Your first ten interviews are with people you can reach: they like you, and they look a lot like you. Use the first ten to practise. Your findings begin at interview eleven.</a:t>
            </a:r>
          </a:p>
        </p:txBody>
      </p:sp>
      <p:sp>
        <p:nvSpPr>
          <p:cNvPr id="10" name="Rectangle 9"/>
          <p:cNvSpPr/>
          <p:nvPr/>
        </p:nvSpPr>
        <p:spPr>
          <a:xfrm>
            <a:off x="12096750" y="312420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wrong job for the instrument</a:t>
            </a:r>
          </a:p>
        </p:txBody>
      </p:sp>
      <p:sp>
        <p:nvSpPr>
          <p:cNvPr id="12" name="TextBox 11"/>
          <p:cNvSpPr txBox="1"/>
          <p:nvPr/>
        </p:nvSpPr>
        <p:spPr>
          <a:xfrm>
            <a:off x="12096750" y="4549673"/>
            <a:ext cx="5143500" cy="354657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An interview answers why and what happened. It cannot tell you how many, how often across a population, or what price a market will bear. Eight enthusiastic conversations are not a market size.</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Scale questions need scale instruments. Reason questions need depth instruments. Most serious research errors are one asked to do the other's job.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6483949"/>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PART TWO</a:t>
            </a:r>
          </a:p>
        </p:txBody>
      </p:sp>
      <p:sp>
        <p:nvSpPr>
          <p:cNvPr id="3" name="TextBox 2"/>
          <p:cNvSpPr txBox="1"/>
          <p:nvPr/>
        </p:nvSpPr>
        <p:spPr>
          <a:xfrm>
            <a:off x="1047750" y="7036399"/>
            <a:ext cx="16192500" cy="1264676"/>
          </a:xfrm>
          <a:prstGeom prst="rect">
            <a:avLst/>
          </a:prstGeom>
          <a:noFill/>
        </p:spPr>
        <p:txBody>
          <a:bodyPr wrap="square" lIns="0" rIns="0" tIns="0" bIns="0" anchor="t">
            <a:noAutofit/>
          </a:bodyPr>
          <a:lstStyle/>
          <a:p>
            <a:pPr algn="l">
              <a:lnSpc>
                <a:spcPct val="98000"/>
              </a:lnSpc>
            </a:pPr>
            <a:r>
              <a:rPr sz="8100" b="1" i="0" spc="-120">
                <a:solidFill>
                  <a:srgbClr val="F5F1E9"/>
                </a:solidFill>
                <a:latin typeface="Arial"/>
              </a:rPr>
              <a:t>The order of the questions</a:t>
            </a:r>
          </a:p>
        </p:txBody>
      </p:sp>
      <p:sp>
        <p:nvSpPr>
          <p:cNvPr id="4" name="TextBox 3"/>
          <p:cNvSpPr txBox="1"/>
          <p:nvPr/>
        </p:nvSpPr>
        <p:spPr>
          <a:xfrm>
            <a:off x="1047750" y="8453476"/>
            <a:ext cx="14287500" cy="1262024"/>
          </a:xfrm>
          <a:prstGeom prst="rect">
            <a:avLst/>
          </a:prstGeom>
          <a:noFill/>
        </p:spPr>
        <p:txBody>
          <a:bodyPr wrap="square" lIns="0" rIns="0" tIns="0" bIns="0" anchor="t">
            <a:noAutofit/>
          </a:bodyPr>
          <a:lstStyle/>
          <a:p>
            <a:pPr algn="l">
              <a:lnSpc>
                <a:spcPct val="110000"/>
              </a:lnSpc>
            </a:pPr>
            <a:r>
              <a:rPr sz="3600" b="0" i="1">
                <a:solidFill>
                  <a:srgbClr val="C1B5AB"/>
                </a:solidFill>
                <a:latin typeface="Georgia"/>
              </a:rPr>
              <a:t>You know how to ask one question and what to do with the answer. Nobody has told you what order the next nine go in.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SAME QUESTION · SAME PERSON</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Minute one and minute fourteen give completely different answers.</a:t>
            </a:r>
          </a:p>
        </p:txBody>
      </p:sp>
      <p:sp>
        <p:nvSpPr>
          <p:cNvPr id="4" name="Rectangle 3"/>
          <p:cNvSpPr/>
          <p:nvPr/>
        </p:nvSpPr>
        <p:spPr>
          <a:xfrm>
            <a:off x="1047750" y="3409950"/>
            <a:ext cx="7905750" cy="45720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3409950"/>
            <a:ext cx="7905750" cy="45720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MINUTE 1</a:t>
            </a:r>
          </a:p>
        </p:txBody>
      </p:sp>
      <p:sp>
        <p:nvSpPr>
          <p:cNvPr id="7" name="TextBox 6"/>
          <p:cNvSpPr txBox="1"/>
          <p:nvPr/>
        </p:nvSpPr>
        <p:spPr>
          <a:xfrm>
            <a:off x="1466850" y="4362450"/>
            <a:ext cx="7067550" cy="3333750"/>
          </a:xfrm>
          <a:prstGeom prst="rect">
            <a:avLst/>
          </a:prstGeom>
          <a:noFill/>
        </p:spPr>
        <p:txBody>
          <a:bodyPr wrap="square" lIns="0" rIns="0" tIns="0" bIns="0" anchor="t">
            <a:noAutofit/>
          </a:bodyPr>
          <a:lstStyle/>
          <a:p>
            <a:pPr algn="l">
              <a:lnSpc>
                <a:spcPct val="112000"/>
              </a:lnSpc>
              <a:spcAft>
                <a:spcPts val="1200"/>
              </a:spcAft>
            </a:pPr>
            <a:r>
              <a:rPr sz="2800" b="1" i="0">
                <a:solidFill>
                  <a:srgbClr val="201914"/>
                </a:solidFill>
                <a:latin typeface="Arial"/>
              </a:rPr>
              <a:t>'Tell me about the last time you gave up on a purchase halfway through.'</a:t>
            </a:r>
          </a:p>
          <a:p>
            <a:pPr algn="l">
              <a:lnSpc>
                <a:spcPct val="112000"/>
              </a:lnSpc>
            </a:pPr>
            <a:r>
              <a:rPr sz="2800" b="0" i="0">
                <a:solidFill>
                  <a:srgbClr val="201914"/>
                </a:solidFill>
                <a:latin typeface="Arial"/>
              </a:rPr>
              <a:t>A short, vague, tidy answer. They have known you for ninety seconds and do not yet know whether you will judge, interrupt or want something longer.</a:t>
            </a:r>
          </a:p>
        </p:txBody>
      </p:sp>
      <p:sp>
        <p:nvSpPr>
          <p:cNvPr id="8" name="TextBox 7"/>
          <p:cNvSpPr txBox="1"/>
          <p:nvPr/>
        </p:nvSpPr>
        <p:spPr>
          <a:xfrm>
            <a:off x="975360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MINUTE 14</a:t>
            </a:r>
          </a:p>
        </p:txBody>
      </p:sp>
      <p:sp>
        <p:nvSpPr>
          <p:cNvPr id="9" name="TextBox 8"/>
          <p:cNvSpPr txBox="1"/>
          <p:nvPr/>
        </p:nvSpPr>
        <p:spPr>
          <a:xfrm>
            <a:off x="9753600" y="4362450"/>
            <a:ext cx="7067550" cy="3333750"/>
          </a:xfrm>
          <a:prstGeom prst="rect">
            <a:avLst/>
          </a:prstGeom>
          <a:noFill/>
        </p:spPr>
        <p:txBody>
          <a:bodyPr wrap="square" lIns="0" rIns="0" tIns="0" bIns="0" anchor="t">
            <a:noAutofit/>
          </a:bodyPr>
          <a:lstStyle/>
          <a:p>
            <a:pPr algn="l">
              <a:lnSpc>
                <a:spcPct val="112000"/>
              </a:lnSpc>
              <a:spcAft>
                <a:spcPts val="1200"/>
              </a:spcAft>
            </a:pPr>
            <a:r>
              <a:rPr sz="2800" b="1" i="0">
                <a:solidFill>
                  <a:srgbClr val="F5F1E9"/>
                </a:solidFill>
                <a:latin typeface="Arial"/>
              </a:rPr>
              <a:t>'Tell me about the last time you gave up on a purchase halfway through.'</a:t>
            </a:r>
          </a:p>
          <a:p>
            <a:pPr algn="l">
              <a:lnSpc>
                <a:spcPct val="112000"/>
              </a:lnSpc>
            </a:pPr>
            <a:r>
              <a:rPr sz="2800" b="0" i="0">
                <a:solidFill>
                  <a:srgbClr val="F5F1E9"/>
                </a:solidFill>
                <a:latin typeface="Arial"/>
              </a:rPr>
              <a:t>Four minutes of detail with a rupee figure in it. They have described their week, told two easy stories, corrected you once, and found out that you do not interrupt.</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Same question. Same person. The only difference is where in the conversation it sat.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4 · FOUR STAGES, EASY TO HARD</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Interview Arc</a:t>
            </a:r>
          </a:p>
        </p:txBody>
      </p:sp>
      <p:sp>
        <p:nvSpPr>
          <p:cNvPr id="4" name="TextBox 3"/>
          <p:cNvSpPr txBox="1"/>
          <p:nvPr/>
        </p:nvSpPr>
        <p:spPr>
          <a:xfrm>
            <a:off x="1314450" y="2838450"/>
            <a:ext cx="22860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STAGE</a:t>
            </a:r>
          </a:p>
        </p:txBody>
      </p:sp>
      <p:sp>
        <p:nvSpPr>
          <p:cNvPr id="5" name="TextBox 4"/>
          <p:cNvSpPr txBox="1"/>
          <p:nvPr/>
        </p:nvSpPr>
        <p:spPr>
          <a:xfrm>
            <a:off x="3790950" y="2838450"/>
            <a:ext cx="51435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IS FOR</a:t>
            </a:r>
          </a:p>
        </p:txBody>
      </p:sp>
      <p:sp>
        <p:nvSpPr>
          <p:cNvPr id="6" name="TextBox 5"/>
          <p:cNvSpPr txBox="1"/>
          <p:nvPr/>
        </p:nvSpPr>
        <p:spPr>
          <a:xfrm>
            <a:off x="9124950" y="2838450"/>
            <a:ext cx="49530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TYPICAL OPENING WORDS</a:t>
            </a:r>
          </a:p>
        </p:txBody>
      </p:sp>
      <p:sp>
        <p:nvSpPr>
          <p:cNvPr id="7" name="TextBox 6"/>
          <p:cNvSpPr txBox="1"/>
          <p:nvPr/>
        </p:nvSpPr>
        <p:spPr>
          <a:xfrm>
            <a:off x="14268450" y="2838450"/>
            <a:ext cx="25146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ROUGHLY HOW LONG</a:t>
            </a:r>
          </a:p>
        </p:txBody>
      </p:sp>
      <p:sp>
        <p:nvSpPr>
          <p:cNvPr id="8" name="Rectangle 7"/>
          <p:cNvSpPr/>
          <p:nvPr/>
        </p:nvSpPr>
        <p:spPr>
          <a:xfrm>
            <a:off x="1047750" y="361950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3974306"/>
            <a:ext cx="2190750" cy="1040168"/>
          </a:xfrm>
          <a:prstGeom prst="rect">
            <a:avLst/>
          </a:prstGeom>
          <a:noFill/>
        </p:spPr>
        <p:txBody>
          <a:bodyPr wrap="square" lIns="0" rIns="0" tIns="0" bIns="0" anchor="t">
            <a:noAutofit/>
          </a:bodyPr>
          <a:lstStyle/>
          <a:p>
            <a:pPr algn="l">
              <a:lnSpc>
                <a:spcPct val="105000"/>
              </a:lnSpc>
            </a:pPr>
            <a:r>
              <a:rPr sz="2300" b="1" i="0">
                <a:solidFill>
                  <a:srgbClr val="201914"/>
                </a:solidFill>
                <a:latin typeface="Arial"/>
              </a:rPr>
              <a:t>1 · Context</a:t>
            </a:r>
          </a:p>
        </p:txBody>
      </p:sp>
      <p:sp>
        <p:nvSpPr>
          <p:cNvPr id="10" name="TextBox 9"/>
          <p:cNvSpPr txBox="1"/>
          <p:nvPr/>
        </p:nvSpPr>
        <p:spPr>
          <a:xfrm>
            <a:off x="3790950" y="3974306"/>
            <a:ext cx="50482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Establish their world. Let them get used to talking and you to listening.</a:t>
            </a:r>
          </a:p>
        </p:txBody>
      </p:sp>
      <p:sp>
        <p:nvSpPr>
          <p:cNvPr id="11" name="TextBox 10"/>
          <p:cNvSpPr txBox="1"/>
          <p:nvPr/>
        </p:nvSpPr>
        <p:spPr>
          <a:xfrm>
            <a:off x="9124950" y="3974306"/>
            <a:ext cx="48577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'Tell me a bit about how you usually...'</a:t>
            </a:r>
          </a:p>
        </p:txBody>
      </p:sp>
      <p:sp>
        <p:nvSpPr>
          <p:cNvPr id="12" name="TextBox 11"/>
          <p:cNvSpPr txBox="1"/>
          <p:nvPr/>
        </p:nvSpPr>
        <p:spPr>
          <a:xfrm>
            <a:off x="14268450" y="3974306"/>
            <a:ext cx="24193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The first fifth</a:t>
            </a:r>
          </a:p>
        </p:txBody>
      </p:sp>
      <p:sp>
        <p:nvSpPr>
          <p:cNvPr id="13" name="Rectangle 12"/>
          <p:cNvSpPr/>
          <p:nvPr/>
        </p:nvSpPr>
        <p:spPr>
          <a:xfrm>
            <a:off x="1047750" y="4850168"/>
            <a:ext cx="16192500" cy="1040168"/>
          </a:xfrm>
          <a:prstGeom prst="rect">
            <a:avLst/>
          </a:prstGeom>
          <a:solidFill>
            <a:srgbClr val="F3EEE6"/>
          </a:solidFill>
          <a:ln>
            <a:noFill/>
          </a:ln>
          <a:effectLst/>
        </p:spPr>
        <p:txBody>
          <a:bodyPr rtlCol="0" anchor="ctr"/>
          <a:lstStyle/>
          <a:p>
            <a:pPr algn="ctr"/>
          </a:p>
        </p:txBody>
      </p:sp>
      <p:sp>
        <p:nvSpPr>
          <p:cNvPr id="14" name="Rectangle 13"/>
          <p:cNvSpPr/>
          <p:nvPr/>
        </p:nvSpPr>
        <p:spPr>
          <a:xfrm>
            <a:off x="1047750" y="4850168"/>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5014474"/>
            <a:ext cx="2190750" cy="1040168"/>
          </a:xfrm>
          <a:prstGeom prst="rect">
            <a:avLst/>
          </a:prstGeom>
          <a:noFill/>
        </p:spPr>
        <p:txBody>
          <a:bodyPr wrap="square" lIns="0" rIns="0" tIns="0" bIns="0" anchor="t">
            <a:noAutofit/>
          </a:bodyPr>
          <a:lstStyle/>
          <a:p>
            <a:pPr algn="l">
              <a:lnSpc>
                <a:spcPct val="105000"/>
              </a:lnSpc>
            </a:pPr>
            <a:r>
              <a:rPr sz="2300" b="1" i="0">
                <a:solidFill>
                  <a:srgbClr val="201914"/>
                </a:solidFill>
                <a:latin typeface="Arial"/>
              </a:rPr>
              <a:t>2 · Experience</a:t>
            </a:r>
          </a:p>
        </p:txBody>
      </p:sp>
      <p:sp>
        <p:nvSpPr>
          <p:cNvPr id="16" name="TextBox 15"/>
          <p:cNvSpPr txBox="1"/>
          <p:nvPr/>
        </p:nvSpPr>
        <p:spPr>
          <a:xfrm>
            <a:off x="3790950" y="5014474"/>
            <a:ext cx="50482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Get one specific, recent, real event on the table and open it up.</a:t>
            </a:r>
          </a:p>
        </p:txBody>
      </p:sp>
      <p:sp>
        <p:nvSpPr>
          <p:cNvPr id="17" name="TextBox 16"/>
          <p:cNvSpPr txBox="1"/>
          <p:nvPr/>
        </p:nvSpPr>
        <p:spPr>
          <a:xfrm>
            <a:off x="9124950" y="5014474"/>
            <a:ext cx="48577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'Tell me about the last time...' / 'Walk me through...'</a:t>
            </a:r>
          </a:p>
        </p:txBody>
      </p:sp>
      <p:sp>
        <p:nvSpPr>
          <p:cNvPr id="18" name="TextBox 17"/>
          <p:cNvSpPr txBox="1"/>
          <p:nvPr/>
        </p:nvSpPr>
        <p:spPr>
          <a:xfrm>
            <a:off x="14268450" y="5014474"/>
            <a:ext cx="24193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Roughly half</a:t>
            </a:r>
          </a:p>
        </p:txBody>
      </p:sp>
      <p:sp>
        <p:nvSpPr>
          <p:cNvPr id="19" name="Rectangle 18"/>
          <p:cNvSpPr/>
          <p:nvPr/>
        </p:nvSpPr>
        <p:spPr>
          <a:xfrm>
            <a:off x="1047750" y="5890336"/>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6054642"/>
            <a:ext cx="2190750" cy="1040168"/>
          </a:xfrm>
          <a:prstGeom prst="rect">
            <a:avLst/>
          </a:prstGeom>
          <a:noFill/>
        </p:spPr>
        <p:txBody>
          <a:bodyPr wrap="square" lIns="0" rIns="0" tIns="0" bIns="0" anchor="t">
            <a:noAutofit/>
          </a:bodyPr>
          <a:lstStyle/>
          <a:p>
            <a:pPr algn="l">
              <a:lnSpc>
                <a:spcPct val="105000"/>
              </a:lnSpc>
            </a:pPr>
            <a:r>
              <a:rPr sz="2300" b="1" i="0">
                <a:solidFill>
                  <a:srgbClr val="201914"/>
                </a:solidFill>
                <a:latin typeface="Arial"/>
              </a:rPr>
              <a:t>3 · Implication</a:t>
            </a:r>
          </a:p>
        </p:txBody>
      </p:sp>
      <p:sp>
        <p:nvSpPr>
          <p:cNvPr id="21" name="TextBox 20"/>
          <p:cNvSpPr txBox="1"/>
          <p:nvPr/>
        </p:nvSpPr>
        <p:spPr>
          <a:xfrm>
            <a:off x="3790950" y="6054642"/>
            <a:ext cx="50482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Attach a number or a consequence to the event.</a:t>
            </a:r>
          </a:p>
        </p:txBody>
      </p:sp>
      <p:sp>
        <p:nvSpPr>
          <p:cNvPr id="22" name="TextBox 21"/>
          <p:cNvSpPr txBox="1"/>
          <p:nvPr/>
        </p:nvSpPr>
        <p:spPr>
          <a:xfrm>
            <a:off x="9124950" y="6054642"/>
            <a:ext cx="48577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'How often...' / 'What did that cost...' / 'What happened after...'</a:t>
            </a:r>
          </a:p>
        </p:txBody>
      </p:sp>
      <p:sp>
        <p:nvSpPr>
          <p:cNvPr id="23" name="TextBox 22"/>
          <p:cNvSpPr txBox="1"/>
          <p:nvPr/>
        </p:nvSpPr>
        <p:spPr>
          <a:xfrm>
            <a:off x="14268450" y="6054642"/>
            <a:ext cx="24193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About a quarter</a:t>
            </a:r>
          </a:p>
        </p:txBody>
      </p:sp>
      <p:sp>
        <p:nvSpPr>
          <p:cNvPr id="24" name="Rectangle 23"/>
          <p:cNvSpPr/>
          <p:nvPr/>
        </p:nvSpPr>
        <p:spPr>
          <a:xfrm>
            <a:off x="1047750" y="6930504"/>
            <a:ext cx="16192500" cy="1040168"/>
          </a:xfrm>
          <a:prstGeom prst="rect">
            <a:avLst/>
          </a:prstGeom>
          <a:solidFill>
            <a:srgbClr val="F3EEE6"/>
          </a:solidFill>
          <a:ln>
            <a:noFill/>
          </a:ln>
          <a:effectLst/>
        </p:spPr>
        <p:txBody>
          <a:bodyPr rtlCol="0" anchor="ctr"/>
          <a:lstStyle/>
          <a:p>
            <a:pPr algn="ctr"/>
          </a:p>
        </p:txBody>
      </p:sp>
      <p:sp>
        <p:nvSpPr>
          <p:cNvPr id="25" name="Rectangle 24"/>
          <p:cNvSpPr/>
          <p:nvPr/>
        </p:nvSpPr>
        <p:spPr>
          <a:xfrm>
            <a:off x="1047750" y="6930504"/>
            <a:ext cx="16192500" cy="9525"/>
          </a:xfrm>
          <a:prstGeom prst="rect">
            <a:avLst/>
          </a:prstGeom>
          <a:solidFill>
            <a:srgbClr val="D8CFC7"/>
          </a:solidFill>
          <a:ln>
            <a:noFill/>
          </a:ln>
          <a:effectLst/>
        </p:spPr>
        <p:txBody>
          <a:bodyPr rtlCol="0" anchor="ctr"/>
          <a:lstStyle/>
          <a:p>
            <a:pPr algn="ctr"/>
          </a:p>
        </p:txBody>
      </p:sp>
      <p:sp>
        <p:nvSpPr>
          <p:cNvPr id="26" name="TextBox 25"/>
          <p:cNvSpPr txBox="1"/>
          <p:nvPr/>
        </p:nvSpPr>
        <p:spPr>
          <a:xfrm>
            <a:off x="1314450" y="7094811"/>
            <a:ext cx="2190750" cy="1040168"/>
          </a:xfrm>
          <a:prstGeom prst="rect">
            <a:avLst/>
          </a:prstGeom>
          <a:noFill/>
        </p:spPr>
        <p:txBody>
          <a:bodyPr wrap="square" lIns="0" rIns="0" tIns="0" bIns="0" anchor="t">
            <a:noAutofit/>
          </a:bodyPr>
          <a:lstStyle/>
          <a:p>
            <a:pPr algn="l">
              <a:lnSpc>
                <a:spcPct val="105000"/>
              </a:lnSpc>
            </a:pPr>
            <a:r>
              <a:rPr sz="2300" b="1" i="0">
                <a:solidFill>
                  <a:srgbClr val="201914"/>
                </a:solidFill>
                <a:latin typeface="Arial"/>
              </a:rPr>
              <a:t>4 · Close</a:t>
            </a:r>
          </a:p>
        </p:txBody>
      </p:sp>
      <p:sp>
        <p:nvSpPr>
          <p:cNvPr id="27" name="TextBox 26"/>
          <p:cNvSpPr txBox="1"/>
          <p:nvPr/>
        </p:nvSpPr>
        <p:spPr>
          <a:xfrm>
            <a:off x="3790950" y="7094811"/>
            <a:ext cx="50482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Recover what you failed to ask and get the next interview.</a:t>
            </a:r>
          </a:p>
        </p:txBody>
      </p:sp>
      <p:sp>
        <p:nvSpPr>
          <p:cNvPr id="28" name="TextBox 27"/>
          <p:cNvSpPr txBox="1"/>
          <p:nvPr/>
        </p:nvSpPr>
        <p:spPr>
          <a:xfrm>
            <a:off x="9124950" y="7094811"/>
            <a:ext cx="48577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'What should I have asked?' / 'Who else should I talk to?'</a:t>
            </a:r>
          </a:p>
        </p:txBody>
      </p:sp>
      <p:sp>
        <p:nvSpPr>
          <p:cNvPr id="29" name="TextBox 28"/>
          <p:cNvSpPr txBox="1"/>
          <p:nvPr/>
        </p:nvSpPr>
        <p:spPr>
          <a:xfrm>
            <a:off x="14268450" y="7094811"/>
            <a:ext cx="2419350" cy="1040168"/>
          </a:xfrm>
          <a:prstGeom prst="rect">
            <a:avLst/>
          </a:prstGeom>
          <a:noFill/>
        </p:spPr>
        <p:txBody>
          <a:bodyPr wrap="square" lIns="0" rIns="0" tIns="0" bIns="0" anchor="t">
            <a:noAutofit/>
          </a:bodyPr>
          <a:lstStyle/>
          <a:p>
            <a:pPr algn="l">
              <a:lnSpc>
                <a:spcPct val="105000"/>
              </a:lnSpc>
            </a:pPr>
            <a:r>
              <a:rPr sz="2300" b="0" i="0">
                <a:solidFill>
                  <a:srgbClr val="665B53"/>
                </a:solidFill>
                <a:latin typeface="Arial"/>
              </a:rPr>
              <a:t>The last two minutes</a:t>
            </a:r>
          </a:p>
        </p:txBody>
      </p:sp>
      <p:sp>
        <p:nvSpPr>
          <p:cNvPr id="30" name="Rectangle 29"/>
          <p:cNvSpPr/>
          <p:nvPr/>
        </p:nvSpPr>
        <p:spPr>
          <a:xfrm>
            <a:off x="1047750" y="7970672"/>
            <a:ext cx="16192500" cy="9525"/>
          </a:xfrm>
          <a:prstGeom prst="rect">
            <a:avLst/>
          </a:prstGeom>
          <a:solidFill>
            <a:srgbClr val="D8CFC7"/>
          </a:solidFill>
          <a:ln>
            <a:noFill/>
          </a:ln>
          <a:effectLst/>
        </p:spPr>
        <p:txBody>
          <a:bodyPr rtlCol="0" anchor="ctr"/>
          <a:lstStyle/>
          <a:p>
            <a:pPr algn="ctr"/>
          </a:p>
        </p:txBody>
      </p:sp>
      <p:sp>
        <p:nvSpPr>
          <p:cNvPr id="31" name="TextBox 30"/>
          <p:cNvSpPr txBox="1"/>
          <p:nvPr/>
        </p:nvSpPr>
        <p:spPr>
          <a:xfrm>
            <a:off x="1047750" y="8256422"/>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Trust is built at the start and spent at the end. The hard question comes third for a reason.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5900562"/>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CASE STUDY</a:t>
            </a:r>
          </a:p>
        </p:txBody>
      </p:sp>
      <p:sp>
        <p:nvSpPr>
          <p:cNvPr id="3" name="TextBox 2"/>
          <p:cNvSpPr txBox="1"/>
          <p:nvPr/>
        </p:nvSpPr>
        <p:spPr>
          <a:xfrm>
            <a:off x="1047750" y="6453012"/>
            <a:ext cx="16192500" cy="1264676"/>
          </a:xfrm>
          <a:prstGeom prst="rect">
            <a:avLst/>
          </a:prstGeom>
          <a:noFill/>
        </p:spPr>
        <p:txBody>
          <a:bodyPr wrap="square" lIns="0" rIns="0" tIns="0" bIns="0" anchor="t">
            <a:noAutofit/>
          </a:bodyPr>
          <a:lstStyle/>
          <a:p>
            <a:pPr algn="l">
              <a:lnSpc>
                <a:spcPct val="98000"/>
              </a:lnSpc>
            </a:pPr>
            <a:r>
              <a:rPr sz="8100" b="1" i="0" spc="-120">
                <a:solidFill>
                  <a:srgbClr val="F5F1E9"/>
                </a:solidFill>
                <a:latin typeface="Arial"/>
              </a:rPr>
              <a:t>Flipkart and Pidilite</a:t>
            </a:r>
          </a:p>
        </p:txBody>
      </p:sp>
      <p:sp>
        <p:nvSpPr>
          <p:cNvPr id="4" name="TextBox 3"/>
          <p:cNvSpPr txBox="1"/>
          <p:nvPr/>
        </p:nvSpPr>
        <p:spPr>
          <a:xfrm>
            <a:off x="1047750" y="7870088"/>
            <a:ext cx="14287500" cy="1845412"/>
          </a:xfrm>
          <a:prstGeom prst="rect">
            <a:avLst/>
          </a:prstGeom>
          <a:noFill/>
        </p:spPr>
        <p:txBody>
          <a:bodyPr wrap="square" lIns="0" rIns="0" tIns="0" bIns="0" anchor="t">
            <a:noAutofit/>
          </a:bodyPr>
          <a:lstStyle/>
          <a:p>
            <a:pPr algn="l">
              <a:lnSpc>
                <a:spcPct val="110000"/>
              </a:lnSpc>
            </a:pPr>
            <a:r>
              <a:rPr sz="3600" b="0" i="1">
                <a:solidFill>
                  <a:srgbClr val="C1B5AB"/>
                </a:solidFill>
                <a:latin typeface="Georgia"/>
              </a:rPr>
              <a:t>Ten questions produced a list of features nobody needed. Ten different questions, put to the same customers, produced a different business.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FLIPKART · THE MID-2010S</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They built what customers asked for. The result got worse.</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Big Billion Day, October 2014</a:t>
            </a:r>
          </a:p>
        </p:txBody>
      </p:sp>
      <p:sp>
        <p:nvSpPr>
          <p:cNvPr id="6" name="TextBox 5"/>
          <p:cNvSpPr txBox="1"/>
          <p:nvPr/>
        </p:nvSpPr>
        <p:spPr>
          <a:xfrm>
            <a:off x="10477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About a hundred million dollars of sales in ten hours, and a public embarrassment. The site buckled, items ran out, prices moved.</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requests</a:t>
            </a:r>
          </a:p>
        </p:txBody>
      </p:sp>
      <p:sp>
        <p:nvSpPr>
          <p:cNvPr id="9" name="TextBox 8"/>
          <p:cNvSpPr txBox="1"/>
          <p:nvPr/>
        </p:nvSpPr>
        <p:spPr>
          <a:xfrm>
            <a:off x="65722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Better filters. More photographs. Detailed specifications. Faster checkout. More sorting. Comparison tools. Each one sincere, each one reasonable.</a:t>
            </a:r>
          </a:p>
        </p:txBody>
      </p:sp>
      <p:sp>
        <p:nvSpPr>
          <p:cNvPr id="10" name="Rectangle 9"/>
          <p:cNvSpPr/>
          <p:nvPr/>
        </p:nvSpPr>
        <p:spPr>
          <a:xfrm>
            <a:off x="12096750" y="3409950"/>
            <a:ext cx="5143500" cy="4496410"/>
          </a:xfrm>
          <a:prstGeom prst="rect">
            <a:avLst/>
          </a:prstGeom>
          <a:solidFill>
            <a:srgbClr val="C35141"/>
          </a:solidFill>
          <a:ln>
            <a:noFill/>
          </a:ln>
          <a:effectLst/>
        </p:spPr>
        <p:txBody>
          <a:bodyPr rtlCol="0" anchor="ctr"/>
          <a:lstStyle/>
          <a:p>
            <a:pPr algn="ctr"/>
          </a:p>
        </p:txBody>
      </p:sp>
      <p:sp>
        <p:nvSpPr>
          <p:cNvPr id="11" name="TextBox 10"/>
          <p:cNvSpPr txBox="1"/>
          <p:nvPr/>
        </p:nvSpPr>
        <p:spPr>
          <a:xfrm>
            <a:off x="12477750" y="3790950"/>
            <a:ext cx="4381500" cy="958748"/>
          </a:xfrm>
          <a:prstGeom prst="rect">
            <a:avLst/>
          </a:prstGeom>
          <a:noFill/>
        </p:spPr>
        <p:txBody>
          <a:bodyPr wrap="square" lIns="0" rIns="0" tIns="0" bIns="0" anchor="t">
            <a:noAutofit/>
          </a:bodyPr>
          <a:lstStyle/>
          <a:p>
            <a:pPr algn="l">
              <a:lnSpc>
                <a:spcPct val="102000"/>
              </a:lnSpc>
            </a:pPr>
            <a:r>
              <a:rPr sz="3000" b="1" i="0">
                <a:solidFill>
                  <a:srgbClr val="F5F1E9"/>
                </a:solidFill>
                <a:latin typeface="Arial"/>
              </a:rPr>
              <a:t>The result</a:t>
            </a:r>
          </a:p>
        </p:txBody>
      </p:sp>
      <p:sp>
        <p:nvSpPr>
          <p:cNvPr id="12" name="TextBox 11"/>
          <p:cNvSpPr txBox="1"/>
          <p:nvPr/>
        </p:nvSpPr>
        <p:spPr>
          <a:xfrm>
            <a:off x="12477750" y="4902098"/>
            <a:ext cx="4381500" cy="3260827"/>
          </a:xfrm>
          <a:prstGeom prst="rect">
            <a:avLst/>
          </a:prstGeom>
          <a:noFill/>
        </p:spPr>
        <p:txBody>
          <a:bodyPr wrap="square" lIns="0" rIns="0" tIns="0" bIns="0" anchor="t">
            <a:noAutofit/>
          </a:bodyPr>
          <a:lstStyle/>
          <a:p>
            <a:pPr algn="l">
              <a:lnSpc>
                <a:spcPct val="110000"/>
              </a:lnSpc>
            </a:pPr>
            <a:r>
              <a:rPr sz="2600" b="0" i="0">
                <a:solidFill>
                  <a:srgbClr val="F5F1E9"/>
                </a:solidFill>
                <a:latin typeface="Arial"/>
              </a:rPr>
              <a:t>Every filter is another decision. The product became more capable and more exhausting, and the share of people who finished a purchase did not go up.</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It was not a failure of listening. It was a failure of asking, and from the inside the two look identical.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GUIDE ONE · THE NATURAL ONE · READ ALL TEN BEFORE YOU JUDGE</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A real team would sign this off.</a:t>
            </a:r>
          </a:p>
        </p:txBody>
      </p:sp>
      <p:sp>
        <p:nvSpPr>
          <p:cNvPr id="4" name="Rectangle 3"/>
          <p:cNvSpPr/>
          <p:nvPr/>
        </p:nvSpPr>
        <p:spPr>
          <a:xfrm>
            <a:off x="1047750" y="2838450"/>
            <a:ext cx="7905750" cy="10668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27635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a:t>
            </a:r>
          </a:p>
        </p:txBody>
      </p:sp>
      <p:sp>
        <p:nvSpPr>
          <p:cNvPr id="6" name="TextBox 5"/>
          <p:cNvSpPr txBox="1"/>
          <p:nvPr/>
        </p:nvSpPr>
        <p:spPr>
          <a:xfrm>
            <a:off x="179070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How often do you shop online?</a:t>
            </a:r>
          </a:p>
        </p:txBody>
      </p:sp>
      <p:sp>
        <p:nvSpPr>
          <p:cNvPr id="7" name="Rectangle 6"/>
          <p:cNvSpPr/>
          <p:nvPr/>
        </p:nvSpPr>
        <p:spPr>
          <a:xfrm>
            <a:off x="1047750" y="4019550"/>
            <a:ext cx="7905750" cy="1066800"/>
          </a:xfrm>
          <a:prstGeom prst="rect">
            <a:avLst/>
          </a:prstGeom>
          <a:solidFill>
            <a:srgbClr val="F0EAE1"/>
          </a:solidFill>
          <a:ln>
            <a:noFill/>
          </a:ln>
          <a:effectLst/>
        </p:spPr>
        <p:txBody>
          <a:bodyPr rtlCol="0" anchor="ctr"/>
          <a:lstStyle/>
          <a:p>
            <a:pPr algn="ctr"/>
          </a:p>
        </p:txBody>
      </p:sp>
      <p:sp>
        <p:nvSpPr>
          <p:cNvPr id="8" name="TextBox 7"/>
          <p:cNvSpPr txBox="1"/>
          <p:nvPr/>
        </p:nvSpPr>
        <p:spPr>
          <a:xfrm>
            <a:off x="1276350" y="41529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2</a:t>
            </a:r>
          </a:p>
        </p:txBody>
      </p:sp>
      <p:sp>
        <p:nvSpPr>
          <p:cNvPr id="9" name="TextBox 8"/>
          <p:cNvSpPr txBox="1"/>
          <p:nvPr/>
        </p:nvSpPr>
        <p:spPr>
          <a:xfrm>
            <a:off x="1790700" y="41529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Which apps do you use most?</a:t>
            </a:r>
          </a:p>
        </p:txBody>
      </p:sp>
      <p:sp>
        <p:nvSpPr>
          <p:cNvPr id="10" name="Rectangle 9"/>
          <p:cNvSpPr/>
          <p:nvPr/>
        </p:nvSpPr>
        <p:spPr>
          <a:xfrm>
            <a:off x="1047750" y="5200650"/>
            <a:ext cx="7905750" cy="10668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1276350" y="53340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3</a:t>
            </a:r>
          </a:p>
        </p:txBody>
      </p:sp>
      <p:sp>
        <p:nvSpPr>
          <p:cNvPr id="12" name="TextBox 11"/>
          <p:cNvSpPr txBox="1"/>
          <p:nvPr/>
        </p:nvSpPr>
        <p:spPr>
          <a:xfrm>
            <a:off x="1790700" y="53340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On a scale of one to five, how satisfied are you with our app?</a:t>
            </a:r>
          </a:p>
        </p:txBody>
      </p:sp>
      <p:sp>
        <p:nvSpPr>
          <p:cNvPr id="13" name="Rectangle 12"/>
          <p:cNvSpPr/>
          <p:nvPr/>
        </p:nvSpPr>
        <p:spPr>
          <a:xfrm>
            <a:off x="1047750" y="6381750"/>
            <a:ext cx="7905750" cy="1066800"/>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276350" y="6515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4</a:t>
            </a:r>
          </a:p>
        </p:txBody>
      </p:sp>
      <p:sp>
        <p:nvSpPr>
          <p:cNvPr id="15" name="TextBox 14"/>
          <p:cNvSpPr txBox="1"/>
          <p:nvPr/>
        </p:nvSpPr>
        <p:spPr>
          <a:xfrm>
            <a:off x="1790700" y="6515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features would you like us to add?</a:t>
            </a:r>
          </a:p>
        </p:txBody>
      </p:sp>
      <p:sp>
        <p:nvSpPr>
          <p:cNvPr id="16" name="Rectangle 15"/>
          <p:cNvSpPr/>
          <p:nvPr/>
        </p:nvSpPr>
        <p:spPr>
          <a:xfrm>
            <a:off x="1047750" y="7562850"/>
            <a:ext cx="7905750" cy="106680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1276350" y="76962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5</a:t>
            </a:r>
          </a:p>
        </p:txBody>
      </p:sp>
      <p:sp>
        <p:nvSpPr>
          <p:cNvPr id="18" name="TextBox 17"/>
          <p:cNvSpPr txBox="1"/>
          <p:nvPr/>
        </p:nvSpPr>
        <p:spPr>
          <a:xfrm>
            <a:off x="1790700" y="76962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Do you find the filters useful?</a:t>
            </a:r>
          </a:p>
        </p:txBody>
      </p:sp>
      <p:sp>
        <p:nvSpPr>
          <p:cNvPr id="19" name="Rectangle 18"/>
          <p:cNvSpPr/>
          <p:nvPr/>
        </p:nvSpPr>
        <p:spPr>
          <a:xfrm>
            <a:off x="9334500" y="2838450"/>
            <a:ext cx="7905750" cy="1066800"/>
          </a:xfrm>
          <a:prstGeom prst="rect">
            <a:avLst/>
          </a:prstGeom>
          <a:solidFill>
            <a:srgbClr val="F0EAE1"/>
          </a:solidFill>
          <a:ln>
            <a:noFill/>
          </a:ln>
          <a:effectLst/>
        </p:spPr>
        <p:txBody>
          <a:bodyPr rtlCol="0" anchor="ctr"/>
          <a:lstStyle/>
          <a:p>
            <a:pPr algn="ctr"/>
          </a:p>
        </p:txBody>
      </p:sp>
      <p:sp>
        <p:nvSpPr>
          <p:cNvPr id="20" name="TextBox 19"/>
          <p:cNvSpPr txBox="1"/>
          <p:nvPr/>
        </p:nvSpPr>
        <p:spPr>
          <a:xfrm>
            <a:off x="956310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6</a:t>
            </a:r>
          </a:p>
        </p:txBody>
      </p:sp>
      <p:sp>
        <p:nvSpPr>
          <p:cNvPr id="21" name="TextBox 20"/>
          <p:cNvSpPr txBox="1"/>
          <p:nvPr/>
        </p:nvSpPr>
        <p:spPr>
          <a:xfrm>
            <a:off x="1007745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Would you use a comparison tool if we built one?</a:t>
            </a:r>
          </a:p>
        </p:txBody>
      </p:sp>
      <p:sp>
        <p:nvSpPr>
          <p:cNvPr id="22" name="Rectangle 21"/>
          <p:cNvSpPr/>
          <p:nvPr/>
        </p:nvSpPr>
        <p:spPr>
          <a:xfrm>
            <a:off x="9334500" y="4019550"/>
            <a:ext cx="7905750" cy="1066800"/>
          </a:xfrm>
          <a:prstGeom prst="rect">
            <a:avLst/>
          </a:prstGeom>
          <a:solidFill>
            <a:srgbClr val="F0EAE1"/>
          </a:solidFill>
          <a:ln>
            <a:noFill/>
          </a:ln>
          <a:effectLst/>
        </p:spPr>
        <p:txBody>
          <a:bodyPr rtlCol="0" anchor="ctr"/>
          <a:lstStyle/>
          <a:p>
            <a:pPr algn="ctr"/>
          </a:p>
        </p:txBody>
      </p:sp>
      <p:sp>
        <p:nvSpPr>
          <p:cNvPr id="23" name="TextBox 22"/>
          <p:cNvSpPr txBox="1"/>
          <p:nvPr/>
        </p:nvSpPr>
        <p:spPr>
          <a:xfrm>
            <a:off x="9563100" y="41529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7</a:t>
            </a:r>
          </a:p>
        </p:txBody>
      </p:sp>
      <p:sp>
        <p:nvSpPr>
          <p:cNvPr id="24" name="TextBox 23"/>
          <p:cNvSpPr txBox="1"/>
          <p:nvPr/>
        </p:nvSpPr>
        <p:spPr>
          <a:xfrm>
            <a:off x="10077450" y="41529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Is price the most important factor for you?</a:t>
            </a:r>
          </a:p>
        </p:txBody>
      </p:sp>
      <p:sp>
        <p:nvSpPr>
          <p:cNvPr id="25" name="Rectangle 24"/>
          <p:cNvSpPr/>
          <p:nvPr/>
        </p:nvSpPr>
        <p:spPr>
          <a:xfrm>
            <a:off x="9334500" y="5200650"/>
            <a:ext cx="7905750" cy="1066800"/>
          </a:xfrm>
          <a:prstGeom prst="rect">
            <a:avLst/>
          </a:prstGeom>
          <a:solidFill>
            <a:srgbClr val="F0EAE1"/>
          </a:solidFill>
          <a:ln>
            <a:noFill/>
          </a:ln>
          <a:effectLst/>
        </p:spPr>
        <p:txBody>
          <a:bodyPr rtlCol="0" anchor="ctr"/>
          <a:lstStyle/>
          <a:p>
            <a:pPr algn="ctr"/>
          </a:p>
        </p:txBody>
      </p:sp>
      <p:sp>
        <p:nvSpPr>
          <p:cNvPr id="26" name="TextBox 25"/>
          <p:cNvSpPr txBox="1"/>
          <p:nvPr/>
        </p:nvSpPr>
        <p:spPr>
          <a:xfrm>
            <a:off x="9563100" y="53340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8</a:t>
            </a:r>
          </a:p>
        </p:txBody>
      </p:sp>
      <p:sp>
        <p:nvSpPr>
          <p:cNvPr id="27" name="TextBox 26"/>
          <p:cNvSpPr txBox="1"/>
          <p:nvPr/>
        </p:nvSpPr>
        <p:spPr>
          <a:xfrm>
            <a:off x="10077450" y="53340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How important are customer reviews to you?</a:t>
            </a:r>
          </a:p>
        </p:txBody>
      </p:sp>
      <p:sp>
        <p:nvSpPr>
          <p:cNvPr id="28" name="Rectangle 27"/>
          <p:cNvSpPr/>
          <p:nvPr/>
        </p:nvSpPr>
        <p:spPr>
          <a:xfrm>
            <a:off x="9334500" y="6381750"/>
            <a:ext cx="7905750" cy="1066800"/>
          </a:xfrm>
          <a:prstGeom prst="rect">
            <a:avLst/>
          </a:prstGeom>
          <a:solidFill>
            <a:srgbClr val="F0EAE1"/>
          </a:solidFill>
          <a:ln>
            <a:noFill/>
          </a:ln>
          <a:effectLst/>
        </p:spPr>
        <p:txBody>
          <a:bodyPr rtlCol="0" anchor="ctr"/>
          <a:lstStyle/>
          <a:p>
            <a:pPr algn="ctr"/>
          </a:p>
        </p:txBody>
      </p:sp>
      <p:sp>
        <p:nvSpPr>
          <p:cNvPr id="29" name="TextBox 28"/>
          <p:cNvSpPr txBox="1"/>
          <p:nvPr/>
        </p:nvSpPr>
        <p:spPr>
          <a:xfrm>
            <a:off x="9563100" y="6515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9</a:t>
            </a:r>
          </a:p>
        </p:txBody>
      </p:sp>
      <p:sp>
        <p:nvSpPr>
          <p:cNvPr id="30" name="TextBox 29"/>
          <p:cNvSpPr txBox="1"/>
          <p:nvPr/>
        </p:nvSpPr>
        <p:spPr>
          <a:xfrm>
            <a:off x="10077450" y="6515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do you think of our checkout process?</a:t>
            </a:r>
          </a:p>
        </p:txBody>
      </p:sp>
      <p:sp>
        <p:nvSpPr>
          <p:cNvPr id="31" name="Rectangle 30"/>
          <p:cNvSpPr/>
          <p:nvPr/>
        </p:nvSpPr>
        <p:spPr>
          <a:xfrm>
            <a:off x="9334500" y="7562850"/>
            <a:ext cx="7905750" cy="1066800"/>
          </a:xfrm>
          <a:prstGeom prst="rect">
            <a:avLst/>
          </a:prstGeom>
          <a:solidFill>
            <a:srgbClr val="F0EAE1"/>
          </a:solidFill>
          <a:ln>
            <a:noFill/>
          </a:ln>
          <a:effectLst/>
        </p:spPr>
        <p:txBody>
          <a:bodyPr rtlCol="0" anchor="ctr"/>
          <a:lstStyle/>
          <a:p>
            <a:pPr algn="ctr"/>
          </a:p>
        </p:txBody>
      </p:sp>
      <p:sp>
        <p:nvSpPr>
          <p:cNvPr id="32" name="TextBox 31"/>
          <p:cNvSpPr txBox="1"/>
          <p:nvPr/>
        </p:nvSpPr>
        <p:spPr>
          <a:xfrm>
            <a:off x="9563100" y="76962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10</a:t>
            </a:r>
          </a:p>
        </p:txBody>
      </p:sp>
      <p:sp>
        <p:nvSpPr>
          <p:cNvPr id="33" name="TextBox 32"/>
          <p:cNvSpPr txBox="1"/>
          <p:nvPr/>
        </p:nvSpPr>
        <p:spPr>
          <a:xfrm>
            <a:off x="10077450" y="76962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Is there anything else you would like to see?</a:t>
            </a:r>
          </a:p>
        </p:txBody>
      </p:sp>
      <p:sp>
        <p:nvSpPr>
          <p:cNvPr id="34" name="TextBox 33"/>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3300" b="0" i="1">
                <a:solidFill>
                  <a:srgbClr val="362C24"/>
                </a:solidFill>
                <a:latin typeface="Georgia"/>
              </a:rPr>
              <a:t>Which of these ten are broken, and how?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GUIDE ONE · 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A real team would sign this off.</a:t>
            </a:r>
          </a:p>
        </p:txBody>
      </p:sp>
      <p:sp>
        <p:nvSpPr>
          <p:cNvPr id="4" name="Rectangle 3"/>
          <p:cNvSpPr/>
          <p:nvPr/>
        </p:nvSpPr>
        <p:spPr>
          <a:xfrm>
            <a:off x="1047750" y="2838450"/>
            <a:ext cx="7905750" cy="11239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27635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a:t>
            </a:r>
          </a:p>
        </p:txBody>
      </p:sp>
      <p:sp>
        <p:nvSpPr>
          <p:cNvPr id="6" name="TextBox 5"/>
          <p:cNvSpPr txBox="1"/>
          <p:nvPr/>
        </p:nvSpPr>
        <p:spPr>
          <a:xfrm>
            <a:off x="179070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How often do you shop online?</a:t>
            </a:r>
          </a:p>
        </p:txBody>
      </p:sp>
      <p:sp>
        <p:nvSpPr>
          <p:cNvPr id="7" name="TextBox 6"/>
          <p:cNvSpPr txBox="1"/>
          <p:nvPr/>
        </p:nvSpPr>
        <p:spPr>
          <a:xfrm>
            <a:off x="1790700" y="331927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A habit. No event.</a:t>
            </a:r>
          </a:p>
        </p:txBody>
      </p:sp>
      <p:sp>
        <p:nvSpPr>
          <p:cNvPr id="8" name="Rectangle 7"/>
          <p:cNvSpPr/>
          <p:nvPr/>
        </p:nvSpPr>
        <p:spPr>
          <a:xfrm>
            <a:off x="1047750" y="4038600"/>
            <a:ext cx="7905750" cy="1123950"/>
          </a:xfrm>
          <a:prstGeom prst="rect">
            <a:avLst/>
          </a:prstGeom>
          <a:solidFill>
            <a:srgbClr val="F0EAE1"/>
          </a:solidFill>
          <a:ln>
            <a:noFill/>
          </a:ln>
          <a:effectLst/>
        </p:spPr>
        <p:txBody>
          <a:bodyPr rtlCol="0" anchor="ctr"/>
          <a:lstStyle/>
          <a:p>
            <a:pPr algn="ctr"/>
          </a:p>
        </p:txBody>
      </p:sp>
      <p:sp>
        <p:nvSpPr>
          <p:cNvPr id="9" name="TextBox 8"/>
          <p:cNvSpPr txBox="1"/>
          <p:nvPr/>
        </p:nvSpPr>
        <p:spPr>
          <a:xfrm>
            <a:off x="1276350" y="41719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2</a:t>
            </a:r>
          </a:p>
        </p:txBody>
      </p:sp>
      <p:sp>
        <p:nvSpPr>
          <p:cNvPr id="10" name="TextBox 9"/>
          <p:cNvSpPr txBox="1"/>
          <p:nvPr/>
        </p:nvSpPr>
        <p:spPr>
          <a:xfrm>
            <a:off x="1790700" y="41719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Which apps do you use most?</a:t>
            </a:r>
          </a:p>
        </p:txBody>
      </p:sp>
      <p:sp>
        <p:nvSpPr>
          <p:cNvPr id="11" name="TextBox 10"/>
          <p:cNvSpPr txBox="1"/>
          <p:nvPr/>
        </p:nvSpPr>
        <p:spPr>
          <a:xfrm>
            <a:off x="1790700" y="451942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A habit. No event.</a:t>
            </a:r>
          </a:p>
        </p:txBody>
      </p:sp>
      <p:sp>
        <p:nvSpPr>
          <p:cNvPr id="12" name="Rectangle 11"/>
          <p:cNvSpPr/>
          <p:nvPr/>
        </p:nvSpPr>
        <p:spPr>
          <a:xfrm>
            <a:off x="1047750" y="5238750"/>
            <a:ext cx="7905750" cy="1123950"/>
          </a:xfrm>
          <a:prstGeom prst="rect">
            <a:avLst/>
          </a:prstGeom>
          <a:solidFill>
            <a:srgbClr val="F0EAE1"/>
          </a:solidFill>
          <a:ln>
            <a:noFill/>
          </a:ln>
          <a:effectLst/>
        </p:spPr>
        <p:txBody>
          <a:bodyPr rtlCol="0" anchor="ctr"/>
          <a:lstStyle/>
          <a:p>
            <a:pPr algn="ctr"/>
          </a:p>
        </p:txBody>
      </p:sp>
      <p:sp>
        <p:nvSpPr>
          <p:cNvPr id="13" name="TextBox 12"/>
          <p:cNvSpPr txBox="1"/>
          <p:nvPr/>
        </p:nvSpPr>
        <p:spPr>
          <a:xfrm>
            <a:off x="1276350" y="5372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3</a:t>
            </a:r>
          </a:p>
        </p:txBody>
      </p:sp>
      <p:sp>
        <p:nvSpPr>
          <p:cNvPr id="14" name="TextBox 13"/>
          <p:cNvSpPr txBox="1"/>
          <p:nvPr/>
        </p:nvSpPr>
        <p:spPr>
          <a:xfrm>
            <a:off x="1790700" y="5372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On a scale of one to five, how satisfied are you with our app?</a:t>
            </a:r>
          </a:p>
        </p:txBody>
      </p:sp>
      <p:sp>
        <p:nvSpPr>
          <p:cNvPr id="15" name="TextBox 14"/>
          <p:cNvSpPr txBox="1"/>
          <p:nvPr/>
        </p:nvSpPr>
        <p:spPr>
          <a:xfrm>
            <a:off x="1790700" y="571957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A score nobody can act on.</a:t>
            </a:r>
          </a:p>
        </p:txBody>
      </p:sp>
      <p:sp>
        <p:nvSpPr>
          <p:cNvPr id="16" name="Rectangle 15"/>
          <p:cNvSpPr/>
          <p:nvPr/>
        </p:nvSpPr>
        <p:spPr>
          <a:xfrm>
            <a:off x="1047750" y="6438900"/>
            <a:ext cx="7905750" cy="112395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1276350" y="65722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4</a:t>
            </a:r>
          </a:p>
        </p:txBody>
      </p:sp>
      <p:sp>
        <p:nvSpPr>
          <p:cNvPr id="18" name="TextBox 17"/>
          <p:cNvSpPr txBox="1"/>
          <p:nvPr/>
        </p:nvSpPr>
        <p:spPr>
          <a:xfrm>
            <a:off x="1790700" y="65722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features would you like us to add?</a:t>
            </a:r>
          </a:p>
        </p:txBody>
      </p:sp>
      <p:sp>
        <p:nvSpPr>
          <p:cNvPr id="19" name="TextBox 18"/>
          <p:cNvSpPr txBox="1"/>
          <p:nvPr/>
        </p:nvSpPr>
        <p:spPr>
          <a:xfrm>
            <a:off x="1790700" y="691972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Asks the customer to design the product.</a:t>
            </a:r>
          </a:p>
        </p:txBody>
      </p:sp>
      <p:sp>
        <p:nvSpPr>
          <p:cNvPr id="20" name="Rectangle 19"/>
          <p:cNvSpPr/>
          <p:nvPr/>
        </p:nvSpPr>
        <p:spPr>
          <a:xfrm>
            <a:off x="1047750" y="7639050"/>
            <a:ext cx="7905750" cy="1123950"/>
          </a:xfrm>
          <a:prstGeom prst="rect">
            <a:avLst/>
          </a:prstGeom>
          <a:solidFill>
            <a:srgbClr val="F0EAE1"/>
          </a:solidFill>
          <a:ln>
            <a:noFill/>
          </a:ln>
          <a:effectLst/>
        </p:spPr>
        <p:txBody>
          <a:bodyPr rtlCol="0" anchor="ctr"/>
          <a:lstStyle/>
          <a:p>
            <a:pPr algn="ctr"/>
          </a:p>
        </p:txBody>
      </p:sp>
      <p:sp>
        <p:nvSpPr>
          <p:cNvPr id="21" name="TextBox 20"/>
          <p:cNvSpPr txBox="1"/>
          <p:nvPr/>
        </p:nvSpPr>
        <p:spPr>
          <a:xfrm>
            <a:off x="1276350" y="77724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5</a:t>
            </a:r>
          </a:p>
        </p:txBody>
      </p:sp>
      <p:sp>
        <p:nvSpPr>
          <p:cNvPr id="22" name="TextBox 21"/>
          <p:cNvSpPr txBox="1"/>
          <p:nvPr/>
        </p:nvSpPr>
        <p:spPr>
          <a:xfrm>
            <a:off x="1790700" y="77724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Do you find the filters useful?</a:t>
            </a:r>
          </a:p>
        </p:txBody>
      </p:sp>
      <p:sp>
        <p:nvSpPr>
          <p:cNvPr id="23" name="TextBox 22"/>
          <p:cNvSpPr txBox="1"/>
          <p:nvPr/>
        </p:nvSpPr>
        <p:spPr>
          <a:xfrm>
            <a:off x="1790700" y="811987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Closed: yes or no.</a:t>
            </a:r>
          </a:p>
        </p:txBody>
      </p:sp>
      <p:sp>
        <p:nvSpPr>
          <p:cNvPr id="24" name="Rectangle 23"/>
          <p:cNvSpPr/>
          <p:nvPr/>
        </p:nvSpPr>
        <p:spPr>
          <a:xfrm>
            <a:off x="9334500" y="2838450"/>
            <a:ext cx="7905750" cy="1123950"/>
          </a:xfrm>
          <a:prstGeom prst="rect">
            <a:avLst/>
          </a:prstGeom>
          <a:solidFill>
            <a:srgbClr val="F0EAE1"/>
          </a:solidFill>
          <a:ln>
            <a:noFill/>
          </a:ln>
          <a:effectLst/>
        </p:spPr>
        <p:txBody>
          <a:bodyPr rtlCol="0" anchor="ctr"/>
          <a:lstStyle/>
          <a:p>
            <a:pPr algn="ctr"/>
          </a:p>
        </p:txBody>
      </p:sp>
      <p:sp>
        <p:nvSpPr>
          <p:cNvPr id="25" name="TextBox 24"/>
          <p:cNvSpPr txBox="1"/>
          <p:nvPr/>
        </p:nvSpPr>
        <p:spPr>
          <a:xfrm>
            <a:off x="956310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6</a:t>
            </a:r>
          </a:p>
        </p:txBody>
      </p:sp>
      <p:sp>
        <p:nvSpPr>
          <p:cNvPr id="26" name="TextBox 25"/>
          <p:cNvSpPr txBox="1"/>
          <p:nvPr/>
        </p:nvSpPr>
        <p:spPr>
          <a:xfrm>
            <a:off x="1007745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Would you use a comparison tool if we built one?</a:t>
            </a:r>
          </a:p>
        </p:txBody>
      </p:sp>
      <p:sp>
        <p:nvSpPr>
          <p:cNvPr id="27" name="TextBox 26"/>
          <p:cNvSpPr txBox="1"/>
          <p:nvPr/>
        </p:nvSpPr>
        <p:spPr>
          <a:xfrm>
            <a:off x="10077450" y="331927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A hypothetical about something that does not exist.</a:t>
            </a:r>
          </a:p>
        </p:txBody>
      </p:sp>
      <p:sp>
        <p:nvSpPr>
          <p:cNvPr id="28" name="Rectangle 27"/>
          <p:cNvSpPr/>
          <p:nvPr/>
        </p:nvSpPr>
        <p:spPr>
          <a:xfrm>
            <a:off x="9334500" y="4038600"/>
            <a:ext cx="7905750" cy="1123950"/>
          </a:xfrm>
          <a:prstGeom prst="rect">
            <a:avLst/>
          </a:prstGeom>
          <a:solidFill>
            <a:srgbClr val="F0EAE1"/>
          </a:solidFill>
          <a:ln>
            <a:noFill/>
          </a:ln>
          <a:effectLst/>
        </p:spPr>
        <p:txBody>
          <a:bodyPr rtlCol="0" anchor="ctr"/>
          <a:lstStyle/>
          <a:p>
            <a:pPr algn="ctr"/>
          </a:p>
        </p:txBody>
      </p:sp>
      <p:sp>
        <p:nvSpPr>
          <p:cNvPr id="29" name="TextBox 28"/>
          <p:cNvSpPr txBox="1"/>
          <p:nvPr/>
        </p:nvSpPr>
        <p:spPr>
          <a:xfrm>
            <a:off x="9563100" y="41719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7</a:t>
            </a:r>
          </a:p>
        </p:txBody>
      </p:sp>
      <p:sp>
        <p:nvSpPr>
          <p:cNvPr id="30" name="TextBox 29"/>
          <p:cNvSpPr txBox="1"/>
          <p:nvPr/>
        </p:nvSpPr>
        <p:spPr>
          <a:xfrm>
            <a:off x="10077450" y="41719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Is price the most important factor for you?</a:t>
            </a:r>
          </a:p>
        </p:txBody>
      </p:sp>
      <p:sp>
        <p:nvSpPr>
          <p:cNvPr id="31" name="TextBox 30"/>
          <p:cNvSpPr txBox="1"/>
          <p:nvPr/>
        </p:nvSpPr>
        <p:spPr>
          <a:xfrm>
            <a:off x="10077450" y="451942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Closed, and it can only be answered yes.</a:t>
            </a:r>
          </a:p>
        </p:txBody>
      </p:sp>
      <p:sp>
        <p:nvSpPr>
          <p:cNvPr id="32" name="Rectangle 31"/>
          <p:cNvSpPr/>
          <p:nvPr/>
        </p:nvSpPr>
        <p:spPr>
          <a:xfrm>
            <a:off x="9334500" y="5238750"/>
            <a:ext cx="7905750" cy="1123950"/>
          </a:xfrm>
          <a:prstGeom prst="rect">
            <a:avLst/>
          </a:prstGeom>
          <a:solidFill>
            <a:srgbClr val="F0EAE1"/>
          </a:solidFill>
          <a:ln>
            <a:noFill/>
          </a:ln>
          <a:effectLst/>
        </p:spPr>
        <p:txBody>
          <a:bodyPr rtlCol="0" anchor="ctr"/>
          <a:lstStyle/>
          <a:p>
            <a:pPr algn="ctr"/>
          </a:p>
        </p:txBody>
      </p:sp>
      <p:sp>
        <p:nvSpPr>
          <p:cNvPr id="33" name="TextBox 32"/>
          <p:cNvSpPr txBox="1"/>
          <p:nvPr/>
        </p:nvSpPr>
        <p:spPr>
          <a:xfrm>
            <a:off x="9563100" y="5372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8</a:t>
            </a:r>
          </a:p>
        </p:txBody>
      </p:sp>
      <p:sp>
        <p:nvSpPr>
          <p:cNvPr id="34" name="TextBox 33"/>
          <p:cNvSpPr txBox="1"/>
          <p:nvPr/>
        </p:nvSpPr>
        <p:spPr>
          <a:xfrm>
            <a:off x="10077450" y="5372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How important are customer reviews to you?</a:t>
            </a:r>
          </a:p>
        </p:txBody>
      </p:sp>
      <p:sp>
        <p:nvSpPr>
          <p:cNvPr id="35" name="TextBox 34"/>
          <p:cNvSpPr txBox="1"/>
          <p:nvPr/>
        </p:nvSpPr>
        <p:spPr>
          <a:xfrm>
            <a:off x="10077450" y="571957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Leading: 'how important' has already decided it is.</a:t>
            </a:r>
          </a:p>
        </p:txBody>
      </p:sp>
      <p:sp>
        <p:nvSpPr>
          <p:cNvPr id="36" name="Rectangle 35"/>
          <p:cNvSpPr/>
          <p:nvPr/>
        </p:nvSpPr>
        <p:spPr>
          <a:xfrm>
            <a:off x="9334500" y="6438900"/>
            <a:ext cx="7905750" cy="1123950"/>
          </a:xfrm>
          <a:prstGeom prst="rect">
            <a:avLst/>
          </a:prstGeom>
          <a:solidFill>
            <a:srgbClr val="F0EAE1"/>
          </a:solidFill>
          <a:ln>
            <a:noFill/>
          </a:ln>
          <a:effectLst/>
        </p:spPr>
        <p:txBody>
          <a:bodyPr rtlCol="0" anchor="ctr"/>
          <a:lstStyle/>
          <a:p>
            <a:pPr algn="ctr"/>
          </a:p>
        </p:txBody>
      </p:sp>
      <p:sp>
        <p:nvSpPr>
          <p:cNvPr id="37" name="TextBox 36"/>
          <p:cNvSpPr txBox="1"/>
          <p:nvPr/>
        </p:nvSpPr>
        <p:spPr>
          <a:xfrm>
            <a:off x="9563100" y="65722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9</a:t>
            </a:r>
          </a:p>
        </p:txBody>
      </p:sp>
      <p:sp>
        <p:nvSpPr>
          <p:cNvPr id="38" name="TextBox 37"/>
          <p:cNvSpPr txBox="1"/>
          <p:nvPr/>
        </p:nvSpPr>
        <p:spPr>
          <a:xfrm>
            <a:off x="10077450" y="65722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do you think of our checkout process?</a:t>
            </a:r>
          </a:p>
        </p:txBody>
      </p:sp>
      <p:sp>
        <p:nvSpPr>
          <p:cNvPr id="39" name="TextBox 38"/>
          <p:cNvSpPr txBox="1"/>
          <p:nvPr/>
        </p:nvSpPr>
        <p:spPr>
          <a:xfrm>
            <a:off x="10077450" y="691972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An opinion, and the weakest kind.</a:t>
            </a:r>
          </a:p>
        </p:txBody>
      </p:sp>
      <p:sp>
        <p:nvSpPr>
          <p:cNvPr id="40" name="Rectangle 39"/>
          <p:cNvSpPr/>
          <p:nvPr/>
        </p:nvSpPr>
        <p:spPr>
          <a:xfrm>
            <a:off x="9334500" y="7639050"/>
            <a:ext cx="7905750" cy="1123950"/>
          </a:xfrm>
          <a:prstGeom prst="rect">
            <a:avLst/>
          </a:prstGeom>
          <a:solidFill>
            <a:srgbClr val="F0EAE1"/>
          </a:solidFill>
          <a:ln>
            <a:noFill/>
          </a:ln>
          <a:effectLst/>
        </p:spPr>
        <p:txBody>
          <a:bodyPr rtlCol="0" anchor="ctr"/>
          <a:lstStyle/>
          <a:p>
            <a:pPr algn="ctr"/>
          </a:p>
        </p:txBody>
      </p:sp>
      <p:sp>
        <p:nvSpPr>
          <p:cNvPr id="41" name="TextBox 40"/>
          <p:cNvSpPr txBox="1"/>
          <p:nvPr/>
        </p:nvSpPr>
        <p:spPr>
          <a:xfrm>
            <a:off x="9563100" y="77724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10</a:t>
            </a:r>
          </a:p>
        </p:txBody>
      </p:sp>
      <p:sp>
        <p:nvSpPr>
          <p:cNvPr id="42" name="TextBox 41"/>
          <p:cNvSpPr txBox="1"/>
          <p:nvPr/>
        </p:nvSpPr>
        <p:spPr>
          <a:xfrm>
            <a:off x="10077450" y="77724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Is there anything else you would like to see?</a:t>
            </a:r>
          </a:p>
        </p:txBody>
      </p:sp>
      <p:sp>
        <p:nvSpPr>
          <p:cNvPr id="43" name="TextBox 42"/>
          <p:cNvSpPr txBox="1"/>
          <p:nvPr/>
        </p:nvSpPr>
        <p:spPr>
          <a:xfrm>
            <a:off x="10077450" y="811987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What you ask when the other nine failed.</a:t>
            </a:r>
          </a:p>
        </p:txBody>
      </p:sp>
      <p:sp>
        <p:nvSpPr>
          <p:cNvPr id="44" name="TextBox 43"/>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3300" b="0" i="1">
                <a:solidFill>
                  <a:srgbClr val="362C24"/>
                </a:solidFill>
                <a:latin typeface="Georgia"/>
              </a:rPr>
              <a:t>The guide was built to produce feature requests. It did.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5 · BLUE, GREEN, AMBER · THE ORDER YOU MUST DO THEM IN</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Three Jobs of a Question</a:t>
            </a:r>
          </a:p>
        </p:txBody>
      </p:sp>
      <p:sp>
        <p:nvSpPr>
          <p:cNvPr id="4" name="TextBox 3"/>
          <p:cNvSpPr txBox="1"/>
          <p:nvPr/>
        </p:nvSpPr>
        <p:spPr>
          <a:xfrm>
            <a:off x="1314450" y="2838450"/>
            <a:ext cx="2286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JOB</a:t>
            </a:r>
          </a:p>
        </p:txBody>
      </p:sp>
      <p:sp>
        <p:nvSpPr>
          <p:cNvPr id="5" name="TextBox 4"/>
          <p:cNvSpPr txBox="1"/>
          <p:nvPr/>
        </p:nvSpPr>
        <p:spPr>
          <a:xfrm>
            <a:off x="3790950" y="2838450"/>
            <a:ext cx="42862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DOES</a:t>
            </a:r>
          </a:p>
        </p:txBody>
      </p:sp>
      <p:sp>
        <p:nvSpPr>
          <p:cNvPr id="6" name="TextBox 5"/>
          <p:cNvSpPr txBox="1"/>
          <p:nvPr/>
        </p:nvSpPr>
        <p:spPr>
          <a:xfrm>
            <a:off x="8267700" y="2838450"/>
            <a:ext cx="4572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HOW IT STARTS</a:t>
            </a:r>
          </a:p>
        </p:txBody>
      </p:sp>
      <p:sp>
        <p:nvSpPr>
          <p:cNvPr id="7" name="TextBox 6"/>
          <p:cNvSpPr txBox="1"/>
          <p:nvPr/>
        </p:nvSpPr>
        <p:spPr>
          <a:xfrm>
            <a:off x="13030200" y="2838450"/>
            <a:ext cx="37528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WITHOUT IT YOU GET</a:t>
            </a:r>
          </a:p>
        </p:txBody>
      </p:sp>
      <p:sp>
        <p:nvSpPr>
          <p:cNvPr id="8" name="Rectangle 7"/>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3733800"/>
            <a:ext cx="2190750" cy="1456639"/>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Ground (Blue)</a:t>
            </a:r>
          </a:p>
        </p:txBody>
      </p:sp>
      <p:sp>
        <p:nvSpPr>
          <p:cNvPr id="10" name="TextBox 9"/>
          <p:cNvSpPr txBox="1"/>
          <p:nvPr/>
        </p:nvSpPr>
        <p:spPr>
          <a:xfrm>
            <a:off x="3790950" y="3733800"/>
            <a:ext cx="419100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Puts one specific, real, recent event on the table.</a:t>
            </a:r>
          </a:p>
        </p:txBody>
      </p:sp>
      <p:sp>
        <p:nvSpPr>
          <p:cNvPr id="11" name="TextBox 10"/>
          <p:cNvSpPr txBox="1"/>
          <p:nvPr/>
        </p:nvSpPr>
        <p:spPr>
          <a:xfrm>
            <a:off x="8267700" y="3733800"/>
            <a:ext cx="44767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'Tell me about the last time...' / 'When did you last...'</a:t>
            </a:r>
          </a:p>
        </p:txBody>
      </p:sp>
      <p:sp>
        <p:nvSpPr>
          <p:cNvPr id="12" name="TextBox 11"/>
          <p:cNvSpPr txBox="1"/>
          <p:nvPr/>
        </p:nvSpPr>
        <p:spPr>
          <a:xfrm>
            <a:off x="13030200" y="3733800"/>
            <a:ext cx="365760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A conversation about people in general, which is nobody.</a:t>
            </a:r>
          </a:p>
        </p:txBody>
      </p:sp>
      <p:sp>
        <p:nvSpPr>
          <p:cNvPr id="13" name="Rectangle 12"/>
          <p:cNvSpPr/>
          <p:nvPr/>
        </p:nvSpPr>
        <p:spPr>
          <a:xfrm>
            <a:off x="1047750" y="5018989"/>
            <a:ext cx="16192500" cy="1456639"/>
          </a:xfrm>
          <a:prstGeom prst="rect">
            <a:avLst/>
          </a:prstGeom>
          <a:solidFill>
            <a:srgbClr val="F3EEE6"/>
          </a:solidFill>
          <a:ln>
            <a:noFill/>
          </a:ln>
          <a:effectLst/>
        </p:spPr>
        <p:txBody>
          <a:bodyPr rtlCol="0" anchor="ctr"/>
          <a:lstStyle/>
          <a:p>
            <a:pPr algn="ctr"/>
          </a:p>
        </p:txBody>
      </p:sp>
      <p:sp>
        <p:nvSpPr>
          <p:cNvPr id="14" name="Rectangle 13"/>
          <p:cNvSpPr/>
          <p:nvPr/>
        </p:nvSpPr>
        <p:spPr>
          <a:xfrm>
            <a:off x="1047750" y="5018989"/>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5190439"/>
            <a:ext cx="2190750" cy="1456639"/>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Excavate (Green)</a:t>
            </a:r>
          </a:p>
        </p:txBody>
      </p:sp>
      <p:sp>
        <p:nvSpPr>
          <p:cNvPr id="16" name="TextBox 15"/>
          <p:cNvSpPr txBox="1"/>
          <p:nvPr/>
        </p:nvSpPr>
        <p:spPr>
          <a:xfrm>
            <a:off x="3790950" y="5190439"/>
            <a:ext cx="419100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Opens the event up: the sequence, the thinking, what happened next.</a:t>
            </a:r>
          </a:p>
        </p:txBody>
      </p:sp>
      <p:sp>
        <p:nvSpPr>
          <p:cNvPr id="17" name="TextBox 16"/>
          <p:cNvSpPr txBox="1"/>
          <p:nvPr/>
        </p:nvSpPr>
        <p:spPr>
          <a:xfrm>
            <a:off x="8267700" y="5190439"/>
            <a:ext cx="44767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'Walk me through...' / 'What were you thinking when...' / 'And then?'</a:t>
            </a:r>
          </a:p>
        </p:txBody>
      </p:sp>
      <p:sp>
        <p:nvSpPr>
          <p:cNvPr id="18" name="TextBox 17"/>
          <p:cNvSpPr txBox="1"/>
          <p:nvPr/>
        </p:nvSpPr>
        <p:spPr>
          <a:xfrm>
            <a:off x="13030200" y="5190439"/>
            <a:ext cx="365760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A headline with no story under it.</a:t>
            </a:r>
          </a:p>
        </p:txBody>
      </p:sp>
      <p:sp>
        <p:nvSpPr>
          <p:cNvPr id="19" name="Rectangle 18"/>
          <p:cNvSpPr/>
          <p:nvPr/>
        </p:nvSpPr>
        <p:spPr>
          <a:xfrm>
            <a:off x="1047750" y="6475628"/>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6647078"/>
            <a:ext cx="2190750" cy="1456639"/>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Quantify (Amber)</a:t>
            </a:r>
          </a:p>
        </p:txBody>
      </p:sp>
      <p:sp>
        <p:nvSpPr>
          <p:cNvPr id="21" name="TextBox 20"/>
          <p:cNvSpPr txBox="1"/>
          <p:nvPr/>
        </p:nvSpPr>
        <p:spPr>
          <a:xfrm>
            <a:off x="3790950" y="6647078"/>
            <a:ext cx="419100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Attaches a number or a consequence to the event.</a:t>
            </a:r>
          </a:p>
        </p:txBody>
      </p:sp>
      <p:sp>
        <p:nvSpPr>
          <p:cNvPr id="22" name="TextBox 21"/>
          <p:cNvSpPr txBox="1"/>
          <p:nvPr/>
        </p:nvSpPr>
        <p:spPr>
          <a:xfrm>
            <a:off x="8267700" y="6647078"/>
            <a:ext cx="447675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'How often...' / 'How long did that take...' / 'What did it cost...' / 'Who else...'</a:t>
            </a:r>
          </a:p>
        </p:txBody>
      </p:sp>
      <p:sp>
        <p:nvSpPr>
          <p:cNvPr id="23" name="TextBox 22"/>
          <p:cNvSpPr txBox="1"/>
          <p:nvPr/>
        </p:nvSpPr>
        <p:spPr>
          <a:xfrm>
            <a:off x="13030200" y="6647078"/>
            <a:ext cx="3657600" cy="1456639"/>
          </a:xfrm>
          <a:prstGeom prst="rect">
            <a:avLst/>
          </a:prstGeom>
          <a:noFill/>
        </p:spPr>
        <p:txBody>
          <a:bodyPr wrap="square" lIns="0" rIns="0" tIns="0" bIns="0" anchor="t">
            <a:noAutofit/>
          </a:bodyPr>
          <a:lstStyle/>
          <a:p>
            <a:pPr algn="l">
              <a:lnSpc>
                <a:spcPct val="105000"/>
              </a:lnSpc>
            </a:pPr>
            <a:r>
              <a:rPr sz="2400" b="0" i="0">
                <a:solidFill>
                  <a:srgbClr val="665B53"/>
                </a:solidFill>
                <a:latin typeface="Arial"/>
              </a:rPr>
              <a:t>A folder of vivid anecdotes and no way to decide anything.</a:t>
            </a:r>
          </a:p>
        </p:txBody>
      </p:sp>
      <p:sp>
        <p:nvSpPr>
          <p:cNvPr id="24" name="Rectangle 23"/>
          <p:cNvSpPr/>
          <p:nvPr/>
        </p:nvSpPr>
        <p:spPr>
          <a:xfrm>
            <a:off x="1047750" y="7932268"/>
            <a:ext cx="16192500" cy="9525"/>
          </a:xfrm>
          <a:prstGeom prst="rect">
            <a:avLst/>
          </a:prstGeom>
          <a:solidFill>
            <a:srgbClr val="D8CFC7"/>
          </a:solidFill>
          <a:ln>
            <a:noFill/>
          </a:ln>
          <a:effectLst/>
        </p:spPr>
        <p:txBody>
          <a:bodyPr rtlCol="0" anchor="ctr"/>
          <a:lstStyle/>
          <a:p>
            <a:pPr algn="ctr"/>
          </a:p>
        </p:txBody>
      </p:sp>
      <p:sp>
        <p:nvSpPr>
          <p:cNvPr id="25" name="TextBox 24"/>
          <p:cNvSpPr txBox="1"/>
          <p:nvPr/>
        </p:nvSpPr>
        <p:spPr>
          <a:xfrm>
            <a:off x="1047750" y="8218018"/>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Count your colours before you use a guide. No blue, and you never reach a real event. No amber, and you have anecdotes nobody can act 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GUIDE TWO · SAME CUSTOMERS · SAME PRODUCT · SAME MONTH</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Not one question about the product.</a:t>
            </a:r>
          </a:p>
        </p:txBody>
      </p:sp>
      <p:sp>
        <p:nvSpPr>
          <p:cNvPr id="4" name="Rectangle 3"/>
          <p:cNvSpPr/>
          <p:nvPr/>
        </p:nvSpPr>
        <p:spPr>
          <a:xfrm>
            <a:off x="1047750" y="2838450"/>
            <a:ext cx="7905750" cy="10668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27635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a:t>
            </a:r>
          </a:p>
        </p:txBody>
      </p:sp>
      <p:sp>
        <p:nvSpPr>
          <p:cNvPr id="6" name="TextBox 5"/>
          <p:cNvSpPr txBox="1"/>
          <p:nvPr/>
        </p:nvSpPr>
        <p:spPr>
          <a:xfrm>
            <a:off x="179070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Tell me a bit about how you usually shop: where do you buy things, and what kinds of things?</a:t>
            </a:r>
          </a:p>
        </p:txBody>
      </p:sp>
      <p:sp>
        <p:nvSpPr>
          <p:cNvPr id="7" name="Rectangle 6"/>
          <p:cNvSpPr/>
          <p:nvPr/>
        </p:nvSpPr>
        <p:spPr>
          <a:xfrm>
            <a:off x="1047750" y="4019550"/>
            <a:ext cx="7905750" cy="1066800"/>
          </a:xfrm>
          <a:prstGeom prst="rect">
            <a:avLst/>
          </a:prstGeom>
          <a:solidFill>
            <a:srgbClr val="F0EAE1"/>
          </a:solidFill>
          <a:ln>
            <a:noFill/>
          </a:ln>
          <a:effectLst/>
        </p:spPr>
        <p:txBody>
          <a:bodyPr rtlCol="0" anchor="ctr"/>
          <a:lstStyle/>
          <a:p>
            <a:pPr algn="ctr"/>
          </a:p>
        </p:txBody>
      </p:sp>
      <p:sp>
        <p:nvSpPr>
          <p:cNvPr id="8" name="TextBox 7"/>
          <p:cNvSpPr txBox="1"/>
          <p:nvPr/>
        </p:nvSpPr>
        <p:spPr>
          <a:xfrm>
            <a:off x="1276350" y="41529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2</a:t>
            </a:r>
          </a:p>
        </p:txBody>
      </p:sp>
      <p:sp>
        <p:nvSpPr>
          <p:cNvPr id="9" name="TextBox 8"/>
          <p:cNvSpPr txBox="1"/>
          <p:nvPr/>
        </p:nvSpPr>
        <p:spPr>
          <a:xfrm>
            <a:off x="1790700" y="41529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Tell me about the last thing you bought online. What was it, and when?</a:t>
            </a:r>
          </a:p>
        </p:txBody>
      </p:sp>
      <p:sp>
        <p:nvSpPr>
          <p:cNvPr id="10" name="Rectangle 9"/>
          <p:cNvSpPr/>
          <p:nvPr/>
        </p:nvSpPr>
        <p:spPr>
          <a:xfrm>
            <a:off x="1047750" y="5200650"/>
            <a:ext cx="7905750" cy="106680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1276350" y="53340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3</a:t>
            </a:r>
          </a:p>
        </p:txBody>
      </p:sp>
      <p:sp>
        <p:nvSpPr>
          <p:cNvPr id="12" name="TextBox 11"/>
          <p:cNvSpPr txBox="1"/>
          <p:nvPr/>
        </p:nvSpPr>
        <p:spPr>
          <a:xfrm>
            <a:off x="1790700" y="53340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Walk me through what you actually did that day, from the first moment you thought about buying it.</a:t>
            </a:r>
          </a:p>
        </p:txBody>
      </p:sp>
      <p:sp>
        <p:nvSpPr>
          <p:cNvPr id="13" name="Rectangle 12"/>
          <p:cNvSpPr/>
          <p:nvPr/>
        </p:nvSpPr>
        <p:spPr>
          <a:xfrm>
            <a:off x="1047750" y="6381750"/>
            <a:ext cx="7905750" cy="1066800"/>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276350" y="6515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4</a:t>
            </a:r>
          </a:p>
        </p:txBody>
      </p:sp>
      <p:sp>
        <p:nvSpPr>
          <p:cNvPr id="15" name="TextBox 14"/>
          <p:cNvSpPr txBox="1"/>
          <p:nvPr/>
        </p:nvSpPr>
        <p:spPr>
          <a:xfrm>
            <a:off x="1790700" y="6515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made you pick that particular one?</a:t>
            </a:r>
          </a:p>
        </p:txBody>
      </p:sp>
      <p:sp>
        <p:nvSpPr>
          <p:cNvPr id="16" name="Rectangle 15"/>
          <p:cNvSpPr/>
          <p:nvPr/>
        </p:nvSpPr>
        <p:spPr>
          <a:xfrm>
            <a:off x="1047750" y="7562850"/>
            <a:ext cx="7905750" cy="106680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1276350" y="76962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5</a:t>
            </a:r>
          </a:p>
        </p:txBody>
      </p:sp>
      <p:sp>
        <p:nvSpPr>
          <p:cNvPr id="18" name="TextBox 17"/>
          <p:cNvSpPr txBox="1"/>
          <p:nvPr/>
        </p:nvSpPr>
        <p:spPr>
          <a:xfrm>
            <a:off x="1790700" y="76962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Now tell me about a time you started shopping and did not end up buying anything.</a:t>
            </a:r>
          </a:p>
        </p:txBody>
      </p:sp>
      <p:sp>
        <p:nvSpPr>
          <p:cNvPr id="19" name="Rectangle 18"/>
          <p:cNvSpPr/>
          <p:nvPr/>
        </p:nvSpPr>
        <p:spPr>
          <a:xfrm>
            <a:off x="9334500" y="2838450"/>
            <a:ext cx="7905750" cy="1066800"/>
          </a:xfrm>
          <a:prstGeom prst="rect">
            <a:avLst/>
          </a:prstGeom>
          <a:solidFill>
            <a:srgbClr val="F0EAE1"/>
          </a:solidFill>
          <a:ln>
            <a:noFill/>
          </a:ln>
          <a:effectLst/>
        </p:spPr>
        <p:txBody>
          <a:bodyPr rtlCol="0" anchor="ctr"/>
          <a:lstStyle/>
          <a:p>
            <a:pPr algn="ctr"/>
          </a:p>
        </p:txBody>
      </p:sp>
      <p:sp>
        <p:nvSpPr>
          <p:cNvPr id="20" name="TextBox 19"/>
          <p:cNvSpPr txBox="1"/>
          <p:nvPr/>
        </p:nvSpPr>
        <p:spPr>
          <a:xfrm>
            <a:off x="956310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6</a:t>
            </a:r>
          </a:p>
        </p:txBody>
      </p:sp>
      <p:sp>
        <p:nvSpPr>
          <p:cNvPr id="21" name="TextBox 20"/>
          <p:cNvSpPr txBox="1"/>
          <p:nvPr/>
        </p:nvSpPr>
        <p:spPr>
          <a:xfrm>
            <a:off x="1007745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Walk me through that. Where in the process did you stop?</a:t>
            </a:r>
          </a:p>
        </p:txBody>
      </p:sp>
      <p:sp>
        <p:nvSpPr>
          <p:cNvPr id="22" name="Rectangle 21"/>
          <p:cNvSpPr/>
          <p:nvPr/>
        </p:nvSpPr>
        <p:spPr>
          <a:xfrm>
            <a:off x="9334500" y="4019550"/>
            <a:ext cx="7905750" cy="1066800"/>
          </a:xfrm>
          <a:prstGeom prst="rect">
            <a:avLst/>
          </a:prstGeom>
          <a:solidFill>
            <a:srgbClr val="F0EAE1"/>
          </a:solidFill>
          <a:ln>
            <a:noFill/>
          </a:ln>
          <a:effectLst/>
        </p:spPr>
        <p:txBody>
          <a:bodyPr rtlCol="0" anchor="ctr"/>
          <a:lstStyle/>
          <a:p>
            <a:pPr algn="ctr"/>
          </a:p>
        </p:txBody>
      </p:sp>
      <p:sp>
        <p:nvSpPr>
          <p:cNvPr id="23" name="TextBox 22"/>
          <p:cNvSpPr txBox="1"/>
          <p:nvPr/>
        </p:nvSpPr>
        <p:spPr>
          <a:xfrm>
            <a:off x="9563100" y="41529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7</a:t>
            </a:r>
          </a:p>
        </p:txBody>
      </p:sp>
      <p:sp>
        <p:nvSpPr>
          <p:cNvPr id="24" name="TextBox 23"/>
          <p:cNvSpPr txBox="1"/>
          <p:nvPr/>
        </p:nvSpPr>
        <p:spPr>
          <a:xfrm>
            <a:off x="10077450" y="41529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were you thinking at the moment you closed the app?</a:t>
            </a:r>
          </a:p>
        </p:txBody>
      </p:sp>
      <p:sp>
        <p:nvSpPr>
          <p:cNvPr id="25" name="Rectangle 24"/>
          <p:cNvSpPr/>
          <p:nvPr/>
        </p:nvSpPr>
        <p:spPr>
          <a:xfrm>
            <a:off x="9334500" y="5200650"/>
            <a:ext cx="7905750" cy="1066800"/>
          </a:xfrm>
          <a:prstGeom prst="rect">
            <a:avLst/>
          </a:prstGeom>
          <a:solidFill>
            <a:srgbClr val="F0EAE1"/>
          </a:solidFill>
          <a:ln>
            <a:noFill/>
          </a:ln>
          <a:effectLst/>
        </p:spPr>
        <p:txBody>
          <a:bodyPr rtlCol="0" anchor="ctr"/>
          <a:lstStyle/>
          <a:p>
            <a:pPr algn="ctr"/>
          </a:p>
        </p:txBody>
      </p:sp>
      <p:sp>
        <p:nvSpPr>
          <p:cNvPr id="26" name="TextBox 25"/>
          <p:cNvSpPr txBox="1"/>
          <p:nvPr/>
        </p:nvSpPr>
        <p:spPr>
          <a:xfrm>
            <a:off x="9563100" y="53340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8</a:t>
            </a:r>
          </a:p>
        </p:txBody>
      </p:sp>
      <p:sp>
        <p:nvSpPr>
          <p:cNvPr id="27" name="TextBox 26"/>
          <p:cNvSpPr txBox="1"/>
          <p:nvPr/>
        </p:nvSpPr>
        <p:spPr>
          <a:xfrm>
            <a:off x="10077450" y="53340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happened after that: did you buy somewhere else, later, or not at all?</a:t>
            </a:r>
          </a:p>
        </p:txBody>
      </p:sp>
      <p:sp>
        <p:nvSpPr>
          <p:cNvPr id="28" name="Rectangle 27"/>
          <p:cNvSpPr/>
          <p:nvPr/>
        </p:nvSpPr>
        <p:spPr>
          <a:xfrm>
            <a:off x="9334500" y="6381750"/>
            <a:ext cx="7905750" cy="1066800"/>
          </a:xfrm>
          <a:prstGeom prst="rect">
            <a:avLst/>
          </a:prstGeom>
          <a:solidFill>
            <a:srgbClr val="F0EAE1"/>
          </a:solidFill>
          <a:ln>
            <a:noFill/>
          </a:ln>
          <a:effectLst/>
        </p:spPr>
        <p:txBody>
          <a:bodyPr rtlCol="0" anchor="ctr"/>
          <a:lstStyle/>
          <a:p>
            <a:pPr algn="ctr"/>
          </a:p>
        </p:txBody>
      </p:sp>
      <p:sp>
        <p:nvSpPr>
          <p:cNvPr id="29" name="TextBox 28"/>
          <p:cNvSpPr txBox="1"/>
          <p:nvPr/>
        </p:nvSpPr>
        <p:spPr>
          <a:xfrm>
            <a:off x="9563100" y="6515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9</a:t>
            </a:r>
          </a:p>
        </p:txBody>
      </p:sp>
      <p:sp>
        <p:nvSpPr>
          <p:cNvPr id="30" name="TextBox 29"/>
          <p:cNvSpPr txBox="1"/>
          <p:nvPr/>
        </p:nvSpPr>
        <p:spPr>
          <a:xfrm>
            <a:off x="10077450" y="6515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How often does that happen to you in a month?</a:t>
            </a:r>
          </a:p>
        </p:txBody>
      </p:sp>
      <p:sp>
        <p:nvSpPr>
          <p:cNvPr id="31" name="Rectangle 30"/>
          <p:cNvSpPr/>
          <p:nvPr/>
        </p:nvSpPr>
        <p:spPr>
          <a:xfrm>
            <a:off x="9334500" y="7562850"/>
            <a:ext cx="7905750" cy="1066800"/>
          </a:xfrm>
          <a:prstGeom prst="rect">
            <a:avLst/>
          </a:prstGeom>
          <a:solidFill>
            <a:srgbClr val="F0EAE1"/>
          </a:solidFill>
          <a:ln>
            <a:noFill/>
          </a:ln>
          <a:effectLst/>
        </p:spPr>
        <p:txBody>
          <a:bodyPr rtlCol="0" anchor="ctr"/>
          <a:lstStyle/>
          <a:p>
            <a:pPr algn="ctr"/>
          </a:p>
        </p:txBody>
      </p:sp>
      <p:sp>
        <p:nvSpPr>
          <p:cNvPr id="32" name="TextBox 31"/>
          <p:cNvSpPr txBox="1"/>
          <p:nvPr/>
        </p:nvSpPr>
        <p:spPr>
          <a:xfrm>
            <a:off x="9563100" y="76962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10</a:t>
            </a:r>
          </a:p>
        </p:txBody>
      </p:sp>
      <p:sp>
        <p:nvSpPr>
          <p:cNvPr id="33" name="TextBox 32"/>
          <p:cNvSpPr txBox="1"/>
          <p:nvPr/>
        </p:nvSpPr>
        <p:spPr>
          <a:xfrm>
            <a:off x="10077450" y="76962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When it happens, how long have you usually spent before you give up?</a:t>
            </a:r>
          </a:p>
        </p:txBody>
      </p:sp>
      <p:sp>
        <p:nvSpPr>
          <p:cNvPr id="34" name="TextBox 33"/>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3300" b="0" i="1">
                <a:solidFill>
                  <a:srgbClr val="362C24"/>
                </a:solidFill>
                <a:latin typeface="Georgia"/>
              </a:rPr>
              <a:t>Colour every question blue, green or amber, before the next slide.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GUIDE TWO · 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Not one question about the product.</a:t>
            </a:r>
          </a:p>
        </p:txBody>
      </p:sp>
      <p:sp>
        <p:nvSpPr>
          <p:cNvPr id="4" name="Rectangle 3"/>
          <p:cNvSpPr/>
          <p:nvPr/>
        </p:nvSpPr>
        <p:spPr>
          <a:xfrm>
            <a:off x="1047750" y="2838450"/>
            <a:ext cx="7905750" cy="11239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27635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a:t>
            </a:r>
          </a:p>
        </p:txBody>
      </p:sp>
      <p:sp>
        <p:nvSpPr>
          <p:cNvPr id="6" name="TextBox 5"/>
          <p:cNvSpPr txBox="1"/>
          <p:nvPr/>
        </p:nvSpPr>
        <p:spPr>
          <a:xfrm>
            <a:off x="179070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Tell me a bit about how you usually shop: where do you buy things, and what kinds of things?</a:t>
            </a:r>
          </a:p>
        </p:txBody>
      </p:sp>
      <p:sp>
        <p:nvSpPr>
          <p:cNvPr id="7" name="TextBox 6"/>
          <p:cNvSpPr txBox="1"/>
          <p:nvPr/>
        </p:nvSpPr>
        <p:spPr>
          <a:xfrm>
            <a:off x="1790700" y="3628644"/>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GROUND · blue. Easy, and anybody can answer it.</a:t>
            </a:r>
          </a:p>
        </p:txBody>
      </p:sp>
      <p:sp>
        <p:nvSpPr>
          <p:cNvPr id="8" name="Rectangle 7"/>
          <p:cNvSpPr/>
          <p:nvPr/>
        </p:nvSpPr>
        <p:spPr>
          <a:xfrm>
            <a:off x="1047750" y="4038600"/>
            <a:ext cx="7905750" cy="1123950"/>
          </a:xfrm>
          <a:prstGeom prst="rect">
            <a:avLst/>
          </a:prstGeom>
          <a:solidFill>
            <a:srgbClr val="F0EAE1"/>
          </a:solidFill>
          <a:ln>
            <a:noFill/>
          </a:ln>
          <a:effectLst/>
        </p:spPr>
        <p:txBody>
          <a:bodyPr rtlCol="0" anchor="ctr"/>
          <a:lstStyle/>
          <a:p>
            <a:pPr algn="ctr"/>
          </a:p>
        </p:txBody>
      </p:sp>
      <p:sp>
        <p:nvSpPr>
          <p:cNvPr id="9" name="TextBox 8"/>
          <p:cNvSpPr txBox="1"/>
          <p:nvPr/>
        </p:nvSpPr>
        <p:spPr>
          <a:xfrm>
            <a:off x="1276350" y="41719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2</a:t>
            </a:r>
          </a:p>
        </p:txBody>
      </p:sp>
      <p:sp>
        <p:nvSpPr>
          <p:cNvPr id="10" name="TextBox 9"/>
          <p:cNvSpPr txBox="1"/>
          <p:nvPr/>
        </p:nvSpPr>
        <p:spPr>
          <a:xfrm>
            <a:off x="1790700" y="41719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Tell me about the last thing you bought online. What was it, and when?</a:t>
            </a:r>
          </a:p>
        </p:txBody>
      </p:sp>
      <p:sp>
        <p:nvSpPr>
          <p:cNvPr id="11" name="TextBox 10"/>
          <p:cNvSpPr txBox="1"/>
          <p:nvPr/>
        </p:nvSpPr>
        <p:spPr>
          <a:xfrm>
            <a:off x="1790700" y="4828794"/>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GROUND · blue. One specific, recent, successful event.</a:t>
            </a:r>
          </a:p>
        </p:txBody>
      </p:sp>
      <p:sp>
        <p:nvSpPr>
          <p:cNvPr id="12" name="Rectangle 11"/>
          <p:cNvSpPr/>
          <p:nvPr/>
        </p:nvSpPr>
        <p:spPr>
          <a:xfrm>
            <a:off x="1047750" y="5238750"/>
            <a:ext cx="7905750" cy="1123950"/>
          </a:xfrm>
          <a:prstGeom prst="rect">
            <a:avLst/>
          </a:prstGeom>
          <a:solidFill>
            <a:srgbClr val="F0EAE1"/>
          </a:solidFill>
          <a:ln>
            <a:noFill/>
          </a:ln>
          <a:effectLst/>
        </p:spPr>
        <p:txBody>
          <a:bodyPr rtlCol="0" anchor="ctr"/>
          <a:lstStyle/>
          <a:p>
            <a:pPr algn="ctr"/>
          </a:p>
        </p:txBody>
      </p:sp>
      <p:sp>
        <p:nvSpPr>
          <p:cNvPr id="13" name="TextBox 12"/>
          <p:cNvSpPr txBox="1"/>
          <p:nvPr/>
        </p:nvSpPr>
        <p:spPr>
          <a:xfrm>
            <a:off x="1276350" y="5372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3</a:t>
            </a:r>
          </a:p>
        </p:txBody>
      </p:sp>
      <p:sp>
        <p:nvSpPr>
          <p:cNvPr id="14" name="TextBox 13"/>
          <p:cNvSpPr txBox="1"/>
          <p:nvPr/>
        </p:nvSpPr>
        <p:spPr>
          <a:xfrm>
            <a:off x="1790700" y="5372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Walk me through what you actually did that day, from the first moment you thought about buying it.</a:t>
            </a:r>
          </a:p>
        </p:txBody>
      </p:sp>
      <p:sp>
        <p:nvSpPr>
          <p:cNvPr id="15" name="TextBox 14"/>
          <p:cNvSpPr txBox="1"/>
          <p:nvPr/>
        </p:nvSpPr>
        <p:spPr>
          <a:xfrm>
            <a:off x="1790700" y="6028944"/>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EXCAVATE · green. A sequence, not a summary.</a:t>
            </a:r>
          </a:p>
        </p:txBody>
      </p:sp>
      <p:sp>
        <p:nvSpPr>
          <p:cNvPr id="16" name="Rectangle 15"/>
          <p:cNvSpPr/>
          <p:nvPr/>
        </p:nvSpPr>
        <p:spPr>
          <a:xfrm>
            <a:off x="1047750" y="6438900"/>
            <a:ext cx="7905750" cy="112395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1276350" y="65722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4</a:t>
            </a:r>
          </a:p>
        </p:txBody>
      </p:sp>
      <p:sp>
        <p:nvSpPr>
          <p:cNvPr id="18" name="TextBox 17"/>
          <p:cNvSpPr txBox="1"/>
          <p:nvPr/>
        </p:nvSpPr>
        <p:spPr>
          <a:xfrm>
            <a:off x="1790700" y="65722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made you pick that particular one?</a:t>
            </a:r>
          </a:p>
        </p:txBody>
      </p:sp>
      <p:sp>
        <p:nvSpPr>
          <p:cNvPr id="19" name="TextBox 18"/>
          <p:cNvSpPr txBox="1"/>
          <p:nvPr/>
        </p:nvSpPr>
        <p:spPr>
          <a:xfrm>
            <a:off x="1790700" y="691972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EXCAVATE · green. What drove the choice.</a:t>
            </a:r>
          </a:p>
        </p:txBody>
      </p:sp>
      <p:sp>
        <p:nvSpPr>
          <p:cNvPr id="20" name="Rectangle 19"/>
          <p:cNvSpPr/>
          <p:nvPr/>
        </p:nvSpPr>
        <p:spPr>
          <a:xfrm>
            <a:off x="1047750" y="7639050"/>
            <a:ext cx="7905750" cy="1123950"/>
          </a:xfrm>
          <a:prstGeom prst="rect">
            <a:avLst/>
          </a:prstGeom>
          <a:solidFill>
            <a:srgbClr val="F0EAE1"/>
          </a:solidFill>
          <a:ln>
            <a:noFill/>
          </a:ln>
          <a:effectLst/>
        </p:spPr>
        <p:txBody>
          <a:bodyPr rtlCol="0" anchor="ctr"/>
          <a:lstStyle/>
          <a:p>
            <a:pPr algn="ctr"/>
          </a:p>
        </p:txBody>
      </p:sp>
      <p:sp>
        <p:nvSpPr>
          <p:cNvPr id="21" name="TextBox 20"/>
          <p:cNvSpPr txBox="1"/>
          <p:nvPr/>
        </p:nvSpPr>
        <p:spPr>
          <a:xfrm>
            <a:off x="1276350" y="77724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5</a:t>
            </a:r>
          </a:p>
        </p:txBody>
      </p:sp>
      <p:sp>
        <p:nvSpPr>
          <p:cNvPr id="22" name="TextBox 21"/>
          <p:cNvSpPr txBox="1"/>
          <p:nvPr/>
        </p:nvSpPr>
        <p:spPr>
          <a:xfrm>
            <a:off x="1790700" y="77724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Now tell me about a time you started shopping and did not end up buying anything.</a:t>
            </a:r>
          </a:p>
        </p:txBody>
      </p:sp>
      <p:sp>
        <p:nvSpPr>
          <p:cNvPr id="23" name="TextBox 22"/>
          <p:cNvSpPr txBox="1"/>
          <p:nvPr/>
        </p:nvSpPr>
        <p:spPr>
          <a:xfrm>
            <a:off x="1790700" y="8429244"/>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GROUND · blue. The abandonment event itself.</a:t>
            </a:r>
          </a:p>
        </p:txBody>
      </p:sp>
      <p:sp>
        <p:nvSpPr>
          <p:cNvPr id="24" name="Rectangle 23"/>
          <p:cNvSpPr/>
          <p:nvPr/>
        </p:nvSpPr>
        <p:spPr>
          <a:xfrm>
            <a:off x="9334500" y="2838450"/>
            <a:ext cx="7905750" cy="1123950"/>
          </a:xfrm>
          <a:prstGeom prst="rect">
            <a:avLst/>
          </a:prstGeom>
          <a:solidFill>
            <a:srgbClr val="F0EAE1"/>
          </a:solidFill>
          <a:ln>
            <a:noFill/>
          </a:ln>
          <a:effectLst/>
        </p:spPr>
        <p:txBody>
          <a:bodyPr rtlCol="0" anchor="ctr"/>
          <a:lstStyle/>
          <a:p>
            <a:pPr algn="ctr"/>
          </a:p>
        </p:txBody>
      </p:sp>
      <p:sp>
        <p:nvSpPr>
          <p:cNvPr id="25" name="TextBox 24"/>
          <p:cNvSpPr txBox="1"/>
          <p:nvPr/>
        </p:nvSpPr>
        <p:spPr>
          <a:xfrm>
            <a:off x="9563100" y="29718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6</a:t>
            </a:r>
          </a:p>
        </p:txBody>
      </p:sp>
      <p:sp>
        <p:nvSpPr>
          <p:cNvPr id="26" name="TextBox 25"/>
          <p:cNvSpPr txBox="1"/>
          <p:nvPr/>
        </p:nvSpPr>
        <p:spPr>
          <a:xfrm>
            <a:off x="10077450" y="29718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Walk me through that. Where in the process did you stop?</a:t>
            </a:r>
          </a:p>
        </p:txBody>
      </p:sp>
      <p:sp>
        <p:nvSpPr>
          <p:cNvPr id="27" name="TextBox 26"/>
          <p:cNvSpPr txBox="1"/>
          <p:nvPr/>
        </p:nvSpPr>
        <p:spPr>
          <a:xfrm>
            <a:off x="10077450" y="331927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GROUND · blue. Where it stopped.</a:t>
            </a:r>
          </a:p>
        </p:txBody>
      </p:sp>
      <p:sp>
        <p:nvSpPr>
          <p:cNvPr id="28" name="Rectangle 27"/>
          <p:cNvSpPr/>
          <p:nvPr/>
        </p:nvSpPr>
        <p:spPr>
          <a:xfrm>
            <a:off x="9334500" y="4038600"/>
            <a:ext cx="7905750" cy="1123950"/>
          </a:xfrm>
          <a:prstGeom prst="rect">
            <a:avLst/>
          </a:prstGeom>
          <a:solidFill>
            <a:srgbClr val="F0EAE1"/>
          </a:solidFill>
          <a:ln>
            <a:noFill/>
          </a:ln>
          <a:effectLst/>
        </p:spPr>
        <p:txBody>
          <a:bodyPr rtlCol="0" anchor="ctr"/>
          <a:lstStyle/>
          <a:p>
            <a:pPr algn="ctr"/>
          </a:p>
        </p:txBody>
      </p:sp>
      <p:sp>
        <p:nvSpPr>
          <p:cNvPr id="29" name="TextBox 28"/>
          <p:cNvSpPr txBox="1"/>
          <p:nvPr/>
        </p:nvSpPr>
        <p:spPr>
          <a:xfrm>
            <a:off x="9563100" y="41719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7</a:t>
            </a:r>
          </a:p>
        </p:txBody>
      </p:sp>
      <p:sp>
        <p:nvSpPr>
          <p:cNvPr id="30" name="TextBox 29"/>
          <p:cNvSpPr txBox="1"/>
          <p:nvPr/>
        </p:nvSpPr>
        <p:spPr>
          <a:xfrm>
            <a:off x="10077450" y="41719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were you thinking at the moment you closed the app?</a:t>
            </a:r>
          </a:p>
        </p:txBody>
      </p:sp>
      <p:sp>
        <p:nvSpPr>
          <p:cNvPr id="31" name="TextBox 30"/>
          <p:cNvSpPr txBox="1"/>
          <p:nvPr/>
        </p:nvSpPr>
        <p:spPr>
          <a:xfrm>
            <a:off x="10077450" y="451942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EXCAVATE · green. The thought in the moment.</a:t>
            </a:r>
          </a:p>
        </p:txBody>
      </p:sp>
      <p:sp>
        <p:nvSpPr>
          <p:cNvPr id="32" name="Rectangle 31"/>
          <p:cNvSpPr/>
          <p:nvPr/>
        </p:nvSpPr>
        <p:spPr>
          <a:xfrm>
            <a:off x="9334500" y="5238750"/>
            <a:ext cx="7905750" cy="1123950"/>
          </a:xfrm>
          <a:prstGeom prst="rect">
            <a:avLst/>
          </a:prstGeom>
          <a:solidFill>
            <a:srgbClr val="F0EAE1"/>
          </a:solidFill>
          <a:ln>
            <a:noFill/>
          </a:ln>
          <a:effectLst/>
        </p:spPr>
        <p:txBody>
          <a:bodyPr rtlCol="0" anchor="ctr"/>
          <a:lstStyle/>
          <a:p>
            <a:pPr algn="ctr"/>
          </a:p>
        </p:txBody>
      </p:sp>
      <p:sp>
        <p:nvSpPr>
          <p:cNvPr id="33" name="TextBox 32"/>
          <p:cNvSpPr txBox="1"/>
          <p:nvPr/>
        </p:nvSpPr>
        <p:spPr>
          <a:xfrm>
            <a:off x="9563100" y="53721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8</a:t>
            </a:r>
          </a:p>
        </p:txBody>
      </p:sp>
      <p:sp>
        <p:nvSpPr>
          <p:cNvPr id="34" name="TextBox 33"/>
          <p:cNvSpPr txBox="1"/>
          <p:nvPr/>
        </p:nvSpPr>
        <p:spPr>
          <a:xfrm>
            <a:off x="10077450" y="53721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What happened after that: did you buy somewhere else, later, or not at all?</a:t>
            </a:r>
          </a:p>
        </p:txBody>
      </p:sp>
      <p:sp>
        <p:nvSpPr>
          <p:cNvPr id="35" name="TextBox 34"/>
          <p:cNvSpPr txBox="1"/>
          <p:nvPr/>
        </p:nvSpPr>
        <p:spPr>
          <a:xfrm>
            <a:off x="10077450" y="6028944"/>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EXCAVATE · green. The workaround.</a:t>
            </a:r>
          </a:p>
        </p:txBody>
      </p:sp>
      <p:sp>
        <p:nvSpPr>
          <p:cNvPr id="36" name="Rectangle 35"/>
          <p:cNvSpPr/>
          <p:nvPr/>
        </p:nvSpPr>
        <p:spPr>
          <a:xfrm>
            <a:off x="9334500" y="6438900"/>
            <a:ext cx="7905750" cy="1123950"/>
          </a:xfrm>
          <a:prstGeom prst="rect">
            <a:avLst/>
          </a:prstGeom>
          <a:solidFill>
            <a:srgbClr val="F0EAE1"/>
          </a:solidFill>
          <a:ln>
            <a:noFill/>
          </a:ln>
          <a:effectLst/>
        </p:spPr>
        <p:txBody>
          <a:bodyPr rtlCol="0" anchor="ctr"/>
          <a:lstStyle/>
          <a:p>
            <a:pPr algn="ctr"/>
          </a:p>
        </p:txBody>
      </p:sp>
      <p:sp>
        <p:nvSpPr>
          <p:cNvPr id="37" name="TextBox 36"/>
          <p:cNvSpPr txBox="1"/>
          <p:nvPr/>
        </p:nvSpPr>
        <p:spPr>
          <a:xfrm>
            <a:off x="9563100" y="657225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9</a:t>
            </a:r>
          </a:p>
        </p:txBody>
      </p:sp>
      <p:sp>
        <p:nvSpPr>
          <p:cNvPr id="38" name="TextBox 37"/>
          <p:cNvSpPr txBox="1"/>
          <p:nvPr/>
        </p:nvSpPr>
        <p:spPr>
          <a:xfrm>
            <a:off x="10077450" y="657225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How often does that happen to you in a month?</a:t>
            </a:r>
          </a:p>
        </p:txBody>
      </p:sp>
      <p:sp>
        <p:nvSpPr>
          <p:cNvPr id="39" name="TextBox 38"/>
          <p:cNvSpPr txBox="1"/>
          <p:nvPr/>
        </p:nvSpPr>
        <p:spPr>
          <a:xfrm>
            <a:off x="10077450" y="6919722"/>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QUANTIFY · amber. Frequency.</a:t>
            </a:r>
          </a:p>
        </p:txBody>
      </p:sp>
      <p:sp>
        <p:nvSpPr>
          <p:cNvPr id="40" name="Rectangle 39"/>
          <p:cNvSpPr/>
          <p:nvPr/>
        </p:nvSpPr>
        <p:spPr>
          <a:xfrm>
            <a:off x="9334500" y="7639050"/>
            <a:ext cx="7905750" cy="1123950"/>
          </a:xfrm>
          <a:prstGeom prst="rect">
            <a:avLst/>
          </a:prstGeom>
          <a:solidFill>
            <a:srgbClr val="F0EAE1"/>
          </a:solidFill>
          <a:ln>
            <a:noFill/>
          </a:ln>
          <a:effectLst/>
        </p:spPr>
        <p:txBody>
          <a:bodyPr rtlCol="0" anchor="ctr"/>
          <a:lstStyle/>
          <a:p>
            <a:pPr algn="ctr"/>
          </a:p>
        </p:txBody>
      </p:sp>
      <p:sp>
        <p:nvSpPr>
          <p:cNvPr id="41" name="TextBox 40"/>
          <p:cNvSpPr txBox="1"/>
          <p:nvPr/>
        </p:nvSpPr>
        <p:spPr>
          <a:xfrm>
            <a:off x="9563100" y="7772400"/>
            <a:ext cx="438150" cy="381000"/>
          </a:xfrm>
          <a:prstGeom prst="rect">
            <a:avLst/>
          </a:prstGeom>
          <a:noFill/>
        </p:spPr>
        <p:txBody>
          <a:bodyPr wrap="square" lIns="0" rIns="0" tIns="0" bIns="0" anchor="t">
            <a:noAutofit/>
          </a:bodyPr>
          <a:lstStyle/>
          <a:p>
            <a:pPr algn="l">
              <a:lnSpc>
                <a:spcPct val="108000"/>
              </a:lnSpc>
            </a:pPr>
            <a:r>
              <a:rPr sz="2400" b="1" i="0">
                <a:solidFill>
                  <a:srgbClr val="C35141"/>
                </a:solidFill>
                <a:latin typeface="Arial"/>
              </a:rPr>
              <a:t>10</a:t>
            </a:r>
          </a:p>
        </p:txBody>
      </p:sp>
      <p:sp>
        <p:nvSpPr>
          <p:cNvPr id="42" name="TextBox 41"/>
          <p:cNvSpPr txBox="1"/>
          <p:nvPr/>
        </p:nvSpPr>
        <p:spPr>
          <a:xfrm>
            <a:off x="10077450" y="7772400"/>
            <a:ext cx="6953250" cy="762000"/>
          </a:xfrm>
          <a:prstGeom prst="rect">
            <a:avLst/>
          </a:prstGeom>
          <a:noFill/>
        </p:spPr>
        <p:txBody>
          <a:bodyPr wrap="square" lIns="0" rIns="0" tIns="0" bIns="0" anchor="t">
            <a:noAutofit/>
          </a:bodyPr>
          <a:lstStyle/>
          <a:p>
            <a:pPr algn="l">
              <a:lnSpc>
                <a:spcPct val="105000"/>
              </a:lnSpc>
            </a:pPr>
            <a:r>
              <a:rPr sz="2000" b="0" i="0">
                <a:solidFill>
                  <a:srgbClr val="201914"/>
                </a:solidFill>
                <a:latin typeface="Arial"/>
              </a:rPr>
              <a:t>When it happens, how long have you usually spent before you give up?</a:t>
            </a:r>
          </a:p>
        </p:txBody>
      </p:sp>
      <p:sp>
        <p:nvSpPr>
          <p:cNvPr id="43" name="TextBox 42"/>
          <p:cNvSpPr txBox="1"/>
          <p:nvPr/>
        </p:nvSpPr>
        <p:spPr>
          <a:xfrm>
            <a:off x="10077450" y="8429244"/>
            <a:ext cx="6953250" cy="285750"/>
          </a:xfrm>
          <a:prstGeom prst="rect">
            <a:avLst/>
          </a:prstGeom>
          <a:noFill/>
        </p:spPr>
        <p:txBody>
          <a:bodyPr wrap="square" lIns="0" rIns="0" tIns="0" bIns="0" anchor="t">
            <a:noAutofit/>
          </a:bodyPr>
          <a:lstStyle/>
          <a:p>
            <a:pPr algn="l">
              <a:lnSpc>
                <a:spcPct val="100000"/>
              </a:lnSpc>
            </a:pPr>
            <a:r>
              <a:rPr sz="1700" b="1" i="0">
                <a:solidFill>
                  <a:srgbClr val="C35141"/>
                </a:solidFill>
                <a:latin typeface="Arial"/>
              </a:rPr>
              <a:t>QUANTIFY · amber. Cost, in time.</a:t>
            </a:r>
          </a:p>
        </p:txBody>
      </p:sp>
      <p:sp>
        <p:nvSpPr>
          <p:cNvPr id="44" name="TextBox 43"/>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3300" b="0" i="1">
                <a:solidFill>
                  <a:srgbClr val="362C24"/>
                </a:solidFill>
                <a:latin typeface="Georgia"/>
              </a:rPr>
              <a:t>Four blue, four green, two amber. Not one feature question.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WHAT GUIDE TWO FOUND</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Almost nobody abandons because the app could not do something.</a:t>
            </a:r>
          </a:p>
        </p:txBody>
      </p:sp>
      <p:sp>
        <p:nvSpPr>
          <p:cNvPr id="4" name="Rectangle 3"/>
          <p:cNvSpPr/>
          <p:nvPr/>
        </p:nvSpPr>
        <p:spPr>
          <a:xfrm>
            <a:off x="1047750" y="3409950"/>
            <a:ext cx="7905750" cy="45720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3409950"/>
            <a:ext cx="7905750" cy="45720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WHAT GUIDE ONE WOULD HAVE BUILT</a:t>
            </a:r>
          </a:p>
        </p:txBody>
      </p:sp>
      <p:sp>
        <p:nvSpPr>
          <p:cNvPr id="7" name="TextBox 6"/>
          <p:cNvSpPr txBox="1"/>
          <p:nvPr/>
        </p:nvSpPr>
        <p:spPr>
          <a:xfrm>
            <a:off x="146685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201914"/>
                </a:solidFill>
                <a:latin typeface="Arial"/>
              </a:rPr>
              <a:t>More filters.</a:t>
            </a:r>
          </a:p>
          <a:p>
            <a:pPr algn="l">
              <a:lnSpc>
                <a:spcPct val="112000"/>
              </a:lnSpc>
              <a:spcAft>
                <a:spcPts val="1200"/>
              </a:spcAft>
            </a:pPr>
            <a:r>
              <a:rPr sz="2800" b="0" i="0">
                <a:solidFill>
                  <a:srgbClr val="201914"/>
                </a:solidFill>
                <a:latin typeface="Arial"/>
              </a:rPr>
              <a:t>More specifications.</a:t>
            </a:r>
          </a:p>
          <a:p>
            <a:pPr algn="l">
              <a:lnSpc>
                <a:spcPct val="112000"/>
              </a:lnSpc>
              <a:spcAft>
                <a:spcPts val="1200"/>
              </a:spcAft>
            </a:pPr>
            <a:r>
              <a:rPr sz="2800" b="0" i="0">
                <a:solidFill>
                  <a:srgbClr val="201914"/>
                </a:solidFill>
                <a:latin typeface="Arial"/>
              </a:rPr>
              <a:t>A comparison tool.</a:t>
            </a:r>
          </a:p>
          <a:p>
            <a:pPr algn="l">
              <a:lnSpc>
                <a:spcPct val="112000"/>
              </a:lnSpc>
            </a:pPr>
            <a:r>
              <a:rPr sz="2800" b="0" i="0">
                <a:solidFill>
                  <a:srgbClr val="201914"/>
                </a:solidFill>
                <a:latin typeface="Arial"/>
              </a:rPr>
              <a:t>Because more information feels like the answer to not being able to decide.</a:t>
            </a:r>
          </a:p>
        </p:txBody>
      </p:sp>
      <p:sp>
        <p:nvSpPr>
          <p:cNvPr id="8" name="TextBox 7"/>
          <p:cNvSpPr txBox="1"/>
          <p:nvPr/>
        </p:nvSpPr>
        <p:spPr>
          <a:xfrm>
            <a:off x="975360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WHAT GUIDE TWO FOUND</a:t>
            </a:r>
          </a:p>
        </p:txBody>
      </p:sp>
      <p:sp>
        <p:nvSpPr>
          <p:cNvPr id="9" name="TextBox 8"/>
          <p:cNvSpPr txBox="1"/>
          <p:nvPr/>
        </p:nvSpPr>
        <p:spPr>
          <a:xfrm>
            <a:off x="9753600" y="4362450"/>
            <a:ext cx="7067550" cy="3333750"/>
          </a:xfrm>
          <a:prstGeom prst="rect">
            <a:avLst/>
          </a:prstGeom>
          <a:noFill/>
        </p:spPr>
        <p:txBody>
          <a:bodyPr wrap="square" lIns="0" rIns="0" tIns="0" bIns="0" anchor="t">
            <a:noAutofit/>
          </a:bodyPr>
          <a:lstStyle/>
          <a:p>
            <a:pPr algn="l">
              <a:lnSpc>
                <a:spcPct val="112000"/>
              </a:lnSpc>
            </a:pPr>
            <a:r>
              <a:rPr sz="2800" b="0" i="0">
                <a:solidFill>
                  <a:srgbClr val="F5F1E9"/>
                </a:solidFill>
                <a:latin typeface="Arial"/>
              </a:rPr>
              <a:t>They search and get four hundred results. They open six. Two are cheaper than expected, and now seem suspicious. One has excellent reviews and an eleven-day delivery date. A third is ₹200 more and they cannot tell what the ₹200 buys. They put the phone down. Deciding has become work.</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Not more filters: fewer, better-chosen results. Not a comparison tool: reviews that let another person make the judgement for you.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PIDILITE · FOUNDED 1959 · FEVICOL</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customer who could not describe his own work.</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Who pays</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The household buys the adhesive and never chooses it. The shopkeeper stocks it and has no view beyond margin.</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Who decides</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The carpenter. He does not pay for it and appears in no sales ledger under his own name. A company that thinks its customer is whoever pays would never interview him.</a:t>
            </a:r>
          </a:p>
        </p:txBody>
      </p:sp>
      <p:sp>
        <p:nvSpPr>
          <p:cNvPr id="10" name="Rectangle 9"/>
          <p:cNvSpPr/>
          <p:nvPr/>
        </p:nvSpPr>
        <p:spPr>
          <a:xfrm>
            <a:off x="12096750" y="3409950"/>
            <a:ext cx="5143500" cy="4045610"/>
          </a:xfrm>
          <a:prstGeom prst="rect">
            <a:avLst/>
          </a:prstGeom>
          <a:solidFill>
            <a:srgbClr val="C35141"/>
          </a:solidFill>
          <a:ln>
            <a:noFill/>
          </a:ln>
          <a:effectLst/>
        </p:spPr>
        <p:txBody>
          <a:bodyPr rtlCol="0" anchor="ctr"/>
          <a:lstStyle/>
          <a:p>
            <a:pPr algn="ctr"/>
          </a:p>
        </p:txBody>
      </p:sp>
      <p:sp>
        <p:nvSpPr>
          <p:cNvPr id="11" name="TextBox 10"/>
          <p:cNvSpPr txBox="1"/>
          <p:nvPr/>
        </p:nvSpPr>
        <p:spPr>
          <a:xfrm>
            <a:off x="12477750" y="3790950"/>
            <a:ext cx="4381500" cy="507949"/>
          </a:xfrm>
          <a:prstGeom prst="rect">
            <a:avLst/>
          </a:prstGeom>
          <a:noFill/>
        </p:spPr>
        <p:txBody>
          <a:bodyPr wrap="square" lIns="0" rIns="0" tIns="0" bIns="0" anchor="t">
            <a:noAutofit/>
          </a:bodyPr>
          <a:lstStyle/>
          <a:p>
            <a:pPr algn="l">
              <a:lnSpc>
                <a:spcPct val="102000"/>
              </a:lnSpc>
            </a:pPr>
            <a:r>
              <a:rPr sz="3000" b="1" i="0">
                <a:solidFill>
                  <a:srgbClr val="F5F1E9"/>
                </a:solidFill>
                <a:latin typeface="Arial"/>
              </a:rPr>
              <a:t>Why he cannot tell you</a:t>
            </a:r>
          </a:p>
        </p:txBody>
      </p:sp>
      <p:sp>
        <p:nvSpPr>
          <p:cNvPr id="12" name="TextBox 11"/>
          <p:cNvSpPr txBox="1"/>
          <p:nvPr/>
        </p:nvSpPr>
        <p:spPr>
          <a:xfrm>
            <a:off x="12477750" y="4451299"/>
            <a:ext cx="4381500" cy="3711626"/>
          </a:xfrm>
          <a:prstGeom prst="rect">
            <a:avLst/>
          </a:prstGeom>
          <a:noFill/>
        </p:spPr>
        <p:txBody>
          <a:bodyPr wrap="square" lIns="0" rIns="0" tIns="0" bIns="0" anchor="t">
            <a:noAutofit/>
          </a:bodyPr>
          <a:lstStyle/>
          <a:p>
            <a:pPr algn="l">
              <a:lnSpc>
                <a:spcPct val="110000"/>
              </a:lnSpc>
            </a:pPr>
            <a:r>
              <a:rPr sz="2600" b="0" i="0">
                <a:solidFill>
                  <a:srgbClr val="F5F1E9"/>
                </a:solidFill>
                <a:latin typeface="Arial"/>
              </a:rPr>
              <a:t>Ask a carpenter why he uses this adhesive and you get 'it is good'. The knowledge lives in his hands, not in sentences, and nobody has ever asked him.</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Ask him about adhesive and you get nothing. Ask him about last Thursday.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6 · 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Implication Question</a:t>
            </a:r>
          </a:p>
        </p:txBody>
      </p:sp>
      <p:sp>
        <p:nvSpPr>
          <p:cNvPr id="4" name="TextBox 3"/>
          <p:cNvSpPr txBox="1"/>
          <p:nvPr/>
        </p:nvSpPr>
        <p:spPr>
          <a:xfrm>
            <a:off x="1314450" y="2838450"/>
            <a:ext cx="22860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SHAPE</a:t>
            </a:r>
          </a:p>
        </p:txBody>
      </p:sp>
      <p:sp>
        <p:nvSpPr>
          <p:cNvPr id="5" name="TextBox 4"/>
          <p:cNvSpPr txBox="1"/>
          <p:nvPr/>
        </p:nvSpPr>
        <p:spPr>
          <a:xfrm>
            <a:off x="3790950" y="2838450"/>
            <a:ext cx="47625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YOU ASK</a:t>
            </a:r>
          </a:p>
        </p:txBody>
      </p:sp>
      <p:sp>
        <p:nvSpPr>
          <p:cNvPr id="6" name="TextBox 5"/>
          <p:cNvSpPr txBox="1"/>
          <p:nvPr/>
        </p:nvSpPr>
        <p:spPr>
          <a:xfrm>
            <a:off x="8743950" y="2838450"/>
            <a:ext cx="43815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TELLS YOU</a:t>
            </a:r>
          </a:p>
        </p:txBody>
      </p:sp>
      <p:sp>
        <p:nvSpPr>
          <p:cNvPr id="7" name="TextBox 6"/>
          <p:cNvSpPr txBox="1"/>
          <p:nvPr/>
        </p:nvSpPr>
        <p:spPr>
          <a:xfrm>
            <a:off x="13315950" y="2838450"/>
            <a:ext cx="34671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THE CARPENTER'S ANSWER</a:t>
            </a:r>
          </a:p>
        </p:txBody>
      </p:sp>
      <p:sp>
        <p:nvSpPr>
          <p:cNvPr id="8" name="Rectangle 7"/>
          <p:cNvSpPr/>
          <p:nvPr/>
        </p:nvSpPr>
        <p:spPr>
          <a:xfrm>
            <a:off x="1047750" y="361950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4056659"/>
            <a:ext cx="2190750" cy="1143000"/>
          </a:xfrm>
          <a:prstGeom prst="rect">
            <a:avLst/>
          </a:prstGeom>
          <a:noFill/>
        </p:spPr>
        <p:txBody>
          <a:bodyPr wrap="square" lIns="0" rIns="0" tIns="0" bIns="0" anchor="t">
            <a:noAutofit/>
          </a:bodyPr>
          <a:lstStyle/>
          <a:p>
            <a:pPr algn="l">
              <a:lnSpc>
                <a:spcPct val="105000"/>
              </a:lnSpc>
            </a:pPr>
            <a:r>
              <a:rPr sz="2100" b="1" i="0">
                <a:solidFill>
                  <a:srgbClr val="201914"/>
                </a:solidFill>
                <a:latin typeface="Arial"/>
              </a:rPr>
              <a:t>Frequency</a:t>
            </a:r>
          </a:p>
        </p:txBody>
      </p:sp>
      <p:sp>
        <p:nvSpPr>
          <p:cNvPr id="10" name="TextBox 9"/>
          <p:cNvSpPr txBox="1"/>
          <p:nvPr/>
        </p:nvSpPr>
        <p:spPr>
          <a:xfrm>
            <a:off x="3790950" y="4056659"/>
            <a:ext cx="4667250" cy="1143000"/>
          </a:xfrm>
          <a:prstGeom prst="rect">
            <a:avLst/>
          </a:prstGeom>
          <a:noFill/>
        </p:spPr>
        <p:txBody>
          <a:bodyPr wrap="square" lIns="0" rIns="0" tIns="0" bIns="0" anchor="t">
            <a:noAutofit/>
          </a:bodyPr>
          <a:lstStyle/>
          <a:p>
            <a:pPr algn="l">
              <a:lnSpc>
                <a:spcPct val="105000"/>
              </a:lnSpc>
            </a:pPr>
            <a:r>
              <a:rPr sz="2100" b="0" i="0">
                <a:solidFill>
                  <a:srgbClr val="665B53"/>
                </a:solidFill>
                <a:latin typeface="Arial"/>
              </a:rPr>
              <a:t>'How often does that happen in a normal month?'</a:t>
            </a:r>
          </a:p>
        </p:txBody>
      </p:sp>
      <p:sp>
        <p:nvSpPr>
          <p:cNvPr id="11" name="TextBox 10"/>
          <p:cNvSpPr txBox="1"/>
          <p:nvPr/>
        </p:nvSpPr>
        <p:spPr>
          <a:xfrm>
            <a:off x="8743950" y="4056659"/>
            <a:ext cx="4286250" cy="1143000"/>
          </a:xfrm>
          <a:prstGeom prst="rect">
            <a:avLst/>
          </a:prstGeom>
          <a:noFill/>
        </p:spPr>
        <p:txBody>
          <a:bodyPr wrap="square" lIns="0" rIns="0" tIns="0" bIns="0" anchor="t">
            <a:noAutofit/>
          </a:bodyPr>
          <a:lstStyle/>
          <a:p>
            <a:pPr algn="l">
              <a:lnSpc>
                <a:spcPct val="105000"/>
              </a:lnSpc>
            </a:pPr>
            <a:r>
              <a:rPr sz="2100" b="0" i="0">
                <a:solidFill>
                  <a:srgbClr val="665B53"/>
                </a:solidFill>
                <a:latin typeface="Arial"/>
              </a:rPr>
              <a:t>Whether this is a business or an incident.</a:t>
            </a:r>
          </a:p>
        </p:txBody>
      </p:sp>
      <p:sp>
        <p:nvSpPr>
          <p:cNvPr id="12" name="TextBox 11"/>
          <p:cNvSpPr txBox="1"/>
          <p:nvPr/>
        </p:nvSpPr>
        <p:spPr>
          <a:xfrm>
            <a:off x="13315950" y="4056659"/>
            <a:ext cx="3371850" cy="1143000"/>
          </a:xfrm>
          <a:prstGeom prst="rect">
            <a:avLst/>
          </a:prstGeom>
          <a:noFill/>
        </p:spPr>
        <p:txBody>
          <a:bodyPr wrap="square" lIns="0" rIns="0" tIns="0" bIns="0" anchor="t">
            <a:noAutofit/>
          </a:bodyPr>
          <a:lstStyle/>
          <a:p>
            <a:pPr algn="l">
              <a:lnSpc>
                <a:spcPct val="105000"/>
              </a:lnSpc>
            </a:pPr>
            <a:r>
              <a:rPr sz="2100" b="0" i="0">
                <a:solidFill>
                  <a:srgbClr val="665B53"/>
                </a:solidFill>
                <a:latin typeface="Arial"/>
              </a:rPr>
              <a:t>The number he counts on his fingers.</a:t>
            </a:r>
          </a:p>
        </p:txBody>
      </p:sp>
      <p:sp>
        <p:nvSpPr>
          <p:cNvPr id="13" name="Rectangle 12"/>
          <p:cNvSpPr/>
          <p:nvPr/>
        </p:nvSpPr>
        <p:spPr>
          <a:xfrm>
            <a:off x="1047750" y="4953000"/>
            <a:ext cx="16192500" cy="1143000"/>
          </a:xfrm>
          <a:prstGeom prst="rect">
            <a:avLst/>
          </a:prstGeom>
          <a:solidFill>
            <a:srgbClr val="F3EEE6"/>
          </a:solidFill>
          <a:ln>
            <a:noFill/>
          </a:ln>
          <a:effectLst/>
        </p:spPr>
        <p:txBody>
          <a:bodyPr rtlCol="0" anchor="ctr"/>
          <a:lstStyle/>
          <a:p>
            <a:pPr algn="ctr"/>
          </a:p>
        </p:txBody>
      </p:sp>
      <p:sp>
        <p:nvSpPr>
          <p:cNvPr id="14" name="Rectangle 13"/>
          <p:cNvSpPr/>
          <p:nvPr/>
        </p:nvSpPr>
        <p:spPr>
          <a:xfrm>
            <a:off x="1047750" y="4953000"/>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5037239"/>
            <a:ext cx="2190750" cy="1143000"/>
          </a:xfrm>
          <a:prstGeom prst="rect">
            <a:avLst/>
          </a:prstGeom>
          <a:noFill/>
        </p:spPr>
        <p:txBody>
          <a:bodyPr wrap="square" lIns="0" rIns="0" tIns="0" bIns="0" anchor="t">
            <a:noAutofit/>
          </a:bodyPr>
          <a:lstStyle/>
          <a:p>
            <a:pPr algn="l">
              <a:lnSpc>
                <a:spcPct val="105000"/>
              </a:lnSpc>
            </a:pPr>
            <a:r>
              <a:rPr sz="2100" b="1" i="0">
                <a:solidFill>
                  <a:srgbClr val="201914"/>
                </a:solidFill>
                <a:latin typeface="Arial"/>
              </a:rPr>
              <a:t>Cost</a:t>
            </a:r>
          </a:p>
        </p:txBody>
      </p:sp>
      <p:sp>
        <p:nvSpPr>
          <p:cNvPr id="16" name="TextBox 15"/>
          <p:cNvSpPr txBox="1"/>
          <p:nvPr/>
        </p:nvSpPr>
        <p:spPr>
          <a:xfrm>
            <a:off x="3790950" y="5037239"/>
            <a:ext cx="4667250" cy="1143000"/>
          </a:xfrm>
          <a:prstGeom prst="rect">
            <a:avLst/>
          </a:prstGeom>
          <a:noFill/>
        </p:spPr>
        <p:txBody>
          <a:bodyPr wrap="square" lIns="0" rIns="0" tIns="0" bIns="0" anchor="t">
            <a:noAutofit/>
          </a:bodyPr>
          <a:lstStyle/>
          <a:p>
            <a:pPr algn="l">
              <a:lnSpc>
                <a:spcPct val="105000"/>
              </a:lnSpc>
            </a:pPr>
            <a:r>
              <a:rPr sz="2100" b="0" i="0">
                <a:solidFill>
                  <a:srgbClr val="665B53"/>
                </a:solidFill>
                <a:latin typeface="Arial"/>
              </a:rPr>
              <a:t>'How long did that take?' / 'What did it cost you?'</a:t>
            </a:r>
          </a:p>
        </p:txBody>
      </p:sp>
      <p:sp>
        <p:nvSpPr>
          <p:cNvPr id="17" name="TextBox 16"/>
          <p:cNvSpPr txBox="1"/>
          <p:nvPr/>
        </p:nvSpPr>
        <p:spPr>
          <a:xfrm>
            <a:off x="8743950" y="5037239"/>
            <a:ext cx="4286250" cy="1143000"/>
          </a:xfrm>
          <a:prstGeom prst="rect">
            <a:avLst/>
          </a:prstGeom>
          <a:noFill/>
        </p:spPr>
        <p:txBody>
          <a:bodyPr wrap="square" lIns="0" rIns="0" tIns="0" bIns="0" anchor="t">
            <a:noAutofit/>
          </a:bodyPr>
          <a:lstStyle/>
          <a:p>
            <a:pPr algn="l">
              <a:lnSpc>
                <a:spcPct val="105000"/>
              </a:lnSpc>
            </a:pPr>
            <a:r>
              <a:rPr sz="2100" b="0" i="0">
                <a:solidFill>
                  <a:srgbClr val="665B53"/>
                </a:solidFill>
                <a:latin typeface="Arial"/>
              </a:rPr>
              <a:t>Whether it is worth paying to remove.</a:t>
            </a:r>
          </a:p>
        </p:txBody>
      </p:sp>
      <p:sp>
        <p:nvSpPr>
          <p:cNvPr id="18" name="TextBox 17"/>
          <p:cNvSpPr txBox="1"/>
          <p:nvPr/>
        </p:nvSpPr>
        <p:spPr>
          <a:xfrm>
            <a:off x="13315950" y="5037239"/>
            <a:ext cx="3371850" cy="1143000"/>
          </a:xfrm>
          <a:prstGeom prst="rect">
            <a:avLst/>
          </a:prstGeom>
          <a:noFill/>
        </p:spPr>
        <p:txBody>
          <a:bodyPr wrap="square" lIns="0" rIns="0" tIns="0" bIns="0" anchor="t">
            <a:noAutofit/>
          </a:bodyPr>
          <a:lstStyle/>
          <a:p>
            <a:pPr algn="l">
              <a:lnSpc>
                <a:spcPct val="105000"/>
              </a:lnSpc>
            </a:pPr>
            <a:r>
              <a:rPr sz="2100" b="0" i="0">
                <a:solidFill>
                  <a:srgbClr val="665B53"/>
                </a:solidFill>
                <a:latin typeface="Arial"/>
              </a:rPr>
              <a:t>An unpaid return visit across the city, on a day he could have earned elsewhere.</a:t>
            </a:r>
          </a:p>
        </p:txBody>
      </p:sp>
      <p:sp>
        <p:nvSpPr>
          <p:cNvPr id="19" name="Rectangle 18"/>
          <p:cNvSpPr/>
          <p:nvPr/>
        </p:nvSpPr>
        <p:spPr>
          <a:xfrm>
            <a:off x="1047750" y="6096000"/>
            <a:ext cx="16192500" cy="1143000"/>
          </a:xfrm>
          <a:prstGeom prst="rect">
            <a:avLst/>
          </a:prstGeom>
          <a:solidFill>
            <a:srgbClr val="201914"/>
          </a:solidFill>
          <a:ln>
            <a:noFill/>
          </a:ln>
          <a:effectLst/>
        </p:spPr>
        <p:txBody>
          <a:bodyPr rtlCol="0" anchor="ctr"/>
          <a:lstStyle/>
          <a:p>
            <a:pPr algn="ctr"/>
          </a:p>
        </p:txBody>
      </p:sp>
      <p:sp>
        <p:nvSpPr>
          <p:cNvPr id="20" name="TextBox 19"/>
          <p:cNvSpPr txBox="1"/>
          <p:nvPr/>
        </p:nvSpPr>
        <p:spPr>
          <a:xfrm>
            <a:off x="1314450" y="6180239"/>
            <a:ext cx="2190750" cy="1143000"/>
          </a:xfrm>
          <a:prstGeom prst="rect">
            <a:avLst/>
          </a:prstGeom>
          <a:noFill/>
        </p:spPr>
        <p:txBody>
          <a:bodyPr wrap="square" lIns="0" rIns="0" tIns="0" bIns="0" anchor="t">
            <a:noAutofit/>
          </a:bodyPr>
          <a:lstStyle/>
          <a:p>
            <a:pPr algn="l">
              <a:lnSpc>
                <a:spcPct val="105000"/>
              </a:lnSpc>
            </a:pPr>
            <a:r>
              <a:rPr sz="2100" b="1" i="0">
                <a:solidFill>
                  <a:srgbClr val="F5F1E9"/>
                </a:solidFill>
                <a:latin typeface="Arial"/>
              </a:rPr>
              <a:t>Consequence</a:t>
            </a:r>
          </a:p>
        </p:txBody>
      </p:sp>
      <p:sp>
        <p:nvSpPr>
          <p:cNvPr id="21" name="TextBox 20"/>
          <p:cNvSpPr txBox="1"/>
          <p:nvPr/>
        </p:nvSpPr>
        <p:spPr>
          <a:xfrm>
            <a:off x="3790950" y="6180239"/>
            <a:ext cx="4667250" cy="1143000"/>
          </a:xfrm>
          <a:prstGeom prst="rect">
            <a:avLst/>
          </a:prstGeom>
          <a:noFill/>
        </p:spPr>
        <p:txBody>
          <a:bodyPr wrap="square" lIns="0" rIns="0" tIns="0" bIns="0" anchor="t">
            <a:noAutofit/>
          </a:bodyPr>
          <a:lstStyle/>
          <a:p>
            <a:pPr algn="l">
              <a:lnSpc>
                <a:spcPct val="105000"/>
              </a:lnSpc>
            </a:pPr>
            <a:r>
              <a:rPr sz="2100" b="0" i="0">
                <a:solidFill>
                  <a:srgbClr val="F5F1E9"/>
                </a:solidFill>
                <a:latin typeface="Arial"/>
              </a:rPr>
              <a:t>'What happened after?' / 'Who else was affected?'</a:t>
            </a:r>
          </a:p>
        </p:txBody>
      </p:sp>
      <p:sp>
        <p:nvSpPr>
          <p:cNvPr id="22" name="TextBox 21"/>
          <p:cNvSpPr txBox="1"/>
          <p:nvPr/>
        </p:nvSpPr>
        <p:spPr>
          <a:xfrm>
            <a:off x="8743950" y="6180239"/>
            <a:ext cx="4286250" cy="1143000"/>
          </a:xfrm>
          <a:prstGeom prst="rect">
            <a:avLst/>
          </a:prstGeom>
          <a:noFill/>
        </p:spPr>
        <p:txBody>
          <a:bodyPr wrap="square" lIns="0" rIns="0" tIns="0" bIns="0" anchor="t">
            <a:noAutofit/>
          </a:bodyPr>
          <a:lstStyle/>
          <a:p>
            <a:pPr algn="l">
              <a:lnSpc>
                <a:spcPct val="105000"/>
              </a:lnSpc>
            </a:pPr>
            <a:r>
              <a:rPr sz="2100" b="0" i="0">
                <a:solidFill>
                  <a:srgbClr val="F5F1E9"/>
                </a:solidFill>
                <a:latin typeface="Arial"/>
              </a:rPr>
              <a:t>The real size, which is usually social rather than financial.</a:t>
            </a:r>
          </a:p>
        </p:txBody>
      </p:sp>
      <p:sp>
        <p:nvSpPr>
          <p:cNvPr id="23" name="TextBox 22"/>
          <p:cNvSpPr txBox="1"/>
          <p:nvPr/>
        </p:nvSpPr>
        <p:spPr>
          <a:xfrm>
            <a:off x="13315950" y="6180239"/>
            <a:ext cx="3371850" cy="1143000"/>
          </a:xfrm>
          <a:prstGeom prst="rect">
            <a:avLst/>
          </a:prstGeom>
          <a:noFill/>
        </p:spPr>
        <p:txBody>
          <a:bodyPr wrap="square" lIns="0" rIns="0" tIns="0" bIns="0" anchor="t">
            <a:noAutofit/>
          </a:bodyPr>
          <a:lstStyle/>
          <a:p>
            <a:pPr algn="l">
              <a:lnSpc>
                <a:spcPct val="105000"/>
              </a:lnSpc>
            </a:pPr>
            <a:r>
              <a:rPr sz="2100" b="0" i="0">
                <a:solidFill>
                  <a:srgbClr val="F5F1E9"/>
                </a:solidFill>
                <a:latin typeface="Arial"/>
              </a:rPr>
              <a:t>A customer who tells three neighbours. His income runs on word of mouth.</a:t>
            </a:r>
          </a:p>
        </p:txBody>
      </p:sp>
      <p:sp>
        <p:nvSpPr>
          <p:cNvPr id="24" name="Rectangle 23"/>
          <p:cNvSpPr/>
          <p:nvPr/>
        </p:nvSpPr>
        <p:spPr>
          <a:xfrm>
            <a:off x="1047750" y="7239000"/>
            <a:ext cx="16192500" cy="9525"/>
          </a:xfrm>
          <a:prstGeom prst="rect">
            <a:avLst/>
          </a:prstGeom>
          <a:solidFill>
            <a:srgbClr val="D8CFC7"/>
          </a:solidFill>
          <a:ln>
            <a:noFill/>
          </a:ln>
          <a:effectLst/>
        </p:spPr>
        <p:txBody>
          <a:bodyPr rtlCol="0" anchor="ctr"/>
          <a:lstStyle/>
          <a:p>
            <a:pPr algn="ctr"/>
          </a:p>
        </p:txBody>
      </p:sp>
      <p:sp>
        <p:nvSpPr>
          <p:cNvPr id="25" name="TextBox 24"/>
          <p:cNvSpPr txBox="1"/>
          <p:nvPr/>
        </p:nvSpPr>
        <p:spPr>
          <a:xfrm>
            <a:off x="1047750" y="8096250"/>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Never ask it cold. Point it at a story that is already on the table, and a person counts real occasions instead of estimating a life.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PIDILITE AND FLIPKART · FY25 · READ THESE HONESTLY</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Glue earns 23 rupees of operating profit on every hundred</a:t>
            </a:r>
          </a:p>
        </p:txBody>
      </p:sp>
      <p:sp>
        <p:nvSpPr>
          <p:cNvPr id="4" name="Rectangle 3"/>
          <p:cNvSpPr/>
          <p:nvPr/>
        </p:nvSpPr>
        <p:spPr>
          <a:xfrm>
            <a:off x="1047750" y="3409950"/>
            <a:ext cx="3762375" cy="45720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₹13,140</a:t>
            </a:r>
          </a:p>
        </p:txBody>
      </p:sp>
      <p:sp>
        <p:nvSpPr>
          <p:cNvPr id="6" name="TextBox 5"/>
          <p:cNvSpPr txBox="1"/>
          <p:nvPr/>
        </p:nvSpPr>
        <p:spPr>
          <a:xfrm>
            <a:off x="1466850"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crore of Pidilite sales</a:t>
            </a:r>
          </a:p>
        </p:txBody>
      </p:sp>
      <p:sp>
        <p:nvSpPr>
          <p:cNvPr id="7" name="TextBox 6"/>
          <p:cNvSpPr txBox="1"/>
          <p:nvPr/>
        </p:nvSpPr>
        <p:spPr>
          <a:xfrm>
            <a:off x="1466850" y="5170170"/>
            <a:ext cx="2924175" cy="2430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Up from about ₹12,383 crore the year before.</a:t>
            </a:r>
          </a:p>
        </p:txBody>
      </p:sp>
      <p:sp>
        <p:nvSpPr>
          <p:cNvPr id="8" name="Rectangle 7"/>
          <p:cNvSpPr/>
          <p:nvPr/>
        </p:nvSpPr>
        <p:spPr>
          <a:xfrm>
            <a:off x="5191125" y="3409950"/>
            <a:ext cx="3762375" cy="4572000"/>
          </a:xfrm>
          <a:prstGeom prst="rect">
            <a:avLst/>
          </a:prstGeom>
          <a:solidFill>
            <a:srgbClr val="C35141"/>
          </a:solidFill>
          <a:ln>
            <a:noFill/>
          </a:ln>
          <a:effectLst/>
        </p:spPr>
        <p:txBody>
          <a:bodyPr rtlCol="0" anchor="ctr"/>
          <a:lstStyle/>
          <a:p>
            <a:pPr algn="ctr"/>
          </a:p>
        </p:txBody>
      </p:sp>
      <p:sp>
        <p:nvSpPr>
          <p:cNvPr id="9" name="TextBox 8"/>
          <p:cNvSpPr txBox="1"/>
          <p:nvPr/>
        </p:nvSpPr>
        <p:spPr>
          <a:xfrm>
            <a:off x="5610225"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F5F1E9"/>
                </a:solidFill>
                <a:latin typeface="Arial"/>
              </a:rPr>
              <a:t>23%</a:t>
            </a:r>
          </a:p>
        </p:txBody>
      </p:sp>
      <p:sp>
        <p:nvSpPr>
          <p:cNvPr id="10" name="TextBox 9"/>
          <p:cNvSpPr txBox="1"/>
          <p:nvPr/>
        </p:nvSpPr>
        <p:spPr>
          <a:xfrm>
            <a:off x="5610225" y="4629150"/>
            <a:ext cx="2924175" cy="331470"/>
          </a:xfrm>
          <a:prstGeom prst="rect">
            <a:avLst/>
          </a:prstGeom>
          <a:noFill/>
        </p:spPr>
        <p:txBody>
          <a:bodyPr wrap="square" lIns="0" rIns="0" tIns="0" bIns="0" anchor="t">
            <a:noAutofit/>
          </a:bodyPr>
          <a:lstStyle/>
          <a:p>
            <a:pPr algn="l">
              <a:lnSpc>
                <a:spcPct val="105000"/>
              </a:lnSpc>
            </a:pPr>
            <a:r>
              <a:rPr sz="1800" b="1" i="0">
                <a:solidFill>
                  <a:srgbClr val="F5F1E9"/>
                </a:solidFill>
                <a:latin typeface="Arial"/>
              </a:rPr>
              <a:t>operating margin</a:t>
            </a:r>
          </a:p>
        </p:txBody>
      </p:sp>
      <p:sp>
        <p:nvSpPr>
          <p:cNvPr id="11" name="TextBox 10"/>
          <p:cNvSpPr txBox="1"/>
          <p:nvPr/>
        </p:nvSpPr>
        <p:spPr>
          <a:xfrm>
            <a:off x="5610225" y="5170170"/>
            <a:ext cx="2924175" cy="2430780"/>
          </a:xfrm>
          <a:prstGeom prst="rect">
            <a:avLst/>
          </a:prstGeom>
          <a:noFill/>
        </p:spPr>
        <p:txBody>
          <a:bodyPr wrap="square" lIns="0" rIns="0" tIns="0" bIns="0" anchor="t">
            <a:noAutofit/>
          </a:bodyPr>
          <a:lstStyle/>
          <a:p>
            <a:pPr algn="l">
              <a:lnSpc>
                <a:spcPct val="110000"/>
              </a:lnSpc>
            </a:pPr>
            <a:r>
              <a:rPr sz="2300" b="0" i="0">
                <a:solidFill>
                  <a:srgbClr val="F5F1E9"/>
                </a:solidFill>
                <a:latin typeface="Arial"/>
              </a:rPr>
              <a:t>₹3,011 crore of operating profit. No technology moat, no switching cost, and cheaper unbranded rivals.</a:t>
            </a:r>
          </a:p>
        </p:txBody>
      </p:sp>
      <p:sp>
        <p:nvSpPr>
          <p:cNvPr id="12" name="Rectangle 11"/>
          <p:cNvSpPr/>
          <p:nvPr/>
        </p:nvSpPr>
        <p:spPr>
          <a:xfrm>
            <a:off x="9334500" y="3409950"/>
            <a:ext cx="3762375" cy="4572000"/>
          </a:xfrm>
          <a:prstGeom prst="rect">
            <a:avLst/>
          </a:prstGeom>
          <a:solidFill>
            <a:srgbClr val="F0EAE1"/>
          </a:solidFill>
          <a:ln>
            <a:noFill/>
          </a:ln>
          <a:effectLst/>
        </p:spPr>
        <p:txBody>
          <a:bodyPr rtlCol="0" anchor="ctr"/>
          <a:lstStyle/>
          <a:p>
            <a:pPr algn="ctr"/>
          </a:p>
        </p:txBody>
      </p:sp>
      <p:sp>
        <p:nvSpPr>
          <p:cNvPr id="13" name="TextBox 12"/>
          <p:cNvSpPr txBox="1"/>
          <p:nvPr/>
        </p:nvSpPr>
        <p:spPr>
          <a:xfrm>
            <a:off x="9753600"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₹80</a:t>
            </a:r>
          </a:p>
        </p:txBody>
      </p:sp>
      <p:sp>
        <p:nvSpPr>
          <p:cNvPr id="14" name="TextBox 13"/>
          <p:cNvSpPr txBox="1"/>
          <p:nvPr/>
        </p:nvSpPr>
        <p:spPr>
          <a:xfrm>
            <a:off x="9753600"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the saving nobody takes</a:t>
            </a:r>
          </a:p>
        </p:txBody>
      </p:sp>
      <p:sp>
        <p:nvSpPr>
          <p:cNvPr id="15" name="TextBox 14"/>
          <p:cNvSpPr txBox="1"/>
          <p:nvPr/>
        </p:nvSpPr>
        <p:spPr>
          <a:xfrm>
            <a:off x="9753600" y="5170170"/>
            <a:ext cx="2924175" cy="2430780"/>
          </a:xfrm>
          <a:prstGeom prst="rect">
            <a:avLst/>
          </a:prstGeom>
          <a:noFill/>
        </p:spPr>
        <p:txBody>
          <a:bodyPr wrap="square" lIns="0" rIns="0" tIns="0" bIns="0" anchor="t">
            <a:noAutofit/>
          </a:bodyPr>
          <a:lstStyle/>
          <a:p>
            <a:pPr algn="l">
              <a:lnSpc>
                <a:spcPct val="110000"/>
              </a:lnSpc>
            </a:pPr>
            <a:r>
              <a:rPr sz="2200" b="0" i="0">
                <a:solidFill>
                  <a:srgbClr val="665B53"/>
                </a:solidFill>
                <a:latin typeface="Arial"/>
              </a:rPr>
              <a:t>A tin is a few hundred rupees against furniture of about ₹18,000 and about ₹4,000 of labour. A cheaper glue might save ₹80.</a:t>
            </a:r>
          </a:p>
        </p:txBody>
      </p:sp>
      <p:sp>
        <p:nvSpPr>
          <p:cNvPr id="16" name="Rectangle 15"/>
          <p:cNvSpPr/>
          <p:nvPr/>
        </p:nvSpPr>
        <p:spPr>
          <a:xfrm>
            <a:off x="13477875" y="3409950"/>
            <a:ext cx="3762375" cy="457200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13896975"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₹82,787</a:t>
            </a:r>
          </a:p>
        </p:txBody>
      </p:sp>
      <p:sp>
        <p:nvSpPr>
          <p:cNvPr id="18" name="TextBox 17"/>
          <p:cNvSpPr txBox="1"/>
          <p:nvPr/>
        </p:nvSpPr>
        <p:spPr>
          <a:xfrm>
            <a:off x="13896975"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crore of Flipkart revenue</a:t>
            </a:r>
          </a:p>
        </p:txBody>
      </p:sp>
      <p:sp>
        <p:nvSpPr>
          <p:cNvPr id="19" name="TextBox 18"/>
          <p:cNvSpPr txBox="1"/>
          <p:nvPr/>
        </p:nvSpPr>
        <p:spPr>
          <a:xfrm>
            <a:off x="13896975" y="5170170"/>
            <a:ext cx="2924175" cy="2430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With a net loss of about ₹5,189 crore. Walmart has held a controlling stake since 2018, currently around 85%.</a:t>
            </a:r>
          </a:p>
        </p:txBody>
      </p:sp>
      <p:sp>
        <p:nvSpPr>
          <p:cNvPr id="20" name="TextBox 1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Neither number is caused by interview technique. The narrower point: the same question architecture works for glue and for an internet company.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7 · CHECK EVERY GUIDE AGAINST THESE BEFORE YOU USE IT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Four Broken Patterns</a:t>
            </a:r>
          </a:p>
        </p:txBody>
      </p:sp>
      <p:sp>
        <p:nvSpPr>
          <p:cNvPr id="4" name="TextBox 3"/>
          <p:cNvSpPr txBox="1"/>
          <p:nvPr/>
        </p:nvSpPr>
        <p:spPr>
          <a:xfrm>
            <a:off x="1314450" y="2838450"/>
            <a:ext cx="2476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PATTERN</a:t>
            </a:r>
          </a:p>
        </p:txBody>
      </p:sp>
      <p:sp>
        <p:nvSpPr>
          <p:cNvPr id="5" name="TextBox 4"/>
          <p:cNvSpPr txBox="1"/>
          <p:nvPr/>
        </p:nvSpPr>
        <p:spPr>
          <a:xfrm>
            <a:off x="3981450" y="2838450"/>
            <a:ext cx="42862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DOES</a:t>
            </a:r>
          </a:p>
        </p:txBody>
      </p:sp>
      <p:sp>
        <p:nvSpPr>
          <p:cNvPr id="6" name="TextBox 5"/>
          <p:cNvSpPr txBox="1"/>
          <p:nvPr/>
        </p:nvSpPr>
        <p:spPr>
          <a:xfrm>
            <a:off x="8458200" y="2838450"/>
            <a:ext cx="4381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THE BROKEN VERSION</a:t>
            </a:r>
          </a:p>
        </p:txBody>
      </p:sp>
      <p:sp>
        <p:nvSpPr>
          <p:cNvPr id="7" name="TextBox 6"/>
          <p:cNvSpPr txBox="1"/>
          <p:nvPr/>
        </p:nvSpPr>
        <p:spPr>
          <a:xfrm>
            <a:off x="13030200" y="2838450"/>
            <a:ext cx="37528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THE FIX</a:t>
            </a:r>
          </a:p>
        </p:txBody>
      </p:sp>
      <p:sp>
        <p:nvSpPr>
          <p:cNvPr id="8" name="Rectangle 7"/>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3705225"/>
            <a:ext cx="2381250" cy="904494"/>
          </a:xfrm>
          <a:prstGeom prst="rect">
            <a:avLst/>
          </a:prstGeom>
          <a:noFill/>
        </p:spPr>
        <p:txBody>
          <a:bodyPr wrap="square" lIns="0" rIns="0" tIns="0" bIns="0" anchor="t">
            <a:noAutofit/>
          </a:bodyPr>
          <a:lstStyle/>
          <a:p>
            <a:pPr algn="l">
              <a:lnSpc>
                <a:spcPct val="105000"/>
              </a:lnSpc>
            </a:pPr>
            <a:r>
              <a:rPr sz="2000" b="1" i="0">
                <a:solidFill>
                  <a:srgbClr val="201914"/>
                </a:solidFill>
                <a:latin typeface="Arial"/>
              </a:rPr>
              <a:t>Closed</a:t>
            </a:r>
          </a:p>
        </p:txBody>
      </p:sp>
      <p:sp>
        <p:nvSpPr>
          <p:cNvPr id="10" name="TextBox 9"/>
          <p:cNvSpPr txBox="1"/>
          <p:nvPr/>
        </p:nvSpPr>
        <p:spPr>
          <a:xfrm>
            <a:off x="3981450" y="3705225"/>
            <a:ext cx="419100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Can be answered yes or no. Fine for confirming, useless for discovering.</a:t>
            </a:r>
          </a:p>
        </p:txBody>
      </p:sp>
      <p:sp>
        <p:nvSpPr>
          <p:cNvPr id="11" name="TextBox 10"/>
          <p:cNvSpPr txBox="1"/>
          <p:nvPr/>
        </p:nvSpPr>
        <p:spPr>
          <a:xfrm>
            <a:off x="8458200" y="3705225"/>
            <a:ext cx="428625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'Did you visit any campuses before deciding?'</a:t>
            </a:r>
          </a:p>
        </p:txBody>
      </p:sp>
      <p:sp>
        <p:nvSpPr>
          <p:cNvPr id="12" name="TextBox 11"/>
          <p:cNvSpPr txBox="1"/>
          <p:nvPr/>
        </p:nvSpPr>
        <p:spPr>
          <a:xfrm>
            <a:off x="13030200" y="3705225"/>
            <a:ext cx="365760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'Tell me about the last college you visited before deciding.'</a:t>
            </a:r>
          </a:p>
        </p:txBody>
      </p:sp>
      <p:sp>
        <p:nvSpPr>
          <p:cNvPr id="13" name="Rectangle 12"/>
          <p:cNvSpPr/>
          <p:nvPr/>
        </p:nvSpPr>
        <p:spPr>
          <a:xfrm>
            <a:off x="1047750" y="4466844"/>
            <a:ext cx="16192500" cy="904494"/>
          </a:xfrm>
          <a:prstGeom prst="rect">
            <a:avLst/>
          </a:prstGeom>
          <a:solidFill>
            <a:srgbClr val="F3EEE6"/>
          </a:solidFill>
          <a:ln>
            <a:noFill/>
          </a:ln>
          <a:effectLst/>
        </p:spPr>
        <p:txBody>
          <a:bodyPr rtlCol="0" anchor="ctr"/>
          <a:lstStyle/>
          <a:p>
            <a:pPr algn="ctr"/>
          </a:p>
        </p:txBody>
      </p:sp>
      <p:sp>
        <p:nvSpPr>
          <p:cNvPr id="14" name="Rectangle 13"/>
          <p:cNvSpPr/>
          <p:nvPr/>
        </p:nvSpPr>
        <p:spPr>
          <a:xfrm>
            <a:off x="1047750" y="4466844"/>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4609719"/>
            <a:ext cx="2381250" cy="904494"/>
          </a:xfrm>
          <a:prstGeom prst="rect">
            <a:avLst/>
          </a:prstGeom>
          <a:noFill/>
        </p:spPr>
        <p:txBody>
          <a:bodyPr wrap="square" lIns="0" rIns="0" tIns="0" bIns="0" anchor="t">
            <a:noAutofit/>
          </a:bodyPr>
          <a:lstStyle/>
          <a:p>
            <a:pPr algn="l">
              <a:lnSpc>
                <a:spcPct val="105000"/>
              </a:lnSpc>
            </a:pPr>
            <a:r>
              <a:rPr sz="2000" b="1" i="0">
                <a:solidFill>
                  <a:srgbClr val="201914"/>
                </a:solidFill>
                <a:latin typeface="Arial"/>
              </a:rPr>
              <a:t>Leading</a:t>
            </a:r>
          </a:p>
        </p:txBody>
      </p:sp>
      <p:sp>
        <p:nvSpPr>
          <p:cNvPr id="16" name="TextBox 15"/>
          <p:cNvSpPr txBox="1"/>
          <p:nvPr/>
        </p:nvSpPr>
        <p:spPr>
          <a:xfrm>
            <a:off x="3981450" y="4609719"/>
            <a:ext cx="419100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Supplies the emotion, so a polite person agrees.</a:t>
            </a:r>
          </a:p>
        </p:txBody>
      </p:sp>
      <p:sp>
        <p:nvSpPr>
          <p:cNvPr id="17" name="TextBox 16"/>
          <p:cNvSpPr txBox="1"/>
          <p:nvPr/>
        </p:nvSpPr>
        <p:spPr>
          <a:xfrm>
            <a:off x="8458200" y="4609719"/>
            <a:ext cx="428625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'Were you nervous about it?'</a:t>
            </a:r>
          </a:p>
        </p:txBody>
      </p:sp>
      <p:sp>
        <p:nvSpPr>
          <p:cNvPr id="18" name="TextBox 17"/>
          <p:cNvSpPr txBox="1"/>
          <p:nvPr/>
        </p:nvSpPr>
        <p:spPr>
          <a:xfrm>
            <a:off x="13030200" y="4609719"/>
            <a:ext cx="365760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'What was going through your mind at that moment?'</a:t>
            </a:r>
          </a:p>
        </p:txBody>
      </p:sp>
      <p:sp>
        <p:nvSpPr>
          <p:cNvPr id="19" name="Rectangle 18"/>
          <p:cNvSpPr/>
          <p:nvPr/>
        </p:nvSpPr>
        <p:spPr>
          <a:xfrm>
            <a:off x="1047750" y="5371338"/>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5514213"/>
            <a:ext cx="2381250" cy="1213866"/>
          </a:xfrm>
          <a:prstGeom prst="rect">
            <a:avLst/>
          </a:prstGeom>
          <a:noFill/>
        </p:spPr>
        <p:txBody>
          <a:bodyPr wrap="square" lIns="0" rIns="0" tIns="0" bIns="0" anchor="t">
            <a:noAutofit/>
          </a:bodyPr>
          <a:lstStyle/>
          <a:p>
            <a:pPr algn="l">
              <a:lnSpc>
                <a:spcPct val="105000"/>
              </a:lnSpc>
            </a:pPr>
            <a:r>
              <a:rPr sz="2000" b="1" i="0">
                <a:solidFill>
                  <a:srgbClr val="201914"/>
                </a:solidFill>
                <a:latin typeface="Arial"/>
              </a:rPr>
              <a:t>Hypothetical</a:t>
            </a:r>
          </a:p>
        </p:txBody>
      </p:sp>
      <p:sp>
        <p:nvSpPr>
          <p:cNvPr id="21" name="TextBox 20"/>
          <p:cNvSpPr txBox="1"/>
          <p:nvPr/>
        </p:nvSpPr>
        <p:spPr>
          <a:xfrm>
            <a:off x="3981450" y="5514213"/>
            <a:ext cx="4191000" cy="1213866"/>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Asks for a prediction about something that does not exist yet.</a:t>
            </a:r>
          </a:p>
        </p:txBody>
      </p:sp>
      <p:sp>
        <p:nvSpPr>
          <p:cNvPr id="22" name="TextBox 21"/>
          <p:cNvSpPr txBox="1"/>
          <p:nvPr/>
        </p:nvSpPr>
        <p:spPr>
          <a:xfrm>
            <a:off x="8458200" y="5514213"/>
            <a:ext cx="4286250" cy="1213866"/>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'Would you use a comparison tool if we built one?'</a:t>
            </a:r>
          </a:p>
        </p:txBody>
      </p:sp>
      <p:sp>
        <p:nvSpPr>
          <p:cNvPr id="23" name="TextBox 22"/>
          <p:cNvSpPr txBox="1"/>
          <p:nvPr/>
        </p:nvSpPr>
        <p:spPr>
          <a:xfrm>
            <a:off x="13030200" y="5514213"/>
            <a:ext cx="3657600" cy="1213866"/>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'Tell me about the last time you had two options open and could not choose.'</a:t>
            </a:r>
          </a:p>
        </p:txBody>
      </p:sp>
      <p:sp>
        <p:nvSpPr>
          <p:cNvPr id="24" name="Rectangle 23"/>
          <p:cNvSpPr/>
          <p:nvPr/>
        </p:nvSpPr>
        <p:spPr>
          <a:xfrm>
            <a:off x="1047750" y="6585204"/>
            <a:ext cx="16192500" cy="904494"/>
          </a:xfrm>
          <a:prstGeom prst="rect">
            <a:avLst/>
          </a:prstGeom>
          <a:solidFill>
            <a:srgbClr val="F3EEE6"/>
          </a:solidFill>
          <a:ln>
            <a:noFill/>
          </a:ln>
          <a:effectLst/>
        </p:spPr>
        <p:txBody>
          <a:bodyPr rtlCol="0" anchor="ctr"/>
          <a:lstStyle/>
          <a:p>
            <a:pPr algn="ctr"/>
          </a:p>
        </p:txBody>
      </p:sp>
      <p:sp>
        <p:nvSpPr>
          <p:cNvPr id="25" name="Rectangle 24"/>
          <p:cNvSpPr/>
          <p:nvPr/>
        </p:nvSpPr>
        <p:spPr>
          <a:xfrm>
            <a:off x="1047750" y="6585204"/>
            <a:ext cx="16192500" cy="9525"/>
          </a:xfrm>
          <a:prstGeom prst="rect">
            <a:avLst/>
          </a:prstGeom>
          <a:solidFill>
            <a:srgbClr val="D8CFC7"/>
          </a:solidFill>
          <a:ln>
            <a:noFill/>
          </a:ln>
          <a:effectLst/>
        </p:spPr>
        <p:txBody>
          <a:bodyPr rtlCol="0" anchor="ctr"/>
          <a:lstStyle/>
          <a:p>
            <a:pPr algn="ctr"/>
          </a:p>
        </p:txBody>
      </p:sp>
      <p:sp>
        <p:nvSpPr>
          <p:cNvPr id="26" name="TextBox 25"/>
          <p:cNvSpPr txBox="1"/>
          <p:nvPr/>
        </p:nvSpPr>
        <p:spPr>
          <a:xfrm>
            <a:off x="1314450" y="6728079"/>
            <a:ext cx="2381250" cy="904494"/>
          </a:xfrm>
          <a:prstGeom prst="rect">
            <a:avLst/>
          </a:prstGeom>
          <a:noFill/>
        </p:spPr>
        <p:txBody>
          <a:bodyPr wrap="square" lIns="0" rIns="0" tIns="0" bIns="0" anchor="t">
            <a:noAutofit/>
          </a:bodyPr>
          <a:lstStyle/>
          <a:p>
            <a:pPr algn="l">
              <a:lnSpc>
                <a:spcPct val="105000"/>
              </a:lnSpc>
            </a:pPr>
            <a:r>
              <a:rPr sz="2000" b="1" i="0">
                <a:solidFill>
                  <a:srgbClr val="201914"/>
                </a:solidFill>
                <a:latin typeface="Arial"/>
              </a:rPr>
              <a:t>Double-barrelled</a:t>
            </a:r>
          </a:p>
        </p:txBody>
      </p:sp>
      <p:sp>
        <p:nvSpPr>
          <p:cNvPr id="27" name="TextBox 26"/>
          <p:cNvSpPr txBox="1"/>
          <p:nvPr/>
        </p:nvSpPr>
        <p:spPr>
          <a:xfrm>
            <a:off x="3981450" y="6728079"/>
            <a:ext cx="419100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Asks two things, so the answer to neither can be read.</a:t>
            </a:r>
          </a:p>
        </p:txBody>
      </p:sp>
      <p:sp>
        <p:nvSpPr>
          <p:cNvPr id="28" name="TextBox 27"/>
          <p:cNvSpPr txBox="1"/>
          <p:nvPr/>
        </p:nvSpPr>
        <p:spPr>
          <a:xfrm>
            <a:off x="8458200" y="6728079"/>
            <a:ext cx="428625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'How satisfied were you with the speed and accuracy of the delivery?'</a:t>
            </a:r>
          </a:p>
        </p:txBody>
      </p:sp>
      <p:sp>
        <p:nvSpPr>
          <p:cNvPr id="29" name="TextBox 28"/>
          <p:cNvSpPr txBox="1"/>
          <p:nvPr/>
        </p:nvSpPr>
        <p:spPr>
          <a:xfrm>
            <a:off x="13030200" y="6728079"/>
            <a:ext cx="3657600" cy="904494"/>
          </a:xfrm>
          <a:prstGeom prst="rect">
            <a:avLst/>
          </a:prstGeom>
          <a:noFill/>
        </p:spPr>
        <p:txBody>
          <a:bodyPr wrap="square" lIns="0" rIns="0" tIns="0" bIns="0" anchor="t">
            <a:noAutofit/>
          </a:bodyPr>
          <a:lstStyle/>
          <a:p>
            <a:pPr algn="l">
              <a:lnSpc>
                <a:spcPct val="105000"/>
              </a:lnSpc>
            </a:pPr>
            <a:r>
              <a:rPr sz="2000" b="0" i="0">
                <a:solidFill>
                  <a:srgbClr val="665B53"/>
                </a:solidFill>
                <a:latin typeface="Arial"/>
              </a:rPr>
              <a:t>Split it, or better, replace both with a ground question.</a:t>
            </a:r>
          </a:p>
        </p:txBody>
      </p:sp>
      <p:sp>
        <p:nvSpPr>
          <p:cNvPr id="30" name="Rectangle 29"/>
          <p:cNvSpPr/>
          <p:nvPr/>
        </p:nvSpPr>
        <p:spPr>
          <a:xfrm>
            <a:off x="1047750" y="7489698"/>
            <a:ext cx="16192500" cy="9525"/>
          </a:xfrm>
          <a:prstGeom prst="rect">
            <a:avLst/>
          </a:prstGeom>
          <a:solidFill>
            <a:srgbClr val="D8CFC7"/>
          </a:solidFill>
          <a:ln>
            <a:noFill/>
          </a:ln>
          <a:effectLst/>
        </p:spPr>
        <p:txBody>
          <a:bodyPr rtlCol="0" anchor="ctr"/>
          <a:lstStyle/>
          <a:p>
            <a:pPr algn="ctr"/>
          </a:p>
        </p:txBody>
      </p:sp>
      <p:sp>
        <p:nvSpPr>
          <p:cNvPr id="31" name="TextBox 30"/>
          <p:cNvSpPr txBox="1"/>
          <p:nvPr/>
        </p:nvSpPr>
        <p:spPr>
          <a:xfrm>
            <a:off x="1047750" y="8096250"/>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Everybody writes at least two of these in a first draft, including people who were warned forty minutes earlier.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BOUNDARY · WHERE A GOOD GUIDE STILL FAILS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Three ways a well-built guide still fails</a:t>
            </a:r>
          </a:p>
        </p:txBody>
      </p:sp>
      <p:sp>
        <p:nvSpPr>
          <p:cNvPr id="4" name="Rectangle 3"/>
          <p:cNvSpPr/>
          <p:nvPr/>
        </p:nvSpPr>
        <p:spPr>
          <a:xfrm>
            <a:off x="1047750" y="312420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Following it instead of listening</a:t>
            </a:r>
          </a:p>
        </p:txBody>
      </p:sp>
      <p:sp>
        <p:nvSpPr>
          <p:cNvPr id="6" name="TextBox 5"/>
          <p:cNvSpPr txBox="1"/>
          <p:nvPr/>
        </p:nvSpPr>
        <p:spPr>
          <a:xfrm>
            <a:off x="1047750" y="4549673"/>
            <a:ext cx="5143500" cy="354657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The guide is a safety net, not a script. If the conversation is going well you should end up asking three of the ten. The test after any interview: did you ask something that was not on the page?</a:t>
            </a:r>
          </a:p>
        </p:txBody>
      </p:sp>
      <p:sp>
        <p:nvSpPr>
          <p:cNvPr id="7" name="Rectangle 6"/>
          <p:cNvSpPr/>
          <p:nvPr/>
        </p:nvSpPr>
        <p:spPr>
          <a:xfrm>
            <a:off x="6572250" y="312420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Manufacturing a cost</a:t>
            </a:r>
          </a:p>
        </p:txBody>
      </p:sp>
      <p:sp>
        <p:nvSpPr>
          <p:cNvPr id="9" name="TextBox 8"/>
          <p:cNvSpPr txBox="1"/>
          <p:nvPr/>
        </p:nvSpPr>
        <p:spPr>
          <a:xfrm>
            <a:off x="6572250" y="4549673"/>
            <a:ext cx="5143500" cy="354657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'What did that cost you?' has already assumed there was one, and a helpful respondent will find it. Ask for the last actual occasion, and write down 'nothing, I bought a different one' as the finding it is.</a:t>
            </a:r>
          </a:p>
        </p:txBody>
      </p:sp>
      <p:sp>
        <p:nvSpPr>
          <p:cNvPr id="10" name="Rectangle 9"/>
          <p:cNvSpPr/>
          <p:nvPr/>
        </p:nvSpPr>
        <p:spPr>
          <a:xfrm>
            <a:off x="12096750" y="312420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An arc built for thirty minutes, used in six</a:t>
            </a:r>
          </a:p>
        </p:txBody>
      </p:sp>
      <p:sp>
        <p:nvSpPr>
          <p:cNvPr id="12" name="TextBox 11"/>
          <p:cNvSpPr txBox="1"/>
          <p:nvPr/>
        </p:nvSpPr>
        <p:spPr>
          <a:xfrm>
            <a:off x="12096750" y="4549673"/>
            <a:ext cx="5143500" cy="354657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Cut context almost entirely. Keep one ground question, one excavate follow-up, one implication question and the close. Four questions in the right order beat ten in the wrong one.</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You never open a short interview with the hardest thing you want to know, because you have not earned the trust it needs.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ACTIVITY · ON PAPER · WRITE, THEN SWAP AND MARK</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Write the guide, then get it marked</a:t>
            </a:r>
          </a:p>
        </p:txBody>
      </p:sp>
      <p:sp>
        <p:nvSpPr>
          <p:cNvPr id="4" name="TextBox 3"/>
          <p:cNvSpPr txBox="1"/>
          <p:nvPr/>
        </p:nvSpPr>
        <p:spPr>
          <a:xfrm>
            <a:off x="1047750" y="2838450"/>
            <a:ext cx="16192500" cy="1809750"/>
          </a:xfrm>
          <a:prstGeom prst="rect">
            <a:avLst/>
          </a:prstGeom>
          <a:noFill/>
        </p:spPr>
        <p:txBody>
          <a:bodyPr wrap="square" lIns="0" rIns="0" tIns="0" bIns="0" anchor="t">
            <a:noAutofit/>
          </a:bodyPr>
          <a:lstStyle/>
          <a:p>
            <a:pPr algn="l">
              <a:lnSpc>
                <a:spcPct val="110000"/>
              </a:lnSpc>
            </a:pPr>
            <a:r>
              <a:rPr sz="2850" b="1" i="0">
                <a:solidFill>
                  <a:srgbClr val="201914"/>
                </a:solidFill>
                <a:latin typeface="Arial"/>
              </a:rPr>
              <a:t>You are researching how families in India actually decide which college a student joins: not what a brochure says, but what happened in the six weeks before the decision, who was in the room and what got given up. Write a ten-question guide for a thirty-minute conversation with a first-year student or a parent.</a:t>
            </a:r>
          </a:p>
        </p:txBody>
      </p:sp>
      <p:sp>
        <p:nvSpPr>
          <p:cNvPr id="5" name="TextBox 4"/>
          <p:cNvSpPr txBox="1"/>
          <p:nvPr/>
        </p:nvSpPr>
        <p:spPr>
          <a:xfrm>
            <a:off x="1047750" y="5066843"/>
            <a:ext cx="381000" cy="419100"/>
          </a:xfrm>
          <a:prstGeom prst="rect">
            <a:avLst/>
          </a:prstGeom>
          <a:noFill/>
        </p:spPr>
        <p:txBody>
          <a:bodyPr wrap="square" lIns="0" rIns="0" tIns="0" bIns="0" anchor="t">
            <a:noAutofit/>
          </a:bodyPr>
          <a:lstStyle/>
          <a:p>
            <a:pPr algn="l">
              <a:lnSpc>
                <a:spcPct val="108000"/>
              </a:lnSpc>
            </a:pPr>
            <a:r>
              <a:rPr sz="1900" b="1" i="0">
                <a:solidFill>
                  <a:srgbClr val="C35141"/>
                </a:solidFill>
                <a:latin typeface="Arial"/>
              </a:rPr>
              <a:t>1</a:t>
            </a:r>
          </a:p>
        </p:txBody>
      </p:sp>
      <p:sp>
        <p:nvSpPr>
          <p:cNvPr id="6" name="TextBox 5"/>
          <p:cNvSpPr txBox="1"/>
          <p:nvPr/>
        </p:nvSpPr>
        <p:spPr>
          <a:xfrm>
            <a:off x="1485900" y="5066843"/>
            <a:ext cx="6953250" cy="672948"/>
          </a:xfrm>
          <a:prstGeom prst="rect">
            <a:avLst/>
          </a:prstGeom>
          <a:noFill/>
        </p:spPr>
        <p:txBody>
          <a:bodyPr wrap="square" lIns="0" rIns="0" tIns="0" bIns="0" anchor="t">
            <a:noAutofit/>
          </a:bodyPr>
          <a:lstStyle/>
          <a:p>
            <a:pPr algn="l">
              <a:lnSpc>
                <a:spcPct val="110000"/>
              </a:lnSpc>
            </a:pPr>
            <a:r>
              <a:rPr sz="1900" b="0" i="0">
                <a:solidFill>
                  <a:srgbClr val="201914"/>
                </a:solidFill>
                <a:latin typeface="Arial"/>
              </a:rPr>
              <a:t>Write ten questions in the order you would ask them: about two context, five experience, two implication and one close.</a:t>
            </a:r>
          </a:p>
        </p:txBody>
      </p:sp>
      <p:sp>
        <p:nvSpPr>
          <p:cNvPr id="7" name="TextBox 6"/>
          <p:cNvSpPr txBox="1"/>
          <p:nvPr/>
        </p:nvSpPr>
        <p:spPr>
          <a:xfrm>
            <a:off x="1047750" y="5968390"/>
            <a:ext cx="381000" cy="419100"/>
          </a:xfrm>
          <a:prstGeom prst="rect">
            <a:avLst/>
          </a:prstGeom>
          <a:noFill/>
        </p:spPr>
        <p:txBody>
          <a:bodyPr wrap="square" lIns="0" rIns="0" tIns="0" bIns="0" anchor="t">
            <a:noAutofit/>
          </a:bodyPr>
          <a:lstStyle/>
          <a:p>
            <a:pPr algn="l">
              <a:lnSpc>
                <a:spcPct val="108000"/>
              </a:lnSpc>
            </a:pPr>
            <a:r>
              <a:rPr sz="1900" b="1" i="0">
                <a:solidFill>
                  <a:srgbClr val="C35141"/>
                </a:solidFill>
                <a:latin typeface="Arial"/>
              </a:rPr>
              <a:t>2</a:t>
            </a:r>
          </a:p>
        </p:txBody>
      </p:sp>
      <p:sp>
        <p:nvSpPr>
          <p:cNvPr id="8" name="TextBox 7"/>
          <p:cNvSpPr txBox="1"/>
          <p:nvPr/>
        </p:nvSpPr>
        <p:spPr>
          <a:xfrm>
            <a:off x="1485900" y="5968390"/>
            <a:ext cx="6953250" cy="980846"/>
          </a:xfrm>
          <a:prstGeom prst="rect">
            <a:avLst/>
          </a:prstGeom>
          <a:noFill/>
        </p:spPr>
        <p:txBody>
          <a:bodyPr wrap="square" lIns="0" rIns="0" tIns="0" bIns="0" anchor="t">
            <a:noAutofit/>
          </a:bodyPr>
          <a:lstStyle/>
          <a:p>
            <a:pPr algn="l">
              <a:lnSpc>
                <a:spcPct val="110000"/>
              </a:lnSpc>
            </a:pPr>
            <a:r>
              <a:rPr sz="1900" b="0" i="0">
                <a:solidFill>
                  <a:srgbClr val="201914"/>
                </a:solidFill>
                <a:latin typeface="Arial"/>
              </a:rPr>
              <a:t>Question one must be easy for anybody to answer without thinking. Question two or three must contain 'the last time' or a date. No such question means you have a topic, not an interview.</a:t>
            </a:r>
          </a:p>
        </p:txBody>
      </p:sp>
      <p:sp>
        <p:nvSpPr>
          <p:cNvPr id="9" name="TextBox 8"/>
          <p:cNvSpPr txBox="1"/>
          <p:nvPr/>
        </p:nvSpPr>
        <p:spPr>
          <a:xfrm>
            <a:off x="1047750" y="7177837"/>
            <a:ext cx="381000" cy="419100"/>
          </a:xfrm>
          <a:prstGeom prst="rect">
            <a:avLst/>
          </a:prstGeom>
          <a:noFill/>
        </p:spPr>
        <p:txBody>
          <a:bodyPr wrap="square" lIns="0" rIns="0" tIns="0" bIns="0" anchor="t">
            <a:noAutofit/>
          </a:bodyPr>
          <a:lstStyle/>
          <a:p>
            <a:pPr algn="l">
              <a:lnSpc>
                <a:spcPct val="108000"/>
              </a:lnSpc>
            </a:pPr>
            <a:r>
              <a:rPr sz="1900" b="1" i="0">
                <a:solidFill>
                  <a:srgbClr val="C35141"/>
                </a:solidFill>
                <a:latin typeface="Arial"/>
              </a:rPr>
              <a:t>3</a:t>
            </a:r>
          </a:p>
        </p:txBody>
      </p:sp>
      <p:sp>
        <p:nvSpPr>
          <p:cNvPr id="10" name="TextBox 9"/>
          <p:cNvSpPr txBox="1"/>
          <p:nvPr/>
        </p:nvSpPr>
        <p:spPr>
          <a:xfrm>
            <a:off x="1485900" y="7177837"/>
            <a:ext cx="6953250" cy="672948"/>
          </a:xfrm>
          <a:prstGeom prst="rect">
            <a:avLst/>
          </a:prstGeom>
          <a:noFill/>
        </p:spPr>
        <p:txBody>
          <a:bodyPr wrap="square" lIns="0" rIns="0" tIns="0" bIns="0" anchor="t">
            <a:noAutofit/>
          </a:bodyPr>
          <a:lstStyle/>
          <a:p>
            <a:pPr algn="l">
              <a:lnSpc>
                <a:spcPct val="110000"/>
              </a:lnSpc>
            </a:pPr>
            <a:r>
              <a:rPr sz="1900" b="0" i="0">
                <a:solidFill>
                  <a:srgbClr val="201914"/>
                </a:solidFill>
                <a:latin typeface="Arial"/>
              </a:rPr>
              <a:t>Colour every question as you write it: blue ground, green excavate, amber quantify. If it fits none, write 'none' beside it.</a:t>
            </a:r>
          </a:p>
        </p:txBody>
      </p:sp>
      <p:sp>
        <p:nvSpPr>
          <p:cNvPr id="11" name="TextBox 10"/>
          <p:cNvSpPr txBox="1"/>
          <p:nvPr/>
        </p:nvSpPr>
        <p:spPr>
          <a:xfrm>
            <a:off x="1047750" y="8079384"/>
            <a:ext cx="381000" cy="419100"/>
          </a:xfrm>
          <a:prstGeom prst="rect">
            <a:avLst/>
          </a:prstGeom>
          <a:noFill/>
        </p:spPr>
        <p:txBody>
          <a:bodyPr wrap="square" lIns="0" rIns="0" tIns="0" bIns="0" anchor="t">
            <a:noAutofit/>
          </a:bodyPr>
          <a:lstStyle/>
          <a:p>
            <a:pPr algn="l">
              <a:lnSpc>
                <a:spcPct val="108000"/>
              </a:lnSpc>
            </a:pPr>
            <a:r>
              <a:rPr sz="1900" b="1" i="0">
                <a:solidFill>
                  <a:srgbClr val="C35141"/>
                </a:solidFill>
                <a:latin typeface="Arial"/>
              </a:rPr>
              <a:t>4</a:t>
            </a:r>
          </a:p>
        </p:txBody>
      </p:sp>
      <p:sp>
        <p:nvSpPr>
          <p:cNvPr id="12" name="TextBox 11"/>
          <p:cNvSpPr txBox="1"/>
          <p:nvPr/>
        </p:nvSpPr>
        <p:spPr>
          <a:xfrm>
            <a:off x="1485900" y="8079384"/>
            <a:ext cx="6953250" cy="980846"/>
          </a:xfrm>
          <a:prstGeom prst="rect">
            <a:avLst/>
          </a:prstGeom>
          <a:noFill/>
        </p:spPr>
        <p:txBody>
          <a:bodyPr wrap="square" lIns="0" rIns="0" tIns="0" bIns="0" anchor="t">
            <a:noAutofit/>
          </a:bodyPr>
          <a:lstStyle/>
          <a:p>
            <a:pPr algn="l">
              <a:lnSpc>
                <a:spcPct val="110000"/>
              </a:lnSpc>
            </a:pPr>
            <a:r>
              <a:rPr sz="1900" b="0" i="0">
                <a:solidFill>
                  <a:srgbClr val="201914"/>
                </a:solidFill>
                <a:latin typeface="Arial"/>
              </a:rPr>
              <a:t>At least two implication questions, in two different shapes: one frequency or cost, and one consequence. Here the consequence is where the finding is.</a:t>
            </a:r>
          </a:p>
        </p:txBody>
      </p:sp>
      <p:sp>
        <p:nvSpPr>
          <p:cNvPr id="13" name="TextBox 12"/>
          <p:cNvSpPr txBox="1"/>
          <p:nvPr/>
        </p:nvSpPr>
        <p:spPr>
          <a:xfrm>
            <a:off x="9429750" y="5066843"/>
            <a:ext cx="381000" cy="419100"/>
          </a:xfrm>
          <a:prstGeom prst="rect">
            <a:avLst/>
          </a:prstGeom>
          <a:noFill/>
        </p:spPr>
        <p:txBody>
          <a:bodyPr wrap="square" lIns="0" rIns="0" tIns="0" bIns="0" anchor="t">
            <a:noAutofit/>
          </a:bodyPr>
          <a:lstStyle/>
          <a:p>
            <a:pPr algn="l">
              <a:lnSpc>
                <a:spcPct val="108000"/>
              </a:lnSpc>
            </a:pPr>
            <a:r>
              <a:rPr sz="1900" b="1" i="0">
                <a:solidFill>
                  <a:srgbClr val="C35141"/>
                </a:solidFill>
                <a:latin typeface="Arial"/>
              </a:rPr>
              <a:t>5</a:t>
            </a:r>
          </a:p>
        </p:txBody>
      </p:sp>
      <p:sp>
        <p:nvSpPr>
          <p:cNvPr id="14" name="TextBox 13"/>
          <p:cNvSpPr txBox="1"/>
          <p:nvPr/>
        </p:nvSpPr>
        <p:spPr>
          <a:xfrm>
            <a:off x="9867900" y="5066843"/>
            <a:ext cx="6953250" cy="980846"/>
          </a:xfrm>
          <a:prstGeom prst="rect">
            <a:avLst/>
          </a:prstGeom>
          <a:noFill/>
        </p:spPr>
        <p:txBody>
          <a:bodyPr wrap="square" lIns="0" rIns="0" tIns="0" bIns="0" anchor="t">
            <a:noAutofit/>
          </a:bodyPr>
          <a:lstStyle/>
          <a:p>
            <a:pPr algn="l">
              <a:lnSpc>
                <a:spcPct val="110000"/>
              </a:lnSpc>
            </a:pPr>
            <a:r>
              <a:rPr sz="1900" b="0" i="0">
                <a:solidFill>
                  <a:srgbClr val="201914"/>
                </a:solidFill>
                <a:latin typeface="Arial"/>
              </a:rPr>
              <a:t>Read your own guide once. Strike out anything closed, leading, hypothetical or double-barrelled, then write your colour count at the top.</a:t>
            </a:r>
          </a:p>
        </p:txBody>
      </p:sp>
      <p:sp>
        <p:nvSpPr>
          <p:cNvPr id="15" name="TextBox 14"/>
          <p:cNvSpPr txBox="1"/>
          <p:nvPr/>
        </p:nvSpPr>
        <p:spPr>
          <a:xfrm>
            <a:off x="9429750" y="6276289"/>
            <a:ext cx="381000" cy="419100"/>
          </a:xfrm>
          <a:prstGeom prst="rect">
            <a:avLst/>
          </a:prstGeom>
          <a:noFill/>
        </p:spPr>
        <p:txBody>
          <a:bodyPr wrap="square" lIns="0" rIns="0" tIns="0" bIns="0" anchor="t">
            <a:noAutofit/>
          </a:bodyPr>
          <a:lstStyle/>
          <a:p>
            <a:pPr algn="l">
              <a:lnSpc>
                <a:spcPct val="108000"/>
              </a:lnSpc>
            </a:pPr>
            <a:r>
              <a:rPr sz="1900" b="1" i="0">
                <a:solidFill>
                  <a:srgbClr val="C35141"/>
                </a:solidFill>
                <a:latin typeface="Arial"/>
              </a:rPr>
              <a:t>6</a:t>
            </a:r>
          </a:p>
        </p:txBody>
      </p:sp>
      <p:sp>
        <p:nvSpPr>
          <p:cNvPr id="16" name="TextBox 15"/>
          <p:cNvSpPr txBox="1"/>
          <p:nvPr/>
        </p:nvSpPr>
        <p:spPr>
          <a:xfrm>
            <a:off x="9867900" y="6276289"/>
            <a:ext cx="6953250" cy="1288745"/>
          </a:xfrm>
          <a:prstGeom prst="rect">
            <a:avLst/>
          </a:prstGeom>
          <a:noFill/>
        </p:spPr>
        <p:txBody>
          <a:bodyPr wrap="square" lIns="0" rIns="0" tIns="0" bIns="0" anchor="t">
            <a:noAutofit/>
          </a:bodyPr>
          <a:lstStyle/>
          <a:p>
            <a:pPr algn="l">
              <a:lnSpc>
                <a:spcPct val="110000"/>
              </a:lnSpc>
            </a:pPr>
            <a:r>
              <a:rPr sz="1900" b="0" i="0">
                <a:solidFill>
                  <a:srgbClr val="201914"/>
                </a:solidFill>
                <a:latin typeface="Arial"/>
              </a:rPr>
              <a:t>Swap with the person next to you. The marker circles every broken pattern you missed, writes the real colour count and flags it if there is no amber. Argue about two marks at most and rewrite your three worst questions.</a:t>
            </a:r>
          </a:p>
        </p:txBody>
      </p:sp>
      <p:sp>
        <p:nvSpPr>
          <p:cNvPr id="17" name="TextBox 16"/>
          <p:cNvSpPr txBox="1"/>
          <p:nvPr/>
        </p:nvSpPr>
        <p:spPr>
          <a:xfrm>
            <a:off x="9429750" y="7793634"/>
            <a:ext cx="381000" cy="419100"/>
          </a:xfrm>
          <a:prstGeom prst="rect">
            <a:avLst/>
          </a:prstGeom>
          <a:noFill/>
        </p:spPr>
        <p:txBody>
          <a:bodyPr wrap="square" lIns="0" rIns="0" tIns="0" bIns="0" anchor="t">
            <a:noAutofit/>
          </a:bodyPr>
          <a:lstStyle/>
          <a:p>
            <a:pPr algn="l">
              <a:lnSpc>
                <a:spcPct val="108000"/>
              </a:lnSpc>
            </a:pPr>
            <a:r>
              <a:rPr sz="1900" b="1" i="0">
                <a:solidFill>
                  <a:srgbClr val="C35141"/>
                </a:solidFill>
                <a:latin typeface="Arial"/>
              </a:rPr>
              <a:t>7</a:t>
            </a:r>
          </a:p>
        </p:txBody>
      </p:sp>
      <p:sp>
        <p:nvSpPr>
          <p:cNvPr id="18" name="TextBox 17"/>
          <p:cNvSpPr txBox="1"/>
          <p:nvPr/>
        </p:nvSpPr>
        <p:spPr>
          <a:xfrm>
            <a:off x="9867900" y="7793634"/>
            <a:ext cx="6953250" cy="1288745"/>
          </a:xfrm>
          <a:prstGeom prst="rect">
            <a:avLst/>
          </a:prstGeom>
          <a:noFill/>
        </p:spPr>
        <p:txBody>
          <a:bodyPr wrap="square" lIns="0" rIns="0" tIns="0" bIns="0" anchor="t">
            <a:noAutofit/>
          </a:bodyPr>
          <a:lstStyle/>
          <a:p>
            <a:pPr algn="l">
              <a:lnSpc>
                <a:spcPct val="110000"/>
              </a:lnSpc>
            </a:pPr>
            <a:r>
              <a:rPr sz="1900" b="0" i="0">
                <a:solidFill>
                  <a:srgbClr val="201914"/>
                </a:solidFill>
                <a:latin typeface="Arial"/>
              </a:rPr>
              <a:t>Overnight: run the guide on one person who joined a college in the last three years. Note every question you asked that was not on the sheet, every one you skipped, and how many times you spoke before counting to five.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YOUR TEMPLATE · TEN QUESTIONS, COLOURED AS YOU WRITE</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One row per question</a:t>
            </a:r>
          </a:p>
        </p:txBody>
      </p:sp>
      <p:sp>
        <p:nvSpPr>
          <p:cNvPr id="4" name="TextBox 3"/>
          <p:cNvSpPr txBox="1"/>
          <p:nvPr/>
        </p:nvSpPr>
        <p:spPr>
          <a:xfrm>
            <a:off x="1314450" y="2838450"/>
            <a:ext cx="4762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a:t>
            </a:r>
          </a:p>
        </p:txBody>
      </p:sp>
      <p:sp>
        <p:nvSpPr>
          <p:cNvPr id="5" name="TextBox 4"/>
          <p:cNvSpPr txBox="1"/>
          <p:nvPr/>
        </p:nvSpPr>
        <p:spPr>
          <a:xfrm>
            <a:off x="1981200" y="2838450"/>
            <a:ext cx="63817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MY QUESTION</a:t>
            </a:r>
          </a:p>
        </p:txBody>
      </p:sp>
      <p:sp>
        <p:nvSpPr>
          <p:cNvPr id="6" name="TextBox 5"/>
          <p:cNvSpPr txBox="1"/>
          <p:nvPr/>
        </p:nvSpPr>
        <p:spPr>
          <a:xfrm>
            <a:off x="8553450" y="2838450"/>
            <a:ext cx="2857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JOB AND COLOUR</a:t>
            </a:r>
          </a:p>
        </p:txBody>
      </p:sp>
      <p:sp>
        <p:nvSpPr>
          <p:cNvPr id="7" name="TextBox 6"/>
          <p:cNvSpPr txBox="1"/>
          <p:nvPr/>
        </p:nvSpPr>
        <p:spPr>
          <a:xfrm>
            <a:off x="11601450" y="2838450"/>
            <a:ext cx="2286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ARC STAGE</a:t>
            </a:r>
          </a:p>
        </p:txBody>
      </p:sp>
      <p:sp>
        <p:nvSpPr>
          <p:cNvPr id="8" name="TextBox 7"/>
          <p:cNvSpPr txBox="1"/>
          <p:nvPr/>
        </p:nvSpPr>
        <p:spPr>
          <a:xfrm>
            <a:off x="14077950" y="2838450"/>
            <a:ext cx="27051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MARKER'S FLAG</a:t>
            </a:r>
          </a:p>
        </p:txBody>
      </p:sp>
      <p:sp>
        <p:nvSpPr>
          <p:cNvPr id="9" name="Rectangle 8"/>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10" name="TextBox 9"/>
          <p:cNvSpPr txBox="1"/>
          <p:nvPr/>
        </p:nvSpPr>
        <p:spPr>
          <a:xfrm>
            <a:off x="1314450" y="345757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1</a:t>
            </a:r>
          </a:p>
        </p:txBody>
      </p:sp>
      <p:sp>
        <p:nvSpPr>
          <p:cNvPr id="11" name="Rectangle 10"/>
          <p:cNvSpPr/>
          <p:nvPr/>
        </p:nvSpPr>
        <p:spPr>
          <a:xfrm>
            <a:off x="1047750" y="3886200"/>
            <a:ext cx="16192500" cy="476250"/>
          </a:xfrm>
          <a:prstGeom prst="rect">
            <a:avLst/>
          </a:prstGeom>
          <a:solidFill>
            <a:srgbClr val="F3EEE6"/>
          </a:solidFill>
          <a:ln>
            <a:noFill/>
          </a:ln>
          <a:effectLst/>
        </p:spPr>
        <p:txBody>
          <a:bodyPr rtlCol="0" anchor="ctr"/>
          <a:lstStyle/>
          <a:p>
            <a:pPr algn="ctr"/>
          </a:p>
        </p:txBody>
      </p:sp>
      <p:sp>
        <p:nvSpPr>
          <p:cNvPr id="12" name="TextBox 11"/>
          <p:cNvSpPr txBox="1"/>
          <p:nvPr/>
        </p:nvSpPr>
        <p:spPr>
          <a:xfrm>
            <a:off x="1314450" y="393382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2</a:t>
            </a:r>
          </a:p>
        </p:txBody>
      </p:sp>
      <p:sp>
        <p:nvSpPr>
          <p:cNvPr id="13" name="Rectangle 12"/>
          <p:cNvSpPr/>
          <p:nvPr/>
        </p:nvSpPr>
        <p:spPr>
          <a:xfrm>
            <a:off x="1047750" y="4362450"/>
            <a:ext cx="16192500" cy="9525"/>
          </a:xfrm>
          <a:prstGeom prst="rect">
            <a:avLst/>
          </a:prstGeom>
          <a:solidFill>
            <a:srgbClr val="D8CFC7"/>
          </a:solidFill>
          <a:ln>
            <a:noFill/>
          </a:ln>
          <a:effectLst/>
        </p:spPr>
        <p:txBody>
          <a:bodyPr rtlCol="0" anchor="ctr"/>
          <a:lstStyle/>
          <a:p>
            <a:pPr algn="ctr"/>
          </a:p>
        </p:txBody>
      </p:sp>
      <p:sp>
        <p:nvSpPr>
          <p:cNvPr id="14" name="TextBox 13"/>
          <p:cNvSpPr txBox="1"/>
          <p:nvPr/>
        </p:nvSpPr>
        <p:spPr>
          <a:xfrm>
            <a:off x="1314450" y="441007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3</a:t>
            </a:r>
          </a:p>
        </p:txBody>
      </p:sp>
      <p:sp>
        <p:nvSpPr>
          <p:cNvPr id="15" name="Rectangle 14"/>
          <p:cNvSpPr/>
          <p:nvPr/>
        </p:nvSpPr>
        <p:spPr>
          <a:xfrm>
            <a:off x="1047750" y="4838700"/>
            <a:ext cx="16192500" cy="476250"/>
          </a:xfrm>
          <a:prstGeom prst="rect">
            <a:avLst/>
          </a:prstGeom>
          <a:solidFill>
            <a:srgbClr val="F3EEE6"/>
          </a:solidFill>
          <a:ln>
            <a:noFill/>
          </a:ln>
          <a:effectLst/>
        </p:spPr>
        <p:txBody>
          <a:bodyPr rtlCol="0" anchor="ctr"/>
          <a:lstStyle/>
          <a:p>
            <a:pPr algn="ctr"/>
          </a:p>
        </p:txBody>
      </p:sp>
      <p:sp>
        <p:nvSpPr>
          <p:cNvPr id="16" name="TextBox 15"/>
          <p:cNvSpPr txBox="1"/>
          <p:nvPr/>
        </p:nvSpPr>
        <p:spPr>
          <a:xfrm>
            <a:off x="1314450" y="488632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4</a:t>
            </a:r>
          </a:p>
        </p:txBody>
      </p:sp>
      <p:sp>
        <p:nvSpPr>
          <p:cNvPr id="17" name="Rectangle 16"/>
          <p:cNvSpPr/>
          <p:nvPr/>
        </p:nvSpPr>
        <p:spPr>
          <a:xfrm>
            <a:off x="1047750" y="5314950"/>
            <a:ext cx="16192500" cy="9525"/>
          </a:xfrm>
          <a:prstGeom prst="rect">
            <a:avLst/>
          </a:prstGeom>
          <a:solidFill>
            <a:srgbClr val="D8CFC7"/>
          </a:solidFill>
          <a:ln>
            <a:noFill/>
          </a:ln>
          <a:effectLst/>
        </p:spPr>
        <p:txBody>
          <a:bodyPr rtlCol="0" anchor="ctr"/>
          <a:lstStyle/>
          <a:p>
            <a:pPr algn="ctr"/>
          </a:p>
        </p:txBody>
      </p:sp>
      <p:sp>
        <p:nvSpPr>
          <p:cNvPr id="18" name="TextBox 17"/>
          <p:cNvSpPr txBox="1"/>
          <p:nvPr/>
        </p:nvSpPr>
        <p:spPr>
          <a:xfrm>
            <a:off x="1314450" y="536257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5</a:t>
            </a:r>
          </a:p>
        </p:txBody>
      </p:sp>
      <p:sp>
        <p:nvSpPr>
          <p:cNvPr id="19" name="Rectangle 18"/>
          <p:cNvSpPr/>
          <p:nvPr/>
        </p:nvSpPr>
        <p:spPr>
          <a:xfrm>
            <a:off x="1047750" y="5791200"/>
            <a:ext cx="16192500" cy="476250"/>
          </a:xfrm>
          <a:prstGeom prst="rect">
            <a:avLst/>
          </a:prstGeom>
          <a:solidFill>
            <a:srgbClr val="F3EEE6"/>
          </a:solidFill>
          <a:ln>
            <a:noFill/>
          </a:ln>
          <a:effectLst/>
        </p:spPr>
        <p:txBody>
          <a:bodyPr rtlCol="0" anchor="ctr"/>
          <a:lstStyle/>
          <a:p>
            <a:pPr algn="ctr"/>
          </a:p>
        </p:txBody>
      </p:sp>
      <p:sp>
        <p:nvSpPr>
          <p:cNvPr id="20" name="TextBox 19"/>
          <p:cNvSpPr txBox="1"/>
          <p:nvPr/>
        </p:nvSpPr>
        <p:spPr>
          <a:xfrm>
            <a:off x="1314450" y="583882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6</a:t>
            </a:r>
          </a:p>
        </p:txBody>
      </p:sp>
      <p:sp>
        <p:nvSpPr>
          <p:cNvPr id="21" name="Rectangle 20"/>
          <p:cNvSpPr/>
          <p:nvPr/>
        </p:nvSpPr>
        <p:spPr>
          <a:xfrm>
            <a:off x="1047750" y="6267450"/>
            <a:ext cx="16192500" cy="9525"/>
          </a:xfrm>
          <a:prstGeom prst="rect">
            <a:avLst/>
          </a:prstGeom>
          <a:solidFill>
            <a:srgbClr val="D8CFC7"/>
          </a:solidFill>
          <a:ln>
            <a:noFill/>
          </a:ln>
          <a:effectLst/>
        </p:spPr>
        <p:txBody>
          <a:bodyPr rtlCol="0" anchor="ctr"/>
          <a:lstStyle/>
          <a:p>
            <a:pPr algn="ctr"/>
          </a:p>
        </p:txBody>
      </p:sp>
      <p:sp>
        <p:nvSpPr>
          <p:cNvPr id="22" name="TextBox 21"/>
          <p:cNvSpPr txBox="1"/>
          <p:nvPr/>
        </p:nvSpPr>
        <p:spPr>
          <a:xfrm>
            <a:off x="1314450" y="631507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7</a:t>
            </a:r>
          </a:p>
        </p:txBody>
      </p:sp>
      <p:sp>
        <p:nvSpPr>
          <p:cNvPr id="23" name="Rectangle 22"/>
          <p:cNvSpPr/>
          <p:nvPr/>
        </p:nvSpPr>
        <p:spPr>
          <a:xfrm>
            <a:off x="1047750" y="6743700"/>
            <a:ext cx="16192500" cy="476250"/>
          </a:xfrm>
          <a:prstGeom prst="rect">
            <a:avLst/>
          </a:prstGeom>
          <a:solidFill>
            <a:srgbClr val="F3EEE6"/>
          </a:solidFill>
          <a:ln>
            <a:noFill/>
          </a:ln>
          <a:effectLst/>
        </p:spPr>
        <p:txBody>
          <a:bodyPr rtlCol="0" anchor="ctr"/>
          <a:lstStyle/>
          <a:p>
            <a:pPr algn="ctr"/>
          </a:p>
        </p:txBody>
      </p:sp>
      <p:sp>
        <p:nvSpPr>
          <p:cNvPr id="24" name="TextBox 23"/>
          <p:cNvSpPr txBox="1"/>
          <p:nvPr/>
        </p:nvSpPr>
        <p:spPr>
          <a:xfrm>
            <a:off x="1314450" y="679132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8</a:t>
            </a:r>
          </a:p>
        </p:txBody>
      </p:sp>
      <p:sp>
        <p:nvSpPr>
          <p:cNvPr id="25" name="Rectangle 24"/>
          <p:cNvSpPr/>
          <p:nvPr/>
        </p:nvSpPr>
        <p:spPr>
          <a:xfrm>
            <a:off x="1047750" y="7219950"/>
            <a:ext cx="16192500" cy="9525"/>
          </a:xfrm>
          <a:prstGeom prst="rect">
            <a:avLst/>
          </a:prstGeom>
          <a:solidFill>
            <a:srgbClr val="D8CFC7"/>
          </a:solidFill>
          <a:ln>
            <a:noFill/>
          </a:ln>
          <a:effectLst/>
        </p:spPr>
        <p:txBody>
          <a:bodyPr rtlCol="0" anchor="ctr"/>
          <a:lstStyle/>
          <a:p>
            <a:pPr algn="ctr"/>
          </a:p>
        </p:txBody>
      </p:sp>
      <p:sp>
        <p:nvSpPr>
          <p:cNvPr id="26" name="TextBox 25"/>
          <p:cNvSpPr txBox="1"/>
          <p:nvPr/>
        </p:nvSpPr>
        <p:spPr>
          <a:xfrm>
            <a:off x="1314450" y="726757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9</a:t>
            </a:r>
          </a:p>
        </p:txBody>
      </p:sp>
      <p:sp>
        <p:nvSpPr>
          <p:cNvPr id="27" name="Rectangle 26"/>
          <p:cNvSpPr/>
          <p:nvPr/>
        </p:nvSpPr>
        <p:spPr>
          <a:xfrm>
            <a:off x="1047750" y="7696200"/>
            <a:ext cx="16192500" cy="476250"/>
          </a:xfrm>
          <a:prstGeom prst="rect">
            <a:avLst/>
          </a:prstGeom>
          <a:solidFill>
            <a:srgbClr val="F3EEE6"/>
          </a:solidFill>
          <a:ln>
            <a:noFill/>
          </a:ln>
          <a:effectLst/>
        </p:spPr>
        <p:txBody>
          <a:bodyPr rtlCol="0" anchor="ctr"/>
          <a:lstStyle/>
          <a:p>
            <a:pPr algn="ctr"/>
          </a:p>
        </p:txBody>
      </p:sp>
      <p:sp>
        <p:nvSpPr>
          <p:cNvPr id="28" name="TextBox 27"/>
          <p:cNvSpPr txBox="1"/>
          <p:nvPr/>
        </p:nvSpPr>
        <p:spPr>
          <a:xfrm>
            <a:off x="1314450" y="7743825"/>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10</a:t>
            </a:r>
          </a:p>
        </p:txBody>
      </p:sp>
      <p:sp>
        <p:nvSpPr>
          <p:cNvPr id="29" name="Rectangle 28"/>
          <p:cNvSpPr/>
          <p:nvPr/>
        </p:nvSpPr>
        <p:spPr>
          <a:xfrm>
            <a:off x="1047750" y="8172450"/>
            <a:ext cx="16192500" cy="9525"/>
          </a:xfrm>
          <a:prstGeom prst="rect">
            <a:avLst/>
          </a:prstGeom>
          <a:solidFill>
            <a:srgbClr val="D8CFC7"/>
          </a:solidFill>
          <a:ln>
            <a:noFill/>
          </a:ln>
          <a:effectLst/>
        </p:spPr>
        <p:txBody>
          <a:bodyPr rtlCol="0" anchor="ctr"/>
          <a:lstStyle/>
          <a:p>
            <a:pPr algn="ctr"/>
          </a:p>
        </p:txBody>
      </p:sp>
      <p:sp>
        <p:nvSpPr>
          <p:cNvPr id="30" name="Rectangle 29"/>
          <p:cNvSpPr/>
          <p:nvPr/>
        </p:nvSpPr>
        <p:spPr>
          <a:xfrm>
            <a:off x="1047750" y="8458200"/>
            <a:ext cx="16192500" cy="952500"/>
          </a:xfrm>
          <a:prstGeom prst="rect">
            <a:avLst/>
          </a:prstGeom>
          <a:solidFill>
            <a:srgbClr val="F0EAE1"/>
          </a:solidFill>
          <a:ln>
            <a:noFill/>
          </a:ln>
          <a:effectLst/>
        </p:spPr>
        <p:txBody>
          <a:bodyPr rtlCol="0" anchor="ctr"/>
          <a:lstStyle/>
          <a:p>
            <a:pPr algn="ctr"/>
          </a:p>
        </p:txBody>
      </p:sp>
      <p:sp>
        <p:nvSpPr>
          <p:cNvPr id="31" name="TextBox 30"/>
          <p:cNvSpPr txBox="1"/>
          <p:nvPr/>
        </p:nvSpPr>
        <p:spPr>
          <a:xfrm>
            <a:off x="1333500" y="8667750"/>
            <a:ext cx="15621000" cy="666750"/>
          </a:xfrm>
          <a:prstGeom prst="rect">
            <a:avLst/>
          </a:prstGeom>
          <a:noFill/>
        </p:spPr>
        <p:txBody>
          <a:bodyPr wrap="square" lIns="0" rIns="0" tIns="0" bIns="0" anchor="t">
            <a:noAutofit/>
          </a:bodyPr>
          <a:lstStyle/>
          <a:p>
            <a:pPr algn="l">
              <a:lnSpc>
                <a:spcPct val="110000"/>
              </a:lnSpc>
            </a:pPr>
            <a:r>
              <a:rPr sz="2100" b="1" i="0">
                <a:solidFill>
                  <a:srgbClr val="201914"/>
                </a:solidFill>
                <a:latin typeface="Arial"/>
              </a:rPr>
              <a:t>TOP OF SHEET:   blue ____   green ____   amber ____    No amber? Flag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WORKED EXAMPLES · ANSWER, MISTAKE, FIX</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What they said, and what to say instead</a:t>
            </a:r>
          </a:p>
        </p:txBody>
      </p:sp>
      <p:sp>
        <p:nvSpPr>
          <p:cNvPr id="4" name="Rectangle 3"/>
          <p:cNvSpPr/>
          <p:nvPr/>
        </p:nvSpPr>
        <p:spPr>
          <a:xfrm>
            <a:off x="1047750" y="2838450"/>
            <a:ext cx="514350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'It's annoying when people don't pay you back.'</a:t>
            </a:r>
          </a:p>
        </p:txBody>
      </p:sp>
      <p:sp>
        <p:nvSpPr>
          <p:cNvPr id="6" name="TextBox 5"/>
          <p:cNvSpPr txBox="1"/>
          <p:nvPr/>
        </p:nvSpPr>
        <p:spPr>
          <a:xfrm>
            <a:off x="10477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RUNG OF THE ANSWER</a:t>
            </a:r>
          </a:p>
        </p:txBody>
      </p:sp>
      <p:sp>
        <p:nvSpPr>
          <p:cNvPr id="7" name="TextBox 6"/>
          <p:cNvSpPr txBox="1"/>
          <p:nvPr/>
        </p:nvSpPr>
        <p:spPr>
          <a:xfrm>
            <a:off x="10477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Opinion, amber</a:t>
            </a:r>
          </a:p>
        </p:txBody>
      </p:sp>
      <p:sp>
        <p:nvSpPr>
          <p:cNvPr id="8" name="TextBox 7"/>
          <p:cNvSpPr txBox="1"/>
          <p:nvPr/>
        </p:nvSpPr>
        <p:spPr>
          <a:xfrm>
            <a:off x="1047750" y="4853239"/>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BAD INTERVIEWER DOES</a:t>
            </a:r>
          </a:p>
        </p:txBody>
      </p:sp>
      <p:sp>
        <p:nvSpPr>
          <p:cNvPr id="9" name="TextBox 8"/>
          <p:cNvSpPr txBox="1"/>
          <p:nvPr/>
        </p:nvSpPr>
        <p:spPr>
          <a:xfrm>
            <a:off x="1047750" y="5119939"/>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Agrees. 'Right, that's exactly what everyone says.' The topic is closed and the problem is marked validated.</a:t>
            </a:r>
          </a:p>
        </p:txBody>
      </p:sp>
      <p:sp>
        <p:nvSpPr>
          <p:cNvPr id="10" name="TextBox 9"/>
          <p:cNvSpPr txBox="1"/>
          <p:nvPr/>
        </p:nvSpPr>
        <p:spPr>
          <a:xfrm>
            <a:off x="1047750" y="627470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SAY INSTEAD</a:t>
            </a:r>
          </a:p>
        </p:txBody>
      </p:sp>
      <p:sp>
        <p:nvSpPr>
          <p:cNvPr id="11" name="TextBox 10"/>
          <p:cNvSpPr txBox="1"/>
          <p:nvPr/>
        </p:nvSpPr>
        <p:spPr>
          <a:xfrm>
            <a:off x="1047750" y="654140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Nothing. Count to five. If nothing comes: 'When did that last happen to you?'</a:t>
            </a:r>
          </a:p>
        </p:txBody>
      </p:sp>
      <p:sp>
        <p:nvSpPr>
          <p:cNvPr id="12" name="TextBox 11"/>
          <p:cNvSpPr txBox="1"/>
          <p:nvPr/>
        </p:nvSpPr>
        <p:spPr>
          <a:xfrm>
            <a:off x="1047750" y="7419198"/>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An interview dies when you agree with the first thing you hear.</a:t>
            </a:r>
          </a:p>
        </p:txBody>
      </p:sp>
      <p:sp>
        <p:nvSpPr>
          <p:cNvPr id="13" name="Rectangle 12"/>
          <p:cNvSpPr/>
          <p:nvPr/>
        </p:nvSpPr>
        <p:spPr>
          <a:xfrm>
            <a:off x="6572250" y="2838450"/>
            <a:ext cx="5143500" cy="571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65722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'I don't know, I just didn't.'</a:t>
            </a:r>
          </a:p>
        </p:txBody>
      </p:sp>
      <p:sp>
        <p:nvSpPr>
          <p:cNvPr id="15" name="TextBox 14"/>
          <p:cNvSpPr txBox="1"/>
          <p:nvPr/>
        </p:nvSpPr>
        <p:spPr>
          <a:xfrm>
            <a:off x="6572250" y="369783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RUNG OF THE ANSWER</a:t>
            </a:r>
          </a:p>
        </p:txBody>
      </p:sp>
      <p:sp>
        <p:nvSpPr>
          <p:cNvPr id="16" name="TextBox 15"/>
          <p:cNvSpPr txBox="1"/>
          <p:nvPr/>
        </p:nvSpPr>
        <p:spPr>
          <a:xfrm>
            <a:off x="6572250" y="396453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Opinion, amber. Level three announcing itself.</a:t>
            </a:r>
          </a:p>
        </p:txBody>
      </p:sp>
      <p:sp>
        <p:nvSpPr>
          <p:cNvPr id="17" name="TextBox 16"/>
          <p:cNvSpPr txBox="1"/>
          <p:nvPr/>
        </p:nvSpPr>
        <p:spPr>
          <a:xfrm>
            <a:off x="6572250" y="478517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BAD INTERVIEWER DOES</a:t>
            </a:r>
          </a:p>
        </p:txBody>
      </p:sp>
      <p:sp>
        <p:nvSpPr>
          <p:cNvPr id="18" name="TextBox 17"/>
          <p:cNvSpPr txBox="1"/>
          <p:nvPr/>
        </p:nvSpPr>
        <p:spPr>
          <a:xfrm>
            <a:off x="6572250" y="505187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Apologises for the question and moves on, throwing away the best moment in the interview.</a:t>
            </a:r>
          </a:p>
        </p:txBody>
      </p:sp>
      <p:sp>
        <p:nvSpPr>
          <p:cNvPr id="19" name="TextBox 18"/>
          <p:cNvSpPr txBox="1"/>
          <p:nvPr/>
        </p:nvSpPr>
        <p:spPr>
          <a:xfrm>
            <a:off x="6572250" y="620664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SAY INSTEAD</a:t>
            </a:r>
          </a:p>
        </p:txBody>
      </p:sp>
      <p:sp>
        <p:nvSpPr>
          <p:cNvPr id="20" name="TextBox 19"/>
          <p:cNvSpPr txBox="1"/>
          <p:nvPr/>
        </p:nvSpPr>
        <p:spPr>
          <a:xfrm>
            <a:off x="6572250" y="647334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Nothing at all for five seconds. Then, if needed, 'take your time' or 'even a guess is fine'.</a:t>
            </a:r>
          </a:p>
        </p:txBody>
      </p:sp>
      <p:sp>
        <p:nvSpPr>
          <p:cNvPr id="21" name="TextBox 20"/>
          <p:cNvSpPr txBox="1"/>
          <p:nvPr/>
        </p:nvSpPr>
        <p:spPr>
          <a:xfrm>
            <a:off x="6572250" y="7685258"/>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'I don't know' is a door, not a wall.</a:t>
            </a:r>
          </a:p>
        </p:txBody>
      </p:sp>
      <p:sp>
        <p:nvSpPr>
          <p:cNvPr id="22" name="Rectangle 21"/>
          <p:cNvSpPr/>
          <p:nvPr/>
        </p:nvSpPr>
        <p:spPr>
          <a:xfrm>
            <a:off x="12096750" y="2838450"/>
            <a:ext cx="5143500" cy="57150"/>
          </a:xfrm>
          <a:prstGeom prst="rect">
            <a:avLst/>
          </a:prstGeom>
          <a:solidFill>
            <a:srgbClr val="201914"/>
          </a:solidFill>
          <a:ln>
            <a:noFill/>
          </a:ln>
          <a:effectLst/>
        </p:spPr>
        <p:txBody>
          <a:bodyPr rtlCol="0" anchor="ctr"/>
          <a:lstStyle/>
          <a:p>
            <a:pPr algn="ctr"/>
          </a:p>
        </p:txBody>
      </p:sp>
      <p:sp>
        <p:nvSpPr>
          <p:cNvPr id="23" name="TextBox 22"/>
          <p:cNvSpPr txBox="1"/>
          <p:nvPr/>
        </p:nvSpPr>
        <p:spPr>
          <a:xfrm>
            <a:off x="120967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'Usually one of us just pays and we sort it out later.'</a:t>
            </a:r>
          </a:p>
        </p:txBody>
      </p:sp>
      <p:sp>
        <p:nvSpPr>
          <p:cNvPr id="24" name="TextBox 23"/>
          <p:cNvSpPr txBox="1"/>
          <p:nvPr/>
        </p:nvSpPr>
        <p:spPr>
          <a:xfrm>
            <a:off x="120967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RUNG OF THE ANSWER</a:t>
            </a:r>
          </a:p>
        </p:txBody>
      </p:sp>
      <p:sp>
        <p:nvSpPr>
          <p:cNvPr id="25" name="TextBox 24"/>
          <p:cNvSpPr txBox="1"/>
          <p:nvPr/>
        </p:nvSpPr>
        <p:spPr>
          <a:xfrm>
            <a:off x="120967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Pattern, green</a:t>
            </a:r>
          </a:p>
        </p:txBody>
      </p:sp>
      <p:sp>
        <p:nvSpPr>
          <p:cNvPr id="26" name="TextBox 25"/>
          <p:cNvSpPr txBox="1"/>
          <p:nvPr/>
        </p:nvSpPr>
        <p:spPr>
          <a:xfrm>
            <a:off x="12096750" y="4853239"/>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BAD INTERVIEWER DOES</a:t>
            </a:r>
          </a:p>
        </p:txBody>
      </p:sp>
      <p:sp>
        <p:nvSpPr>
          <p:cNvPr id="27" name="TextBox 26"/>
          <p:cNvSpPr txBox="1"/>
          <p:nvPr/>
        </p:nvSpPr>
        <p:spPr>
          <a:xfrm>
            <a:off x="12096750" y="5119939"/>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Accepts the pattern and moves to a new topic, treating orientation as a finding.</a:t>
            </a:r>
          </a:p>
        </p:txBody>
      </p:sp>
      <p:sp>
        <p:nvSpPr>
          <p:cNvPr id="28" name="TextBox 27"/>
          <p:cNvSpPr txBox="1"/>
          <p:nvPr/>
        </p:nvSpPr>
        <p:spPr>
          <a:xfrm>
            <a:off x="12096750" y="594058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SAY INSTEAD</a:t>
            </a:r>
          </a:p>
        </p:txBody>
      </p:sp>
      <p:sp>
        <p:nvSpPr>
          <p:cNvPr id="29" name="TextBox 28"/>
          <p:cNvSpPr txBox="1"/>
          <p:nvPr/>
        </p:nvSpPr>
        <p:spPr>
          <a:xfrm>
            <a:off x="12096750" y="620728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'Who paid last time?' And then: 'and the time before that?'</a:t>
            </a:r>
          </a:p>
        </p:txBody>
      </p:sp>
      <p:sp>
        <p:nvSpPr>
          <p:cNvPr id="30" name="TextBox 29"/>
          <p:cNvSpPr txBox="1"/>
          <p:nvPr/>
        </p:nvSpPr>
        <p:spPr>
          <a:xfrm>
            <a:off x="12096750" y="7085076"/>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'One of us' almost always hides a specific person.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MORE · THE BROKEN VERSION, AND WHAT WORKS INSTEAD</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Only the second version of each question finds anything</a:t>
            </a:r>
          </a:p>
        </p:txBody>
      </p:sp>
      <p:sp>
        <p:nvSpPr>
          <p:cNvPr id="4" name="Rectangle 3"/>
          <p:cNvSpPr/>
          <p:nvPr/>
        </p:nvSpPr>
        <p:spPr>
          <a:xfrm>
            <a:off x="1047750" y="3409950"/>
            <a:ext cx="514350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6576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'Did your parents help you decide?'</a:t>
            </a:r>
          </a:p>
        </p:txBody>
      </p:sp>
      <p:sp>
        <p:nvSpPr>
          <p:cNvPr id="6" name="TextBox 5"/>
          <p:cNvSpPr txBox="1"/>
          <p:nvPr/>
        </p:nvSpPr>
        <p:spPr>
          <a:xfrm>
            <a:off x="1047750" y="46715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WHY IT FAILS</a:t>
            </a:r>
          </a:p>
        </p:txBody>
      </p:sp>
      <p:sp>
        <p:nvSpPr>
          <p:cNvPr id="7" name="TextBox 6"/>
          <p:cNvSpPr txBox="1"/>
          <p:nvPr/>
        </p:nvSpPr>
        <p:spPr>
          <a:xfrm>
            <a:off x="1047750" y="49382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Closed, and it names only the obvious two people. Everybody else in the decision stays invisible.</a:t>
            </a:r>
          </a:p>
        </p:txBody>
      </p:sp>
      <p:sp>
        <p:nvSpPr>
          <p:cNvPr id="8" name="TextBox 7"/>
          <p:cNvSpPr txBox="1"/>
          <p:nvPr/>
        </p:nvSpPr>
        <p:spPr>
          <a:xfrm>
            <a:off x="1047750" y="609298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THE VERSION THAT WORKS</a:t>
            </a:r>
          </a:p>
        </p:txBody>
      </p:sp>
      <p:sp>
        <p:nvSpPr>
          <p:cNvPr id="9" name="TextBox 8"/>
          <p:cNvSpPr txBox="1"/>
          <p:nvPr/>
        </p:nvSpPr>
        <p:spPr>
          <a:xfrm>
            <a:off x="1047750" y="635968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'Who else was in the room when that was decided, and who said what?'</a:t>
            </a:r>
          </a:p>
        </p:txBody>
      </p:sp>
      <p:sp>
        <p:nvSpPr>
          <p:cNvPr id="10" name="TextBox 9"/>
          <p:cNvSpPr txBox="1"/>
          <p:nvPr/>
        </p:nvSpPr>
        <p:spPr>
          <a:xfrm>
            <a:off x="1047750" y="7180326"/>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WHICH JOB IT DOES</a:t>
            </a:r>
          </a:p>
        </p:txBody>
      </p:sp>
      <p:sp>
        <p:nvSpPr>
          <p:cNvPr id="11" name="TextBox 10"/>
          <p:cNvSpPr txBox="1"/>
          <p:nvPr/>
        </p:nvSpPr>
        <p:spPr>
          <a:xfrm>
            <a:off x="1047750" y="7447026"/>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Excavate, green</a:t>
            </a:r>
          </a:p>
        </p:txBody>
      </p:sp>
      <p:sp>
        <p:nvSpPr>
          <p:cNvPr id="12" name="TextBox 11"/>
          <p:cNvSpPr txBox="1"/>
          <p:nvPr/>
        </p:nvSpPr>
        <p:spPr>
          <a:xfrm>
            <a:off x="1047750" y="7990698"/>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Never supply the cast list. Let the surprising name appear.</a:t>
            </a:r>
          </a:p>
        </p:txBody>
      </p:sp>
      <p:sp>
        <p:nvSpPr>
          <p:cNvPr id="13" name="Rectangle 12"/>
          <p:cNvSpPr/>
          <p:nvPr/>
        </p:nvSpPr>
        <p:spPr>
          <a:xfrm>
            <a:off x="6572250" y="3409950"/>
            <a:ext cx="5143500" cy="571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6572250" y="36576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'Was it expensive?'</a:t>
            </a:r>
          </a:p>
        </p:txBody>
      </p:sp>
      <p:sp>
        <p:nvSpPr>
          <p:cNvPr id="15" name="TextBox 14"/>
          <p:cNvSpPr txBox="1"/>
          <p:nvPr/>
        </p:nvSpPr>
        <p:spPr>
          <a:xfrm>
            <a:off x="6572250" y="426933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WHY IT FAILS</a:t>
            </a:r>
          </a:p>
        </p:txBody>
      </p:sp>
      <p:sp>
        <p:nvSpPr>
          <p:cNvPr id="16" name="TextBox 15"/>
          <p:cNvSpPr txBox="1"/>
          <p:nvPr/>
        </p:nvSpPr>
        <p:spPr>
          <a:xfrm>
            <a:off x="6572250" y="453603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Closed, and it restricts the answer to money, usually the smallest part of what a decision costs a family.</a:t>
            </a:r>
          </a:p>
        </p:txBody>
      </p:sp>
      <p:sp>
        <p:nvSpPr>
          <p:cNvPr id="17" name="TextBox 16"/>
          <p:cNvSpPr txBox="1"/>
          <p:nvPr/>
        </p:nvSpPr>
        <p:spPr>
          <a:xfrm>
            <a:off x="6572250" y="5690799"/>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THE VERSION THAT WORKS</a:t>
            </a:r>
          </a:p>
        </p:txBody>
      </p:sp>
      <p:sp>
        <p:nvSpPr>
          <p:cNvPr id="18" name="TextBox 17"/>
          <p:cNvSpPr txBox="1"/>
          <p:nvPr/>
        </p:nvSpPr>
        <p:spPr>
          <a:xfrm>
            <a:off x="6572250" y="5957499"/>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'What did the family have to give up to make that work?'</a:t>
            </a:r>
          </a:p>
        </p:txBody>
      </p:sp>
      <p:sp>
        <p:nvSpPr>
          <p:cNvPr id="19" name="TextBox 18"/>
          <p:cNvSpPr txBox="1"/>
          <p:nvPr/>
        </p:nvSpPr>
        <p:spPr>
          <a:xfrm>
            <a:off x="6572250" y="677814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WHICH JOB IT DOES</a:t>
            </a:r>
          </a:p>
        </p:txBody>
      </p:sp>
      <p:sp>
        <p:nvSpPr>
          <p:cNvPr id="20" name="TextBox 19"/>
          <p:cNvSpPr txBox="1"/>
          <p:nvPr/>
        </p:nvSpPr>
        <p:spPr>
          <a:xfrm>
            <a:off x="6572250" y="704484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Quantify, amber. Consequence.</a:t>
            </a:r>
          </a:p>
        </p:txBody>
      </p:sp>
      <p:sp>
        <p:nvSpPr>
          <p:cNvPr id="21" name="TextBox 20"/>
          <p:cNvSpPr txBox="1"/>
          <p:nvPr/>
        </p:nvSpPr>
        <p:spPr>
          <a:xfrm>
            <a:off x="6572250" y="7588514"/>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Most real costs in a customer's life are social, not financial.</a:t>
            </a:r>
          </a:p>
        </p:txBody>
      </p:sp>
      <p:sp>
        <p:nvSpPr>
          <p:cNvPr id="22" name="Rectangle 21"/>
          <p:cNvSpPr/>
          <p:nvPr/>
        </p:nvSpPr>
        <p:spPr>
          <a:xfrm>
            <a:off x="12096750" y="3409950"/>
            <a:ext cx="5143500" cy="57150"/>
          </a:xfrm>
          <a:prstGeom prst="rect">
            <a:avLst/>
          </a:prstGeom>
          <a:solidFill>
            <a:srgbClr val="201914"/>
          </a:solidFill>
          <a:ln>
            <a:noFill/>
          </a:ln>
          <a:effectLst/>
        </p:spPr>
        <p:txBody>
          <a:bodyPr rtlCol="0" anchor="ctr"/>
          <a:lstStyle/>
          <a:p>
            <a:pPr algn="ctr"/>
          </a:p>
        </p:txBody>
      </p:sp>
      <p:sp>
        <p:nvSpPr>
          <p:cNvPr id="23" name="TextBox 22"/>
          <p:cNvSpPr txBox="1"/>
          <p:nvPr/>
        </p:nvSpPr>
        <p:spPr>
          <a:xfrm>
            <a:off x="12096750" y="36576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'Any other feedback?'</a:t>
            </a:r>
          </a:p>
        </p:txBody>
      </p:sp>
      <p:sp>
        <p:nvSpPr>
          <p:cNvPr id="24" name="TextBox 23"/>
          <p:cNvSpPr txBox="1"/>
          <p:nvPr/>
        </p:nvSpPr>
        <p:spPr>
          <a:xfrm>
            <a:off x="12096750" y="426933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WHY IT FAILS</a:t>
            </a:r>
          </a:p>
        </p:txBody>
      </p:sp>
      <p:sp>
        <p:nvSpPr>
          <p:cNvPr id="25" name="TextBox 24"/>
          <p:cNvSpPr txBox="1"/>
          <p:nvPr/>
        </p:nvSpPr>
        <p:spPr>
          <a:xfrm>
            <a:off x="12096750" y="453603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Points the respondent at you and your project, and produces a compliment.</a:t>
            </a:r>
          </a:p>
        </p:txBody>
      </p:sp>
      <p:sp>
        <p:nvSpPr>
          <p:cNvPr id="26" name="TextBox 25"/>
          <p:cNvSpPr txBox="1"/>
          <p:nvPr/>
        </p:nvSpPr>
        <p:spPr>
          <a:xfrm>
            <a:off x="12096750" y="535667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THE VERSION THAT WORKS</a:t>
            </a:r>
          </a:p>
        </p:txBody>
      </p:sp>
      <p:sp>
        <p:nvSpPr>
          <p:cNvPr id="27" name="TextBox 26"/>
          <p:cNvSpPr txBox="1"/>
          <p:nvPr/>
        </p:nvSpPr>
        <p:spPr>
          <a:xfrm>
            <a:off x="12096750" y="562337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'What should I have asked you that I did not? Is there anybody else I should talk to?'</a:t>
            </a:r>
          </a:p>
        </p:txBody>
      </p:sp>
      <p:sp>
        <p:nvSpPr>
          <p:cNvPr id="28" name="TextBox 27"/>
          <p:cNvSpPr txBox="1"/>
          <p:nvPr/>
        </p:nvSpPr>
        <p:spPr>
          <a:xfrm>
            <a:off x="12096750" y="644402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WHICH JOB IT DOES</a:t>
            </a:r>
          </a:p>
        </p:txBody>
      </p:sp>
      <p:sp>
        <p:nvSpPr>
          <p:cNvPr id="29" name="TextBox 28"/>
          <p:cNvSpPr txBox="1"/>
          <p:nvPr/>
        </p:nvSpPr>
        <p:spPr>
          <a:xfrm>
            <a:off x="12096750" y="671072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Close</a:t>
            </a:r>
          </a:p>
        </p:txBody>
      </p:sp>
      <p:sp>
        <p:nvSpPr>
          <p:cNvPr id="30" name="TextBox 29"/>
          <p:cNvSpPr txBox="1"/>
          <p:nvPr/>
        </p:nvSpPr>
        <p:spPr>
          <a:xfrm>
            <a:off x="12096750" y="7254392"/>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The last two minutes are worth more than the middle ten.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READ AFTER CLASS · DO NOT MEMORISE</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Six terms, in plain English</a:t>
            </a:r>
          </a:p>
        </p:txBody>
      </p:sp>
      <p:sp>
        <p:nvSpPr>
          <p:cNvPr id="4" name="TextBox 3"/>
          <p:cNvSpPr txBox="1"/>
          <p:nvPr/>
        </p:nvSpPr>
        <p:spPr>
          <a:xfrm>
            <a:off x="1047750" y="2838450"/>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Productive silence</a:t>
            </a:r>
          </a:p>
        </p:txBody>
      </p:sp>
      <p:sp>
        <p:nvSpPr>
          <p:cNvPr id="5" name="Rectangle 4"/>
          <p:cNvSpPr/>
          <p:nvPr/>
        </p:nvSpPr>
        <p:spPr>
          <a:xfrm>
            <a:off x="1047750" y="3429000"/>
            <a:ext cx="3771900" cy="28575"/>
          </a:xfrm>
          <a:prstGeom prst="rect">
            <a:avLst/>
          </a:prstGeom>
          <a:solidFill>
            <a:srgbClr val="C35141"/>
          </a:solidFill>
          <a:ln>
            <a:noFill/>
          </a:ln>
          <a:effectLst/>
        </p:spPr>
        <p:txBody>
          <a:bodyPr rtlCol="0" anchor="ctr"/>
          <a:lstStyle/>
          <a:p>
            <a:pPr algn="ctr"/>
          </a:p>
        </p:txBody>
      </p:sp>
      <p:sp>
        <p:nvSpPr>
          <p:cNvPr id="6" name="TextBox 5"/>
          <p:cNvSpPr txBox="1"/>
          <p:nvPr/>
        </p:nvSpPr>
        <p:spPr>
          <a:xfrm>
            <a:off x="1047750" y="3714750"/>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Count to five before you speak. The second thing a person says is worth more than the first. 'It felt weird to ask' came first. 'I'd look like the poor one' came after the pause.</a:t>
            </a:r>
          </a:p>
        </p:txBody>
      </p:sp>
      <p:sp>
        <p:nvSpPr>
          <p:cNvPr id="7" name="TextBox 6"/>
          <p:cNvSpPr txBox="1"/>
          <p:nvPr/>
        </p:nvSpPr>
        <p:spPr>
          <a:xfrm>
            <a:off x="6572250" y="2838450"/>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five-why drill</a:t>
            </a:r>
          </a:p>
        </p:txBody>
      </p:sp>
      <p:sp>
        <p:nvSpPr>
          <p:cNvPr id="8" name="Rectangle 7"/>
          <p:cNvSpPr/>
          <p:nvPr/>
        </p:nvSpPr>
        <p:spPr>
          <a:xfrm>
            <a:off x="6572250" y="3429000"/>
            <a:ext cx="3771900" cy="28575"/>
          </a:xfrm>
          <a:prstGeom prst="rect">
            <a:avLst/>
          </a:prstGeom>
          <a:solidFill>
            <a:srgbClr val="C35141"/>
          </a:solidFill>
          <a:ln>
            <a:noFill/>
          </a:ln>
          <a:effectLst/>
        </p:spPr>
        <p:txBody>
          <a:bodyPr rtlCol="0" anchor="ctr"/>
          <a:lstStyle/>
          <a:p>
            <a:pPr algn="ctr"/>
          </a:p>
        </p:txBody>
      </p:sp>
      <p:sp>
        <p:nvSpPr>
          <p:cNvPr id="9" name="TextBox 8"/>
          <p:cNvSpPr txBox="1"/>
          <p:nvPr/>
        </p:nvSpPr>
        <p:spPr>
          <a:xfrm>
            <a:off x="6572250" y="3714750"/>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Follow an answer down at least three levels. The first reason is the stated one, the third or fourth is the real one. Vary the words: 'say more about that'.</a:t>
            </a:r>
          </a:p>
        </p:txBody>
      </p:sp>
      <p:sp>
        <p:nvSpPr>
          <p:cNvPr id="10" name="TextBox 9"/>
          <p:cNvSpPr txBox="1"/>
          <p:nvPr/>
        </p:nvSpPr>
        <p:spPr>
          <a:xfrm>
            <a:off x="12096750" y="2838450"/>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Answer Ladder</a:t>
            </a:r>
          </a:p>
        </p:txBody>
      </p:sp>
      <p:sp>
        <p:nvSpPr>
          <p:cNvPr id="11" name="Rectangle 10"/>
          <p:cNvSpPr/>
          <p:nvPr/>
        </p:nvSpPr>
        <p:spPr>
          <a:xfrm>
            <a:off x="12096750" y="3429000"/>
            <a:ext cx="3771900" cy="28575"/>
          </a:xfrm>
          <a:prstGeom prst="rect">
            <a:avLst/>
          </a:prstGeom>
          <a:solidFill>
            <a:srgbClr val="C35141"/>
          </a:solidFill>
          <a:ln>
            <a:noFill/>
          </a:ln>
          <a:effectLst/>
        </p:spPr>
        <p:txBody>
          <a:bodyPr rtlCol="0" anchor="ctr"/>
          <a:lstStyle/>
          <a:p>
            <a:pPr algn="ctr"/>
          </a:p>
        </p:txBody>
      </p:sp>
      <p:sp>
        <p:nvSpPr>
          <p:cNvPr id="12" name="TextBox 11"/>
          <p:cNvSpPr txBox="1"/>
          <p:nvPr/>
        </p:nvSpPr>
        <p:spPr>
          <a:xfrm>
            <a:off x="12096750" y="3714750"/>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Story, pattern or opinion. Trust the story. Last Tuesday's Maggi beats 'delivery is always late'.</a:t>
            </a:r>
          </a:p>
        </p:txBody>
      </p:sp>
      <p:sp>
        <p:nvSpPr>
          <p:cNvPr id="13" name="TextBox 12"/>
          <p:cNvSpPr txBox="1"/>
          <p:nvPr/>
        </p:nvSpPr>
        <p:spPr>
          <a:xfrm>
            <a:off x="1047750" y="6238875"/>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Interview Arc</a:t>
            </a:r>
          </a:p>
        </p:txBody>
      </p:sp>
      <p:sp>
        <p:nvSpPr>
          <p:cNvPr id="14" name="Rectangle 13"/>
          <p:cNvSpPr/>
          <p:nvPr/>
        </p:nvSpPr>
        <p:spPr>
          <a:xfrm>
            <a:off x="1047750" y="6829425"/>
            <a:ext cx="3771900" cy="28575"/>
          </a:xfrm>
          <a:prstGeom prst="rect">
            <a:avLst/>
          </a:prstGeom>
          <a:solidFill>
            <a:srgbClr val="C35141"/>
          </a:solidFill>
          <a:ln>
            <a:noFill/>
          </a:ln>
          <a:effectLst/>
        </p:spPr>
        <p:txBody>
          <a:bodyPr rtlCol="0" anchor="ctr"/>
          <a:lstStyle/>
          <a:p>
            <a:pPr algn="ctr"/>
          </a:p>
        </p:txBody>
      </p:sp>
      <p:sp>
        <p:nvSpPr>
          <p:cNvPr id="15" name="TextBox 14"/>
          <p:cNvSpPr txBox="1"/>
          <p:nvPr/>
        </p:nvSpPr>
        <p:spPr>
          <a:xfrm>
            <a:off x="1047750" y="7115175"/>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Context, experience, implication, close. Easy first and hard third, because trust is built at the start and spent at the end.</a:t>
            </a:r>
          </a:p>
        </p:txBody>
      </p:sp>
      <p:sp>
        <p:nvSpPr>
          <p:cNvPr id="16" name="TextBox 15"/>
          <p:cNvSpPr txBox="1"/>
          <p:nvPr/>
        </p:nvSpPr>
        <p:spPr>
          <a:xfrm>
            <a:off x="6572250" y="6238875"/>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Three Jobs</a:t>
            </a:r>
          </a:p>
        </p:txBody>
      </p:sp>
      <p:sp>
        <p:nvSpPr>
          <p:cNvPr id="17" name="Rectangle 16"/>
          <p:cNvSpPr/>
          <p:nvPr/>
        </p:nvSpPr>
        <p:spPr>
          <a:xfrm>
            <a:off x="6572250" y="6829425"/>
            <a:ext cx="3771900" cy="28575"/>
          </a:xfrm>
          <a:prstGeom prst="rect">
            <a:avLst/>
          </a:prstGeom>
          <a:solidFill>
            <a:srgbClr val="C35141"/>
          </a:solidFill>
          <a:ln>
            <a:noFill/>
          </a:ln>
          <a:effectLst/>
        </p:spPr>
        <p:txBody>
          <a:bodyPr rtlCol="0" anchor="ctr"/>
          <a:lstStyle/>
          <a:p>
            <a:pPr algn="ctr"/>
          </a:p>
        </p:txBody>
      </p:sp>
      <p:sp>
        <p:nvSpPr>
          <p:cNvPr id="18" name="TextBox 17"/>
          <p:cNvSpPr txBox="1"/>
          <p:nvPr/>
        </p:nvSpPr>
        <p:spPr>
          <a:xfrm>
            <a:off x="6572250" y="7115175"/>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Every question grounds, excavates or quantifies. No blue and you never reach a real event. No amber and you cannot rank anything.</a:t>
            </a:r>
          </a:p>
        </p:txBody>
      </p:sp>
      <p:sp>
        <p:nvSpPr>
          <p:cNvPr id="19" name="TextBox 18"/>
          <p:cNvSpPr txBox="1"/>
          <p:nvPr/>
        </p:nvSpPr>
        <p:spPr>
          <a:xfrm>
            <a:off x="12096750" y="6238875"/>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implication question</a:t>
            </a:r>
          </a:p>
        </p:txBody>
      </p:sp>
      <p:sp>
        <p:nvSpPr>
          <p:cNvPr id="20" name="Rectangle 19"/>
          <p:cNvSpPr/>
          <p:nvPr/>
        </p:nvSpPr>
        <p:spPr>
          <a:xfrm>
            <a:off x="12096750" y="6829425"/>
            <a:ext cx="3771900" cy="28575"/>
          </a:xfrm>
          <a:prstGeom prst="rect">
            <a:avLst/>
          </a:prstGeom>
          <a:solidFill>
            <a:srgbClr val="C35141"/>
          </a:solidFill>
          <a:ln>
            <a:noFill/>
          </a:ln>
          <a:effectLst/>
        </p:spPr>
        <p:txBody>
          <a:bodyPr rtlCol="0" anchor="ctr"/>
          <a:lstStyle/>
          <a:p>
            <a:pPr algn="ctr"/>
          </a:p>
        </p:txBody>
      </p:sp>
      <p:sp>
        <p:nvSpPr>
          <p:cNvPr id="21" name="TextBox 20"/>
          <p:cNvSpPr txBox="1"/>
          <p:nvPr/>
        </p:nvSpPr>
        <p:spPr>
          <a:xfrm>
            <a:off x="12096750" y="7115175"/>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How often, how long, what did it cost, who else was affected. The carpenter's answer was an unpaid trip across the city and three neighbours who hear about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NEXT SESSION · THE OTHER CONVERSATIONS</a:t>
            </a:r>
          </a:p>
        </p:txBody>
      </p:sp>
      <p:sp>
        <p:nvSpPr>
          <p:cNvPr id="3" name="TextBox 2"/>
          <p:cNvSpPr txBox="1"/>
          <p:nvPr/>
        </p:nvSpPr>
        <p:spPr>
          <a:xfrm>
            <a:off x="1714500" y="3274314"/>
            <a:ext cx="14859000" cy="3928872"/>
          </a:xfrm>
          <a:prstGeom prst="rect">
            <a:avLst/>
          </a:prstGeom>
          <a:noFill/>
        </p:spPr>
        <p:txBody>
          <a:bodyPr wrap="square" lIns="0" rIns="0" tIns="0" bIns="0" anchor="t">
            <a:noAutofit/>
          </a:bodyPr>
          <a:lstStyle/>
          <a:p>
            <a:pPr algn="l">
              <a:lnSpc>
                <a:spcPct val="105000"/>
              </a:lnSpc>
              <a:spcAft>
                <a:spcPts val="2640"/>
              </a:spcAft>
            </a:pPr>
            <a:r>
              <a:rPr sz="4400" b="1" i="0">
                <a:solidFill>
                  <a:srgbClr val="F5F1E9"/>
                </a:solidFill>
                <a:latin typeface="Arial"/>
              </a:rPr>
              <a:t>Everything today assumed a bounded thirty minutes with a stranger who agreed to be researched.</a:t>
            </a:r>
          </a:p>
          <a:p>
            <a:pPr algn="l">
              <a:lnSpc>
                <a:spcPct val="105000"/>
              </a:lnSpc>
            </a:pPr>
            <a:r>
              <a:rPr sz="4400" b="1" i="0">
                <a:solidFill>
                  <a:srgbClr val="F5F1E9"/>
                </a:solidFill>
                <a:latin typeface="Arial"/>
              </a:rPr>
              <a:t>Next session: the dinner table, the corridor after class and the mentor with fifteen minutes. Nobody is lying to you there. That is what makes it dangerous.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Zenith School of 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