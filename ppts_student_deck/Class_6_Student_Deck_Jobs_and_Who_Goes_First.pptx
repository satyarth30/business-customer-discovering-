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1"/>
  </p:normalViewPr>
  <p:slideViewPr>
    <p:cSldViewPr snapToGrid="0" snapToObjects="1">
      <p:cViewPr varScale="1">
        <p:scale>
          <a:sx n="68" d="100"/>
          <a:sy n="68" d="100"/>
        </p:scale>
        <p:origin x="904" y="2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829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33350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ZENITH SCHOOL OF AI · CUSTOMER DISCOVERY · CLASS 6</a:t>
            </a:r>
          </a:p>
        </p:txBody>
      </p:sp>
      <p:sp>
        <p:nvSpPr>
          <p:cNvPr id="3" name="TextBox 2"/>
          <p:cNvSpPr txBox="1"/>
          <p:nvPr/>
        </p:nvSpPr>
        <p:spPr>
          <a:xfrm>
            <a:off x="1047750" y="3406140"/>
            <a:ext cx="15716250" cy="1508760"/>
          </a:xfrm>
          <a:prstGeom prst="rect">
            <a:avLst/>
          </a:prstGeom>
          <a:noFill/>
        </p:spPr>
        <p:txBody>
          <a:bodyPr wrap="square" lIns="0" tIns="0" rIns="0" bIns="0" anchor="t">
            <a:spAutoFit/>
          </a:bodyPr>
          <a:lstStyle/>
          <a:p>
            <a:pPr algn="l"/>
            <a:r>
              <a:rPr sz="9900" b="1" i="0" kern="0" spc="-346">
                <a:solidFill>
                  <a:srgbClr val="F5F1E9"/>
                </a:solidFill>
                <a:latin typeface="Arial"/>
                <a:ea typeface="Arial"/>
                <a:cs typeface="Arial"/>
              </a:rPr>
              <a:t>Jobs, and Who Goes First</a:t>
            </a:r>
          </a:p>
        </p:txBody>
      </p:sp>
      <p:sp>
        <p:nvSpPr>
          <p:cNvPr id="4" name="TextBox 3"/>
          <p:cNvSpPr txBox="1"/>
          <p:nvPr/>
        </p:nvSpPr>
        <p:spPr>
          <a:xfrm>
            <a:off x="1047750" y="5334000"/>
            <a:ext cx="13811250" cy="1228725"/>
          </a:xfrm>
          <a:prstGeom prst="rect">
            <a:avLst/>
          </a:prstGeom>
          <a:noFill/>
        </p:spPr>
        <p:txBody>
          <a:bodyPr wrap="square" lIns="0" tIns="0" rIns="0" bIns="0" anchor="t">
            <a:spAutoFit/>
          </a:bodyPr>
          <a:lstStyle/>
          <a:p>
            <a:pPr algn="l"/>
            <a:r>
              <a:rPr sz="3900" b="0" i="1" kern="0">
                <a:solidFill>
                  <a:srgbClr val="C1B5AB"/>
                </a:solidFill>
                <a:latin typeface="Georgia"/>
                <a:ea typeface="Georgia"/>
                <a:cs typeface="Georgia"/>
              </a:rPr>
              <a:t>Nobody buys a product. They hire one — and no company gets to serve everybody at once.</a:t>
            </a:r>
          </a:p>
        </p:txBody>
      </p:sp>
      <p:sp>
        <p:nvSpPr>
          <p:cNvPr id="5" name="Rectangle 4"/>
          <p:cNvSpPr/>
          <p:nvPr/>
        </p:nvSpPr>
        <p:spPr>
          <a:xfrm>
            <a:off x="1047750" y="8867775"/>
            <a:ext cx="16192500" cy="19050"/>
          </a:xfrm>
          <a:prstGeom prst="rect">
            <a:avLst/>
          </a:prstGeom>
          <a:solidFill>
            <a:srgbClr val="4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9229725"/>
            <a:ext cx="2111722"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Jobs-to-Be-Done</a:t>
            </a:r>
          </a:p>
        </p:txBody>
      </p:sp>
      <p:sp>
        <p:nvSpPr>
          <p:cNvPr id="7" name="TextBox 6"/>
          <p:cNvSpPr txBox="1"/>
          <p:nvPr/>
        </p:nvSpPr>
        <p:spPr>
          <a:xfrm>
            <a:off x="3521422" y="9229725"/>
            <a:ext cx="2349252"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The Job Statement</a:t>
            </a:r>
          </a:p>
        </p:txBody>
      </p:sp>
      <p:sp>
        <p:nvSpPr>
          <p:cNvPr id="8" name="TextBox 7"/>
          <p:cNvSpPr txBox="1"/>
          <p:nvPr/>
        </p:nvSpPr>
        <p:spPr>
          <a:xfrm>
            <a:off x="6232624" y="9229725"/>
            <a:ext cx="3134618"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The Real Competitive Set</a:t>
            </a:r>
          </a:p>
        </p:txBody>
      </p:sp>
      <p:sp>
        <p:nvSpPr>
          <p:cNvPr id="9" name="TextBox 8"/>
          <p:cNvSpPr txBox="1"/>
          <p:nvPr/>
        </p:nvSpPr>
        <p:spPr>
          <a:xfrm>
            <a:off x="9729192" y="9229725"/>
            <a:ext cx="2537520"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The Beachhead Test</a:t>
            </a:r>
          </a:p>
        </p:txBody>
      </p:sp>
      <p:sp>
        <p:nvSpPr>
          <p:cNvPr id="10" name="TextBox 9"/>
          <p:cNvSpPr txBox="1"/>
          <p:nvPr/>
        </p:nvSpPr>
        <p:spPr>
          <a:xfrm>
            <a:off x="12628662" y="9229725"/>
            <a:ext cx="1504355" cy="323850"/>
          </a:xfrm>
          <a:prstGeom prst="rect">
            <a:avLst/>
          </a:prstGeom>
          <a:noFill/>
        </p:spPr>
        <p:txBody>
          <a:bodyPr wrap="square" lIns="0" tIns="0" rIns="0" bIns="0" anchor="t">
            <a:spAutoFit/>
          </a:bodyPr>
          <a:lstStyle/>
          <a:p>
            <a:pPr algn="l"/>
            <a:r>
              <a:rPr sz="2100" b="0" i="0" kern="0">
                <a:solidFill>
                  <a:srgbClr val="AEA298"/>
                </a:solidFill>
                <a:latin typeface="Arial"/>
                <a:ea typeface="Arial"/>
                <a:cs typeface="Arial"/>
              </a:rPr>
              <a:t>Sequencing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WHERE WE LEFT OFF</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Last session we went below the waterline</a:t>
            </a:r>
          </a:p>
        </p:txBody>
      </p:sp>
      <p:sp>
        <p:nvSpPr>
          <p:cNvPr id="4" name="Rectangle 3"/>
          <p:cNvSpPr/>
          <p:nvPr/>
        </p:nvSpPr>
        <p:spPr>
          <a:xfrm>
            <a:off x="1047750" y="2857500"/>
            <a:ext cx="5143500" cy="2724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iceberg</a:t>
            </a:r>
          </a:p>
        </p:txBody>
      </p:sp>
      <p:sp>
        <p:nvSpPr>
          <p:cNvPr id="6" name="TextBox 5"/>
          <p:cNvSpPr txBox="1"/>
          <p:nvPr/>
        </p:nvSpPr>
        <p:spPr>
          <a:xfrm>
            <a:off x="1390650" y="386715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Stated need on top, latent need underneath, emotional driver at the bottom.</a:t>
            </a:r>
          </a:p>
        </p:txBody>
      </p:sp>
      <p:sp>
        <p:nvSpPr>
          <p:cNvPr id="7" name="Rectangle 6"/>
          <p:cNvSpPr/>
          <p:nvPr/>
        </p:nvSpPr>
        <p:spPr>
          <a:xfrm>
            <a:off x="6572250" y="2857500"/>
            <a:ext cx="5143500" cy="2724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151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Laddering</a:t>
            </a:r>
          </a:p>
        </p:txBody>
      </p:sp>
      <p:sp>
        <p:nvSpPr>
          <p:cNvPr id="9" name="TextBox 8"/>
          <p:cNvSpPr txBox="1"/>
          <p:nvPr/>
        </p:nvSpPr>
        <p:spPr>
          <a:xfrm>
            <a:off x="6915150" y="386715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Ask why five times. Around rung four the answer stops being about the product.</a:t>
            </a:r>
          </a:p>
        </p:txBody>
      </p:sp>
      <p:sp>
        <p:nvSpPr>
          <p:cNvPr id="10" name="Rectangle 9"/>
          <p:cNvSpPr/>
          <p:nvPr/>
        </p:nvSpPr>
        <p:spPr>
          <a:xfrm>
            <a:off x="12096750" y="2857500"/>
            <a:ext cx="5143500" cy="2724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396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guard-rail</a:t>
            </a:r>
          </a:p>
        </p:txBody>
      </p:sp>
      <p:sp>
        <p:nvSpPr>
          <p:cNvPr id="12" name="TextBox 11"/>
          <p:cNvSpPr txBox="1"/>
          <p:nvPr/>
        </p:nvSpPr>
        <p:spPr>
          <a:xfrm>
            <a:off x="12439650" y="3867150"/>
            <a:ext cx="445770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latent need only counts if you can point at a behaviour — a workaround, a substitution, money already spent.</a:t>
            </a:r>
          </a:p>
        </p:txBody>
      </p:sp>
      <p:sp>
        <p:nvSpPr>
          <p:cNvPr id="13" name="Rectangle 12"/>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Today: the tool that turns a rung-five answer into something you can design against, and the decision about who gets it first.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QUICK ANSWERS · NO THINKING TIME</a:t>
            </a:r>
          </a:p>
        </p:txBody>
      </p:sp>
      <p:sp>
        <p:nvSpPr>
          <p:cNvPr id="3" name="TextBox 2"/>
          <p:cNvSpPr txBox="1"/>
          <p:nvPr/>
        </p:nvSpPr>
        <p:spPr>
          <a:xfrm>
            <a:off x="1047750" y="3810000"/>
            <a:ext cx="15430500" cy="1905000"/>
          </a:xfrm>
          <a:prstGeom prst="rect">
            <a:avLst/>
          </a:prstGeom>
          <a:noFill/>
        </p:spPr>
        <p:txBody>
          <a:bodyPr wrap="square" lIns="0" tIns="0" rIns="0" bIns="0" anchor="t">
            <a:spAutoFit/>
          </a:bodyPr>
          <a:lstStyle/>
          <a:p>
            <a:pPr algn="l"/>
            <a:r>
              <a:rPr sz="6300" b="1" i="0" kern="0" spc="-200">
                <a:solidFill>
                  <a:srgbClr val="F5F1E9"/>
                </a:solidFill>
                <a:latin typeface="Arial"/>
                <a:ea typeface="Arial"/>
                <a:cs typeface="Arial"/>
              </a:rPr>
              <a:t>Why do you use Instagram?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WHAT ALMOST EVERYONE SAYS</a:t>
            </a:r>
          </a:p>
        </p:txBody>
      </p:sp>
      <p:sp>
        <p:nvSpPr>
          <p:cNvPr id="3" name="TextBox 2"/>
          <p:cNvSpPr txBox="1"/>
          <p:nvPr/>
        </p:nvSpPr>
        <p:spPr>
          <a:xfrm>
            <a:off x="1047750" y="1504950"/>
            <a:ext cx="16192500" cy="822960"/>
          </a:xfrm>
          <a:prstGeom prst="rect">
            <a:avLst/>
          </a:prstGeom>
          <a:noFill/>
        </p:spPr>
        <p:txBody>
          <a:bodyPr wrap="square" lIns="0" tIns="0" rIns="0" bIns="0" anchor="t">
            <a:spAutoFit/>
          </a:bodyPr>
          <a:lstStyle/>
          <a:p>
            <a:pPr algn="l"/>
            <a:r>
              <a:rPr sz="5400" b="1" i="0" kern="0" spc="-142">
                <a:solidFill>
                  <a:srgbClr val="201914"/>
                </a:solidFill>
                <a:latin typeface="Arial"/>
                <a:ea typeface="Arial"/>
                <a:cs typeface="Arial"/>
              </a:rPr>
              <a:t>Every answer describes the product, not the person</a:t>
            </a:r>
          </a:p>
        </p:txBody>
      </p:sp>
      <p:sp>
        <p:nvSpPr>
          <p:cNvPr id="4" name="Rectangle 3"/>
          <p:cNvSpPr/>
          <p:nvPr/>
        </p:nvSpPr>
        <p:spPr>
          <a:xfrm>
            <a:off x="1047750" y="2857500"/>
            <a:ext cx="3762375" cy="2952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‘To see what my friends are doing’</a:t>
            </a:r>
          </a:p>
        </p:txBody>
      </p:sp>
      <p:sp>
        <p:nvSpPr>
          <p:cNvPr id="6" name="TextBox 5"/>
          <p:cNvSpPr txBox="1"/>
          <p:nvPr/>
        </p:nvSpPr>
        <p:spPr>
          <a:xfrm>
            <a:off x="1390650" y="47815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That is the app's own description of itself.</a:t>
            </a:r>
          </a:p>
        </p:txBody>
      </p:sp>
      <p:sp>
        <p:nvSpPr>
          <p:cNvPr id="7" name="Rectangle 6"/>
          <p:cNvSpPr/>
          <p:nvPr/>
        </p:nvSpPr>
        <p:spPr>
          <a:xfrm>
            <a:off x="5191125" y="2857500"/>
            <a:ext cx="3762375" cy="2952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‘For reels’ / ‘for entertainment’</a:t>
            </a:r>
          </a:p>
        </p:txBody>
      </p:sp>
      <p:sp>
        <p:nvSpPr>
          <p:cNvPr id="9" name="TextBox 8"/>
          <p:cNvSpPr txBox="1"/>
          <p:nvPr/>
        </p:nvSpPr>
        <p:spPr>
          <a:xfrm>
            <a:off x="5534025" y="43243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That is a category, not a moment.</a:t>
            </a:r>
          </a:p>
        </p:txBody>
      </p:sp>
      <p:sp>
        <p:nvSpPr>
          <p:cNvPr id="10" name="Rectangle 9"/>
          <p:cNvSpPr/>
          <p:nvPr/>
        </p:nvSpPr>
        <p:spPr>
          <a:xfrm>
            <a:off x="9334500" y="2857500"/>
            <a:ext cx="3762375" cy="2952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‘To pass time’</a:t>
            </a:r>
          </a:p>
        </p:txBody>
      </p:sp>
      <p:sp>
        <p:nvSpPr>
          <p:cNvPr id="12" name="TextBox 11"/>
          <p:cNvSpPr txBox="1"/>
          <p:nvPr/>
        </p:nvSpPr>
        <p:spPr>
          <a:xfrm>
            <a:off x="9677400" y="38671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Which time? Whose? Doing what instead?</a:t>
            </a:r>
          </a:p>
        </p:txBody>
      </p:sp>
      <p:sp>
        <p:nvSpPr>
          <p:cNvPr id="13" name="Rectangle 12"/>
          <p:cNvSpPr/>
          <p:nvPr/>
        </p:nvSpPr>
        <p:spPr>
          <a:xfrm>
            <a:off x="13477875" y="2857500"/>
            <a:ext cx="3762375" cy="2952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‘I don't know — habit’</a:t>
            </a:r>
          </a:p>
        </p:txBody>
      </p:sp>
      <p:sp>
        <p:nvSpPr>
          <p:cNvPr id="15" name="TextBox 14"/>
          <p:cNvSpPr txBox="1"/>
          <p:nvPr/>
        </p:nvSpPr>
        <p:spPr>
          <a:xfrm>
            <a:off x="13820775" y="43243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most honest answer on this slide, and the least useful.</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Nobody named a situation. And a situation is the only thing you can build for.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SAME PEOPLE, ONE SPECIFIC MOMENT</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Ask about a moment and they describe their life</a:t>
            </a:r>
          </a:p>
        </p:txBody>
      </p:sp>
      <p:sp>
        <p:nvSpPr>
          <p:cNvPr id="4" name="TextBox 3"/>
          <p:cNvSpPr txBox="1"/>
          <p:nvPr/>
        </p:nvSpPr>
        <p:spPr>
          <a:xfrm>
            <a:off x="1276350" y="2857500"/>
            <a:ext cx="6704838"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WHEN I ASK ‘WHY DO YOU USE IT?’</a:t>
            </a:r>
          </a:p>
        </p:txBody>
      </p:sp>
      <p:sp>
        <p:nvSpPr>
          <p:cNvPr id="5" name="TextBox 4"/>
          <p:cNvSpPr txBox="1"/>
          <p:nvPr/>
        </p:nvSpPr>
        <p:spPr>
          <a:xfrm>
            <a:off x="7981188" y="2857500"/>
            <a:ext cx="9259062"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WHEN I ASK ABOUT ONE SPECIFIC MOMENT</a:t>
            </a:r>
          </a:p>
        </p:txBody>
      </p:sp>
      <p:sp>
        <p:nvSpPr>
          <p:cNvPr id="6" name="Rectangle 5"/>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76350" y="3429000"/>
            <a:ext cx="6476238" cy="777240"/>
          </a:xfrm>
          <a:prstGeom prst="rect">
            <a:avLst/>
          </a:prstGeom>
          <a:noFill/>
        </p:spPr>
        <p:txBody>
          <a:bodyPr wrap="square" lIns="0" tIns="0" rIns="0" bIns="0" anchor="t">
            <a:spAutoFit/>
          </a:bodyPr>
          <a:lstStyle/>
          <a:p>
            <a:pPr algn="l"/>
            <a:r>
              <a:rPr sz="2550" b="1" i="0" kern="0">
                <a:solidFill>
                  <a:srgbClr val="201914"/>
                </a:solidFill>
                <a:latin typeface="Arial"/>
                <a:ea typeface="Arial"/>
                <a:cs typeface="Arial"/>
              </a:rPr>
              <a:t>‘To see what my friends are doing’</a:t>
            </a:r>
          </a:p>
        </p:txBody>
      </p:sp>
      <p:sp>
        <p:nvSpPr>
          <p:cNvPr id="8" name="TextBox 7"/>
          <p:cNvSpPr txBox="1"/>
          <p:nvPr/>
        </p:nvSpPr>
        <p:spPr>
          <a:xfrm>
            <a:off x="7981188" y="3429000"/>
            <a:ext cx="9259062"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‘I was alone outside the lecture hall and did not want to look like I was standing there alone.’</a:t>
            </a:r>
          </a:p>
        </p:txBody>
      </p:sp>
      <p:sp>
        <p:nvSpPr>
          <p:cNvPr id="9" name="Rectangle 8"/>
          <p:cNvSpPr/>
          <p:nvPr/>
        </p:nvSpPr>
        <p:spPr>
          <a:xfrm>
            <a:off x="1047750" y="442531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47750" y="4415790"/>
            <a:ext cx="16192500" cy="119634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76350" y="4625340"/>
            <a:ext cx="6476238" cy="777240"/>
          </a:xfrm>
          <a:prstGeom prst="rect">
            <a:avLst/>
          </a:prstGeom>
          <a:noFill/>
        </p:spPr>
        <p:txBody>
          <a:bodyPr wrap="square" lIns="0" tIns="0" rIns="0" bIns="0" anchor="t">
            <a:spAutoFit/>
          </a:bodyPr>
          <a:lstStyle/>
          <a:p>
            <a:pPr algn="l"/>
            <a:r>
              <a:rPr sz="2550" b="1" i="0" kern="0">
                <a:solidFill>
                  <a:srgbClr val="201914"/>
                </a:solidFill>
                <a:latin typeface="Arial"/>
                <a:ea typeface="Arial"/>
                <a:cs typeface="Arial"/>
              </a:rPr>
              <a:t>‘For entertainment’ / ‘to pass time’</a:t>
            </a:r>
          </a:p>
        </p:txBody>
      </p:sp>
      <p:sp>
        <p:nvSpPr>
          <p:cNvPr id="12" name="TextBox 11"/>
          <p:cNvSpPr txBox="1"/>
          <p:nvPr/>
        </p:nvSpPr>
        <p:spPr>
          <a:xfrm>
            <a:off x="7981188" y="4625340"/>
            <a:ext cx="9259062"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‘I had four minutes and nothing to do with them, and reading is too much effort.’</a:t>
            </a:r>
          </a:p>
        </p:txBody>
      </p:sp>
      <p:sp>
        <p:nvSpPr>
          <p:cNvPr id="13" name="Rectangle 12"/>
          <p:cNvSpPr/>
          <p:nvPr/>
        </p:nvSpPr>
        <p:spPr>
          <a:xfrm>
            <a:off x="1047750" y="562165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76350" y="5821680"/>
            <a:ext cx="6476238" cy="388620"/>
          </a:xfrm>
          <a:prstGeom prst="rect">
            <a:avLst/>
          </a:prstGeom>
          <a:noFill/>
        </p:spPr>
        <p:txBody>
          <a:bodyPr wrap="square" lIns="0" tIns="0" rIns="0" bIns="0" anchor="t">
            <a:spAutoFit/>
          </a:bodyPr>
          <a:lstStyle/>
          <a:p>
            <a:pPr algn="l"/>
            <a:r>
              <a:rPr sz="2550" b="1" i="0" kern="0">
                <a:solidFill>
                  <a:srgbClr val="201914"/>
                </a:solidFill>
                <a:latin typeface="Arial"/>
                <a:ea typeface="Arial"/>
                <a:cs typeface="Arial"/>
              </a:rPr>
              <a:t>‘I don't know — habit’</a:t>
            </a:r>
          </a:p>
        </p:txBody>
      </p:sp>
      <p:sp>
        <p:nvSpPr>
          <p:cNvPr id="15" name="TextBox 14"/>
          <p:cNvSpPr txBox="1"/>
          <p:nvPr/>
        </p:nvSpPr>
        <p:spPr>
          <a:xfrm>
            <a:off x="7981188" y="5821680"/>
            <a:ext cx="9259062"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‘I wanted to check whether she had posted, without asking her.’</a:t>
            </a:r>
          </a:p>
        </p:txBody>
      </p:sp>
      <p:sp>
        <p:nvSpPr>
          <p:cNvPr id="16" name="Rectangle 15"/>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You do not buy products. You hire them, for a job, in a situation. If they do the job you hire them again — and if they do not, you fire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CASE STUDY</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The 8am Milkshake</a:t>
            </a:r>
          </a:p>
        </p:txBody>
      </p:sp>
      <p:sp>
        <p:nvSpPr>
          <p:cNvPr id="4" name="TextBox 3"/>
          <p:cNvSpPr txBox="1"/>
          <p:nvPr/>
        </p:nvSpPr>
        <p:spPr>
          <a:xfrm>
            <a:off x="1047750" y="8286750"/>
            <a:ext cx="13735050" cy="127635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A fast-food chain that could not sell more milkshakes, no matter what its customers told it to change.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1990S · A COMPETENTLY RUN PIECE OF RESEARCH</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They did exactly what their customers asked for</a:t>
            </a:r>
          </a:p>
        </p:txBody>
      </p:sp>
      <p:sp>
        <p:nvSpPr>
          <p:cNvPr id="4" name="Rectangle 3"/>
          <p:cNvSpPr/>
          <p:nvPr/>
        </p:nvSpPr>
        <p:spPr>
          <a:xfrm>
            <a:off x="1047750" y="2857500"/>
            <a:ext cx="7810500" cy="453009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THE CHAIN ASKED</a:t>
            </a:r>
          </a:p>
        </p:txBody>
      </p:sp>
      <p:sp>
        <p:nvSpPr>
          <p:cNvPr id="6" name="TextBox 5"/>
          <p:cNvSpPr txBox="1"/>
          <p:nvPr/>
        </p:nvSpPr>
        <p:spPr>
          <a:xfrm>
            <a:off x="1428750" y="379095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Thicker or thinner?</a:t>
            </a:r>
          </a:p>
        </p:txBody>
      </p:sp>
      <p:sp>
        <p:nvSpPr>
          <p:cNvPr id="7" name="TextBox 6"/>
          <p:cNvSpPr txBox="1"/>
          <p:nvPr/>
        </p:nvSpPr>
        <p:spPr>
          <a:xfrm>
            <a:off x="1428750" y="438912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Chunkier or smoother?</a:t>
            </a:r>
          </a:p>
        </p:txBody>
      </p:sp>
      <p:sp>
        <p:nvSpPr>
          <p:cNvPr id="8" name="TextBox 7"/>
          <p:cNvSpPr txBox="1"/>
          <p:nvPr/>
        </p:nvSpPr>
        <p:spPr>
          <a:xfrm>
            <a:off x="1428750" y="498729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Chocolate or strawberry?</a:t>
            </a:r>
          </a:p>
        </p:txBody>
      </p:sp>
      <p:sp>
        <p:nvSpPr>
          <p:cNvPr id="9" name="TextBox 8"/>
          <p:cNvSpPr txBox="1"/>
          <p:nvPr/>
        </p:nvSpPr>
        <p:spPr>
          <a:xfrm>
            <a:off x="1428750" y="558546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Cheaper or larger?</a:t>
            </a:r>
          </a:p>
        </p:txBody>
      </p:sp>
      <p:sp>
        <p:nvSpPr>
          <p:cNvPr id="10" name="TextBox 9"/>
          <p:cNvSpPr txBox="1"/>
          <p:nvPr/>
        </p:nvSpPr>
        <p:spPr>
          <a:xfrm>
            <a:off x="1428750" y="6183630"/>
            <a:ext cx="7048500" cy="82296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Clear, cooperative, internally consistent answers.</a:t>
            </a:r>
          </a:p>
        </p:txBody>
      </p:sp>
      <p:sp>
        <p:nvSpPr>
          <p:cNvPr id="11" name="Rectangle 10"/>
          <p:cNvSpPr/>
          <p:nvPr/>
        </p:nvSpPr>
        <p:spPr>
          <a:xfrm>
            <a:off x="9429750" y="2857500"/>
            <a:ext cx="7810500" cy="453009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10750" y="3238500"/>
            <a:ext cx="7048500" cy="323850"/>
          </a:xfrm>
          <a:prstGeom prst="rect">
            <a:avLst/>
          </a:prstGeom>
          <a:noFill/>
        </p:spPr>
        <p:txBody>
          <a:bodyPr wrap="square" lIns="0" tIns="0" rIns="0" bIns="0" anchor="t">
            <a:spAutoFit/>
          </a:bodyPr>
          <a:lstStyle/>
          <a:p>
            <a:pPr algn="l"/>
            <a:r>
              <a:rPr sz="1950" b="1" i="0" kern="0" spc="273">
                <a:solidFill>
                  <a:srgbClr val="FFAF9F"/>
                </a:solidFill>
                <a:latin typeface="Arial"/>
                <a:ea typeface="Arial"/>
                <a:cs typeface="Arial"/>
              </a:rPr>
              <a:t>WHAT THE CHAIN THEN DID</a:t>
            </a:r>
          </a:p>
        </p:txBody>
      </p:sp>
      <p:sp>
        <p:nvSpPr>
          <p:cNvPr id="13" name="TextBox 12"/>
          <p:cNvSpPr txBox="1"/>
          <p:nvPr/>
        </p:nvSpPr>
        <p:spPr>
          <a:xfrm>
            <a:off x="9810750" y="3790950"/>
            <a:ext cx="7048500" cy="38862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Adjusted the recipe.</a:t>
            </a:r>
          </a:p>
        </p:txBody>
      </p:sp>
      <p:sp>
        <p:nvSpPr>
          <p:cNvPr id="14" name="TextBox 13"/>
          <p:cNvSpPr txBox="1"/>
          <p:nvPr/>
        </p:nvSpPr>
        <p:spPr>
          <a:xfrm>
            <a:off x="9810750" y="4389120"/>
            <a:ext cx="7048500" cy="38862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Changed the sizes.</a:t>
            </a:r>
          </a:p>
        </p:txBody>
      </p:sp>
      <p:sp>
        <p:nvSpPr>
          <p:cNvPr id="15" name="TextBox 14"/>
          <p:cNvSpPr txBox="1"/>
          <p:nvPr/>
        </p:nvSpPr>
        <p:spPr>
          <a:xfrm>
            <a:off x="9810750" y="4987290"/>
            <a:ext cx="7048500" cy="38862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Ran promotions.</a:t>
            </a:r>
          </a:p>
        </p:txBody>
      </p:sp>
      <p:sp>
        <p:nvSpPr>
          <p:cNvPr id="16" name="TextBox 15"/>
          <p:cNvSpPr txBox="1"/>
          <p:nvPr/>
        </p:nvSpPr>
        <p:spPr>
          <a:xfrm>
            <a:off x="9810750" y="5585460"/>
            <a:ext cx="7048500" cy="41148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Sales did not move at all.</a:t>
            </a:r>
          </a:p>
        </p:txBody>
      </p:sp>
      <p:sp>
        <p:nvSpPr>
          <p:cNvPr id="17" name="Rectangle 16"/>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The customers had not lied. They were asked to comment on a product rather than describe their lives, and they answered the question they were given.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SO A RESEARCHER STOOD IN ONE RESTAURANT FOR A DAY</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950" b="1" i="0" kern="0" spc="-142">
                <a:solidFill>
                  <a:srgbClr val="201914"/>
                </a:solidFill>
                <a:latin typeface="Arial"/>
                <a:ea typeface="Arial"/>
                <a:cs typeface="Arial"/>
              </a:rPr>
              <a:t>Four observations, and not one of them is about flavour</a:t>
            </a:r>
          </a:p>
        </p:txBody>
      </p:sp>
      <p:sp>
        <p:nvSpPr>
          <p:cNvPr id="4" name="Rectangle 3"/>
          <p:cNvSpPr/>
          <p:nvPr/>
        </p:nvSpPr>
        <p:spPr>
          <a:xfrm>
            <a:off x="1047750" y="2857500"/>
            <a:ext cx="3762375" cy="32385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3124200"/>
            <a:ext cx="3114675" cy="1066800"/>
          </a:xfrm>
          <a:prstGeom prst="rect">
            <a:avLst/>
          </a:prstGeom>
          <a:noFill/>
        </p:spPr>
        <p:txBody>
          <a:bodyPr wrap="square" lIns="0" tIns="0" rIns="0" bIns="0" anchor="t">
            <a:spAutoFit/>
          </a:bodyPr>
          <a:lstStyle/>
          <a:p>
            <a:pPr algn="l"/>
            <a:r>
              <a:rPr sz="8000" b="1" i="0" kern="0" spc="-200">
                <a:solidFill>
                  <a:srgbClr val="F5F1E9"/>
                </a:solidFill>
                <a:latin typeface="Arial"/>
                <a:ea typeface="Arial"/>
                <a:cs typeface="Arial"/>
              </a:rPr>
              <a:t>~50%</a:t>
            </a:r>
          </a:p>
        </p:txBody>
      </p:sp>
      <p:sp>
        <p:nvSpPr>
          <p:cNvPr id="6" name="TextBox 5"/>
          <p:cNvSpPr txBox="1"/>
          <p:nvPr/>
        </p:nvSpPr>
        <p:spPr>
          <a:xfrm>
            <a:off x="1371600" y="4202430"/>
            <a:ext cx="3114675" cy="381000"/>
          </a:xfrm>
          <a:prstGeom prst="rect">
            <a:avLst/>
          </a:prstGeom>
          <a:noFill/>
        </p:spPr>
        <p:txBody>
          <a:bodyPr wrap="square" lIns="0" tIns="0" rIns="0" bIns="0" anchor="t">
            <a:spAutoFit/>
          </a:bodyPr>
          <a:lstStyle/>
          <a:p>
            <a:pPr algn="l"/>
            <a:r>
              <a:rPr sz="2400" b="1" i="0" kern="0">
                <a:solidFill>
                  <a:srgbClr val="F5F1E9"/>
                </a:solidFill>
                <a:latin typeface="Arial"/>
                <a:ea typeface="Arial"/>
                <a:cs typeface="Arial"/>
              </a:rPr>
              <a:t>sold before 9am</a:t>
            </a:r>
          </a:p>
        </p:txBody>
      </p:sp>
      <p:sp>
        <p:nvSpPr>
          <p:cNvPr id="7" name="TextBox 6"/>
          <p:cNvSpPr txBox="1"/>
          <p:nvPr/>
        </p:nvSpPr>
        <p:spPr>
          <a:xfrm>
            <a:off x="1371600" y="4659630"/>
            <a:ext cx="3114675" cy="96012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Half the milkshakes in the day, gone before the breakfast rush ended.</a:t>
            </a:r>
          </a:p>
        </p:txBody>
      </p:sp>
      <p:sp>
        <p:nvSpPr>
          <p:cNvPr id="8" name="Rectangle 7"/>
          <p:cNvSpPr/>
          <p:nvPr/>
        </p:nvSpPr>
        <p:spPr>
          <a:xfrm>
            <a:off x="5191125"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14975" y="3124200"/>
            <a:ext cx="3114675"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Alone</a:t>
            </a:r>
          </a:p>
        </p:txBody>
      </p:sp>
      <p:sp>
        <p:nvSpPr>
          <p:cNvPr id="10" name="TextBox 9"/>
          <p:cNvSpPr txBox="1"/>
          <p:nvPr/>
        </p:nvSpPr>
        <p:spPr>
          <a:xfrm>
            <a:off x="5514975" y="4202430"/>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every time</a:t>
            </a:r>
          </a:p>
        </p:txBody>
      </p:sp>
      <p:sp>
        <p:nvSpPr>
          <p:cNvPr id="11" name="TextBox 10"/>
          <p:cNvSpPr txBox="1"/>
          <p:nvPr/>
        </p:nvSpPr>
        <p:spPr>
          <a:xfrm>
            <a:off x="5514975" y="4659630"/>
            <a:ext cx="3114675"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No families. No groups. One person, one milkshake.</a:t>
            </a:r>
          </a:p>
        </p:txBody>
      </p:sp>
      <p:sp>
        <p:nvSpPr>
          <p:cNvPr id="12" name="Rectangle 11"/>
          <p:cNvSpPr/>
          <p:nvPr/>
        </p:nvSpPr>
        <p:spPr>
          <a:xfrm>
            <a:off x="9334500"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8350" y="3124200"/>
            <a:ext cx="3114675" cy="853440"/>
          </a:xfrm>
          <a:prstGeom prst="rect">
            <a:avLst/>
          </a:prstGeom>
          <a:noFill/>
        </p:spPr>
        <p:txBody>
          <a:bodyPr wrap="square" lIns="0" tIns="0" rIns="0" bIns="0" anchor="t">
            <a:spAutoFit/>
          </a:bodyPr>
          <a:lstStyle/>
          <a:p>
            <a:pPr algn="l"/>
            <a:r>
              <a:rPr sz="6400" b="1" i="0" kern="0" spc="-200">
                <a:solidFill>
                  <a:srgbClr val="201914"/>
                </a:solidFill>
                <a:latin typeface="Arial"/>
                <a:ea typeface="Arial"/>
                <a:cs typeface="Arial"/>
              </a:rPr>
              <a:t>Nothing</a:t>
            </a:r>
          </a:p>
        </p:txBody>
      </p:sp>
      <p:sp>
        <p:nvSpPr>
          <p:cNvPr id="14" name="TextBox 13"/>
          <p:cNvSpPr txBox="1"/>
          <p:nvPr/>
        </p:nvSpPr>
        <p:spPr>
          <a:xfrm>
            <a:off x="9658350" y="3998214"/>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bought with it</a:t>
            </a:r>
          </a:p>
        </p:txBody>
      </p:sp>
      <p:sp>
        <p:nvSpPr>
          <p:cNvPr id="15" name="TextBox 14"/>
          <p:cNvSpPr txBox="1"/>
          <p:nvPr/>
        </p:nvSpPr>
        <p:spPr>
          <a:xfrm>
            <a:off x="9658350" y="4455414"/>
            <a:ext cx="3114675"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No burger, no fries, nothing that makes a meal.</a:t>
            </a:r>
          </a:p>
        </p:txBody>
      </p:sp>
      <p:sp>
        <p:nvSpPr>
          <p:cNvPr id="16" name="Rectangle 15"/>
          <p:cNvSpPr/>
          <p:nvPr/>
        </p:nvSpPr>
        <p:spPr>
          <a:xfrm>
            <a:off x="13477875"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801725" y="3124200"/>
            <a:ext cx="3114675" cy="533400"/>
          </a:xfrm>
          <a:prstGeom prst="rect">
            <a:avLst/>
          </a:prstGeom>
          <a:noFill/>
        </p:spPr>
        <p:txBody>
          <a:bodyPr wrap="square" lIns="0" tIns="0" rIns="0" bIns="0" anchor="t">
            <a:spAutoFit/>
          </a:bodyPr>
          <a:lstStyle/>
          <a:p>
            <a:pPr algn="l"/>
            <a:r>
              <a:rPr sz="4000" b="1" i="0" kern="0" spc="-200">
                <a:solidFill>
                  <a:srgbClr val="201914"/>
                </a:solidFill>
                <a:latin typeface="Arial"/>
                <a:ea typeface="Arial"/>
                <a:cs typeface="Arial"/>
              </a:rPr>
              <a:t>Took it away</a:t>
            </a:r>
          </a:p>
        </p:txBody>
      </p:sp>
      <p:sp>
        <p:nvSpPr>
          <p:cNvPr id="18" name="TextBox 17"/>
          <p:cNvSpPr txBox="1"/>
          <p:nvPr/>
        </p:nvSpPr>
        <p:spPr>
          <a:xfrm>
            <a:off x="13801725" y="3691890"/>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to the car</a:t>
            </a:r>
          </a:p>
        </p:txBody>
      </p:sp>
      <p:sp>
        <p:nvSpPr>
          <p:cNvPr id="19" name="TextBox 18"/>
          <p:cNvSpPr txBox="1"/>
          <p:nvPr/>
        </p:nvSpPr>
        <p:spPr>
          <a:xfrm>
            <a:off x="13801725" y="4149090"/>
            <a:ext cx="3114675"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Nobody sat down. They drove off with it.</a:t>
            </a:r>
          </a:p>
        </p:txBody>
      </p:sp>
      <p:sp>
        <p:nvSpPr>
          <p:cNvPr id="20" name="Rectangle 19"/>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47750" y="8439150"/>
            <a:ext cx="16192500" cy="144018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So they came back the next morning and asked questions that had nothing to do with taste: what are you doing right now, where are you going, and what did you buy instead the last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WHAT THEY HAD HIRED THE MORNING BEFORE</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The milkshake was competing with a banana</a:t>
            </a:r>
          </a:p>
        </p:txBody>
      </p:sp>
      <p:sp>
        <p:nvSpPr>
          <p:cNvPr id="4" name="Rectangle 3"/>
          <p:cNvSpPr/>
          <p:nvPr/>
        </p:nvSpPr>
        <p:spPr>
          <a:xfrm>
            <a:off x="1047750" y="2857500"/>
            <a:ext cx="2994660" cy="343281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230886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A banana</a:t>
            </a:r>
          </a:p>
        </p:txBody>
      </p:sp>
      <p:sp>
        <p:nvSpPr>
          <p:cNvPr id="6" name="TextBox 5"/>
          <p:cNvSpPr txBox="1"/>
          <p:nvPr/>
        </p:nvSpPr>
        <p:spPr>
          <a:xfrm>
            <a:off x="1390650" y="3821430"/>
            <a:ext cx="230886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Eaten in three bites. Gone in a minute, and you are bored again.</a:t>
            </a:r>
          </a:p>
        </p:txBody>
      </p:sp>
      <p:sp>
        <p:nvSpPr>
          <p:cNvPr id="7" name="Rectangle 6"/>
          <p:cNvSpPr/>
          <p:nvPr/>
        </p:nvSpPr>
        <p:spPr>
          <a:xfrm>
            <a:off x="4347210" y="2857500"/>
            <a:ext cx="2994660" cy="343281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90110" y="3200400"/>
            <a:ext cx="230886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A doughnut</a:t>
            </a:r>
          </a:p>
        </p:txBody>
      </p:sp>
      <p:sp>
        <p:nvSpPr>
          <p:cNvPr id="9" name="TextBox 8"/>
          <p:cNvSpPr txBox="1"/>
          <p:nvPr/>
        </p:nvSpPr>
        <p:spPr>
          <a:xfrm>
            <a:off x="4690110" y="3821430"/>
            <a:ext cx="230886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Greasy fingers on the steering wheel.</a:t>
            </a:r>
          </a:p>
        </p:txBody>
      </p:sp>
      <p:sp>
        <p:nvSpPr>
          <p:cNvPr id="10" name="Rectangle 9"/>
          <p:cNvSpPr/>
          <p:nvPr/>
        </p:nvSpPr>
        <p:spPr>
          <a:xfrm>
            <a:off x="7646670" y="2857500"/>
            <a:ext cx="2994660" cy="343281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89570" y="3200400"/>
            <a:ext cx="230886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A bagel</a:t>
            </a:r>
          </a:p>
        </p:txBody>
      </p:sp>
      <p:sp>
        <p:nvSpPr>
          <p:cNvPr id="12" name="TextBox 11"/>
          <p:cNvSpPr txBox="1"/>
          <p:nvPr/>
        </p:nvSpPr>
        <p:spPr>
          <a:xfrm>
            <a:off x="7989570" y="3821430"/>
            <a:ext cx="230886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Dry, and it needs two hands.</a:t>
            </a:r>
          </a:p>
        </p:txBody>
      </p:sp>
      <p:sp>
        <p:nvSpPr>
          <p:cNvPr id="13" name="Rectangle 12"/>
          <p:cNvSpPr/>
          <p:nvPr/>
        </p:nvSpPr>
        <p:spPr>
          <a:xfrm>
            <a:off x="10946130" y="2857500"/>
            <a:ext cx="2994660" cy="343281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289030" y="3200400"/>
            <a:ext cx="2308860" cy="82296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A chocolate bar</a:t>
            </a:r>
          </a:p>
        </p:txBody>
      </p:sp>
      <p:sp>
        <p:nvSpPr>
          <p:cNvPr id="15" name="TextBox 14"/>
          <p:cNvSpPr txBox="1"/>
          <p:nvPr/>
        </p:nvSpPr>
        <p:spPr>
          <a:xfrm>
            <a:off x="11289030" y="4232910"/>
            <a:ext cx="2308860"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Over too quickly, and it leaves you feeling you have had breakfast badly.</a:t>
            </a:r>
          </a:p>
        </p:txBody>
      </p:sp>
      <p:sp>
        <p:nvSpPr>
          <p:cNvPr id="16" name="Rectangle 15"/>
          <p:cNvSpPr/>
          <p:nvPr/>
        </p:nvSpPr>
        <p:spPr>
          <a:xfrm>
            <a:off x="14245590" y="2857500"/>
            <a:ext cx="2994660" cy="343281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588490" y="3200400"/>
            <a:ext cx="2308860" cy="41148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Nothing at all</a:t>
            </a:r>
          </a:p>
        </p:txBody>
      </p:sp>
      <p:sp>
        <p:nvSpPr>
          <p:cNvPr id="18" name="TextBox 17"/>
          <p:cNvSpPr txBox="1"/>
          <p:nvPr/>
        </p:nvSpPr>
        <p:spPr>
          <a:xfrm>
            <a:off x="14588490" y="3821430"/>
            <a:ext cx="2308860" cy="3429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Hungry by ten.</a:t>
            </a:r>
          </a:p>
        </p:txBody>
      </p:sp>
      <p:sp>
        <p:nvSpPr>
          <p:cNvPr id="19" name="Rectangle 18"/>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Against that list, a thick milkshake through a thin straw is an extraordinary product: twenty minutes, one hand, fits a cup holder, holds off hunger until midday.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ONCE THE JOB IS CLEAR, THE IMPROVEMENTS ARE OBVIOUS</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None of these came out of the original survey</a:t>
            </a:r>
          </a:p>
        </p:txBody>
      </p:sp>
      <p:sp>
        <p:nvSpPr>
          <p:cNvPr id="4" name="Rectangle 3"/>
          <p:cNvSpPr/>
          <p:nvPr/>
        </p:nvSpPr>
        <p:spPr>
          <a:xfrm>
            <a:off x="1047750" y="2857500"/>
            <a:ext cx="5143500" cy="28384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Make it thicker</a:t>
            </a:r>
          </a:p>
        </p:txBody>
      </p:sp>
      <p:sp>
        <p:nvSpPr>
          <p:cNvPr id="6" name="TextBox 5"/>
          <p:cNvSpPr txBox="1"/>
          <p:nvPr/>
        </p:nvSpPr>
        <p:spPr>
          <a:xfrm>
            <a:off x="1390650" y="3867150"/>
            <a:ext cx="445770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So it lasts the length of the drive, not the length of a queue.</a:t>
            </a:r>
          </a:p>
        </p:txBody>
      </p:sp>
      <p:sp>
        <p:nvSpPr>
          <p:cNvPr id="7" name="Rectangle 6"/>
          <p:cNvSpPr/>
          <p:nvPr/>
        </p:nvSpPr>
        <p:spPr>
          <a:xfrm>
            <a:off x="6572250" y="2857500"/>
            <a:ext cx="5143500" cy="28384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15150" y="3200400"/>
            <a:ext cx="44577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Add fruit chunks</a:t>
            </a:r>
          </a:p>
        </p:txBody>
      </p:sp>
      <p:sp>
        <p:nvSpPr>
          <p:cNvPr id="9" name="TextBox 8"/>
          <p:cNvSpPr txBox="1"/>
          <p:nvPr/>
        </p:nvSpPr>
        <p:spPr>
          <a:xfrm>
            <a:off x="6915150" y="386715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So the straw delivers small surprises across twenty boring minutes.</a:t>
            </a:r>
          </a:p>
        </p:txBody>
      </p:sp>
      <p:sp>
        <p:nvSpPr>
          <p:cNvPr id="10" name="Rectangle 9"/>
          <p:cNvSpPr/>
          <p:nvPr/>
        </p:nvSpPr>
        <p:spPr>
          <a:xfrm>
            <a:off x="12096750" y="2857500"/>
            <a:ext cx="5143500" cy="28384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39650" y="3200400"/>
            <a:ext cx="4457700"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Move the machine to the front</a:t>
            </a:r>
          </a:p>
        </p:txBody>
      </p:sp>
      <p:sp>
        <p:nvSpPr>
          <p:cNvPr id="12" name="TextBox 11"/>
          <p:cNvSpPr txBox="1"/>
          <p:nvPr/>
        </p:nvSpPr>
        <p:spPr>
          <a:xfrm>
            <a:off x="12439650" y="4324350"/>
            <a:ext cx="44577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With a prepaid swipe card, so a commuter is not queuing behind a family ordering breakfast.</a:t>
            </a:r>
          </a:p>
        </p:txBody>
      </p:sp>
      <p:sp>
        <p:nvSpPr>
          <p:cNvPr id="13" name="Rectangle 12"/>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Not one of those changes makes the milkshake taste better in a blind test.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HALF OF THE STORY MOST RETELLINGS LEAVE OUT</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200" b="1" i="0" kern="0" spc="-142">
                <a:solidFill>
                  <a:srgbClr val="201914"/>
                </a:solidFill>
                <a:latin typeface="Arial"/>
                <a:ea typeface="Arial"/>
                <a:cs typeface="Arial"/>
              </a:rPr>
              <a:t>Same machine, same door, and the correct product is the opposite</a:t>
            </a:r>
          </a:p>
        </p:txBody>
      </p:sp>
      <p:sp>
        <p:nvSpPr>
          <p:cNvPr id="4" name="TextBox 3"/>
          <p:cNvSpPr txBox="1"/>
          <p:nvPr/>
        </p:nvSpPr>
        <p:spPr>
          <a:xfrm>
            <a:off x="4423410" y="2857500"/>
            <a:ext cx="629412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7AM MILKSHAKE</a:t>
            </a:r>
          </a:p>
        </p:txBody>
      </p:sp>
      <p:sp>
        <p:nvSpPr>
          <p:cNvPr id="5" name="TextBox 4"/>
          <p:cNvSpPr txBox="1"/>
          <p:nvPr/>
        </p:nvSpPr>
        <p:spPr>
          <a:xfrm>
            <a:off x="10946130" y="2857500"/>
            <a:ext cx="629412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4PM MILKSHAKE</a:t>
            </a:r>
          </a:p>
        </p:txBody>
      </p:sp>
      <p:sp>
        <p:nvSpPr>
          <p:cNvPr id="6" name="Rectangle 5"/>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76350" y="3429000"/>
            <a:ext cx="2918460" cy="3429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Customer</a:t>
            </a:r>
          </a:p>
        </p:txBody>
      </p:sp>
      <p:sp>
        <p:nvSpPr>
          <p:cNvPr id="8" name="TextBox 7"/>
          <p:cNvSpPr txBox="1"/>
          <p:nvPr/>
        </p:nvSpPr>
        <p:spPr>
          <a:xfrm>
            <a:off x="4423410" y="3429000"/>
            <a:ext cx="6294120"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commuter, alone</a:t>
            </a:r>
          </a:p>
        </p:txBody>
      </p:sp>
      <p:sp>
        <p:nvSpPr>
          <p:cNvPr id="9" name="TextBox 8"/>
          <p:cNvSpPr txBox="1"/>
          <p:nvPr/>
        </p:nvSpPr>
        <p:spPr>
          <a:xfrm>
            <a:off x="10946130" y="3429000"/>
            <a:ext cx="6294120"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parent, with a child</a:t>
            </a:r>
          </a:p>
        </p:txBody>
      </p:sp>
      <p:sp>
        <p:nvSpPr>
          <p:cNvPr id="10" name="Rectangle 9"/>
          <p:cNvSpPr/>
          <p:nvPr/>
        </p:nvSpPr>
        <p:spPr>
          <a:xfrm>
            <a:off x="1047750" y="39909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7750" y="3981450"/>
            <a:ext cx="16192500" cy="11049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76350" y="4191000"/>
            <a:ext cx="2918460" cy="6858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Situation</a:t>
            </a:r>
          </a:p>
        </p:txBody>
      </p:sp>
      <p:sp>
        <p:nvSpPr>
          <p:cNvPr id="13" name="TextBox 12"/>
          <p:cNvSpPr txBox="1"/>
          <p:nvPr/>
        </p:nvSpPr>
        <p:spPr>
          <a:xfrm>
            <a:off x="4423410" y="4191000"/>
            <a:ext cx="629412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Long, boring drive. Not hungry yet, but will be by ten.</a:t>
            </a:r>
          </a:p>
        </p:txBody>
      </p:sp>
      <p:sp>
        <p:nvSpPr>
          <p:cNvPr id="14" name="TextBox 13"/>
          <p:cNvSpPr txBox="1"/>
          <p:nvPr/>
        </p:nvSpPr>
        <p:spPr>
          <a:xfrm>
            <a:off x="10946130" y="4191000"/>
            <a:ext cx="629412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end of a day of saying no, driving home together.</a:t>
            </a:r>
          </a:p>
        </p:txBody>
      </p:sp>
      <p:sp>
        <p:nvSpPr>
          <p:cNvPr id="15" name="Rectangle 14"/>
          <p:cNvSpPr/>
          <p:nvPr/>
        </p:nvSpPr>
        <p:spPr>
          <a:xfrm>
            <a:off x="1047750" y="50958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76350" y="5295900"/>
            <a:ext cx="2918460" cy="6858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Job</a:t>
            </a:r>
          </a:p>
        </p:txBody>
      </p:sp>
      <p:sp>
        <p:nvSpPr>
          <p:cNvPr id="17" name="TextBox 16"/>
          <p:cNvSpPr txBox="1"/>
          <p:nvPr/>
        </p:nvSpPr>
        <p:spPr>
          <a:xfrm>
            <a:off x="4423410" y="5295900"/>
            <a:ext cx="629412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Occupy one hand and my attention, and hold off hunger.</a:t>
            </a:r>
          </a:p>
        </p:txBody>
      </p:sp>
      <p:sp>
        <p:nvSpPr>
          <p:cNvPr id="18" name="TextBox 17"/>
          <p:cNvSpPr txBox="1"/>
          <p:nvPr/>
        </p:nvSpPr>
        <p:spPr>
          <a:xfrm>
            <a:off x="10946130" y="5295900"/>
            <a:ext cx="629412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Say yes to something small and harmless.</a:t>
            </a:r>
          </a:p>
        </p:txBody>
      </p:sp>
      <p:sp>
        <p:nvSpPr>
          <p:cNvPr id="19" name="Rectangle 18"/>
          <p:cNvSpPr/>
          <p:nvPr/>
        </p:nvSpPr>
        <p:spPr>
          <a:xfrm>
            <a:off x="1047750" y="6200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47750" y="6191250"/>
            <a:ext cx="16192500" cy="11049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76350" y="6400800"/>
            <a:ext cx="2918460" cy="6858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Metric of success</a:t>
            </a:r>
          </a:p>
        </p:txBody>
      </p:sp>
      <p:sp>
        <p:nvSpPr>
          <p:cNvPr id="22" name="TextBox 21"/>
          <p:cNvSpPr txBox="1"/>
          <p:nvPr/>
        </p:nvSpPr>
        <p:spPr>
          <a:xfrm>
            <a:off x="4423410" y="6400800"/>
            <a:ext cx="629412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Lasts twenty minutes. One hand. Not hungry at ten.</a:t>
            </a:r>
          </a:p>
        </p:txBody>
      </p:sp>
      <p:sp>
        <p:nvSpPr>
          <p:cNvPr id="23" name="TextBox 22"/>
          <p:cNvSpPr txBox="1"/>
          <p:nvPr/>
        </p:nvSpPr>
        <p:spPr>
          <a:xfrm>
            <a:off x="10946130" y="6400800"/>
            <a:ext cx="6294120"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Over quickly. Child pleased. Nobody left waiting.</a:t>
            </a:r>
          </a:p>
        </p:txBody>
      </p:sp>
      <p:sp>
        <p:nvSpPr>
          <p:cNvPr id="24" name="Rectangle 23"/>
          <p:cNvSpPr/>
          <p:nvPr/>
        </p:nvSpPr>
        <p:spPr>
          <a:xfrm>
            <a:off x="1047750" y="73056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76350" y="7505700"/>
            <a:ext cx="2918460" cy="342900"/>
          </a:xfrm>
          <a:prstGeom prst="rect">
            <a:avLst/>
          </a:prstGeom>
          <a:noFill/>
        </p:spPr>
        <p:txBody>
          <a:bodyPr wrap="square" lIns="0" tIns="0" rIns="0" bIns="0" anchor="t">
            <a:spAutoFit/>
          </a:bodyPr>
          <a:lstStyle/>
          <a:p>
            <a:pPr algn="l"/>
            <a:r>
              <a:rPr sz="2250" b="1" i="0" kern="0">
                <a:solidFill>
                  <a:srgbClr val="201914"/>
                </a:solidFill>
                <a:latin typeface="Arial"/>
                <a:ea typeface="Arial"/>
                <a:cs typeface="Arial"/>
              </a:rPr>
              <a:t>The right design</a:t>
            </a:r>
          </a:p>
        </p:txBody>
      </p:sp>
      <p:sp>
        <p:nvSpPr>
          <p:cNvPr id="26" name="TextBox 25"/>
          <p:cNvSpPr txBox="1"/>
          <p:nvPr/>
        </p:nvSpPr>
        <p:spPr>
          <a:xfrm>
            <a:off x="4423410" y="7505700"/>
            <a:ext cx="6294120" cy="342900"/>
          </a:xfrm>
          <a:prstGeom prst="rect">
            <a:avLst/>
          </a:prstGeom>
          <a:noFill/>
        </p:spPr>
        <p:txBody>
          <a:bodyPr wrap="square" lIns="0" tIns="0" rIns="0" bIns="0" anchor="t">
            <a:spAutoFit/>
          </a:bodyPr>
          <a:lstStyle/>
          <a:p>
            <a:pPr algn="l"/>
            <a:r>
              <a:rPr sz="2250" b="1" i="0" kern="0">
                <a:solidFill>
                  <a:srgbClr val="C35141"/>
                </a:solidFill>
                <a:latin typeface="Arial"/>
                <a:ea typeface="Arial"/>
                <a:cs typeface="Arial"/>
              </a:rPr>
              <a:t>Thicker, chunks, thin straw, fast prepaid service</a:t>
            </a:r>
          </a:p>
        </p:txBody>
      </p:sp>
      <p:sp>
        <p:nvSpPr>
          <p:cNvPr id="27" name="TextBox 26"/>
          <p:cNvSpPr txBox="1"/>
          <p:nvPr/>
        </p:nvSpPr>
        <p:spPr>
          <a:xfrm>
            <a:off x="10946130" y="7505700"/>
            <a:ext cx="6294120" cy="342900"/>
          </a:xfrm>
          <a:prstGeom prst="rect">
            <a:avLst/>
          </a:prstGeom>
          <a:noFill/>
        </p:spPr>
        <p:txBody>
          <a:bodyPr wrap="square" lIns="0" tIns="0" rIns="0" bIns="0" anchor="t">
            <a:spAutoFit/>
          </a:bodyPr>
          <a:lstStyle/>
          <a:p>
            <a:pPr algn="l"/>
            <a:r>
              <a:rPr sz="2250" b="1" i="0" kern="0">
                <a:solidFill>
                  <a:srgbClr val="C35141"/>
                </a:solidFill>
                <a:latin typeface="Arial"/>
                <a:ea typeface="Arial"/>
                <a:cs typeface="Arial"/>
              </a:rPr>
              <a:t>Smaller, thinner, finished in four minutes</a:t>
            </a:r>
          </a:p>
        </p:txBody>
      </p:sp>
      <p:sp>
        <p:nvSpPr>
          <p:cNvPr id="28" name="Rectangle 27"/>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Average those two customers into one ‘milkshake buyer’ and you build something medium that serves neither. This is why a single average customer is a useless unit of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FRAMEWORK 1 · FOUR PARTS, ALL LOAD-BEARING</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A job is progress, in a circumstance</a:t>
            </a:r>
          </a:p>
        </p:txBody>
      </p:sp>
      <p:sp>
        <p:nvSpPr>
          <p:cNvPr id="4" name="Rectangle 3"/>
          <p:cNvSpPr/>
          <p:nvPr/>
        </p:nvSpPr>
        <p:spPr>
          <a:xfrm>
            <a:off x="1047750"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Customer</a:t>
            </a:r>
          </a:p>
        </p:txBody>
      </p:sp>
      <p:sp>
        <p:nvSpPr>
          <p:cNvPr id="6" name="TextBox 5"/>
          <p:cNvSpPr txBox="1"/>
          <p:nvPr/>
        </p:nvSpPr>
        <p:spPr>
          <a:xfrm>
            <a:off x="1390650" y="38671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Who. Not a demographic — the person in this specific moment.</a:t>
            </a:r>
          </a:p>
        </p:txBody>
      </p:sp>
      <p:sp>
        <p:nvSpPr>
          <p:cNvPr id="7" name="Rectangle 6"/>
          <p:cNvSpPr/>
          <p:nvPr/>
        </p:nvSpPr>
        <p:spPr>
          <a:xfrm>
            <a:off x="5191125"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Situation</a:t>
            </a:r>
          </a:p>
        </p:txBody>
      </p:sp>
      <p:sp>
        <p:nvSpPr>
          <p:cNvPr id="9" name="TextBox 8"/>
          <p:cNvSpPr txBox="1"/>
          <p:nvPr/>
        </p:nvSpPr>
        <p:spPr>
          <a:xfrm>
            <a:off x="5534025" y="38671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When and where, precisely. 7am, alone, in a car, forty minutes of driving ahead.</a:t>
            </a:r>
          </a:p>
        </p:txBody>
      </p:sp>
      <p:sp>
        <p:nvSpPr>
          <p:cNvPr id="10" name="Rectangle 9"/>
          <p:cNvSpPr/>
          <p:nvPr/>
        </p:nvSpPr>
        <p:spPr>
          <a:xfrm>
            <a:off x="9334500"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Job</a:t>
            </a:r>
          </a:p>
        </p:txBody>
      </p:sp>
      <p:sp>
        <p:nvSpPr>
          <p:cNvPr id="12" name="TextBox 11"/>
          <p:cNvSpPr txBox="1"/>
          <p:nvPr/>
        </p:nvSpPr>
        <p:spPr>
          <a:xfrm>
            <a:off x="9677400" y="38671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progress they are trying to make. Never a product, never a preference.</a:t>
            </a:r>
          </a:p>
        </p:txBody>
      </p:sp>
      <p:sp>
        <p:nvSpPr>
          <p:cNvPr id="13" name="Rectangle 12"/>
          <p:cNvSpPr/>
          <p:nvPr/>
        </p:nvSpPr>
        <p:spPr>
          <a:xfrm>
            <a:off x="13477875" y="2857500"/>
            <a:ext cx="3762375" cy="386715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9144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Metric of success</a:t>
            </a:r>
          </a:p>
        </p:txBody>
      </p:sp>
      <p:sp>
        <p:nvSpPr>
          <p:cNvPr id="15" name="TextBox 14"/>
          <p:cNvSpPr txBox="1"/>
          <p:nvPr/>
        </p:nvSpPr>
        <p:spPr>
          <a:xfrm>
            <a:off x="13820775" y="4324350"/>
            <a:ext cx="3076575" cy="20574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How they will know it worked — twenty minutes, one hand, not hungry at ten. This is the part everybody forgets.</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Write the metric down and you have a specification. Leave it out and you have a slogan.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FRAMEWORK 1 · WRITE IT IN A FIXED FORM</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350" b="1" i="0" kern="0" spc="-142">
                <a:solidFill>
                  <a:srgbClr val="201914"/>
                </a:solidFill>
                <a:latin typeface="Arial"/>
                <a:ea typeface="Arial"/>
                <a:cs typeface="Arial"/>
              </a:rPr>
              <a:t>WHEN [situation] · I WANT TO [motivation] · SO I CAN [outcome]</a:t>
            </a:r>
          </a:p>
        </p:txBody>
      </p:sp>
      <p:sp>
        <p:nvSpPr>
          <p:cNvPr id="4" name="TextBox 3"/>
          <p:cNvSpPr txBox="1"/>
          <p:nvPr/>
        </p:nvSpPr>
        <p:spPr>
          <a:xfrm>
            <a:off x="1047750" y="3429000"/>
            <a:ext cx="15430500" cy="1463040"/>
          </a:xfrm>
          <a:prstGeom prst="rect">
            <a:avLst/>
          </a:prstGeom>
          <a:noFill/>
        </p:spPr>
        <p:txBody>
          <a:bodyPr wrap="square" lIns="0" tIns="0" rIns="0" bIns="0" anchor="t">
            <a:spAutoFit/>
          </a:bodyPr>
          <a:lstStyle/>
          <a:p>
            <a:pPr algn="l"/>
            <a:r>
              <a:rPr sz="3200" b="1" i="0" kern="0">
                <a:solidFill>
                  <a:srgbClr val="201914"/>
                </a:solidFill>
                <a:latin typeface="Arial"/>
                <a:ea typeface="Arial"/>
                <a:cs typeface="Arial"/>
              </a:rPr>
              <a:t>When I am facing a forty-minute boring drive at 7am and I know I will be hungry by ten, I want something that occupies one hand and my attention for twenty minutes, so I can get to my desk neither bored nor hungry.</a:t>
            </a:r>
          </a:p>
        </p:txBody>
      </p:sp>
      <p:sp>
        <p:nvSpPr>
          <p:cNvPr id="5" name="Rectangle 4"/>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If your statement starts ‘when I want to relax’, you have written a preference — and preferences cannot be designed against.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FRAMEWORK 2 · EVERY JOB HAS UP TO THREE LAYERS</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Which layer is this business actually built on?</a:t>
            </a:r>
          </a:p>
        </p:txBody>
      </p:sp>
      <p:sp>
        <p:nvSpPr>
          <p:cNvPr id="4" name="TextBox 3"/>
          <p:cNvSpPr txBox="1"/>
          <p:nvPr/>
        </p:nvSpPr>
        <p:spPr>
          <a:xfrm>
            <a:off x="1276350" y="2857500"/>
            <a:ext cx="2326005"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JOB TYPE</a:t>
            </a:r>
          </a:p>
        </p:txBody>
      </p:sp>
      <p:sp>
        <p:nvSpPr>
          <p:cNvPr id="5" name="TextBox 4"/>
          <p:cNvSpPr txBox="1"/>
          <p:nvPr/>
        </p:nvSpPr>
        <p:spPr>
          <a:xfrm>
            <a:off x="3602355" y="2857500"/>
            <a:ext cx="434187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IT IS</a:t>
            </a:r>
          </a:p>
        </p:txBody>
      </p:sp>
      <p:sp>
        <p:nvSpPr>
          <p:cNvPr id="6" name="TextBox 5"/>
          <p:cNvSpPr txBox="1"/>
          <p:nvPr/>
        </p:nvSpPr>
        <p:spPr>
          <a:xfrm>
            <a:off x="8172831" y="2857500"/>
            <a:ext cx="465201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FROM THE CASE</a:t>
            </a:r>
          </a:p>
        </p:txBody>
      </p:sp>
      <p:sp>
        <p:nvSpPr>
          <p:cNvPr id="7" name="TextBox 6"/>
          <p:cNvSpPr txBox="1"/>
          <p:nvPr/>
        </p:nvSpPr>
        <p:spPr>
          <a:xfrm>
            <a:off x="13053441" y="2857500"/>
            <a:ext cx="4186809"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HOW EASY IS IT TO COPY?</a:t>
            </a:r>
          </a:p>
        </p:txBody>
      </p:sp>
      <p:sp>
        <p:nvSpPr>
          <p:cNvPr id="8" name="Rectangle 7"/>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76350" y="3429000"/>
            <a:ext cx="2097405"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Functional</a:t>
            </a:r>
          </a:p>
        </p:txBody>
      </p:sp>
      <p:sp>
        <p:nvSpPr>
          <p:cNvPr id="10" name="TextBox 9"/>
          <p:cNvSpPr txBox="1"/>
          <p:nvPr/>
        </p:nvSpPr>
        <p:spPr>
          <a:xfrm>
            <a:off x="3602355" y="3429000"/>
            <a:ext cx="4341876"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practical task. Get me from hungry to not-hungry; get the hole in the wall.</a:t>
            </a:r>
          </a:p>
        </p:txBody>
      </p:sp>
      <p:sp>
        <p:nvSpPr>
          <p:cNvPr id="11" name="TextBox 10"/>
          <p:cNvSpPr txBox="1"/>
          <p:nvPr/>
        </p:nvSpPr>
        <p:spPr>
          <a:xfrm>
            <a:off x="8172831" y="3429000"/>
            <a:ext cx="465201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7am milkshake: twenty minutes, one hand, hunger held off until ten.</a:t>
            </a:r>
          </a:p>
        </p:txBody>
      </p:sp>
      <p:sp>
        <p:nvSpPr>
          <p:cNvPr id="12" name="TextBox 11"/>
          <p:cNvSpPr txBox="1"/>
          <p:nvPr/>
        </p:nvSpPr>
        <p:spPr>
          <a:xfrm>
            <a:off x="13053441" y="3429000"/>
            <a:ext cx="4186809"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Easiest. Anyone with a better product or a lower price can take it from you.</a:t>
            </a:r>
          </a:p>
        </p:txBody>
      </p:sp>
      <p:sp>
        <p:nvSpPr>
          <p:cNvPr id="13" name="Rectangle 12"/>
          <p:cNvSpPr/>
          <p:nvPr/>
        </p:nvSpPr>
        <p:spPr>
          <a:xfrm>
            <a:off x="1047750" y="460819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47750" y="4598670"/>
            <a:ext cx="16192500" cy="137922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76350" y="4808220"/>
            <a:ext cx="2097405"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Emotional</a:t>
            </a:r>
          </a:p>
        </p:txBody>
      </p:sp>
      <p:sp>
        <p:nvSpPr>
          <p:cNvPr id="16" name="TextBox 15"/>
          <p:cNvSpPr txBox="1"/>
          <p:nvPr/>
        </p:nvSpPr>
        <p:spPr>
          <a:xfrm>
            <a:off x="3602355" y="4808220"/>
            <a:ext cx="4341876"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feeling the customer wants to reach or escape.</a:t>
            </a:r>
          </a:p>
        </p:txBody>
      </p:sp>
      <p:sp>
        <p:nvSpPr>
          <p:cNvPr id="17" name="TextBox 16"/>
          <p:cNvSpPr txBox="1"/>
          <p:nvPr/>
        </p:nvSpPr>
        <p:spPr>
          <a:xfrm>
            <a:off x="8172831" y="4808220"/>
            <a:ext cx="465201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Relief from a boring drive. The small pride of a result being noticed. The anxiety of missing the match.</a:t>
            </a:r>
          </a:p>
        </p:txBody>
      </p:sp>
      <p:sp>
        <p:nvSpPr>
          <p:cNvPr id="18" name="TextBox 17"/>
          <p:cNvSpPr txBox="1"/>
          <p:nvPr/>
        </p:nvSpPr>
        <p:spPr>
          <a:xfrm>
            <a:off x="13053441" y="4808220"/>
            <a:ext cx="4186809"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Harder. It requires understanding the moment, not just the product.</a:t>
            </a:r>
          </a:p>
        </p:txBody>
      </p:sp>
      <p:sp>
        <p:nvSpPr>
          <p:cNvPr id="19" name="Rectangle 18"/>
          <p:cNvSpPr/>
          <p:nvPr/>
        </p:nvSpPr>
        <p:spPr>
          <a:xfrm>
            <a:off x="1047750" y="598741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76350" y="6187440"/>
            <a:ext cx="2097405"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Social</a:t>
            </a:r>
          </a:p>
        </p:txBody>
      </p:sp>
      <p:sp>
        <p:nvSpPr>
          <p:cNvPr id="21" name="TextBox 20"/>
          <p:cNvSpPr txBox="1"/>
          <p:nvPr/>
        </p:nvSpPr>
        <p:spPr>
          <a:xfrm>
            <a:off x="3602355" y="6187440"/>
            <a:ext cx="4341876"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How the customer wants to be seen by other people.</a:t>
            </a:r>
          </a:p>
        </p:txBody>
      </p:sp>
      <p:sp>
        <p:nvSpPr>
          <p:cNvPr id="22" name="TextBox 21"/>
          <p:cNvSpPr txBox="1"/>
          <p:nvPr/>
        </p:nvSpPr>
        <p:spPr>
          <a:xfrm>
            <a:off x="8172831" y="6187440"/>
            <a:ext cx="465201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parent who said yes. The family that marked the occasion properly. The person who was there as it happened.</a:t>
            </a:r>
          </a:p>
        </p:txBody>
      </p:sp>
      <p:sp>
        <p:nvSpPr>
          <p:cNvPr id="23" name="TextBox 22"/>
          <p:cNvSpPr txBox="1"/>
          <p:nvPr/>
        </p:nvSpPr>
        <p:spPr>
          <a:xfrm>
            <a:off x="13053441" y="6187440"/>
            <a:ext cx="4186809"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Hardest. You cannot easily copy what a brand already means to a group of people.</a:t>
            </a:r>
          </a:p>
        </p:txBody>
      </p:sp>
      <p:sp>
        <p:nvSpPr>
          <p:cNvPr id="24" name="Rectangle 23"/>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Most products serve all three, so the useful question is never ‘which one?’ — it is ‘which one is this business built on, and which would be cheapest to copy?’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KEEP THESE APART</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Three frameworks, almost the same three words</a:t>
            </a:r>
          </a:p>
        </p:txBody>
      </p:sp>
      <p:sp>
        <p:nvSpPr>
          <p:cNvPr id="4" name="TextBox 3"/>
          <p:cNvSpPr txBox="1"/>
          <p:nvPr/>
        </p:nvSpPr>
        <p:spPr>
          <a:xfrm>
            <a:off x="1276350" y="2857500"/>
            <a:ext cx="341147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FRAMEWORK</a:t>
            </a:r>
          </a:p>
        </p:txBody>
      </p:sp>
      <p:sp>
        <p:nvSpPr>
          <p:cNvPr id="5" name="TextBox 4"/>
          <p:cNvSpPr txBox="1"/>
          <p:nvPr/>
        </p:nvSpPr>
        <p:spPr>
          <a:xfrm>
            <a:off x="4687824" y="2857500"/>
            <a:ext cx="3721608"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IT CLASSIFIES</a:t>
            </a:r>
          </a:p>
        </p:txBody>
      </p:sp>
      <p:sp>
        <p:nvSpPr>
          <p:cNvPr id="6" name="TextBox 5"/>
          <p:cNvSpPr txBox="1"/>
          <p:nvPr/>
        </p:nvSpPr>
        <p:spPr>
          <a:xfrm>
            <a:off x="8638032" y="2857500"/>
            <a:ext cx="434187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QUESTION IT ANSWERS</a:t>
            </a:r>
          </a:p>
        </p:txBody>
      </p:sp>
      <p:sp>
        <p:nvSpPr>
          <p:cNvPr id="7" name="TextBox 6"/>
          <p:cNvSpPr txBox="1"/>
          <p:nvPr/>
        </p:nvSpPr>
        <p:spPr>
          <a:xfrm>
            <a:off x="13208508" y="2857500"/>
            <a:ext cx="4031742"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IT GIVES YOU</a:t>
            </a:r>
          </a:p>
        </p:txBody>
      </p:sp>
      <p:sp>
        <p:nvSpPr>
          <p:cNvPr id="8" name="Rectangle 7"/>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76350" y="3429000"/>
            <a:ext cx="3182874"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L1 · The four-category taxonomy</a:t>
            </a:r>
          </a:p>
        </p:txBody>
      </p:sp>
      <p:sp>
        <p:nvSpPr>
          <p:cNvPr id="10" name="TextBox 9"/>
          <p:cNvSpPr txBox="1"/>
          <p:nvPr/>
        </p:nvSpPr>
        <p:spPr>
          <a:xfrm>
            <a:off x="4687824" y="3429000"/>
            <a:ext cx="3721608"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business — efficiency, access, experience, identity</a:t>
            </a:r>
          </a:p>
        </p:txBody>
      </p:sp>
      <p:sp>
        <p:nvSpPr>
          <p:cNvPr id="11" name="TextBox 10"/>
          <p:cNvSpPr txBox="1"/>
          <p:nvPr/>
        </p:nvSpPr>
        <p:spPr>
          <a:xfrm>
            <a:off x="8638032" y="3429000"/>
            <a:ext cx="4341876"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Why does this company exist at all, and is the gap real?</a:t>
            </a:r>
          </a:p>
        </p:txBody>
      </p:sp>
      <p:sp>
        <p:nvSpPr>
          <p:cNvPr id="12" name="TextBox 11"/>
          <p:cNvSpPr txBox="1"/>
          <p:nvPr/>
        </p:nvSpPr>
        <p:spPr>
          <a:xfrm>
            <a:off x="13208508" y="3429000"/>
            <a:ext cx="4031742"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 category, and a judgement on whether the gap can carry a business</a:t>
            </a:r>
          </a:p>
        </p:txBody>
      </p:sp>
      <p:sp>
        <p:nvSpPr>
          <p:cNvPr id="13" name="Rectangle 12"/>
          <p:cNvSpPr/>
          <p:nvPr/>
        </p:nvSpPr>
        <p:spPr>
          <a:xfrm>
            <a:off x="1047750" y="460819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47750" y="4598670"/>
            <a:ext cx="16192500" cy="105918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76350" y="4808220"/>
            <a:ext cx="3182874" cy="64008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L2 · The three value layers</a:t>
            </a:r>
          </a:p>
        </p:txBody>
      </p:sp>
      <p:sp>
        <p:nvSpPr>
          <p:cNvPr id="16" name="TextBox 15"/>
          <p:cNvSpPr txBox="1"/>
          <p:nvPr/>
        </p:nvSpPr>
        <p:spPr>
          <a:xfrm>
            <a:off x="4687824" y="4808220"/>
            <a:ext cx="3721608"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price — functional, experiential, identity</a:t>
            </a:r>
          </a:p>
        </p:txBody>
      </p:sp>
      <p:sp>
        <p:nvSpPr>
          <p:cNvPr id="17" name="TextBox 16"/>
          <p:cNvSpPr txBox="1"/>
          <p:nvPr/>
        </p:nvSpPr>
        <p:spPr>
          <a:xfrm>
            <a:off x="8638032" y="4808220"/>
            <a:ext cx="4341876"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Why does this sell for ₹180 when that sells for ₹5?</a:t>
            </a:r>
          </a:p>
        </p:txBody>
      </p:sp>
      <p:sp>
        <p:nvSpPr>
          <p:cNvPr id="18" name="TextBox 17"/>
          <p:cNvSpPr txBox="1"/>
          <p:nvPr/>
        </p:nvSpPr>
        <p:spPr>
          <a:xfrm>
            <a:off x="13208508" y="4808220"/>
            <a:ext cx="4031742"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 value proposition and a defensible price</a:t>
            </a:r>
          </a:p>
        </p:txBody>
      </p:sp>
      <p:sp>
        <p:nvSpPr>
          <p:cNvPr id="19" name="Rectangle 18"/>
          <p:cNvSpPr/>
          <p:nvPr/>
        </p:nvSpPr>
        <p:spPr>
          <a:xfrm>
            <a:off x="1047750" y="56673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76350" y="5867400"/>
            <a:ext cx="3182874"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L8 · The three job types</a:t>
            </a:r>
          </a:p>
        </p:txBody>
      </p:sp>
      <p:sp>
        <p:nvSpPr>
          <p:cNvPr id="21" name="TextBox 20"/>
          <p:cNvSpPr txBox="1"/>
          <p:nvPr/>
        </p:nvSpPr>
        <p:spPr>
          <a:xfrm>
            <a:off x="4687824" y="5867400"/>
            <a:ext cx="3721608"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situation — functional, emotional, social</a:t>
            </a:r>
          </a:p>
        </p:txBody>
      </p:sp>
      <p:sp>
        <p:nvSpPr>
          <p:cNvPr id="22" name="TextBox 21"/>
          <p:cNvSpPr txBox="1"/>
          <p:nvPr/>
        </p:nvSpPr>
        <p:spPr>
          <a:xfrm>
            <a:off x="8638032" y="5867400"/>
            <a:ext cx="4341876"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What is this person trying to get done, right now, in this moment?</a:t>
            </a:r>
          </a:p>
        </p:txBody>
      </p:sp>
      <p:sp>
        <p:nvSpPr>
          <p:cNvPr id="23" name="TextBox 22"/>
          <p:cNvSpPr txBox="1"/>
          <p:nvPr/>
        </p:nvSpPr>
        <p:spPr>
          <a:xfrm>
            <a:off x="13208508" y="5867400"/>
            <a:ext cx="4031742"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 job statement with a metric, and a competitive set that includes doing nothing</a:t>
            </a:r>
          </a:p>
        </p:txBody>
      </p:sp>
      <p:sp>
        <p:nvSpPr>
          <p:cNvPr id="24" name="Rectangle 23"/>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The tell that you are using today's framework properly: if your answer is the name of a category, you have slipped back into Lecture 1. Today's answer is always a sentence with a ‘when’ in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CASE STUDY · CADBURY INDIA, 2004</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Kuch Meetha Ho Jaaye</a:t>
            </a:r>
          </a:p>
        </p:txBody>
      </p:sp>
      <p:sp>
        <p:nvSpPr>
          <p:cNvPr id="4" name="TextBox 3"/>
          <p:cNvSpPr txBox="1"/>
          <p:nvPr/>
        </p:nvSpPr>
        <p:spPr>
          <a:xfrm>
            <a:off x="1047750" y="8286750"/>
            <a:ext cx="13735050" cy="127635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Four words that say nothing about chocolate, cocoa, taste or children.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JOB WAS NEVER ‘SATISFY A CHOCOLATE CRAVING’</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650" b="1" i="0" kern="0" spc="-142">
                <a:solidFill>
                  <a:srgbClr val="201914"/>
                </a:solidFill>
                <a:latin typeface="Arial"/>
                <a:ea typeface="Arial"/>
                <a:cs typeface="Arial"/>
              </a:rPr>
              <a:t>Change the job and you change who you are competing with</a:t>
            </a:r>
          </a:p>
        </p:txBody>
      </p:sp>
      <p:sp>
        <p:nvSpPr>
          <p:cNvPr id="4" name="Rectangle 3"/>
          <p:cNvSpPr/>
          <p:nvPr/>
        </p:nvSpPr>
        <p:spPr>
          <a:xfrm>
            <a:off x="1047750" y="2857500"/>
            <a:ext cx="7810500" cy="352044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THE CATEGORY SAID THE RIVALS WERE</a:t>
            </a:r>
          </a:p>
        </p:txBody>
      </p:sp>
      <p:sp>
        <p:nvSpPr>
          <p:cNvPr id="6" name="TextBox 5"/>
          <p:cNvSpPr txBox="1"/>
          <p:nvPr/>
        </p:nvSpPr>
        <p:spPr>
          <a:xfrm>
            <a:off x="1428750" y="379095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Nestlé.</a:t>
            </a:r>
          </a:p>
        </p:txBody>
      </p:sp>
      <p:sp>
        <p:nvSpPr>
          <p:cNvPr id="7" name="TextBox 6"/>
          <p:cNvSpPr txBox="1"/>
          <p:nvPr/>
        </p:nvSpPr>
        <p:spPr>
          <a:xfrm>
            <a:off x="1428750" y="438912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Amul.</a:t>
            </a:r>
          </a:p>
        </p:txBody>
      </p:sp>
      <p:sp>
        <p:nvSpPr>
          <p:cNvPr id="8" name="TextBox 7"/>
          <p:cNvSpPr txBox="1"/>
          <p:nvPr/>
        </p:nvSpPr>
        <p:spPr>
          <a:xfrm>
            <a:off x="1428750" y="4987290"/>
            <a:ext cx="7048500" cy="38862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Imported chocolate.</a:t>
            </a:r>
          </a:p>
        </p:txBody>
      </p:sp>
      <p:sp>
        <p:nvSpPr>
          <p:cNvPr id="9" name="TextBox 8"/>
          <p:cNvSpPr txBox="1"/>
          <p:nvPr/>
        </p:nvSpPr>
        <p:spPr>
          <a:xfrm>
            <a:off x="1428750" y="558546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A tidy, comfortable, wrong list.</a:t>
            </a:r>
          </a:p>
        </p:txBody>
      </p:sp>
      <p:sp>
        <p:nvSpPr>
          <p:cNvPr id="10" name="Rectangle 9"/>
          <p:cNvSpPr/>
          <p:nvPr/>
        </p:nvSpPr>
        <p:spPr>
          <a:xfrm>
            <a:off x="9429750" y="2857500"/>
            <a:ext cx="7810500" cy="35204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10750" y="3238500"/>
            <a:ext cx="7048500" cy="323850"/>
          </a:xfrm>
          <a:prstGeom prst="rect">
            <a:avLst/>
          </a:prstGeom>
          <a:noFill/>
        </p:spPr>
        <p:txBody>
          <a:bodyPr wrap="square" lIns="0" tIns="0" rIns="0" bIns="0" anchor="t">
            <a:spAutoFit/>
          </a:bodyPr>
          <a:lstStyle/>
          <a:p>
            <a:pPr algn="l"/>
            <a:r>
              <a:rPr sz="1950" b="1" i="0" kern="0" spc="273">
                <a:solidFill>
                  <a:srgbClr val="FFAF9F"/>
                </a:solidFill>
                <a:latin typeface="Arial"/>
                <a:ea typeface="Arial"/>
                <a:cs typeface="Arial"/>
              </a:rPr>
              <a:t>WHAT THE JOB SAID THE RIVALS WERE</a:t>
            </a:r>
          </a:p>
        </p:txBody>
      </p:sp>
      <p:sp>
        <p:nvSpPr>
          <p:cNvPr id="12" name="TextBox 11"/>
          <p:cNvSpPr txBox="1"/>
          <p:nvPr/>
        </p:nvSpPr>
        <p:spPr>
          <a:xfrm>
            <a:off x="9810750" y="3790950"/>
            <a:ext cx="7048500" cy="38862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A ₹400-₹800 box of mithai from the sweet shop.</a:t>
            </a:r>
          </a:p>
        </p:txBody>
      </p:sp>
      <p:sp>
        <p:nvSpPr>
          <p:cNvPr id="13" name="TextBox 12"/>
          <p:cNvSpPr txBox="1"/>
          <p:nvPr/>
        </p:nvSpPr>
        <p:spPr>
          <a:xfrm>
            <a:off x="9810750" y="4389120"/>
            <a:ext cx="7048500" cy="38862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A dry-fruit pack.</a:t>
            </a:r>
          </a:p>
        </p:txBody>
      </p:sp>
      <p:sp>
        <p:nvSpPr>
          <p:cNvPr id="14" name="TextBox 13"/>
          <p:cNvSpPr txBox="1"/>
          <p:nvPr/>
        </p:nvSpPr>
        <p:spPr>
          <a:xfrm>
            <a:off x="9810750" y="4987290"/>
            <a:ext cx="7048500" cy="38862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Arriving empty-handed.</a:t>
            </a:r>
          </a:p>
        </p:txBody>
      </p:sp>
      <p:sp>
        <p:nvSpPr>
          <p:cNvPr id="15" name="TextBox 14"/>
          <p:cNvSpPr txBox="1"/>
          <p:nvPr/>
        </p:nvSpPr>
        <p:spPr>
          <a:xfrm>
            <a:off x="9810750" y="5585460"/>
            <a:ext cx="7048500" cy="41148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An untidy, alarming, useful one.</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Mark this moment with something sweet, visibly and hygienically, in front of other people. Cadbury did not try to win a chocolate war — it walked into the mithai occasion.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WHAT OWNING AN OCCASION IS WORTH</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Occasions have wildly different budgets</a:t>
            </a:r>
          </a:p>
        </p:txBody>
      </p:sp>
      <p:sp>
        <p:nvSpPr>
          <p:cNvPr id="4" name="Rectangle 3"/>
          <p:cNvSpPr/>
          <p:nvPr/>
        </p:nvSpPr>
        <p:spPr>
          <a:xfrm>
            <a:off x="1047750"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3124200"/>
            <a:ext cx="3114675"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₹10</a:t>
            </a:r>
          </a:p>
        </p:txBody>
      </p:sp>
      <p:sp>
        <p:nvSpPr>
          <p:cNvPr id="6" name="TextBox 5"/>
          <p:cNvSpPr txBox="1"/>
          <p:nvPr/>
        </p:nvSpPr>
        <p:spPr>
          <a:xfrm>
            <a:off x="1371600" y="4202430"/>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a bar</a:t>
            </a:r>
          </a:p>
        </p:txBody>
      </p:sp>
      <p:sp>
        <p:nvSpPr>
          <p:cNvPr id="7" name="TextBox 6"/>
          <p:cNvSpPr txBox="1"/>
          <p:nvPr/>
        </p:nvSpPr>
        <p:spPr>
          <a:xfrm>
            <a:off x="1371600" y="4659630"/>
            <a:ext cx="3114675"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Marks a result at a hostel gate. The rival is a biscuit packet.</a:t>
            </a:r>
          </a:p>
        </p:txBody>
      </p:sp>
      <p:sp>
        <p:nvSpPr>
          <p:cNvPr id="8" name="Rectangle 7"/>
          <p:cNvSpPr/>
          <p:nvPr/>
        </p:nvSpPr>
        <p:spPr>
          <a:xfrm>
            <a:off x="5191125"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14975" y="3124200"/>
            <a:ext cx="3114675"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₹150</a:t>
            </a:r>
          </a:p>
        </p:txBody>
      </p:sp>
      <p:sp>
        <p:nvSpPr>
          <p:cNvPr id="10" name="TextBox 9"/>
          <p:cNvSpPr txBox="1"/>
          <p:nvPr/>
        </p:nvSpPr>
        <p:spPr>
          <a:xfrm>
            <a:off x="5514975" y="4202430"/>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Dairy Milk Silk</a:t>
            </a:r>
          </a:p>
        </p:txBody>
      </p:sp>
      <p:sp>
        <p:nvSpPr>
          <p:cNvPr id="11" name="TextBox 10"/>
          <p:cNvSpPr txBox="1"/>
          <p:nvPr/>
        </p:nvSpPr>
        <p:spPr>
          <a:xfrm>
            <a:off x="5514975" y="4659630"/>
            <a:ext cx="3114675"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Given, not eaten alone. The rival is a box of mithai.</a:t>
            </a:r>
          </a:p>
        </p:txBody>
      </p:sp>
      <p:sp>
        <p:nvSpPr>
          <p:cNvPr id="12" name="Rectangle 11"/>
          <p:cNvSpPr/>
          <p:nvPr/>
        </p:nvSpPr>
        <p:spPr>
          <a:xfrm>
            <a:off x="9334500" y="2857500"/>
            <a:ext cx="3762375"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8350" y="3124200"/>
            <a:ext cx="3114675"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₹400+</a:t>
            </a:r>
          </a:p>
        </p:txBody>
      </p:sp>
      <p:sp>
        <p:nvSpPr>
          <p:cNvPr id="14" name="TextBox 13"/>
          <p:cNvSpPr txBox="1"/>
          <p:nvPr/>
        </p:nvSpPr>
        <p:spPr>
          <a:xfrm>
            <a:off x="9658350" y="4202430"/>
            <a:ext cx="3114675"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a festival gift pack</a:t>
            </a:r>
          </a:p>
        </p:txBody>
      </p:sp>
      <p:sp>
        <p:nvSpPr>
          <p:cNvPr id="15" name="TextBox 14"/>
          <p:cNvSpPr txBox="1"/>
          <p:nvPr/>
        </p:nvSpPr>
        <p:spPr>
          <a:xfrm>
            <a:off x="9658350" y="4659630"/>
            <a:ext cx="3114675"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giver is the customer, not the eater. The rival is arriving empty-handed.</a:t>
            </a:r>
          </a:p>
        </p:txBody>
      </p:sp>
      <p:sp>
        <p:nvSpPr>
          <p:cNvPr id="16" name="Rectangle 15"/>
          <p:cNvSpPr/>
          <p:nvPr/>
        </p:nvSpPr>
        <p:spPr>
          <a:xfrm>
            <a:off x="13477875" y="2857500"/>
            <a:ext cx="3762375" cy="32385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801725" y="3124200"/>
            <a:ext cx="3114675" cy="640080"/>
          </a:xfrm>
          <a:prstGeom prst="rect">
            <a:avLst/>
          </a:prstGeom>
          <a:noFill/>
        </p:spPr>
        <p:txBody>
          <a:bodyPr wrap="square" lIns="0" tIns="0" rIns="0" bIns="0" anchor="t">
            <a:spAutoFit/>
          </a:bodyPr>
          <a:lstStyle/>
          <a:p>
            <a:pPr algn="l"/>
            <a:r>
              <a:rPr sz="4800" b="1" i="0" kern="0" spc="-200">
                <a:solidFill>
                  <a:srgbClr val="F5F1E9"/>
                </a:solidFill>
                <a:latin typeface="Arial"/>
                <a:ea typeface="Arial"/>
                <a:cs typeface="Arial"/>
              </a:rPr>
              <a:t>₹10,000cr</a:t>
            </a:r>
          </a:p>
        </p:txBody>
      </p:sp>
      <p:sp>
        <p:nvSpPr>
          <p:cNvPr id="18" name="TextBox 17"/>
          <p:cNvSpPr txBox="1"/>
          <p:nvPr/>
        </p:nvSpPr>
        <p:spPr>
          <a:xfrm>
            <a:off x="13801725" y="3793998"/>
            <a:ext cx="3114675" cy="381000"/>
          </a:xfrm>
          <a:prstGeom prst="rect">
            <a:avLst/>
          </a:prstGeom>
          <a:noFill/>
        </p:spPr>
        <p:txBody>
          <a:bodyPr wrap="square" lIns="0" tIns="0" rIns="0" bIns="0" anchor="t">
            <a:spAutoFit/>
          </a:bodyPr>
          <a:lstStyle/>
          <a:p>
            <a:pPr algn="l"/>
            <a:r>
              <a:rPr sz="2400" b="1" i="0" kern="0">
                <a:solidFill>
                  <a:srgbClr val="F5F1E9"/>
                </a:solidFill>
                <a:latin typeface="Arial"/>
                <a:ea typeface="Arial"/>
                <a:cs typeface="Arial"/>
              </a:rPr>
              <a:t>reported revenue</a:t>
            </a:r>
          </a:p>
        </p:txBody>
      </p:sp>
      <p:sp>
        <p:nvSpPr>
          <p:cNvPr id="19" name="TextBox 18"/>
          <p:cNvSpPr txBox="1"/>
          <p:nvPr/>
        </p:nvSpPr>
        <p:spPr>
          <a:xfrm>
            <a:off x="13801725" y="4251198"/>
            <a:ext cx="3114675" cy="128016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Mondelez India, with Dairy Milk the country's largest chocolate brand by a wide margin.</a:t>
            </a:r>
          </a:p>
        </p:txBody>
      </p:sp>
      <p:sp>
        <p:nvSpPr>
          <p:cNvPr id="20" name="Rectangle 19"/>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That position was not won on cocoa content. It was won by hiring the brand out for a job that mithai had held for centuries.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CASE STUDY · HOTSTAR, FROM FEBRUARY 2015</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The job was belonging, not viewing</a:t>
            </a:r>
          </a:p>
        </p:txBody>
      </p:sp>
      <p:sp>
        <p:nvSpPr>
          <p:cNvPr id="4" name="TextBox 3"/>
          <p:cNvSpPr txBox="1"/>
          <p:nvPr/>
        </p:nvSpPr>
        <p:spPr>
          <a:xfrm>
            <a:off x="1047750" y="3429000"/>
            <a:ext cx="15430500" cy="2011680"/>
          </a:xfrm>
          <a:prstGeom prst="rect">
            <a:avLst/>
          </a:prstGeom>
          <a:noFill/>
        </p:spPr>
        <p:txBody>
          <a:bodyPr wrap="square" lIns="0" tIns="0" rIns="0" bIns="0" anchor="t">
            <a:spAutoFit/>
          </a:bodyPr>
          <a:lstStyle/>
          <a:p>
            <a:pPr algn="l"/>
            <a:r>
              <a:rPr sz="3300" b="1" i="0" kern="0">
                <a:solidFill>
                  <a:srgbClr val="201914"/>
                </a:solidFill>
                <a:latin typeface="Arial"/>
                <a:ea typeface="Arial"/>
                <a:cs typeface="Arial"/>
              </a:rPr>
              <a:t>Watching cricket on a five-inch screen, on a patchy connection, standing in a bus, is a bad way to watch cricket. If the job were ‘see the match clearly’, the television in the hostel common room wins every time. Tens of millions of Indians chose the phone anyway.</a:t>
            </a:r>
          </a:p>
        </p:txBody>
      </p:sp>
      <p:sp>
        <p:nvSpPr>
          <p:cNvPr id="5" name="Rectangle 4"/>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When the country is watching something together and I cannot be in front of a television, I want to be inside the moment as it happens, so I am not the person who finds out later.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EVERY ODD FEATURE MAKES SENSE UNDER THAT JOB</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Engineering spent on company, not on bitrate</a:t>
            </a:r>
          </a:p>
        </p:txBody>
      </p:sp>
      <p:sp>
        <p:nvSpPr>
          <p:cNvPr id="4" name="Rectangle 3"/>
          <p:cNvSpPr/>
          <p:nvPr/>
        </p:nvSpPr>
        <p:spPr>
          <a:xfrm>
            <a:off x="1047750" y="2857500"/>
            <a:ext cx="3762375" cy="3067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Real-time polls and emoji reactions</a:t>
            </a:r>
          </a:p>
        </p:txBody>
      </p:sp>
      <p:sp>
        <p:nvSpPr>
          <p:cNvPr id="6" name="TextBox 5"/>
          <p:cNvSpPr txBox="1"/>
          <p:nvPr/>
        </p:nvSpPr>
        <p:spPr>
          <a:xfrm>
            <a:off x="1390650" y="43243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During play, so a solitary phone feels populated.</a:t>
            </a:r>
          </a:p>
        </p:txBody>
      </p:sp>
      <p:sp>
        <p:nvSpPr>
          <p:cNvPr id="7" name="Rectangle 6"/>
          <p:cNvSpPr/>
          <p:nvPr/>
        </p:nvSpPr>
        <p:spPr>
          <a:xfrm>
            <a:off x="5191125" y="2857500"/>
            <a:ext cx="3762375" cy="3067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Watch'N Play</a:t>
            </a:r>
          </a:p>
        </p:txBody>
      </p:sp>
      <p:sp>
        <p:nvSpPr>
          <p:cNvPr id="9" name="TextBox 8"/>
          <p:cNvSpPr txBox="1"/>
          <p:nvPr/>
        </p:nvSpPr>
        <p:spPr>
          <a:xfrm>
            <a:off x="5534025" y="38671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Predict the next ball and compete with friends.</a:t>
            </a:r>
          </a:p>
        </p:txBody>
      </p:sp>
      <p:sp>
        <p:nvSpPr>
          <p:cNvPr id="10" name="Rectangle 9"/>
          <p:cNvSpPr/>
          <p:nvPr/>
        </p:nvSpPr>
        <p:spPr>
          <a:xfrm>
            <a:off x="9334500" y="2857500"/>
            <a:ext cx="3762375" cy="3067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Shareable clips and social feeds</a:t>
            </a:r>
          </a:p>
        </p:txBody>
      </p:sp>
      <p:sp>
        <p:nvSpPr>
          <p:cNvPr id="12" name="TextBox 11"/>
          <p:cNvSpPr txBox="1"/>
          <p:nvPr/>
        </p:nvSpPr>
        <p:spPr>
          <a:xfrm>
            <a:off x="9677400" y="43243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moment travels, and so does the person watching it.</a:t>
            </a:r>
          </a:p>
        </p:txBody>
      </p:sp>
      <p:sp>
        <p:nvSpPr>
          <p:cNvPr id="13" name="Rectangle 12"/>
          <p:cNvSpPr/>
          <p:nvPr/>
        </p:nvSpPr>
        <p:spPr>
          <a:xfrm>
            <a:off x="13477875" y="2857500"/>
            <a:ext cx="3762375" cy="306705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4572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₹365-399 a year</a:t>
            </a:r>
          </a:p>
        </p:txBody>
      </p:sp>
      <p:sp>
        <p:nvSpPr>
          <p:cNvPr id="15" name="TextBox 14"/>
          <p:cNvSpPr txBox="1"/>
          <p:nvPr/>
        </p:nvSpPr>
        <p:spPr>
          <a:xfrm>
            <a:off x="13820775" y="3867150"/>
            <a:ext cx="3076575" cy="17145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Roughly a rupee a day for the cricket tier, against a Premium tier several times higher for a different job entirely.</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Reported concurrency climbed from around 25 million simultaneous viewers in 2019 to more than 50 million in 2023. Nobody gets there with the best video codec.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762000" y="609600"/>
            <a:ext cx="184404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FRAMEWORK 3 · THE REAL COMPETITIVE SET</a:t>
            </a:r>
          </a:p>
        </p:txBody>
      </p:sp>
      <p:sp>
        <p:nvSpPr>
          <p:cNvPr id="3" name="TextBox 2"/>
          <p:cNvSpPr txBox="1"/>
          <p:nvPr/>
        </p:nvSpPr>
        <p:spPr>
          <a:xfrm>
            <a:off x="762000" y="1047750"/>
            <a:ext cx="16764000" cy="77724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Define the category and you get a comfortable, wrong list</a:t>
            </a:r>
          </a:p>
        </p:txBody>
      </p:sp>
      <p:sp>
        <p:nvSpPr>
          <p:cNvPr id="4" name="TextBox 3"/>
          <p:cNvSpPr txBox="1"/>
          <p:nvPr/>
        </p:nvSpPr>
        <p:spPr>
          <a:xfrm>
            <a:off x="4045458" y="2019300"/>
            <a:ext cx="434111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MORNING MILKSHAKE</a:t>
            </a:r>
          </a:p>
        </p:txBody>
      </p:sp>
      <p:sp>
        <p:nvSpPr>
          <p:cNvPr id="5" name="TextBox 4"/>
          <p:cNvSpPr txBox="1"/>
          <p:nvPr/>
        </p:nvSpPr>
        <p:spPr>
          <a:xfrm>
            <a:off x="8615172" y="2019300"/>
            <a:ext cx="434111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CADBURY DAIRY MILK</a:t>
            </a:r>
          </a:p>
        </p:txBody>
      </p:sp>
      <p:sp>
        <p:nvSpPr>
          <p:cNvPr id="6" name="TextBox 5"/>
          <p:cNvSpPr txBox="1"/>
          <p:nvPr/>
        </p:nvSpPr>
        <p:spPr>
          <a:xfrm>
            <a:off x="13184886" y="2019300"/>
            <a:ext cx="434111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HOTSTAR · CRICKET TIER</a:t>
            </a:r>
          </a:p>
        </p:txBody>
      </p:sp>
      <p:sp>
        <p:nvSpPr>
          <p:cNvPr id="7" name="Rectangle 6"/>
          <p:cNvSpPr/>
          <p:nvPr/>
        </p:nvSpPr>
        <p:spPr>
          <a:xfrm>
            <a:off x="762000" y="2390775"/>
            <a:ext cx="167640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0600" y="2590800"/>
            <a:ext cx="2826258" cy="89154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The situation</a:t>
            </a:r>
          </a:p>
        </p:txBody>
      </p:sp>
      <p:sp>
        <p:nvSpPr>
          <p:cNvPr id="9" name="TextBox 8"/>
          <p:cNvSpPr txBox="1"/>
          <p:nvPr/>
        </p:nvSpPr>
        <p:spPr>
          <a:xfrm>
            <a:off x="4045458" y="2590800"/>
            <a:ext cx="4341114" cy="89154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7am, alone, a long boring drive, not hungry yet but will be by ten</a:t>
            </a:r>
          </a:p>
        </p:txBody>
      </p:sp>
      <p:sp>
        <p:nvSpPr>
          <p:cNvPr id="10" name="TextBox 9"/>
          <p:cNvSpPr txBox="1"/>
          <p:nvPr/>
        </p:nvSpPr>
        <p:spPr>
          <a:xfrm>
            <a:off x="8615172" y="2590800"/>
            <a:ext cx="4341114" cy="89154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 result, a deal, a guest, a festival — a good moment that has to be marked in front of people</a:t>
            </a:r>
          </a:p>
        </p:txBody>
      </p:sp>
      <p:sp>
        <p:nvSpPr>
          <p:cNvPr id="11" name="TextBox 10"/>
          <p:cNvSpPr txBox="1"/>
          <p:nvPr/>
        </p:nvSpPr>
        <p:spPr>
          <a:xfrm>
            <a:off x="13184886" y="2590800"/>
            <a:ext cx="4341114" cy="89154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The country is watching one match and I am not near a television</a:t>
            </a:r>
          </a:p>
        </p:txBody>
      </p:sp>
      <p:sp>
        <p:nvSpPr>
          <p:cNvPr id="12" name="Rectangle 11"/>
          <p:cNvSpPr/>
          <p:nvPr/>
        </p:nvSpPr>
        <p:spPr>
          <a:xfrm>
            <a:off x="762000" y="362521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62000" y="3615690"/>
            <a:ext cx="16764000" cy="56388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0600" y="3749040"/>
            <a:ext cx="2826258" cy="29718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Job type</a:t>
            </a:r>
          </a:p>
        </p:txBody>
      </p:sp>
      <p:sp>
        <p:nvSpPr>
          <p:cNvPr id="15" name="TextBox 14"/>
          <p:cNvSpPr txBox="1"/>
          <p:nvPr/>
        </p:nvSpPr>
        <p:spPr>
          <a:xfrm>
            <a:off x="4045458" y="3749040"/>
            <a:ext cx="4341114" cy="297180"/>
          </a:xfrm>
          <a:prstGeom prst="rect">
            <a:avLst/>
          </a:prstGeom>
          <a:noFill/>
        </p:spPr>
        <p:txBody>
          <a:bodyPr wrap="square" lIns="0" tIns="0" rIns="0" bIns="0" anchor="t">
            <a:spAutoFit/>
          </a:bodyPr>
          <a:lstStyle/>
          <a:p>
            <a:pPr algn="l"/>
            <a:r>
              <a:rPr sz="1950" b="1" i="0" kern="0">
                <a:solidFill>
                  <a:srgbClr val="C35141"/>
                </a:solidFill>
                <a:latin typeface="Arial"/>
                <a:ea typeface="Arial"/>
                <a:cs typeface="Arial"/>
              </a:rPr>
              <a:t>Functional + emotional</a:t>
            </a:r>
          </a:p>
        </p:txBody>
      </p:sp>
      <p:sp>
        <p:nvSpPr>
          <p:cNvPr id="16" name="TextBox 15"/>
          <p:cNvSpPr txBox="1"/>
          <p:nvPr/>
        </p:nvSpPr>
        <p:spPr>
          <a:xfrm>
            <a:off x="8615172" y="3749040"/>
            <a:ext cx="4341114" cy="297180"/>
          </a:xfrm>
          <a:prstGeom prst="rect">
            <a:avLst/>
          </a:prstGeom>
          <a:noFill/>
        </p:spPr>
        <p:txBody>
          <a:bodyPr wrap="square" lIns="0" tIns="0" rIns="0" bIns="0" anchor="t">
            <a:spAutoFit/>
          </a:bodyPr>
          <a:lstStyle/>
          <a:p>
            <a:pPr algn="l"/>
            <a:r>
              <a:rPr sz="1950" b="1" i="0" kern="0">
                <a:solidFill>
                  <a:srgbClr val="C35141"/>
                </a:solidFill>
                <a:latin typeface="Arial"/>
                <a:ea typeface="Arial"/>
                <a:cs typeface="Arial"/>
              </a:rPr>
              <a:t>Emotional + social</a:t>
            </a:r>
          </a:p>
        </p:txBody>
      </p:sp>
      <p:sp>
        <p:nvSpPr>
          <p:cNvPr id="17" name="TextBox 16"/>
          <p:cNvSpPr txBox="1"/>
          <p:nvPr/>
        </p:nvSpPr>
        <p:spPr>
          <a:xfrm>
            <a:off x="13184886" y="3749040"/>
            <a:ext cx="4341114" cy="297180"/>
          </a:xfrm>
          <a:prstGeom prst="rect">
            <a:avLst/>
          </a:prstGeom>
          <a:noFill/>
        </p:spPr>
        <p:txBody>
          <a:bodyPr wrap="square" lIns="0" tIns="0" rIns="0" bIns="0" anchor="t">
            <a:spAutoFit/>
          </a:bodyPr>
          <a:lstStyle/>
          <a:p>
            <a:pPr algn="l"/>
            <a:r>
              <a:rPr sz="1950" b="1" i="0" kern="0">
                <a:solidFill>
                  <a:srgbClr val="C35141"/>
                </a:solidFill>
                <a:latin typeface="Arial"/>
                <a:ea typeface="Arial"/>
                <a:cs typeface="Arial"/>
              </a:rPr>
              <a:t>Emotional + social</a:t>
            </a:r>
          </a:p>
        </p:txBody>
      </p:sp>
      <p:sp>
        <p:nvSpPr>
          <p:cNvPr id="18" name="Rectangle 17"/>
          <p:cNvSpPr/>
          <p:nvPr/>
        </p:nvSpPr>
        <p:spPr>
          <a:xfrm>
            <a:off x="762000" y="418909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0600" y="4312920"/>
            <a:ext cx="2826258" cy="59436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What the category says the rivals are</a:t>
            </a:r>
          </a:p>
        </p:txBody>
      </p:sp>
      <p:sp>
        <p:nvSpPr>
          <p:cNvPr id="20" name="TextBox 19"/>
          <p:cNvSpPr txBox="1"/>
          <p:nvPr/>
        </p:nvSpPr>
        <p:spPr>
          <a:xfrm>
            <a:off x="4045458" y="431292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Other milkshakes and soft drinks</a:t>
            </a:r>
          </a:p>
        </p:txBody>
      </p:sp>
      <p:sp>
        <p:nvSpPr>
          <p:cNvPr id="21" name="TextBox 20"/>
          <p:cNvSpPr txBox="1"/>
          <p:nvPr/>
        </p:nvSpPr>
        <p:spPr>
          <a:xfrm>
            <a:off x="8615172" y="431292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Nestlé, Amul, imported chocolate</a:t>
            </a:r>
          </a:p>
        </p:txBody>
      </p:sp>
      <p:sp>
        <p:nvSpPr>
          <p:cNvPr id="22" name="TextBox 21"/>
          <p:cNvSpPr txBox="1"/>
          <p:nvPr/>
        </p:nvSpPr>
        <p:spPr>
          <a:xfrm>
            <a:off x="13184886" y="431292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Netflix, Amazon Prime Video</a:t>
            </a:r>
          </a:p>
        </p:txBody>
      </p:sp>
      <p:sp>
        <p:nvSpPr>
          <p:cNvPr id="23" name="Rectangle 22"/>
          <p:cNvSpPr/>
          <p:nvPr/>
        </p:nvSpPr>
        <p:spPr>
          <a:xfrm>
            <a:off x="762000" y="505015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62000" y="5040630"/>
            <a:ext cx="16764000" cy="86106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90600" y="5173980"/>
            <a:ext cx="2826258" cy="59436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What the job says the rivals are</a:t>
            </a:r>
          </a:p>
        </p:txBody>
      </p:sp>
      <p:sp>
        <p:nvSpPr>
          <p:cNvPr id="26" name="TextBox 25"/>
          <p:cNvSpPr txBox="1"/>
          <p:nvPr/>
        </p:nvSpPr>
        <p:spPr>
          <a:xfrm>
            <a:off x="4045458" y="517398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 banana, a bagel, a doughnut, a chocolate bar, or nothing at all</a:t>
            </a:r>
          </a:p>
        </p:txBody>
      </p:sp>
      <p:sp>
        <p:nvSpPr>
          <p:cNvPr id="27" name="TextBox 26"/>
          <p:cNvSpPr txBox="1"/>
          <p:nvPr/>
        </p:nvSpPr>
        <p:spPr>
          <a:xfrm>
            <a:off x="8615172" y="517398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 ₹400-₹800 box of mithai, a dry-fruit pack, or arriving empty-handed</a:t>
            </a:r>
          </a:p>
        </p:txBody>
      </p:sp>
      <p:sp>
        <p:nvSpPr>
          <p:cNvPr id="28" name="TextBox 27"/>
          <p:cNvSpPr txBox="1"/>
          <p:nvPr/>
        </p:nvSpPr>
        <p:spPr>
          <a:xfrm>
            <a:off x="13184886" y="517398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 television in someone else's room, the score on Twitter, or missing it</a:t>
            </a:r>
          </a:p>
        </p:txBody>
      </p:sp>
      <p:sp>
        <p:nvSpPr>
          <p:cNvPr id="29" name="Rectangle 28"/>
          <p:cNvSpPr/>
          <p:nvPr/>
        </p:nvSpPr>
        <p:spPr>
          <a:xfrm>
            <a:off x="762000" y="5911215"/>
            <a:ext cx="167640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0600" y="6035040"/>
            <a:ext cx="2826258" cy="594360"/>
          </a:xfrm>
          <a:prstGeom prst="rect">
            <a:avLst/>
          </a:prstGeom>
          <a:noFill/>
        </p:spPr>
        <p:txBody>
          <a:bodyPr wrap="square" lIns="0" tIns="0" rIns="0" bIns="0" anchor="t">
            <a:spAutoFit/>
          </a:bodyPr>
          <a:lstStyle/>
          <a:p>
            <a:pPr algn="l"/>
            <a:r>
              <a:rPr sz="1950" b="1" i="0" kern="0">
                <a:solidFill>
                  <a:srgbClr val="201914"/>
                </a:solidFill>
                <a:latin typeface="Arial"/>
                <a:ea typeface="Arial"/>
                <a:cs typeface="Arial"/>
              </a:rPr>
              <a:t>What that price allows</a:t>
            </a:r>
          </a:p>
        </p:txBody>
      </p:sp>
      <p:sp>
        <p:nvSpPr>
          <p:cNvPr id="31" name="TextBox 30"/>
          <p:cNvSpPr txBox="1"/>
          <p:nvPr/>
        </p:nvSpPr>
        <p:spPr>
          <a:xfrm>
            <a:off x="4045458" y="603504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A modest price, with speed of service as the real battleground</a:t>
            </a:r>
          </a:p>
        </p:txBody>
      </p:sp>
      <p:sp>
        <p:nvSpPr>
          <p:cNvPr id="32" name="TextBox 31"/>
          <p:cNvSpPr txBox="1"/>
          <p:nvPr/>
        </p:nvSpPr>
        <p:spPr>
          <a:xfrm>
            <a:off x="8615172" y="603504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₹10 for a small moment up to ₹400+ for a formal one</a:t>
            </a:r>
          </a:p>
        </p:txBody>
      </p:sp>
      <p:sp>
        <p:nvSpPr>
          <p:cNvPr id="33" name="TextBox 32"/>
          <p:cNvSpPr txBox="1"/>
          <p:nvPr/>
        </p:nvSpPr>
        <p:spPr>
          <a:xfrm>
            <a:off x="13184886" y="6035040"/>
            <a:ext cx="4341114" cy="594360"/>
          </a:xfrm>
          <a:prstGeom prst="rect">
            <a:avLst/>
          </a:prstGeom>
          <a:noFill/>
        </p:spPr>
        <p:txBody>
          <a:bodyPr wrap="square" lIns="0" tIns="0" rIns="0" bIns="0" anchor="t">
            <a:spAutoFit/>
          </a:bodyPr>
          <a:lstStyle/>
          <a:p>
            <a:pPr algn="l"/>
            <a:r>
              <a:rPr sz="1950" b="0" i="0" kern="0">
                <a:solidFill>
                  <a:srgbClr val="564B42"/>
                </a:solidFill>
                <a:latin typeface="Arial"/>
                <a:ea typeface="Arial"/>
                <a:cs typeface="Arial"/>
              </a:rPr>
              <a:t>Roughly a rupee a day, against a Premium tier several times higher</a:t>
            </a:r>
          </a:p>
        </p:txBody>
      </p:sp>
      <p:sp>
        <p:nvSpPr>
          <p:cNvPr id="34" name="Rectangle 33"/>
          <p:cNvSpPr/>
          <p:nvPr/>
        </p:nvSpPr>
        <p:spPr>
          <a:xfrm>
            <a:off x="762000" y="8382000"/>
            <a:ext cx="167640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43000" y="8648700"/>
            <a:ext cx="160020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Read the two rival rows. In all three businesses the category list and the job list share nothing at all — not one entry appears on both.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TRY THESE YOURSELF · FUNCTIONAL, EMOTIONAL OR SOCIAL</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Four purchases. Which job is each one really hired for?</a:t>
            </a:r>
          </a:p>
        </p:txBody>
      </p:sp>
      <p:sp>
        <p:nvSpPr>
          <p:cNvPr id="4" name="Rectangle 3"/>
          <p:cNvSpPr/>
          <p:nvPr/>
        </p:nvSpPr>
        <p:spPr>
          <a:xfrm>
            <a:off x="1047750" y="2857500"/>
            <a:ext cx="3762375" cy="4095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₹60 Rapido bike at 9:40am</a:t>
            </a:r>
          </a:p>
        </p:txBody>
      </p:sp>
      <p:sp>
        <p:nvSpPr>
          <p:cNvPr id="6" name="TextBox 5"/>
          <p:cNvSpPr txBox="1"/>
          <p:nvPr/>
        </p:nvSpPr>
        <p:spPr>
          <a:xfrm>
            <a:off x="1390650" y="44386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For a 9:45 class. The bus is ₹15 and he has taken it every day this month.</a:t>
            </a:r>
          </a:p>
        </p:txBody>
      </p:sp>
      <p:sp>
        <p:nvSpPr>
          <p:cNvPr id="7" name="Rectangle 6"/>
          <p:cNvSpPr/>
          <p:nvPr/>
        </p:nvSpPr>
        <p:spPr>
          <a:xfrm>
            <a:off x="5191125" y="2857500"/>
            <a:ext cx="3762375" cy="4095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766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‘Good morning’ forward</a:t>
            </a:r>
          </a:p>
        </p:txBody>
      </p:sp>
      <p:sp>
        <p:nvSpPr>
          <p:cNvPr id="9" name="TextBox 8"/>
          <p:cNvSpPr txBox="1"/>
          <p:nvPr/>
        </p:nvSpPr>
        <p:spPr>
          <a:xfrm>
            <a:off x="5534025" y="4895850"/>
            <a:ext cx="3076575"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To a family WhatsApp group of eleven relatives. Nobody reads these. Millions are sent every day.</a:t>
            </a:r>
          </a:p>
        </p:txBody>
      </p:sp>
      <p:sp>
        <p:nvSpPr>
          <p:cNvPr id="10" name="Rectangle 9"/>
          <p:cNvSpPr/>
          <p:nvPr/>
        </p:nvSpPr>
        <p:spPr>
          <a:xfrm>
            <a:off x="9334500" y="2857500"/>
            <a:ext cx="3762375" cy="4095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₹10 Dairy Milk eaten alone</a:t>
            </a:r>
          </a:p>
        </p:txBody>
      </p:sp>
      <p:sp>
        <p:nvSpPr>
          <p:cNvPr id="12" name="TextBox 11"/>
          <p:cNvSpPr txBox="1"/>
          <p:nvPr/>
        </p:nvSpPr>
        <p:spPr>
          <a:xfrm>
            <a:off x="9677400" y="44386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6:30pm, walking home past the same kirana as always.</a:t>
            </a:r>
          </a:p>
        </p:txBody>
      </p:sp>
      <p:sp>
        <p:nvSpPr>
          <p:cNvPr id="13" name="Rectangle 12"/>
          <p:cNvSpPr/>
          <p:nvPr/>
        </p:nvSpPr>
        <p:spPr>
          <a:xfrm>
            <a:off x="13477875" y="2857500"/>
            <a:ext cx="3762375" cy="40957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766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₹150 Silk handed to someone</a:t>
            </a:r>
          </a:p>
        </p:txBody>
      </p:sp>
      <p:sp>
        <p:nvSpPr>
          <p:cNvPr id="15" name="TextBox 14"/>
          <p:cNvSpPr txBox="1"/>
          <p:nvPr/>
        </p:nvSpPr>
        <p:spPr>
          <a:xfrm>
            <a:off x="13820775" y="48958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Same brand, same company. Given to a cousin whose result came out this morning.</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Decide all four. Then name what each one is really competing with — and another app is not an acceptable answer.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ANSWERS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Four purchases. Which job is each one really hired for?</a:t>
            </a:r>
          </a:p>
        </p:txBody>
      </p:sp>
      <p:sp>
        <p:nvSpPr>
          <p:cNvPr id="4" name="Rectangle 3"/>
          <p:cNvSpPr/>
          <p:nvPr/>
        </p:nvSpPr>
        <p:spPr>
          <a:xfrm>
            <a:off x="1047750" y="2590800"/>
            <a:ext cx="3762375" cy="694563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0099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₹60 Rapido bike at 9:40am</a:t>
            </a:r>
          </a:p>
        </p:txBody>
      </p:sp>
      <p:sp>
        <p:nvSpPr>
          <p:cNvPr id="6" name="TextBox 5"/>
          <p:cNvSpPr txBox="1"/>
          <p:nvPr/>
        </p:nvSpPr>
        <p:spPr>
          <a:xfrm>
            <a:off x="1390650" y="41719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For a 9:45 class. The bus is ₹15.</a:t>
            </a:r>
          </a:p>
        </p:txBody>
      </p:sp>
      <p:sp>
        <p:nvSpPr>
          <p:cNvPr id="7" name="Rectangle 6"/>
          <p:cNvSpPr/>
          <p:nvPr/>
        </p:nvSpPr>
        <p:spPr>
          <a:xfrm>
            <a:off x="1047750" y="5863590"/>
            <a:ext cx="3762375" cy="3672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90650" y="616839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Functional</a:t>
            </a:r>
          </a:p>
        </p:txBody>
      </p:sp>
      <p:sp>
        <p:nvSpPr>
          <p:cNvPr id="9" name="TextBox 8"/>
          <p:cNvSpPr txBox="1"/>
          <p:nvPr/>
        </p:nvSpPr>
        <p:spPr>
          <a:xfrm>
            <a:off x="1390650" y="6671310"/>
            <a:ext cx="3076575" cy="256032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Four kilometres in under five minutes, and the metric is binary — present or absent. Competing with the bus he cannot risk, running, a friend signing for him, and accepting the absence.</a:t>
            </a:r>
          </a:p>
        </p:txBody>
      </p:sp>
      <p:sp>
        <p:nvSpPr>
          <p:cNvPr id="10" name="Rectangle 9"/>
          <p:cNvSpPr/>
          <p:nvPr/>
        </p:nvSpPr>
        <p:spPr>
          <a:xfrm>
            <a:off x="5191125" y="2590800"/>
            <a:ext cx="3762375" cy="694563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34025" y="30099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‘Good morning’ forward</a:t>
            </a:r>
          </a:p>
        </p:txBody>
      </p:sp>
      <p:sp>
        <p:nvSpPr>
          <p:cNvPr id="12" name="TextBox 11"/>
          <p:cNvSpPr txBox="1"/>
          <p:nvPr/>
        </p:nvSpPr>
        <p:spPr>
          <a:xfrm>
            <a:off x="5534025" y="46291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Nobody reads these. Millions are sent daily.</a:t>
            </a:r>
          </a:p>
        </p:txBody>
      </p:sp>
      <p:sp>
        <p:nvSpPr>
          <p:cNvPr id="13" name="Rectangle 12"/>
          <p:cNvSpPr/>
          <p:nvPr/>
        </p:nvSpPr>
        <p:spPr>
          <a:xfrm>
            <a:off x="5191125" y="5543550"/>
            <a:ext cx="3762375" cy="399288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34025" y="584835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Social</a:t>
            </a:r>
          </a:p>
        </p:txBody>
      </p:sp>
      <p:sp>
        <p:nvSpPr>
          <p:cNvPr id="15" name="TextBox 14"/>
          <p:cNvSpPr txBox="1"/>
          <p:nvPr/>
        </p:nvSpPr>
        <p:spPr>
          <a:xfrm>
            <a:off x="5534025" y="6351270"/>
            <a:ext cx="3076575" cy="288036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Show the family network I am present, well and thinking of them, without a conversation and without needing anything to say. Competing with a phone call, a visit, or silence — which reads as neglect.</a:t>
            </a:r>
          </a:p>
        </p:txBody>
      </p:sp>
      <p:sp>
        <p:nvSpPr>
          <p:cNvPr id="16" name="Rectangle 15"/>
          <p:cNvSpPr/>
          <p:nvPr/>
        </p:nvSpPr>
        <p:spPr>
          <a:xfrm>
            <a:off x="9334500" y="2590800"/>
            <a:ext cx="3762375" cy="694563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77400" y="30099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₹10 Dairy Milk eaten alone</a:t>
            </a:r>
          </a:p>
        </p:txBody>
      </p:sp>
      <p:sp>
        <p:nvSpPr>
          <p:cNvPr id="18" name="TextBox 17"/>
          <p:cNvSpPr txBox="1"/>
          <p:nvPr/>
        </p:nvSpPr>
        <p:spPr>
          <a:xfrm>
            <a:off x="9677400" y="4171950"/>
            <a:ext cx="3076575" cy="3429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6:30pm, walking home.</a:t>
            </a:r>
          </a:p>
        </p:txBody>
      </p:sp>
      <p:sp>
        <p:nvSpPr>
          <p:cNvPr id="19" name="Rectangle 18"/>
          <p:cNvSpPr/>
          <p:nvPr/>
        </p:nvSpPr>
        <p:spPr>
          <a:xfrm>
            <a:off x="9334500" y="5474970"/>
            <a:ext cx="3762375" cy="40614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7400" y="5779770"/>
            <a:ext cx="3076575" cy="77724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Functional + emotional</a:t>
            </a:r>
          </a:p>
        </p:txBody>
      </p:sp>
      <p:sp>
        <p:nvSpPr>
          <p:cNvPr id="21" name="TextBox 20"/>
          <p:cNvSpPr txBox="1"/>
          <p:nvPr/>
        </p:nvSpPr>
        <p:spPr>
          <a:xfrm>
            <a:off x="9677400" y="6671310"/>
            <a:ext cx="3076575" cy="256032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A craving and a small private full stop at the end of a long day. Eaten before he reaches home precisely so nobody sees it. Competing with a biscuit packet, a samosa, or walking straight home.</a:t>
            </a:r>
          </a:p>
        </p:txBody>
      </p:sp>
      <p:sp>
        <p:nvSpPr>
          <p:cNvPr id="22" name="Rectangle 21"/>
          <p:cNvSpPr/>
          <p:nvPr/>
        </p:nvSpPr>
        <p:spPr>
          <a:xfrm>
            <a:off x="13477875" y="2590800"/>
            <a:ext cx="3762375" cy="694563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820775" y="30099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₹150 Silk handed to someone</a:t>
            </a:r>
          </a:p>
        </p:txBody>
      </p:sp>
      <p:sp>
        <p:nvSpPr>
          <p:cNvPr id="24" name="TextBox 23"/>
          <p:cNvSpPr txBox="1"/>
          <p:nvPr/>
        </p:nvSpPr>
        <p:spPr>
          <a:xfrm>
            <a:off x="13820775" y="46291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Given to a cousin whose result came out.</a:t>
            </a:r>
          </a:p>
        </p:txBody>
      </p:sp>
      <p:sp>
        <p:nvSpPr>
          <p:cNvPr id="25" name="Rectangle 24"/>
          <p:cNvSpPr/>
          <p:nvPr/>
        </p:nvSpPr>
        <p:spPr>
          <a:xfrm>
            <a:off x="13477875" y="5863590"/>
            <a:ext cx="3762375" cy="3672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20775" y="616839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Emotional + social</a:t>
            </a:r>
          </a:p>
        </p:txBody>
      </p:sp>
      <p:sp>
        <p:nvSpPr>
          <p:cNvPr id="27" name="TextBox 26"/>
          <p:cNvSpPr txBox="1"/>
          <p:nvPr/>
        </p:nvSpPr>
        <p:spPr>
          <a:xfrm>
            <a:off x="13820775" y="6671310"/>
            <a:ext cx="3076575" cy="256032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Mark this person's moment visibly and be seen to have made an effort. Competing with mithai, a dry-fruit box and arriving empty-handed — which is why it carries fifteen times the price.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WHEN THE JOB LENS MISLEADS YOU</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950" b="1" i="0" kern="0" spc="-142">
                <a:solidFill>
                  <a:srgbClr val="201914"/>
                </a:solidFill>
                <a:latin typeface="Arial"/>
                <a:ea typeface="Arial"/>
                <a:cs typeface="Arial"/>
              </a:rPr>
              <a:t>Three companies that lost real money getting this wrong</a:t>
            </a:r>
          </a:p>
        </p:txBody>
      </p:sp>
      <p:sp>
        <p:nvSpPr>
          <p:cNvPr id="4" name="TextBox 3"/>
          <p:cNvSpPr txBox="1"/>
          <p:nvPr/>
        </p:nvSpPr>
        <p:spPr>
          <a:xfrm>
            <a:off x="1276350" y="2857500"/>
            <a:ext cx="3776472"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FAILURE</a:t>
            </a:r>
          </a:p>
        </p:txBody>
      </p:sp>
      <p:sp>
        <p:nvSpPr>
          <p:cNvPr id="5" name="TextBox 4"/>
          <p:cNvSpPr txBox="1"/>
          <p:nvPr/>
        </p:nvSpPr>
        <p:spPr>
          <a:xfrm>
            <a:off x="5052822" y="2857500"/>
            <a:ext cx="5350002"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GOES WRONG</a:t>
            </a:r>
          </a:p>
        </p:txBody>
      </p:sp>
      <p:sp>
        <p:nvSpPr>
          <p:cNvPr id="6" name="TextBox 5"/>
          <p:cNvSpPr txBox="1"/>
          <p:nvPr/>
        </p:nvSpPr>
        <p:spPr>
          <a:xfrm>
            <a:off x="10631424" y="2857500"/>
            <a:ext cx="660882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REAL EXAMPLE</a:t>
            </a:r>
          </a:p>
        </p:txBody>
      </p:sp>
      <p:sp>
        <p:nvSpPr>
          <p:cNvPr id="7" name="Rectangle 6"/>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76350" y="3429000"/>
            <a:ext cx="3547872"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1 · The job is stated too broadly</a:t>
            </a:r>
          </a:p>
        </p:txBody>
      </p:sp>
      <p:sp>
        <p:nvSpPr>
          <p:cNvPr id="9" name="TextBox 8"/>
          <p:cNvSpPr txBox="1"/>
          <p:nvPr/>
        </p:nvSpPr>
        <p:spPr>
          <a:xfrm>
            <a:off x="5052822" y="3429000"/>
            <a:ext cx="5350002"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‘Entertain me’, ‘help me be productive’, ‘make me healthy’ contain no situation, so they generate no design decisions and no competitive set.</a:t>
            </a:r>
          </a:p>
        </p:txBody>
      </p:sp>
      <p:sp>
        <p:nvSpPr>
          <p:cNvPr id="10" name="TextBox 9"/>
          <p:cNvSpPr txBox="1"/>
          <p:nvPr/>
        </p:nvSpPr>
        <p:spPr>
          <a:xfrm>
            <a:off x="10631424" y="3429000"/>
            <a:ext cx="6608826"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Quibi raised a reported $1.75 billion for premium short videos aimed at the gaps in a commuting day, and launched in April 2020, when the commute had vanished. It shut within about six months.</a:t>
            </a:r>
          </a:p>
        </p:txBody>
      </p:sp>
      <p:sp>
        <p:nvSpPr>
          <p:cNvPr id="11" name="Rectangle 10"/>
          <p:cNvSpPr/>
          <p:nvPr/>
        </p:nvSpPr>
        <p:spPr>
          <a:xfrm>
            <a:off x="1047750" y="492823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47750" y="4918710"/>
            <a:ext cx="16192500" cy="169926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76350" y="5128260"/>
            <a:ext cx="3547872"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2 · You mistake your solution for the job</a:t>
            </a:r>
          </a:p>
        </p:txBody>
      </p:sp>
      <p:sp>
        <p:nvSpPr>
          <p:cNvPr id="14" name="TextBox 13"/>
          <p:cNvSpPr txBox="1"/>
          <p:nvPr/>
        </p:nvSpPr>
        <p:spPr>
          <a:xfrm>
            <a:off x="5052822" y="5128260"/>
            <a:ext cx="5350002"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Write the job as the thing you already sell and the framework quietly confirms whatever you were going to do anyway.</a:t>
            </a:r>
          </a:p>
        </p:txBody>
      </p:sp>
      <p:sp>
        <p:nvSpPr>
          <p:cNvPr id="15" name="TextBox 14"/>
          <p:cNvSpPr txBox="1"/>
          <p:nvPr/>
        </p:nvSpPr>
        <p:spPr>
          <a:xfrm>
            <a:off x="10631424" y="5128260"/>
            <a:ext cx="6608826"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Kodak invented the digital camera in 1975 and spent decades defending film. The job — keep this moment and show it to people — never weakened for a day. Only the solution did.</a:t>
            </a:r>
          </a:p>
        </p:txBody>
      </p:sp>
      <p:sp>
        <p:nvSpPr>
          <p:cNvPr id="16" name="Rectangle 15"/>
          <p:cNvSpPr/>
          <p:nvPr/>
        </p:nvSpPr>
        <p:spPr>
          <a:xfrm>
            <a:off x="1047750" y="662749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76350" y="6827520"/>
            <a:ext cx="3547872"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3 · The job is real but never repeats</a:t>
            </a:r>
          </a:p>
        </p:txBody>
      </p:sp>
      <p:sp>
        <p:nvSpPr>
          <p:cNvPr id="18" name="TextBox 17"/>
          <p:cNvSpPr txBox="1"/>
          <p:nvPr/>
        </p:nvSpPr>
        <p:spPr>
          <a:xfrm>
            <a:off x="5052822" y="6827520"/>
            <a:ext cx="5350002"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Some jobs happen once in a lifetime, or belong to a buyer who is not the user. Both break the economics.</a:t>
            </a:r>
          </a:p>
        </p:txBody>
      </p:sp>
      <p:sp>
        <p:nvSpPr>
          <p:cNvPr id="19" name="TextBox 18"/>
          <p:cNvSpPr txBox="1"/>
          <p:nvPr/>
        </p:nvSpPr>
        <p:spPr>
          <a:xfrm>
            <a:off x="10631424" y="6827520"/>
            <a:ext cx="6608826"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Weddings, exam season, and most gifting. The dry-fruit box nobody eats does its social job for the giver and fails the receiver entirely.</a:t>
            </a:r>
          </a:p>
        </p:txBody>
      </p:sp>
      <p:sp>
        <p:nvSpPr>
          <p:cNvPr id="20" name="Rectangle 19"/>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A cheap test for number two: state the job, then ask whether a completely different technology could satisfy it. ‘Preserve this memory’ passes. ‘Sell rolls of film’ does not.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62103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PART TWO</a:t>
            </a:r>
          </a:p>
        </p:txBody>
      </p:sp>
      <p:sp>
        <p:nvSpPr>
          <p:cNvPr id="3" name="TextBox 2"/>
          <p:cNvSpPr txBox="1"/>
          <p:nvPr/>
        </p:nvSpPr>
        <p:spPr>
          <a:xfrm>
            <a:off x="1047750" y="6800850"/>
            <a:ext cx="16764000" cy="1371600"/>
          </a:xfrm>
          <a:prstGeom prst="rect">
            <a:avLst/>
          </a:prstGeom>
          <a:noFill/>
        </p:spPr>
        <p:txBody>
          <a:bodyPr wrap="square" lIns="0" tIns="0" rIns="0" bIns="0" anchor="t">
            <a:spAutoFit/>
          </a:bodyPr>
          <a:lstStyle/>
          <a:p>
            <a:pPr algn="l"/>
            <a:r>
              <a:rPr sz="9000" b="1" i="0" kern="0" spc="-346">
                <a:solidFill>
                  <a:srgbClr val="F5F1E9"/>
                </a:solidFill>
                <a:latin typeface="Arial"/>
                <a:ea typeface="Arial"/>
                <a:cs typeface="Arial"/>
              </a:rPr>
              <a:t>Who Goes First</a:t>
            </a:r>
          </a:p>
        </p:txBody>
      </p:sp>
      <p:sp>
        <p:nvSpPr>
          <p:cNvPr id="4" name="TextBox 3"/>
          <p:cNvSpPr txBox="1"/>
          <p:nvPr/>
        </p:nvSpPr>
        <p:spPr>
          <a:xfrm>
            <a:off x="1047750" y="8286750"/>
            <a:ext cx="13735050" cy="1440180"/>
          </a:xfrm>
          <a:prstGeom prst="rect">
            <a:avLst/>
          </a:prstGeom>
          <a:noFill/>
        </p:spPr>
        <p:txBody>
          <a:bodyPr wrap="square" lIns="0" tIns="0" rIns="0" bIns="0" anchor="t">
            <a:spAutoFit/>
          </a:bodyPr>
          <a:lstStyle/>
          <a:p>
            <a:pPr algn="l"/>
            <a:r>
              <a:rPr sz="3150" b="0" i="1" kern="0">
                <a:solidFill>
                  <a:srgbClr val="C1B5AB"/>
                </a:solidFill>
                <a:latin typeface="Georgia"/>
                <a:ea typeface="Georgia"/>
                <a:cs typeface="Georgia"/>
              </a:rPr>
              <a:t>You know what job you are hired for. Now: everyone you eventually want to serve is standing in a queue, and you can only serve one group properly at a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ONE MARKET, FOUR CUSTOMERS PULLING IN OPPOSITE DIRECTIONS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800" b="1" i="0" kern="0" spc="-142">
                <a:solidFill>
                  <a:srgbClr val="201914"/>
                </a:solidFill>
                <a:latin typeface="Arial"/>
                <a:ea typeface="Arial"/>
                <a:cs typeface="Arial"/>
              </a:rPr>
              <a:t>Serving all four on day one needs four different companies</a:t>
            </a:r>
          </a:p>
        </p:txBody>
      </p:sp>
      <p:sp>
        <p:nvSpPr>
          <p:cNvPr id="4" name="Rectangle 3"/>
          <p:cNvSpPr/>
          <p:nvPr/>
        </p:nvSpPr>
        <p:spPr>
          <a:xfrm>
            <a:off x="1047750" y="2857500"/>
            <a:ext cx="3762375" cy="4210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mass buyer</a:t>
            </a:r>
          </a:p>
        </p:txBody>
      </p:sp>
      <p:sp>
        <p:nvSpPr>
          <p:cNvPr id="6" name="TextBox 5"/>
          <p:cNvSpPr txBox="1"/>
          <p:nvPr/>
        </p:nvSpPr>
        <p:spPr>
          <a:xfrm>
            <a:off x="1390650" y="38671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cheapest working kajal, and she will not pay for delivery.</a:t>
            </a:r>
          </a:p>
        </p:txBody>
      </p:sp>
      <p:sp>
        <p:nvSpPr>
          <p:cNvPr id="7" name="Rectangle 6"/>
          <p:cNvSpPr/>
          <p:nvPr/>
        </p:nvSpPr>
        <p:spPr>
          <a:xfrm>
            <a:off x="5191125" y="2857500"/>
            <a:ext cx="3762375" cy="4210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luxury buyer</a:t>
            </a:r>
          </a:p>
        </p:txBody>
      </p:sp>
      <p:sp>
        <p:nvSpPr>
          <p:cNvPr id="9" name="TextBox 8"/>
          <p:cNvSpPr txBox="1"/>
          <p:nvPr/>
        </p:nvSpPr>
        <p:spPr>
          <a:xfrm>
            <a:off x="5534025" y="38671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Authenticity guarantees, gift packaging, discretion.</a:t>
            </a:r>
          </a:p>
        </p:txBody>
      </p:sp>
      <p:sp>
        <p:nvSpPr>
          <p:cNvPr id="10" name="Rectangle 9"/>
          <p:cNvSpPr/>
          <p:nvPr/>
        </p:nvSpPr>
        <p:spPr>
          <a:xfrm>
            <a:off x="9334500" y="2857500"/>
            <a:ext cx="3762375" cy="42100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9144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The aspirational buyer</a:t>
            </a:r>
          </a:p>
        </p:txBody>
      </p:sp>
      <p:sp>
        <p:nvSpPr>
          <p:cNvPr id="12" name="TextBox 11"/>
          <p:cNvSpPr txBox="1"/>
          <p:nvPr/>
        </p:nvSpPr>
        <p:spPr>
          <a:xfrm>
            <a:off x="9677400" y="4324350"/>
            <a:ext cx="3076575" cy="2400300"/>
          </a:xfrm>
          <a:prstGeom prst="rect">
            <a:avLst/>
          </a:prstGeom>
          <a:noFill/>
        </p:spPr>
        <p:txBody>
          <a:bodyPr wrap="square" lIns="0" tIns="0" rIns="0" bIns="0" anchor="t">
            <a:spAutoFit/>
          </a:bodyPr>
          <a:lstStyle/>
          <a:p>
            <a:pPr algn="l"/>
            <a:r>
              <a:rPr sz="2250" b="0" i="0" kern="0">
                <a:solidFill>
                  <a:srgbClr val="C8BBB1"/>
                </a:solidFill>
                <a:latin typeface="Arial"/>
                <a:ea typeface="Arial"/>
                <a:cs typeface="Arial"/>
              </a:rPr>
              <a:t>Twenties or thirties, metro, earning her own money. Wants the MAC lipstick without the mall trip and the commissioned salesperson.</a:t>
            </a:r>
          </a:p>
        </p:txBody>
      </p:sp>
      <p:sp>
        <p:nvSpPr>
          <p:cNvPr id="13" name="Rectangle 12"/>
          <p:cNvSpPr/>
          <p:nvPr/>
        </p:nvSpPr>
        <p:spPr>
          <a:xfrm>
            <a:off x="13477875" y="2857500"/>
            <a:ext cx="3762375" cy="42100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4572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The enthusiast</a:t>
            </a:r>
          </a:p>
        </p:txBody>
      </p:sp>
      <p:sp>
        <p:nvSpPr>
          <p:cNvPr id="15" name="TextBox 14"/>
          <p:cNvSpPr txBox="1"/>
          <p:nvPr/>
        </p:nvSpPr>
        <p:spPr>
          <a:xfrm>
            <a:off x="13820775" y="3867150"/>
            <a:ext cx="3076575" cy="2400300"/>
          </a:xfrm>
          <a:prstGeom prst="rect">
            <a:avLst/>
          </a:prstGeom>
          <a:noFill/>
        </p:spPr>
        <p:txBody>
          <a:bodyPr wrap="square" lIns="0" tIns="0" rIns="0" bIns="0" anchor="t">
            <a:spAutoFit/>
          </a:bodyPr>
          <a:lstStyle/>
          <a:p>
            <a:pPr algn="l"/>
            <a:r>
              <a:rPr sz="2250" b="0" i="0" kern="0">
                <a:solidFill>
                  <a:srgbClr val="C8BBB1"/>
                </a:solidFill>
                <a:latin typeface="Arial"/>
                <a:ea typeface="Arial"/>
                <a:cs typeface="Arial"/>
              </a:rPr>
              <a:t>Small, noisy, disproportionately influential. Wants reviews, ingredient lists, swatches on Indian skin, something new every month.</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144018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A mass-market price structure, a luxury authentication process, an enthusiast content operation and a national logistics network — on day one, with none of the volume that pays for any of 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CASE STUDY · NYKAA, FOUNDED 2012</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She started with a rounding error</a:t>
            </a:r>
          </a:p>
        </p:txBody>
      </p:sp>
      <p:sp>
        <p:nvSpPr>
          <p:cNvPr id="4" name="TextBox 3"/>
          <p:cNvSpPr txBox="1"/>
          <p:nvPr/>
        </p:nvSpPr>
        <p:spPr>
          <a:xfrm>
            <a:off x="1047750" y="3429000"/>
            <a:ext cx="15430500" cy="2438400"/>
          </a:xfrm>
          <a:prstGeom prst="rect">
            <a:avLst/>
          </a:prstGeom>
          <a:noFill/>
        </p:spPr>
        <p:txBody>
          <a:bodyPr wrap="square" lIns="0" tIns="0" rIns="0" bIns="0" anchor="t">
            <a:spAutoFit/>
          </a:bodyPr>
          <a:lstStyle/>
          <a:p>
            <a:pPr algn="l"/>
            <a:r>
              <a:rPr sz="3200" b="1" i="0" kern="0">
                <a:solidFill>
                  <a:srgbClr val="201914"/>
                </a:solidFill>
                <a:latin typeface="Arial"/>
                <a:ea typeface="Arial"/>
                <a:cs typeface="Arial"/>
              </a:rPr>
              <a:t>Falguni Nayar spent close to two decades in investment banking, rising to managing director at Kotak Mahindra, and started Nykaa at about fifty. She chose the aspirational and enthusiast buyer — a few million people in a handful of cities, in a market of a billion — and she took the smallest, loudest end of it first.</a:t>
            </a:r>
          </a:p>
        </p:txBody>
      </p:sp>
      <p:sp>
        <p:nvSpPr>
          <p:cNvPr id="5" name="Rectangle 4"/>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Ten years later that is why Nykaa can sell a ₹6,000 serum and a ₹200 private-label lipstick under the same name. Almost everyone in this room would have called it a mistake.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A MARKET IS A QUEUE, NOT A PIE</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Nykaa's order, and what each step bought</a:t>
            </a:r>
          </a:p>
        </p:txBody>
      </p:sp>
      <p:sp>
        <p:nvSpPr>
          <p:cNvPr id="4" name="TextBox 3"/>
          <p:cNvSpPr txBox="1"/>
          <p:nvPr/>
        </p:nvSpPr>
        <p:spPr>
          <a:xfrm>
            <a:off x="1276350" y="2857500"/>
            <a:ext cx="1705737"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ORDER</a:t>
            </a:r>
          </a:p>
        </p:txBody>
      </p:sp>
      <p:sp>
        <p:nvSpPr>
          <p:cNvPr id="5" name="TextBox 4"/>
          <p:cNvSpPr txBox="1"/>
          <p:nvPr/>
        </p:nvSpPr>
        <p:spPr>
          <a:xfrm>
            <a:off x="2982087" y="2857500"/>
            <a:ext cx="4186809"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SEGMENT</a:t>
            </a:r>
          </a:p>
        </p:txBody>
      </p:sp>
      <p:sp>
        <p:nvSpPr>
          <p:cNvPr id="6" name="TextBox 5"/>
          <p:cNvSpPr txBox="1"/>
          <p:nvPr/>
        </p:nvSpPr>
        <p:spPr>
          <a:xfrm>
            <a:off x="7397496" y="2857500"/>
            <a:ext cx="465201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WHY THIS ONE NOW</a:t>
            </a:r>
          </a:p>
        </p:txBody>
      </p:sp>
      <p:sp>
        <p:nvSpPr>
          <p:cNvPr id="7" name="TextBox 6"/>
          <p:cNvSpPr txBox="1"/>
          <p:nvPr/>
        </p:nvSpPr>
        <p:spPr>
          <a:xfrm>
            <a:off x="12278106" y="2857500"/>
            <a:ext cx="496214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WINNING IT EARNED</a:t>
            </a:r>
          </a:p>
        </p:txBody>
      </p:sp>
      <p:sp>
        <p:nvSpPr>
          <p:cNvPr id="8" name="Rectangle 7"/>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76350" y="3429000"/>
            <a:ext cx="1477137"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First</a:t>
            </a:r>
          </a:p>
        </p:txBody>
      </p:sp>
      <p:sp>
        <p:nvSpPr>
          <p:cNvPr id="10" name="TextBox 9"/>
          <p:cNvSpPr txBox="1"/>
          <p:nvPr/>
        </p:nvSpPr>
        <p:spPr>
          <a:xfrm>
            <a:off x="2982087" y="3429000"/>
            <a:ext cx="4186809"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Aspirational and enthusiast buyer — metro, own income, already knows the brands</a:t>
            </a:r>
          </a:p>
        </p:txBody>
      </p:sp>
      <p:sp>
        <p:nvSpPr>
          <p:cNvPr id="11" name="TextBox 10"/>
          <p:cNvSpPr txBox="1"/>
          <p:nvPr/>
        </p:nvSpPr>
        <p:spPr>
          <a:xfrm>
            <a:off x="7397496" y="3429000"/>
            <a:ext cx="465201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Badly served, brand-literate, high frequency, geographically concentrated.</a:t>
            </a:r>
          </a:p>
        </p:txBody>
      </p:sp>
      <p:sp>
        <p:nvSpPr>
          <p:cNvPr id="12" name="TextBox 11"/>
          <p:cNvSpPr txBox="1"/>
          <p:nvPr/>
        </p:nvSpPr>
        <p:spPr>
          <a:xfrm>
            <a:off x="12278106" y="3429000"/>
            <a:ext cx="4962144"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Brand distribution rights, a content engine, and authority — the three assets everything after this used.</a:t>
            </a:r>
          </a:p>
        </p:txBody>
      </p:sp>
      <p:sp>
        <p:nvSpPr>
          <p:cNvPr id="13" name="Rectangle 12"/>
          <p:cNvSpPr/>
          <p:nvPr/>
        </p:nvSpPr>
        <p:spPr>
          <a:xfrm>
            <a:off x="1047750" y="460819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47750" y="4598670"/>
            <a:ext cx="16192500" cy="137922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76350" y="4808220"/>
            <a:ext cx="1477137"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Second</a:t>
            </a:r>
          </a:p>
        </p:txBody>
      </p:sp>
      <p:sp>
        <p:nvSpPr>
          <p:cNvPr id="16" name="TextBox 15"/>
          <p:cNvSpPr txBox="1"/>
          <p:nvPr/>
        </p:nvSpPr>
        <p:spPr>
          <a:xfrm>
            <a:off x="2982087" y="4808220"/>
            <a:ext cx="4186809"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luxury buyer</a:t>
            </a:r>
          </a:p>
        </p:txBody>
      </p:sp>
      <p:sp>
        <p:nvSpPr>
          <p:cNvPr id="17" name="TextBox 16"/>
          <p:cNvSpPr txBox="1"/>
          <p:nvPr/>
        </p:nvSpPr>
        <p:spPr>
          <a:xfrm>
            <a:off x="7397496" y="4808220"/>
            <a:ext cx="465201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Same site, same warehouses, and ‘serious about beauty’ already believed.</a:t>
            </a:r>
          </a:p>
        </p:txBody>
      </p:sp>
      <p:sp>
        <p:nvSpPr>
          <p:cNvPr id="18" name="TextBox 17"/>
          <p:cNvSpPr txBox="1"/>
          <p:nvPr/>
        </p:nvSpPr>
        <p:spPr>
          <a:xfrm>
            <a:off x="12278106" y="4808220"/>
            <a:ext cx="4962144"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Higher order values on infrastructure that already existed.</a:t>
            </a:r>
          </a:p>
        </p:txBody>
      </p:sp>
      <p:sp>
        <p:nvSpPr>
          <p:cNvPr id="19" name="Rectangle 18"/>
          <p:cNvSpPr/>
          <p:nvPr/>
        </p:nvSpPr>
        <p:spPr>
          <a:xfrm>
            <a:off x="1047750" y="598741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76350" y="6187440"/>
            <a:ext cx="1477137"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Third</a:t>
            </a:r>
          </a:p>
        </p:txBody>
      </p:sp>
      <p:sp>
        <p:nvSpPr>
          <p:cNvPr id="21" name="TextBox 20"/>
          <p:cNvSpPr txBox="1"/>
          <p:nvPr/>
        </p:nvSpPr>
        <p:spPr>
          <a:xfrm>
            <a:off x="2982087" y="6187440"/>
            <a:ext cx="4186809"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mass buyer, smaller cities, private labels and physical stores</a:t>
            </a:r>
          </a:p>
        </p:txBody>
      </p:sp>
      <p:sp>
        <p:nvSpPr>
          <p:cNvPr id="22" name="TextBox 21"/>
          <p:cNvSpPr txBox="1"/>
          <p:nvPr/>
        </p:nvSpPr>
        <p:spPr>
          <a:xfrm>
            <a:off x="7397496" y="6187440"/>
            <a:ext cx="465201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Only possible once the brand had authority at the top. The reverse order would have failed.</a:t>
            </a:r>
          </a:p>
        </p:txBody>
      </p:sp>
      <p:sp>
        <p:nvSpPr>
          <p:cNvPr id="23" name="TextBox 22"/>
          <p:cNvSpPr txBox="1"/>
          <p:nvPr/>
        </p:nvSpPr>
        <p:spPr>
          <a:xfrm>
            <a:off x="12278106" y="6187440"/>
            <a:ext cx="4962144"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Volume, and much better margins on house brands than on distributed ones.</a:t>
            </a:r>
          </a:p>
        </p:txBody>
      </p:sp>
      <p:sp>
        <p:nvSpPr>
          <p:cNvPr id="24" name="Rectangle 23"/>
          <p:cNvSpPr/>
          <p:nvPr/>
        </p:nvSpPr>
        <p:spPr>
          <a:xfrm>
            <a:off x="1047750" y="8382000"/>
            <a:ext cx="16192500" cy="1767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28750" y="8648700"/>
            <a:ext cx="15430500" cy="123444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A premium brand can usually walk downhill. A mass brand walking uphill is almost never believed — you already have the mechanism from Lecture 2: perceived value collapses when the signal becomes common.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WHAT THE SEQUENCE PRODUCED</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The order was the mechanism, not a coincidence</a:t>
            </a:r>
          </a:p>
        </p:txBody>
      </p:sp>
      <p:sp>
        <p:nvSpPr>
          <p:cNvPr id="4" name="Rectangle 3"/>
          <p:cNvSpPr/>
          <p:nvPr/>
        </p:nvSpPr>
        <p:spPr>
          <a:xfrm>
            <a:off x="1047750" y="2857500"/>
            <a:ext cx="5143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3124200"/>
            <a:ext cx="4495800" cy="960120"/>
          </a:xfrm>
          <a:prstGeom prst="rect">
            <a:avLst/>
          </a:prstGeom>
          <a:noFill/>
        </p:spPr>
        <p:txBody>
          <a:bodyPr wrap="square" lIns="0" tIns="0" rIns="0" bIns="0" anchor="t">
            <a:spAutoFit/>
          </a:bodyPr>
          <a:lstStyle/>
          <a:p>
            <a:pPr algn="l"/>
            <a:r>
              <a:rPr sz="7200" b="1" i="0" kern="0" spc="-200">
                <a:solidFill>
                  <a:srgbClr val="201914"/>
                </a:solidFill>
                <a:latin typeface="Arial"/>
                <a:ea typeface="Arial"/>
                <a:cs typeface="Arial"/>
              </a:rPr>
              <a:t>₹1 lakh cr</a:t>
            </a:r>
          </a:p>
        </p:txBody>
      </p:sp>
      <p:sp>
        <p:nvSpPr>
          <p:cNvPr id="6" name="TextBox 5"/>
          <p:cNvSpPr txBox="1"/>
          <p:nvPr/>
        </p:nvSpPr>
        <p:spPr>
          <a:xfrm>
            <a:off x="1371600" y="4100322"/>
            <a:ext cx="4495800"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valuation on listing day</a:t>
            </a:r>
          </a:p>
        </p:txBody>
      </p:sp>
      <p:sp>
        <p:nvSpPr>
          <p:cNvPr id="7" name="TextBox 6"/>
          <p:cNvSpPr txBox="1"/>
          <p:nvPr/>
        </p:nvSpPr>
        <p:spPr>
          <a:xfrm>
            <a:off x="1371600" y="4557522"/>
            <a:ext cx="449580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November 2021. The share price then fell substantially from those highs — a separate and useful lesson.</a:t>
            </a:r>
          </a:p>
        </p:txBody>
      </p:sp>
      <p:sp>
        <p:nvSpPr>
          <p:cNvPr id="8" name="Rectangle 7"/>
          <p:cNvSpPr/>
          <p:nvPr/>
        </p:nvSpPr>
        <p:spPr>
          <a:xfrm>
            <a:off x="6572250" y="2857500"/>
            <a:ext cx="5143500" cy="32385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96100" y="3124200"/>
            <a:ext cx="4495800" cy="1066800"/>
          </a:xfrm>
          <a:prstGeom prst="rect">
            <a:avLst/>
          </a:prstGeom>
          <a:noFill/>
        </p:spPr>
        <p:txBody>
          <a:bodyPr wrap="square" lIns="0" tIns="0" rIns="0" bIns="0" anchor="t">
            <a:spAutoFit/>
          </a:bodyPr>
          <a:lstStyle/>
          <a:p>
            <a:pPr algn="l"/>
            <a:r>
              <a:rPr sz="8000" b="1" i="0" kern="0" spc="-200">
                <a:solidFill>
                  <a:srgbClr val="201914"/>
                </a:solidFill>
                <a:latin typeface="Arial"/>
                <a:ea typeface="Arial"/>
                <a:cs typeface="Arial"/>
              </a:rPr>
              <a:t>₹5,100cr</a:t>
            </a:r>
          </a:p>
        </p:txBody>
      </p:sp>
      <p:sp>
        <p:nvSpPr>
          <p:cNvPr id="10" name="TextBox 9"/>
          <p:cNvSpPr txBox="1"/>
          <p:nvPr/>
        </p:nvSpPr>
        <p:spPr>
          <a:xfrm>
            <a:off x="6896100" y="4202430"/>
            <a:ext cx="4495800" cy="381000"/>
          </a:xfrm>
          <a:prstGeom prst="rect">
            <a:avLst/>
          </a:prstGeom>
          <a:noFill/>
        </p:spPr>
        <p:txBody>
          <a:bodyPr wrap="square" lIns="0" tIns="0" rIns="0" bIns="0" anchor="t">
            <a:spAutoFit/>
          </a:bodyPr>
          <a:lstStyle/>
          <a:p>
            <a:pPr algn="l"/>
            <a:r>
              <a:rPr sz="2400" b="1" i="0" kern="0">
                <a:solidFill>
                  <a:srgbClr val="201914"/>
                </a:solidFill>
                <a:latin typeface="Arial"/>
                <a:ea typeface="Arial"/>
                <a:cs typeface="Arial"/>
              </a:rPr>
              <a:t>FY23 revenue</a:t>
            </a:r>
          </a:p>
        </p:txBody>
      </p:sp>
      <p:sp>
        <p:nvSpPr>
          <p:cNvPr id="11" name="TextBox 10"/>
          <p:cNvSpPr txBox="1"/>
          <p:nvPr/>
        </p:nvSpPr>
        <p:spPr>
          <a:xfrm>
            <a:off x="6896100" y="4659630"/>
            <a:ext cx="449580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Built on a customer segment that was a rounding error next to the mass market.</a:t>
            </a:r>
          </a:p>
        </p:txBody>
      </p:sp>
      <p:sp>
        <p:nvSpPr>
          <p:cNvPr id="12" name="Rectangle 11"/>
          <p:cNvSpPr/>
          <p:nvPr/>
        </p:nvSpPr>
        <p:spPr>
          <a:xfrm>
            <a:off x="12096750" y="2857500"/>
            <a:ext cx="5143500" cy="32385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420600" y="3124200"/>
            <a:ext cx="4495800" cy="1066800"/>
          </a:xfrm>
          <a:prstGeom prst="rect">
            <a:avLst/>
          </a:prstGeom>
          <a:noFill/>
        </p:spPr>
        <p:txBody>
          <a:bodyPr wrap="square" lIns="0" tIns="0" rIns="0" bIns="0" anchor="t">
            <a:spAutoFit/>
          </a:bodyPr>
          <a:lstStyle/>
          <a:p>
            <a:pPr algn="l"/>
            <a:r>
              <a:rPr sz="8000" b="1" i="0" kern="0" spc="-200">
                <a:solidFill>
                  <a:srgbClr val="F5F1E9"/>
                </a:solidFill>
                <a:latin typeface="Arial"/>
                <a:ea typeface="Arial"/>
                <a:cs typeface="Arial"/>
              </a:rPr>
              <a:t>100+</a:t>
            </a:r>
          </a:p>
        </p:txBody>
      </p:sp>
      <p:sp>
        <p:nvSpPr>
          <p:cNvPr id="14" name="TextBox 13"/>
          <p:cNvSpPr txBox="1"/>
          <p:nvPr/>
        </p:nvSpPr>
        <p:spPr>
          <a:xfrm>
            <a:off x="12420600" y="4202430"/>
            <a:ext cx="4495800" cy="381000"/>
          </a:xfrm>
          <a:prstGeom prst="rect">
            <a:avLst/>
          </a:prstGeom>
          <a:noFill/>
        </p:spPr>
        <p:txBody>
          <a:bodyPr wrap="square" lIns="0" tIns="0" rIns="0" bIns="0" anchor="t">
            <a:spAutoFit/>
          </a:bodyPr>
          <a:lstStyle/>
          <a:p>
            <a:pPr algn="l"/>
            <a:r>
              <a:rPr sz="2400" b="1" i="0" kern="0">
                <a:solidFill>
                  <a:srgbClr val="F5F1E9"/>
                </a:solidFill>
                <a:latin typeface="Arial"/>
                <a:ea typeface="Arial"/>
                <a:cs typeface="Arial"/>
              </a:rPr>
              <a:t>physical stores</a:t>
            </a:r>
          </a:p>
        </p:txBody>
      </p:sp>
      <p:sp>
        <p:nvSpPr>
          <p:cNvPr id="15" name="TextBox 14"/>
          <p:cNvSpPr txBox="1"/>
          <p:nvPr/>
        </p:nvSpPr>
        <p:spPr>
          <a:xfrm>
            <a:off x="12420600" y="4659630"/>
            <a:ext cx="4495800" cy="96012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Across dozens of cities — there to reach the customer for whom a beauty counter has never existed.</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A private label carries a far better gross margin than a distributed brand — but nobody buys a house brand from a retailer they do not already trust.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SUGAR COSMETICS · LAUNCHED 2015</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950" b="1" i="0" kern="0" spc="-142">
                <a:solidFill>
                  <a:srgbClr val="201914"/>
                </a:solidFill>
                <a:latin typeface="Arial"/>
                <a:ea typeface="Arial"/>
                <a:cs typeface="Arial"/>
              </a:rPr>
              <a:t>A beachhead so narrow it would sound absurd in a pitch</a:t>
            </a:r>
          </a:p>
        </p:txBody>
      </p:sp>
      <p:sp>
        <p:nvSpPr>
          <p:cNvPr id="4" name="Rectangle 3"/>
          <p:cNvSpPr/>
          <p:nvPr/>
        </p:nvSpPr>
        <p:spPr>
          <a:xfrm>
            <a:off x="1047750" y="2857500"/>
            <a:ext cx="7810500" cy="449961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MISMATCH NOBODY WAS FIXING</a:t>
            </a:r>
          </a:p>
        </p:txBody>
      </p:sp>
      <p:sp>
        <p:nvSpPr>
          <p:cNvPr id="6" name="TextBox 5"/>
          <p:cNvSpPr txBox="1"/>
          <p:nvPr/>
        </p:nvSpPr>
        <p:spPr>
          <a:xfrm>
            <a:off x="1428750" y="379095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International brands, formulated elsewhere</a:t>
            </a:r>
          </a:p>
        </p:txBody>
      </p:sp>
      <p:sp>
        <p:nvSpPr>
          <p:cNvPr id="7" name="TextBox 6"/>
          <p:cNvSpPr txBox="1"/>
          <p:nvPr/>
        </p:nvSpPr>
        <p:spPr>
          <a:xfrm>
            <a:off x="1428750" y="4411980"/>
            <a:ext cx="7048500" cy="155448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A lipstick that performed beautifully in a European winter slid off by lunchtime in Indian heat, and the nude shades looked ashy on most Indian skin.</a:t>
            </a:r>
          </a:p>
        </p:txBody>
      </p:sp>
      <p:sp>
        <p:nvSpPr>
          <p:cNvPr id="8" name="TextBox 7"/>
          <p:cNvSpPr txBox="1"/>
          <p:nvPr/>
        </p:nvSpPr>
        <p:spPr>
          <a:xfrm>
            <a:off x="1428750" y="6176010"/>
            <a:ext cx="7048500" cy="77724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The mass Indian brands were priced for volume and aimed at soft, safe, bridal-adjacent colours.</a:t>
            </a:r>
          </a:p>
        </p:txBody>
      </p:sp>
      <p:sp>
        <p:nvSpPr>
          <p:cNvPr id="9" name="Rectangle 8"/>
          <p:cNvSpPr/>
          <p:nvPr/>
        </p:nvSpPr>
        <p:spPr>
          <a:xfrm>
            <a:off x="9429750" y="2857500"/>
            <a:ext cx="7810500" cy="449961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10750" y="3238500"/>
            <a:ext cx="7048500" cy="323850"/>
          </a:xfrm>
          <a:prstGeom prst="rect">
            <a:avLst/>
          </a:prstGeom>
          <a:noFill/>
        </p:spPr>
        <p:txBody>
          <a:bodyPr wrap="square" lIns="0" tIns="0" rIns="0" bIns="0" anchor="t">
            <a:spAutoFit/>
          </a:bodyPr>
          <a:lstStyle/>
          <a:p>
            <a:pPr algn="l"/>
            <a:r>
              <a:rPr sz="1950" b="1" i="0" kern="0" spc="273">
                <a:solidFill>
                  <a:srgbClr val="FFAF9F"/>
                </a:solidFill>
                <a:latin typeface="Arial"/>
                <a:ea typeface="Arial"/>
                <a:cs typeface="Arial"/>
              </a:rPr>
              <a:t>WHAT THEY LAUNCHED INSTEAD</a:t>
            </a:r>
          </a:p>
        </p:txBody>
      </p:sp>
      <p:sp>
        <p:nvSpPr>
          <p:cNvPr id="11" name="TextBox 10"/>
          <p:cNvSpPr txBox="1"/>
          <p:nvPr/>
        </p:nvSpPr>
        <p:spPr>
          <a:xfrm>
            <a:off x="9810750" y="3790950"/>
            <a:ext cx="7048500" cy="82296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One category. One finish. One climate problem.</a:t>
            </a:r>
          </a:p>
        </p:txBody>
      </p:sp>
      <p:sp>
        <p:nvSpPr>
          <p:cNvPr id="12" name="TextBox 11"/>
          <p:cNvSpPr txBox="1"/>
          <p:nvPr/>
        </p:nvSpPr>
        <p:spPr>
          <a:xfrm>
            <a:off x="9810750" y="4823460"/>
            <a:ext cx="7048500" cy="116586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Long-wear matte lipsticks, bold shades, formulated for Indian skin tones and Indian weather.</a:t>
            </a:r>
          </a:p>
        </p:txBody>
      </p:sp>
      <p:sp>
        <p:nvSpPr>
          <p:cNvPr id="13" name="TextBox 12"/>
          <p:cNvSpPr txBox="1"/>
          <p:nvPr/>
        </p:nvSpPr>
        <p:spPr>
          <a:xfrm>
            <a:off x="9810750" y="6198870"/>
            <a:ext cx="7048500" cy="77724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For urban women in their twenties who want to look put-together at 6pm, not just at 9am.</a:t>
            </a:r>
          </a:p>
        </p:txBody>
      </p:sp>
      <p:sp>
        <p:nvSpPr>
          <p:cNvPr id="14" name="Rectangle 13"/>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A brand that promises everything to everyone has no reason to be believed. A brand that says ‘this will not budge in Delhi in June’ can be tested by the customer in a single day.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SUGAR SEQUENCED CHANNELS, NOT PRICE TIERS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500" b="1" i="0" kern="0" spc="-142">
                <a:solidFill>
                  <a:srgbClr val="201914"/>
                </a:solidFill>
                <a:latin typeface="Arial"/>
                <a:ea typeface="Arial"/>
                <a:cs typeface="Arial"/>
              </a:rPr>
              <a:t>Each step costs margin, and buys reach the last one could not</a:t>
            </a:r>
          </a:p>
        </p:txBody>
      </p:sp>
      <p:sp>
        <p:nvSpPr>
          <p:cNvPr id="4" name="TextBox 3"/>
          <p:cNvSpPr txBox="1"/>
          <p:nvPr/>
        </p:nvSpPr>
        <p:spPr>
          <a:xfrm>
            <a:off x="1276350" y="2857500"/>
            <a:ext cx="2946273"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CHANNEL</a:t>
            </a:r>
          </a:p>
        </p:txBody>
      </p:sp>
      <p:sp>
        <p:nvSpPr>
          <p:cNvPr id="5" name="TextBox 4"/>
          <p:cNvSpPr txBox="1"/>
          <p:nvPr/>
        </p:nvSpPr>
        <p:spPr>
          <a:xfrm>
            <a:off x="4222623" y="2857500"/>
            <a:ext cx="465201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YOU KEEP</a:t>
            </a:r>
          </a:p>
        </p:txBody>
      </p:sp>
      <p:sp>
        <p:nvSpPr>
          <p:cNvPr id="6" name="TextBox 5"/>
          <p:cNvSpPr txBox="1"/>
          <p:nvPr/>
        </p:nvSpPr>
        <p:spPr>
          <a:xfrm>
            <a:off x="9103233" y="2857500"/>
            <a:ext cx="3876675"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IT COSTS</a:t>
            </a:r>
          </a:p>
        </p:txBody>
      </p:sp>
      <p:sp>
        <p:nvSpPr>
          <p:cNvPr id="7" name="TextBox 6"/>
          <p:cNvSpPr txBox="1"/>
          <p:nvPr/>
        </p:nvSpPr>
        <p:spPr>
          <a:xfrm>
            <a:off x="13208508" y="2857500"/>
            <a:ext cx="4031742"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IT BUYS</a:t>
            </a:r>
          </a:p>
        </p:txBody>
      </p:sp>
      <p:sp>
        <p:nvSpPr>
          <p:cNvPr id="8" name="Rectangle 7"/>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76350" y="3429000"/>
            <a:ext cx="2717673"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Direct to consumer</a:t>
            </a:r>
          </a:p>
        </p:txBody>
      </p:sp>
      <p:sp>
        <p:nvSpPr>
          <p:cNvPr id="10" name="TextBox 9"/>
          <p:cNvSpPr txBox="1"/>
          <p:nvPr/>
        </p:nvSpPr>
        <p:spPr>
          <a:xfrm>
            <a:off x="4222623" y="3429000"/>
            <a:ext cx="4652010"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Close to the full retail price, minus payment and shipping. The customer's contact details and purchase history are yours.</a:t>
            </a:r>
          </a:p>
        </p:txBody>
      </p:sp>
      <p:sp>
        <p:nvSpPr>
          <p:cNvPr id="11" name="TextBox 10"/>
          <p:cNvSpPr txBox="1"/>
          <p:nvPr/>
        </p:nvSpPr>
        <p:spPr>
          <a:xfrm>
            <a:off x="9103233" y="3429000"/>
            <a:ext cx="3876675"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You have to find every customer yourself.</a:t>
            </a:r>
          </a:p>
        </p:txBody>
      </p:sp>
      <p:sp>
        <p:nvSpPr>
          <p:cNvPr id="12" name="TextBox 11"/>
          <p:cNvSpPr txBox="1"/>
          <p:nvPr/>
        </p:nvSpPr>
        <p:spPr>
          <a:xfrm>
            <a:off x="13208508" y="3429000"/>
            <a:ext cx="4031742"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best margins, and the data that tells you what to build next.</a:t>
            </a:r>
          </a:p>
        </p:txBody>
      </p:sp>
      <p:sp>
        <p:nvSpPr>
          <p:cNvPr id="13" name="Rectangle 12"/>
          <p:cNvSpPr/>
          <p:nvPr/>
        </p:nvSpPr>
        <p:spPr>
          <a:xfrm>
            <a:off x="1047750" y="492823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47750" y="4918710"/>
            <a:ext cx="16192500" cy="105918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76350" y="5128260"/>
            <a:ext cx="2717673" cy="64008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Beauty marketplaces</a:t>
            </a:r>
          </a:p>
        </p:txBody>
      </p:sp>
      <p:sp>
        <p:nvSpPr>
          <p:cNvPr id="16" name="TextBox 15"/>
          <p:cNvSpPr txBox="1"/>
          <p:nvPr/>
        </p:nvSpPr>
        <p:spPr>
          <a:xfrm>
            <a:off x="4222623" y="5128260"/>
            <a:ext cx="465201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sale, minus a commission of roughly a fifth to a third of the price.</a:t>
            </a:r>
          </a:p>
        </p:txBody>
      </p:sp>
      <p:sp>
        <p:nvSpPr>
          <p:cNvPr id="17" name="TextBox 16"/>
          <p:cNvSpPr txBox="1"/>
          <p:nvPr/>
        </p:nvSpPr>
        <p:spPr>
          <a:xfrm>
            <a:off x="9103233" y="5128260"/>
            <a:ext cx="3876675"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customer belongs to the platform, not to you.</a:t>
            </a:r>
          </a:p>
        </p:txBody>
      </p:sp>
      <p:sp>
        <p:nvSpPr>
          <p:cNvPr id="18" name="TextBox 17"/>
          <p:cNvSpPr txBox="1"/>
          <p:nvPr/>
        </p:nvSpPr>
        <p:spPr>
          <a:xfrm>
            <a:off x="13208508" y="5128260"/>
            <a:ext cx="4031742"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Reach into an audience already shopping for exactly this.</a:t>
            </a:r>
          </a:p>
        </p:txBody>
      </p:sp>
      <p:sp>
        <p:nvSpPr>
          <p:cNvPr id="19" name="Rectangle 18"/>
          <p:cNvSpPr/>
          <p:nvPr/>
        </p:nvSpPr>
        <p:spPr>
          <a:xfrm>
            <a:off x="1047750" y="598741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76350" y="6187440"/>
            <a:ext cx="2717673" cy="64008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Physical retail</a:t>
            </a:r>
          </a:p>
        </p:txBody>
      </p:sp>
      <p:sp>
        <p:nvSpPr>
          <p:cNvPr id="21" name="TextBox 20"/>
          <p:cNvSpPr txBox="1"/>
          <p:nvPr/>
        </p:nvSpPr>
        <p:spPr>
          <a:xfrm>
            <a:off x="4222623" y="6187440"/>
            <a:ext cx="465201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What is left after the distributor and the retailer take a substantial trade margin.</a:t>
            </a:r>
          </a:p>
        </p:txBody>
      </p:sp>
      <p:sp>
        <p:nvSpPr>
          <p:cNvPr id="22" name="TextBox 21"/>
          <p:cNvSpPr txBox="1"/>
          <p:nvPr/>
        </p:nvSpPr>
        <p:spPr>
          <a:xfrm>
            <a:off x="9103233" y="6187440"/>
            <a:ext cx="3876675"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You learn almost nothing about who bought.</a:t>
            </a:r>
          </a:p>
        </p:txBody>
      </p:sp>
      <p:sp>
        <p:nvSpPr>
          <p:cNvPr id="23" name="TextBox 22"/>
          <p:cNvSpPr txBox="1"/>
          <p:nvPr/>
        </p:nvSpPr>
        <p:spPr>
          <a:xfrm>
            <a:off x="13208508" y="6187440"/>
            <a:ext cx="4031742"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Tens of thousands of touchpoints across hundreds of cities.</a:t>
            </a:r>
          </a:p>
        </p:txBody>
      </p:sp>
      <p:sp>
        <p:nvSpPr>
          <p:cNvPr id="24" name="Rectangle 23"/>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Sequencing channels means spending margin deliberately, in an order, to buy reach you can afford — which is exactly what a founder who starts in retail, with no brand and no data, cannot do.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MAMAEARTH · HONASA CONSUMER, FOUNDED 2016</a:t>
            </a:r>
          </a:p>
        </p:txBody>
      </p:sp>
      <p:sp>
        <p:nvSpPr>
          <p:cNvPr id="3" name="TextBox 2"/>
          <p:cNvSpPr txBox="1"/>
          <p:nvPr/>
        </p:nvSpPr>
        <p:spPr>
          <a:xfrm>
            <a:off x="1047750" y="1504950"/>
            <a:ext cx="16192500" cy="822960"/>
          </a:xfrm>
          <a:prstGeom prst="rect">
            <a:avLst/>
          </a:prstGeom>
          <a:noFill/>
        </p:spPr>
        <p:txBody>
          <a:bodyPr wrap="square" lIns="0" tIns="0" rIns="0" bIns="0" anchor="t">
            <a:spAutoFit/>
          </a:bodyPr>
          <a:lstStyle/>
          <a:p>
            <a:pPr algn="l"/>
            <a:r>
              <a:rPr sz="5400" b="1" i="0" kern="0" spc="-142">
                <a:solidFill>
                  <a:srgbClr val="201914"/>
                </a:solidFill>
                <a:latin typeface="Arial"/>
                <a:ea typeface="Arial"/>
                <a:cs typeface="Arial"/>
              </a:rPr>
              <a:t>A textbook beachhead, with a flaw the rubric misses</a:t>
            </a:r>
          </a:p>
        </p:txBody>
      </p:sp>
      <p:sp>
        <p:nvSpPr>
          <p:cNvPr id="4" name="Rectangle 3"/>
          <p:cNvSpPr/>
          <p:nvPr/>
        </p:nvSpPr>
        <p:spPr>
          <a:xfrm>
            <a:off x="1047750"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Maximum anxiety</a:t>
            </a:r>
          </a:p>
        </p:txBody>
      </p:sp>
      <p:sp>
        <p:nvSpPr>
          <p:cNvPr id="6" name="TextBox 5"/>
          <p:cNvSpPr txBox="1"/>
          <p:nvPr/>
        </p:nvSpPr>
        <p:spPr>
          <a:xfrm>
            <a:off x="1390650" y="4324350"/>
            <a:ext cx="3076575"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most anxiety-driven buyer in any consumer market, so willingness to pay for reassurance is high.</a:t>
            </a:r>
          </a:p>
        </p:txBody>
      </p:sp>
      <p:sp>
        <p:nvSpPr>
          <p:cNvPr id="7" name="Rectangle 6"/>
          <p:cNvSpPr/>
          <p:nvPr/>
        </p:nvSpPr>
        <p:spPr>
          <a:xfrm>
            <a:off x="5191125"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No incumbent habit</a:t>
            </a:r>
          </a:p>
        </p:txBody>
      </p:sp>
      <p:sp>
        <p:nvSpPr>
          <p:cNvPr id="9" name="TextBox 8"/>
          <p:cNvSpPr txBox="1"/>
          <p:nvPr/>
        </p:nvSpPr>
        <p:spPr>
          <a:xfrm>
            <a:off x="5534025" y="43243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Entering the category for the first time. A new mother has no favourite baby shampoo yet.</a:t>
            </a:r>
          </a:p>
        </p:txBody>
      </p:sp>
      <p:sp>
        <p:nvSpPr>
          <p:cNvPr id="10" name="Rectangle 9"/>
          <p:cNvSpPr/>
          <p:nvPr/>
        </p:nvSpPr>
        <p:spPr>
          <a:xfrm>
            <a:off x="9334500"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Self-identifying and vocal</a:t>
            </a:r>
          </a:p>
        </p:txBody>
      </p:sp>
      <p:sp>
        <p:nvSpPr>
          <p:cNvPr id="12" name="TextBox 11"/>
          <p:cNvSpPr txBox="1"/>
          <p:nvPr/>
        </p:nvSpPr>
        <p:spPr>
          <a:xfrm>
            <a:off x="9677400" y="4324350"/>
            <a:ext cx="3076575" cy="20574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They search obsessively online, so a digital brand reaches them cheaply — and they talk to each other constantly.</a:t>
            </a:r>
          </a:p>
        </p:txBody>
      </p:sp>
      <p:sp>
        <p:nvSpPr>
          <p:cNvPr id="13" name="Rectangle 12"/>
          <p:cNvSpPr/>
          <p:nvPr/>
        </p:nvSpPr>
        <p:spPr>
          <a:xfrm>
            <a:off x="13477875" y="2857500"/>
            <a:ext cx="3762375" cy="386715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9144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And then she leaves</a:t>
            </a:r>
          </a:p>
        </p:txBody>
      </p:sp>
      <p:sp>
        <p:nvSpPr>
          <p:cNvPr id="15" name="TextBox 14"/>
          <p:cNvSpPr txBox="1"/>
          <p:nvPr/>
        </p:nvSpPr>
        <p:spPr>
          <a:xfrm>
            <a:off x="13820775" y="4324350"/>
            <a:ext cx="3076575" cy="17145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Your customer stops being a new parent in about three years, whether or not she liked you.</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A segment with an expiry date forces expansion on a schedule set by biology rather than by strategy.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WHERE THE PROMISE STOPPED TRAVELLING</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950" b="1" i="0" kern="0" spc="-142">
                <a:solidFill>
                  <a:srgbClr val="201914"/>
                </a:solidFill>
                <a:latin typeface="Arial"/>
                <a:ea typeface="Arial"/>
                <a:cs typeface="Arial"/>
              </a:rPr>
              <a:t>Some segments cannot be reached by stretching a brand</a:t>
            </a:r>
          </a:p>
        </p:txBody>
      </p:sp>
      <p:sp>
        <p:nvSpPr>
          <p:cNvPr id="4" name="Rectangle 3"/>
          <p:cNvSpPr/>
          <p:nvPr/>
        </p:nvSpPr>
        <p:spPr>
          <a:xfrm>
            <a:off x="1047750" y="2857500"/>
            <a:ext cx="7810500" cy="310134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28750" y="3238500"/>
            <a:ext cx="7048500" cy="32385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MAMAEARTH</a:t>
            </a:r>
          </a:p>
        </p:txBody>
      </p:sp>
      <p:sp>
        <p:nvSpPr>
          <p:cNvPr id="6" name="TextBox 5"/>
          <p:cNvSpPr txBox="1"/>
          <p:nvPr/>
        </p:nvSpPr>
        <p:spPr>
          <a:xfrm>
            <a:off x="1428750" y="3790950"/>
            <a:ext cx="7048500" cy="411480"/>
          </a:xfrm>
          <a:prstGeom prst="rect">
            <a:avLst/>
          </a:prstGeom>
          <a:noFill/>
        </p:spPr>
        <p:txBody>
          <a:bodyPr wrap="square" lIns="0" tIns="0" rIns="0" bIns="0" anchor="t">
            <a:spAutoFit/>
          </a:bodyPr>
          <a:lstStyle/>
          <a:p>
            <a:pPr algn="l"/>
            <a:r>
              <a:rPr sz="2700" b="1" i="0" kern="0">
                <a:solidFill>
                  <a:srgbClr val="201914"/>
                </a:solidFill>
                <a:latin typeface="Arial"/>
                <a:ea typeface="Arial"/>
                <a:cs typeface="Arial"/>
              </a:rPr>
              <a:t>Gentle. Safe. Natural.</a:t>
            </a:r>
          </a:p>
        </p:txBody>
      </p:sp>
      <p:sp>
        <p:nvSpPr>
          <p:cNvPr id="7" name="TextBox 6"/>
          <p:cNvSpPr txBox="1"/>
          <p:nvPr/>
        </p:nvSpPr>
        <p:spPr>
          <a:xfrm>
            <a:off x="1428750" y="4411980"/>
            <a:ext cx="7048500" cy="1165860"/>
          </a:xfrm>
          <a:prstGeom prst="rect">
            <a:avLst/>
          </a:prstGeom>
          <a:noFill/>
        </p:spPr>
        <p:txBody>
          <a:bodyPr wrap="square" lIns="0" tIns="0" rIns="0" bIns="0" anchor="t">
            <a:spAutoFit/>
          </a:bodyPr>
          <a:lstStyle/>
          <a:p>
            <a:pPr algn="l"/>
            <a:r>
              <a:rPr sz="2550" b="0" i="0" kern="0">
                <a:solidFill>
                  <a:srgbClr val="564B42"/>
                </a:solidFill>
                <a:latin typeface="Arial"/>
                <a:ea typeface="Arial"/>
                <a:cs typeface="Arial"/>
              </a:rPr>
              <a:t>An emotional, reassurance-led promise, aimed at a buyer who is frightened of ingredients she cannot pronounce.</a:t>
            </a:r>
          </a:p>
        </p:txBody>
      </p:sp>
      <p:sp>
        <p:nvSpPr>
          <p:cNvPr id="8" name="Rectangle 7"/>
          <p:cNvSpPr/>
          <p:nvPr/>
        </p:nvSpPr>
        <p:spPr>
          <a:xfrm>
            <a:off x="9429750" y="2857500"/>
            <a:ext cx="7810500" cy="31013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10750" y="3238500"/>
            <a:ext cx="7048500" cy="323850"/>
          </a:xfrm>
          <a:prstGeom prst="rect">
            <a:avLst/>
          </a:prstGeom>
          <a:noFill/>
        </p:spPr>
        <p:txBody>
          <a:bodyPr wrap="square" lIns="0" tIns="0" rIns="0" bIns="0" anchor="t">
            <a:spAutoFit/>
          </a:bodyPr>
          <a:lstStyle/>
          <a:p>
            <a:pPr algn="l"/>
            <a:r>
              <a:rPr sz="1950" b="1" i="0" kern="0" spc="273">
                <a:solidFill>
                  <a:srgbClr val="FFAF9F"/>
                </a:solidFill>
                <a:latin typeface="Arial"/>
                <a:ea typeface="Arial"/>
                <a:cs typeface="Arial"/>
              </a:rPr>
              <a:t>THE DERMA CO</a:t>
            </a:r>
          </a:p>
        </p:txBody>
      </p:sp>
      <p:sp>
        <p:nvSpPr>
          <p:cNvPr id="10" name="TextBox 9"/>
          <p:cNvSpPr txBox="1"/>
          <p:nvPr/>
        </p:nvSpPr>
        <p:spPr>
          <a:xfrm>
            <a:off x="9810750" y="3790950"/>
            <a:ext cx="7048500" cy="411480"/>
          </a:xfrm>
          <a:prstGeom prst="rect">
            <a:avLst/>
          </a:prstGeom>
          <a:noFill/>
        </p:spPr>
        <p:txBody>
          <a:bodyPr wrap="square" lIns="0" tIns="0" rIns="0" bIns="0" anchor="t">
            <a:spAutoFit/>
          </a:bodyPr>
          <a:lstStyle/>
          <a:p>
            <a:pPr algn="l"/>
            <a:r>
              <a:rPr sz="2700" b="1" i="0" kern="0">
                <a:solidFill>
                  <a:srgbClr val="F5F1E9"/>
                </a:solidFill>
                <a:latin typeface="Arial"/>
                <a:ea typeface="Arial"/>
                <a:cs typeface="Arial"/>
              </a:rPr>
              <a:t>Ten per cent niacinamide. Tell me the pH.</a:t>
            </a:r>
          </a:p>
        </p:txBody>
      </p:sp>
      <p:sp>
        <p:nvSpPr>
          <p:cNvPr id="11" name="TextBox 10"/>
          <p:cNvSpPr txBox="1"/>
          <p:nvPr/>
        </p:nvSpPr>
        <p:spPr>
          <a:xfrm>
            <a:off x="9810750" y="4411980"/>
            <a:ext cx="7048500" cy="1165860"/>
          </a:xfrm>
          <a:prstGeom prst="rect">
            <a:avLst/>
          </a:prstGeom>
          <a:noFill/>
        </p:spPr>
        <p:txBody>
          <a:bodyPr wrap="square" lIns="0" tIns="0" rIns="0" bIns="0" anchor="t">
            <a:spAutoFit/>
          </a:bodyPr>
          <a:lstStyle/>
          <a:p>
            <a:pPr algn="l"/>
            <a:r>
              <a:rPr sz="2550" b="0" i="0" kern="0">
                <a:solidFill>
                  <a:srgbClr val="CEC1B8"/>
                </a:solidFill>
                <a:latin typeface="Arial"/>
                <a:ea typeface="Arial"/>
                <a:cs typeface="Arial"/>
              </a:rPr>
              <a:t>A clinical, precise tone, aimed at an actives-literate buyer who wants a percentage on the label.</a:t>
            </a:r>
          </a:p>
        </p:txBody>
      </p:sp>
      <p:sp>
        <p:nvSpPr>
          <p:cNvPr id="12" name="Rectangle 11"/>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You cannot deliver both from one brand without weakening the thing each customer came for. Knowing which is which is the difference between a portfolio and a mess.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FRAMEWORK 4 · THE BEACHHEAD TEST</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Three questions, and a candidate has to pass all three</a:t>
            </a:r>
          </a:p>
        </p:txBody>
      </p:sp>
      <p:sp>
        <p:nvSpPr>
          <p:cNvPr id="4" name="TextBox 3"/>
          <p:cNvSpPr txBox="1"/>
          <p:nvPr/>
        </p:nvSpPr>
        <p:spPr>
          <a:xfrm>
            <a:off x="1276350" y="2857500"/>
            <a:ext cx="346176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THE TEST</a:t>
            </a:r>
          </a:p>
        </p:txBody>
      </p:sp>
      <p:sp>
        <p:nvSpPr>
          <p:cNvPr id="5" name="TextBox 4"/>
          <p:cNvSpPr txBox="1"/>
          <p:nvPr/>
        </p:nvSpPr>
        <p:spPr>
          <a:xfrm>
            <a:off x="4738116" y="2857500"/>
            <a:ext cx="5979414"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IT ASKS</a:t>
            </a:r>
          </a:p>
        </p:txBody>
      </p:sp>
      <p:sp>
        <p:nvSpPr>
          <p:cNvPr id="6" name="TextBox 5"/>
          <p:cNvSpPr txBox="1"/>
          <p:nvPr/>
        </p:nvSpPr>
        <p:spPr>
          <a:xfrm>
            <a:off x="10946130" y="2857500"/>
            <a:ext cx="629412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FAILING IT LOOKS LIKE</a:t>
            </a:r>
          </a:p>
        </p:txBody>
      </p:sp>
      <p:sp>
        <p:nvSpPr>
          <p:cNvPr id="7" name="Rectangle 6"/>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76350" y="3429000"/>
            <a:ext cx="3233166"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1 · Small enough to win</a:t>
            </a:r>
          </a:p>
        </p:txBody>
      </p:sp>
      <p:sp>
        <p:nvSpPr>
          <p:cNvPr id="9" name="TextBox 8"/>
          <p:cNvSpPr txBox="1"/>
          <p:nvPr/>
        </p:nvSpPr>
        <p:spPr>
          <a:xfrm>
            <a:off x="4738116" y="3429000"/>
            <a:ext cx="5979414"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Can you become the obvious first choice for this group within a year or two, with the money and people you actually have — not the money you hope to raise?</a:t>
            </a:r>
          </a:p>
        </p:txBody>
      </p:sp>
      <p:sp>
        <p:nvSpPr>
          <p:cNvPr id="10" name="TextBox 9"/>
          <p:cNvSpPr txBox="1"/>
          <p:nvPr/>
        </p:nvSpPr>
        <p:spPr>
          <a:xfrm>
            <a:off x="10946130" y="3429000"/>
            <a:ext cx="6294120"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‘Indian women aged 18 to 45’ — a market, not a beachhead. You become the fourth-best option for everybody and the first choice for nobody.</a:t>
            </a:r>
          </a:p>
        </p:txBody>
      </p:sp>
      <p:sp>
        <p:nvSpPr>
          <p:cNvPr id="11" name="Rectangle 10"/>
          <p:cNvSpPr/>
          <p:nvPr/>
        </p:nvSpPr>
        <p:spPr>
          <a:xfrm>
            <a:off x="1047750" y="492823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47750" y="4918710"/>
            <a:ext cx="16192500" cy="137922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76350" y="5128260"/>
            <a:ext cx="3233166"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2 · Large enough to sustain</a:t>
            </a:r>
          </a:p>
        </p:txBody>
      </p:sp>
      <p:sp>
        <p:nvSpPr>
          <p:cNvPr id="14" name="TextBox 13"/>
          <p:cNvSpPr txBox="1"/>
          <p:nvPr/>
        </p:nvSpPr>
        <p:spPr>
          <a:xfrm>
            <a:off x="4738116" y="5128260"/>
            <a:ext cx="5979414"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If you won it completely and never expanded, would the revenue keep the company alive?</a:t>
            </a:r>
          </a:p>
        </p:txBody>
      </p:sp>
      <p:sp>
        <p:nvSpPr>
          <p:cNvPr id="15" name="TextBox 14"/>
          <p:cNvSpPr txBox="1"/>
          <p:nvPr/>
        </p:nvSpPr>
        <p:spPr>
          <a:xfrm>
            <a:off x="10946130" y="5128260"/>
            <a:ext cx="629412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admired, hyper-niche premium product that owns its segment outright and still cannot pay salaries.</a:t>
            </a:r>
          </a:p>
        </p:txBody>
      </p:sp>
      <p:sp>
        <p:nvSpPr>
          <p:cNvPr id="16" name="Rectangle 15"/>
          <p:cNvSpPr/>
          <p:nvPr/>
        </p:nvSpPr>
        <p:spPr>
          <a:xfrm>
            <a:off x="1047750" y="630745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76350" y="6507480"/>
            <a:ext cx="3233166"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3 · Connected enough to expand from</a:t>
            </a:r>
          </a:p>
        </p:txBody>
      </p:sp>
      <p:sp>
        <p:nvSpPr>
          <p:cNvPr id="18" name="TextBox 17"/>
          <p:cNvSpPr txBox="1"/>
          <p:nvPr/>
        </p:nvSpPr>
        <p:spPr>
          <a:xfrm>
            <a:off x="4738116" y="6507480"/>
            <a:ext cx="5979414"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Does winning it earn you something — a brand meaning, a supplier relationship, a dataset, a distribution foothold — that makes the next segment cheaper than a standing start?</a:t>
            </a:r>
          </a:p>
        </p:txBody>
      </p:sp>
      <p:sp>
        <p:nvSpPr>
          <p:cNvPr id="19" name="TextBox 18"/>
          <p:cNvSpPr txBox="1"/>
          <p:nvPr/>
        </p:nvSpPr>
        <p:spPr>
          <a:xfrm>
            <a:off x="10946130" y="6507480"/>
            <a:ext cx="6294120"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loneliest failure: you win, you are profitable, and nothing you built helps you win anything else.</a:t>
            </a:r>
          </a:p>
        </p:txBody>
      </p:sp>
      <p:sp>
        <p:nvSpPr>
          <p:cNvPr id="20" name="Rectangle 19"/>
          <p:cNvSpPr/>
          <p:nvPr/>
        </p:nvSpPr>
        <p:spPr>
          <a:xfrm>
            <a:off x="1047750" y="8382000"/>
            <a:ext cx="16192500" cy="1767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8648700"/>
            <a:ext cx="15430500" cy="123444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You do not choose a first customer because they are the biggest. You choose them because winning them is possible, pays the bills, and makes the next customer cheaper. Any first segment that fails one of those three is a trap — and the trap looks like ambition.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SCORE THESE OUT OF THREE · DEFEND EVERY MARK</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200" b="1" i="0" kern="0" spc="-142">
                <a:solidFill>
                  <a:srgbClr val="201914"/>
                </a:solidFill>
                <a:latin typeface="Arial"/>
                <a:ea typeface="Arial"/>
                <a:cs typeface="Arial"/>
              </a:rPr>
              <a:t>Small enough? Large enough? Connected enough to expand from?</a:t>
            </a:r>
          </a:p>
        </p:txBody>
      </p:sp>
      <p:sp>
        <p:nvSpPr>
          <p:cNvPr id="4" name="Rectangle 3"/>
          <p:cNvSpPr/>
          <p:nvPr/>
        </p:nvSpPr>
        <p:spPr>
          <a:xfrm>
            <a:off x="1047750" y="2857500"/>
            <a:ext cx="3762375" cy="3752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766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Sugar Cosmetics</a:t>
            </a:r>
          </a:p>
        </p:txBody>
      </p:sp>
      <p:sp>
        <p:nvSpPr>
          <p:cNvPr id="6" name="TextBox 5"/>
          <p:cNvSpPr txBox="1"/>
          <p:nvPr/>
        </p:nvSpPr>
        <p:spPr>
          <a:xfrm>
            <a:off x="1390650" y="44386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Long-wear matte lipsticks, bold shades, Indian skin tones and Indian heat.</a:t>
            </a:r>
          </a:p>
        </p:txBody>
      </p:sp>
      <p:sp>
        <p:nvSpPr>
          <p:cNvPr id="7" name="Rectangle 6"/>
          <p:cNvSpPr/>
          <p:nvPr/>
        </p:nvSpPr>
        <p:spPr>
          <a:xfrm>
            <a:off x="5191125" y="2857500"/>
            <a:ext cx="3762375" cy="3752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766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Mamaearth</a:t>
            </a:r>
          </a:p>
        </p:txBody>
      </p:sp>
      <p:sp>
        <p:nvSpPr>
          <p:cNvPr id="9" name="TextBox 8"/>
          <p:cNvSpPr txBox="1"/>
          <p:nvPr/>
        </p:nvSpPr>
        <p:spPr>
          <a:xfrm>
            <a:off x="5534025" y="39814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New parents buying baby care for the first time, on a ‘toxin-free’ promise.</a:t>
            </a:r>
          </a:p>
        </p:txBody>
      </p:sp>
      <p:sp>
        <p:nvSpPr>
          <p:cNvPr id="10" name="Rectangle 9"/>
          <p:cNvSpPr/>
          <p:nvPr/>
        </p:nvSpPr>
        <p:spPr>
          <a:xfrm>
            <a:off x="9334500" y="2857500"/>
            <a:ext cx="3762375" cy="3752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766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Wakefit</a:t>
            </a:r>
          </a:p>
        </p:txBody>
      </p:sp>
      <p:sp>
        <p:nvSpPr>
          <p:cNvPr id="12" name="TextBox 11"/>
          <p:cNvSpPr txBox="1"/>
          <p:nvPr/>
        </p:nvSpPr>
        <p:spPr>
          <a:xfrm>
            <a:off x="9677400" y="39814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First-time online mattress buyers, offered one or two variants and a hundred-night trial.</a:t>
            </a:r>
          </a:p>
        </p:txBody>
      </p:sp>
      <p:sp>
        <p:nvSpPr>
          <p:cNvPr id="13" name="Rectangle 12"/>
          <p:cNvSpPr/>
          <p:nvPr/>
        </p:nvSpPr>
        <p:spPr>
          <a:xfrm>
            <a:off x="13477875" y="2857500"/>
            <a:ext cx="3762375" cy="3752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766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healthy snack brand for Indian consumers’</a:t>
            </a:r>
          </a:p>
        </p:txBody>
      </p:sp>
      <p:sp>
        <p:nvSpPr>
          <p:cNvPr id="15" name="TextBox 14"/>
          <p:cNvSpPr txBox="1"/>
          <p:nvPr/>
        </p:nvSpPr>
        <p:spPr>
          <a:xfrm>
            <a:off x="13820775" y="48958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You will hear a version of this in every pitch competition you ever attend.</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Score each one out of three, then tell me who the founder deliberately refused to serve — and what the refusal bought them.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THE ANSWERS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200" b="1" i="0" kern="0" spc="-142">
                <a:solidFill>
                  <a:srgbClr val="201914"/>
                </a:solidFill>
                <a:latin typeface="Arial"/>
                <a:ea typeface="Arial"/>
                <a:cs typeface="Arial"/>
              </a:rPr>
              <a:t>Small enough? Large enough? Connected enough to expand from?</a:t>
            </a:r>
          </a:p>
        </p:txBody>
      </p:sp>
      <p:sp>
        <p:nvSpPr>
          <p:cNvPr id="4" name="Rectangle 3"/>
          <p:cNvSpPr/>
          <p:nvPr/>
        </p:nvSpPr>
        <p:spPr>
          <a:xfrm>
            <a:off x="1047750" y="2590800"/>
            <a:ext cx="3762375" cy="694563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0099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Sugar Cosmetics</a:t>
            </a:r>
          </a:p>
        </p:txBody>
      </p:sp>
      <p:sp>
        <p:nvSpPr>
          <p:cNvPr id="6" name="TextBox 5"/>
          <p:cNvSpPr txBox="1"/>
          <p:nvPr/>
        </p:nvSpPr>
        <p:spPr>
          <a:xfrm>
            <a:off x="1390650" y="41719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One category, one finish, one climate problem.</a:t>
            </a:r>
          </a:p>
        </p:txBody>
      </p:sp>
      <p:sp>
        <p:nvSpPr>
          <p:cNvPr id="7" name="Rectangle 6"/>
          <p:cNvSpPr/>
          <p:nvPr/>
        </p:nvSpPr>
        <p:spPr>
          <a:xfrm>
            <a:off x="1047750" y="5543550"/>
            <a:ext cx="3762375" cy="399288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90650" y="584835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3 / 3</a:t>
            </a:r>
          </a:p>
        </p:txBody>
      </p:sp>
      <p:sp>
        <p:nvSpPr>
          <p:cNvPr id="9" name="TextBox 8"/>
          <p:cNvSpPr txBox="1"/>
          <p:nvPr/>
        </p:nvSpPr>
        <p:spPr>
          <a:xfrm>
            <a:off x="1390650" y="6351270"/>
            <a:ext cx="3076575" cy="288036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Narrow enough that a startup could own the shade conversation outright, and lipstick is a high-frequency repeat purchase. A customer who trusts your lipstick in Delhi heat will try your foundation.</a:t>
            </a:r>
          </a:p>
        </p:txBody>
      </p:sp>
      <p:sp>
        <p:nvSpPr>
          <p:cNvPr id="10" name="Rectangle 9"/>
          <p:cNvSpPr/>
          <p:nvPr/>
        </p:nvSpPr>
        <p:spPr>
          <a:xfrm>
            <a:off x="5191125" y="2590800"/>
            <a:ext cx="3762375" cy="694563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34025" y="30099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Mamaearth</a:t>
            </a:r>
          </a:p>
        </p:txBody>
      </p:sp>
      <p:sp>
        <p:nvSpPr>
          <p:cNvPr id="12" name="TextBox 11"/>
          <p:cNvSpPr txBox="1"/>
          <p:nvPr/>
        </p:nvSpPr>
        <p:spPr>
          <a:xfrm>
            <a:off x="5534025" y="37147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New parents, on a ‘toxin-free’ promise.</a:t>
            </a:r>
          </a:p>
        </p:txBody>
      </p:sp>
      <p:sp>
        <p:nvSpPr>
          <p:cNvPr id="13" name="Rectangle 12"/>
          <p:cNvSpPr/>
          <p:nvPr/>
        </p:nvSpPr>
        <p:spPr>
          <a:xfrm>
            <a:off x="5191125" y="6183630"/>
            <a:ext cx="3762375" cy="33528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34025" y="648843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3 / 3</a:t>
            </a:r>
          </a:p>
        </p:txBody>
      </p:sp>
      <p:sp>
        <p:nvSpPr>
          <p:cNvPr id="15" name="TextBox 14"/>
          <p:cNvSpPr txBox="1"/>
          <p:nvPr/>
        </p:nvSpPr>
        <p:spPr>
          <a:xfrm>
            <a:off x="5534025" y="6991350"/>
            <a:ext cx="3076575" cy="224028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Small, self-identifying, and anxiety funds premium prices. But add a fourth question the rubric misses: how long does this customer stay in the segment?</a:t>
            </a:r>
          </a:p>
        </p:txBody>
      </p:sp>
      <p:sp>
        <p:nvSpPr>
          <p:cNvPr id="16" name="Rectangle 15"/>
          <p:cNvSpPr/>
          <p:nvPr/>
        </p:nvSpPr>
        <p:spPr>
          <a:xfrm>
            <a:off x="9334500" y="2590800"/>
            <a:ext cx="3762375" cy="694563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77400" y="30099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Wakefit</a:t>
            </a:r>
          </a:p>
        </p:txBody>
      </p:sp>
      <p:sp>
        <p:nvSpPr>
          <p:cNvPr id="18" name="TextBox 17"/>
          <p:cNvSpPr txBox="1"/>
          <p:nvPr/>
        </p:nvSpPr>
        <p:spPr>
          <a:xfrm>
            <a:off x="9677400" y="3714750"/>
            <a:ext cx="3076575"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First-time online mattress buyers, one hundred-night trial.</a:t>
            </a:r>
          </a:p>
        </p:txBody>
      </p:sp>
      <p:sp>
        <p:nvSpPr>
          <p:cNvPr id="19" name="Rectangle 18"/>
          <p:cNvSpPr/>
          <p:nvPr/>
        </p:nvSpPr>
        <p:spPr>
          <a:xfrm>
            <a:off x="9334500" y="6183630"/>
            <a:ext cx="3762375" cy="33528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7400" y="648843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2 / 3</a:t>
            </a:r>
          </a:p>
        </p:txBody>
      </p:sp>
      <p:sp>
        <p:nvSpPr>
          <p:cNvPr id="21" name="TextBox 20"/>
          <p:cNvSpPr txBox="1"/>
          <p:nvPr/>
        </p:nvSpPr>
        <p:spPr>
          <a:xfrm>
            <a:off x="9677400" y="6991350"/>
            <a:ext cx="3076575" cy="2240280"/>
          </a:xfrm>
          <a:prstGeom prst="rect">
            <a:avLst/>
          </a:prstGeom>
          <a:noFill/>
        </p:spPr>
        <p:txBody>
          <a:bodyPr wrap="square" lIns="0" tIns="0" rIns="0" bIns="0" anchor="t">
            <a:spAutoFit/>
          </a:bodyPr>
          <a:lstStyle/>
          <a:p>
            <a:pPr algn="l"/>
            <a:r>
              <a:rPr sz="2100" b="0" i="0" kern="0">
                <a:solidFill>
                  <a:srgbClr val="C8BBB1"/>
                </a:solidFill>
                <a:latin typeface="Arial"/>
                <a:ea typeface="Arial"/>
                <a:cs typeface="Arial"/>
              </a:rPr>
              <a:t>Small and connected, but a mattress is bought once in several years, so the segment alone sustains slowly. Removing choice and removing risk solved two problems at once.</a:t>
            </a:r>
          </a:p>
        </p:txBody>
      </p:sp>
      <p:sp>
        <p:nvSpPr>
          <p:cNvPr id="22" name="Rectangle 21"/>
          <p:cNvSpPr/>
          <p:nvPr/>
        </p:nvSpPr>
        <p:spPr>
          <a:xfrm>
            <a:off x="13477875" y="2590800"/>
            <a:ext cx="3762375" cy="694563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820775" y="3009900"/>
            <a:ext cx="3076575"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 healthy snack brand for Indian consumers’</a:t>
            </a:r>
          </a:p>
        </p:txBody>
      </p:sp>
      <p:sp>
        <p:nvSpPr>
          <p:cNvPr id="24" name="TextBox 23"/>
          <p:cNvSpPr txBox="1"/>
          <p:nvPr/>
        </p:nvSpPr>
        <p:spPr>
          <a:xfrm>
            <a:off x="13820775" y="4629150"/>
            <a:ext cx="3076575" cy="6858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The pitch-competition special.</a:t>
            </a:r>
          </a:p>
        </p:txBody>
      </p:sp>
      <p:sp>
        <p:nvSpPr>
          <p:cNvPr id="25" name="Rectangle 24"/>
          <p:cNvSpPr/>
          <p:nvPr/>
        </p:nvSpPr>
        <p:spPr>
          <a:xfrm>
            <a:off x="13477875" y="5543550"/>
            <a:ext cx="3762375" cy="399288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20775" y="5848350"/>
            <a:ext cx="3076575" cy="38862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0 / 3</a:t>
            </a:r>
          </a:p>
        </p:txBody>
      </p:sp>
      <p:sp>
        <p:nvSpPr>
          <p:cNvPr id="27" name="TextBox 26"/>
          <p:cNvSpPr txBox="1"/>
          <p:nvPr/>
        </p:nvSpPr>
        <p:spPr>
          <a:xfrm>
            <a:off x="13820775" y="6351270"/>
            <a:ext cx="3076575" cy="2880360"/>
          </a:xfrm>
          <a:prstGeom prst="rect">
            <a:avLst/>
          </a:prstGeom>
          <a:noFill/>
        </p:spPr>
        <p:txBody>
          <a:bodyPr wrap="square" lIns="0" tIns="0" rIns="0" bIns="0" anchor="t">
            <a:spAutoFit/>
          </a:bodyPr>
          <a:lstStyle/>
          <a:p>
            <a:pPr algn="l"/>
            <a:r>
              <a:rPr sz="2100" b="0" i="0" kern="0">
                <a:solidFill>
                  <a:srgbClr val="FFE6DF"/>
                </a:solidFill>
                <a:latin typeface="Arial"/>
                <a:ea typeface="Arial"/>
                <a:cs typeface="Arial"/>
              </a:rPr>
              <a:t>‘Indian consumers’ cannot be won. An undefined segment has no measurable revenue either — you cannot count a group you have not defined. And winning nobody earns you nothing.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FRAMEWORK 5 · ADJACENCY IS NOT ABOUT SIZE</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4200" b="1" i="0" kern="0" spc="-142">
                <a:solidFill>
                  <a:srgbClr val="201914"/>
                </a:solidFill>
                <a:latin typeface="Arial"/>
                <a:ea typeface="Arial"/>
                <a:cs typeface="Arial"/>
              </a:rPr>
              <a:t>It is about how much of what you have already built you get to keep</a:t>
            </a:r>
          </a:p>
        </p:txBody>
      </p:sp>
      <p:sp>
        <p:nvSpPr>
          <p:cNvPr id="4" name="Rectangle 3"/>
          <p:cNvSpPr/>
          <p:nvPr/>
        </p:nvSpPr>
        <p:spPr>
          <a:xfrm>
            <a:off x="1047750"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0650" y="3200400"/>
            <a:ext cx="3076575"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Same channels?</a:t>
            </a:r>
          </a:p>
        </p:txBody>
      </p:sp>
      <p:sp>
        <p:nvSpPr>
          <p:cNvPr id="6" name="TextBox 5"/>
          <p:cNvSpPr txBox="1"/>
          <p:nvPr/>
        </p:nvSpPr>
        <p:spPr>
          <a:xfrm>
            <a:off x="1390650" y="38671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Can you reach the new segment through the channels you already have?</a:t>
            </a:r>
          </a:p>
        </p:txBody>
      </p:sp>
      <p:sp>
        <p:nvSpPr>
          <p:cNvPr id="7" name="Rectangle 6"/>
          <p:cNvSpPr/>
          <p:nvPr/>
        </p:nvSpPr>
        <p:spPr>
          <a:xfrm>
            <a:off x="5191125"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4025"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Same operations?</a:t>
            </a:r>
          </a:p>
        </p:txBody>
      </p:sp>
      <p:sp>
        <p:nvSpPr>
          <p:cNvPr id="9" name="TextBox 8"/>
          <p:cNvSpPr txBox="1"/>
          <p:nvPr/>
        </p:nvSpPr>
        <p:spPr>
          <a:xfrm>
            <a:off x="5534025" y="4324350"/>
            <a:ext cx="3076575"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Can you serve it with the operations, suppliers and logistics you already run?</a:t>
            </a:r>
          </a:p>
        </p:txBody>
      </p:sp>
      <p:sp>
        <p:nvSpPr>
          <p:cNvPr id="10" name="Rectangle 9"/>
          <p:cNvSpPr/>
          <p:nvPr/>
        </p:nvSpPr>
        <p:spPr>
          <a:xfrm>
            <a:off x="9334500" y="2857500"/>
            <a:ext cx="3762375" cy="38671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77400" y="3200400"/>
            <a:ext cx="3076575" cy="9144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Does the brand help?</a:t>
            </a:r>
          </a:p>
        </p:txBody>
      </p:sp>
      <p:sp>
        <p:nvSpPr>
          <p:cNvPr id="12" name="TextBox 11"/>
          <p:cNvSpPr txBox="1"/>
          <p:nvPr/>
        </p:nvSpPr>
        <p:spPr>
          <a:xfrm>
            <a:off x="9677400" y="4324350"/>
            <a:ext cx="3076575" cy="17145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Does your brand's existing meaning help you there, or does it have to be explained away?</a:t>
            </a:r>
          </a:p>
        </p:txBody>
      </p:sp>
      <p:sp>
        <p:nvSpPr>
          <p:cNvPr id="13" name="Rectangle 12"/>
          <p:cNvSpPr/>
          <p:nvPr/>
        </p:nvSpPr>
        <p:spPr>
          <a:xfrm>
            <a:off x="13477875" y="2857500"/>
            <a:ext cx="3762375" cy="386715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20775" y="3200400"/>
            <a:ext cx="3076575" cy="914400"/>
          </a:xfrm>
          <a:prstGeom prst="rect">
            <a:avLst/>
          </a:prstGeom>
          <a:noFill/>
        </p:spPr>
        <p:txBody>
          <a:bodyPr wrap="square" lIns="0" tIns="0" rIns="0" bIns="0" anchor="t">
            <a:spAutoFit/>
          </a:bodyPr>
          <a:lstStyle/>
          <a:p>
            <a:pPr algn="l"/>
            <a:r>
              <a:rPr sz="3000" b="1" i="0" kern="0">
                <a:solidFill>
                  <a:srgbClr val="F5F1E9"/>
                </a:solidFill>
                <a:latin typeface="Arial"/>
                <a:ea typeface="Arial"/>
                <a:cs typeface="Arial"/>
              </a:rPr>
              <a:t>Same unit economics?</a:t>
            </a:r>
          </a:p>
        </p:txBody>
      </p:sp>
      <p:sp>
        <p:nvSpPr>
          <p:cNvPr id="15" name="TextBox 14"/>
          <p:cNvSpPr txBox="1"/>
          <p:nvPr/>
        </p:nvSpPr>
        <p:spPr>
          <a:xfrm>
            <a:off x="13820775" y="4324350"/>
            <a:ext cx="3076575" cy="2057400"/>
          </a:xfrm>
          <a:prstGeom prst="rect">
            <a:avLst/>
          </a:prstGeom>
          <a:noFill/>
        </p:spPr>
        <p:txBody>
          <a:bodyPr wrap="square" lIns="0" tIns="0" rIns="0" bIns="0" anchor="t">
            <a:spAutoFit/>
          </a:bodyPr>
          <a:lstStyle/>
          <a:p>
            <a:pPr algn="l"/>
            <a:r>
              <a:rPr sz="2250" b="0" i="0" kern="0">
                <a:solidFill>
                  <a:srgbClr val="FFE6DF"/>
                </a:solidFill>
                <a:latin typeface="Arial"/>
                <a:ea typeface="Arial"/>
                <a:cs typeface="Arial"/>
              </a:rPr>
              <a:t>Order value, repeat rate, acquisition cost, returns — the same shape as the business you already know how to run?</a:t>
            </a:r>
          </a:p>
        </p:txBody>
      </p:sp>
      <p:sp>
        <p:nvSpPr>
          <p:cNvPr id="16" name="Rectangle 15"/>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7750" y="8439150"/>
            <a:ext cx="16192500" cy="57150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Three yeses and a no on the last one is the most dangerous combination in this lecture.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ANSWER BEFORE YOU TURN THE PAGE</a:t>
            </a:r>
          </a:p>
        </p:txBody>
      </p:sp>
      <p:sp>
        <p:nvSpPr>
          <p:cNvPr id="3" name="TextBox 2"/>
          <p:cNvSpPr txBox="1"/>
          <p:nvPr/>
        </p:nvSpPr>
        <p:spPr>
          <a:xfrm>
            <a:off x="1047750" y="3810000"/>
            <a:ext cx="15430500" cy="1905000"/>
          </a:xfrm>
          <a:prstGeom prst="rect">
            <a:avLst/>
          </a:prstGeom>
          <a:noFill/>
        </p:spPr>
        <p:txBody>
          <a:bodyPr wrap="square" lIns="0" tIns="0" rIns="0" bIns="0" anchor="t">
            <a:spAutoFit/>
          </a:bodyPr>
          <a:lstStyle/>
          <a:p>
            <a:pPr algn="l"/>
            <a:r>
              <a:rPr sz="4500" b="1" i="0" kern="0" spc="-200">
                <a:solidFill>
                  <a:srgbClr val="F5F1E9"/>
                </a:solidFill>
                <a:latin typeface="Arial"/>
                <a:ea typeface="Arial"/>
                <a:cs typeface="Arial"/>
              </a:rPr>
              <a:t>In 2018 Nykaa launched fashion. Same woman, same app, same aesthetic, same aspirational brand. Good adjacency?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777240"/>
            <a:ext cx="16192500" cy="323850"/>
          </a:xfrm>
          <a:prstGeom prst="rect">
            <a:avLst/>
          </a:prstGeom>
          <a:noFill/>
        </p:spPr>
        <p:txBody>
          <a:bodyPr wrap="square" lIns="0" tIns="0" rIns="0" bIns="0" anchor="t">
            <a:spAutoFit/>
          </a:bodyPr>
          <a:lstStyle/>
          <a:p>
            <a:pPr algn="l"/>
            <a:r>
              <a:rPr sz="1950" b="1" i="0" kern="0" spc="312" dirty="0">
                <a:solidFill>
                  <a:srgbClr val="C35141"/>
                </a:solidFill>
                <a:latin typeface="Arial"/>
                <a:ea typeface="Arial"/>
                <a:cs typeface="Arial"/>
              </a:rPr>
              <a:t>THE ANSWER · BEAUTY VS FASHION</a:t>
            </a:r>
          </a:p>
        </p:txBody>
      </p:sp>
      <p:sp>
        <p:nvSpPr>
          <p:cNvPr id="3" name="TextBox 2"/>
          <p:cNvSpPr txBox="1"/>
          <p:nvPr/>
        </p:nvSpPr>
        <p:spPr>
          <a:xfrm>
            <a:off x="1047750" y="1082040"/>
            <a:ext cx="16192500" cy="868680"/>
          </a:xfrm>
          <a:prstGeom prst="rect">
            <a:avLst/>
          </a:prstGeom>
          <a:noFill/>
        </p:spPr>
        <p:txBody>
          <a:bodyPr wrap="square" lIns="0" tIns="0" rIns="0" bIns="0" anchor="t">
            <a:spAutoFit/>
          </a:bodyPr>
          <a:lstStyle/>
          <a:p>
            <a:pPr algn="l"/>
            <a:r>
              <a:rPr sz="5700" b="1" i="0" kern="0" spc="-142" dirty="0">
                <a:solidFill>
                  <a:srgbClr val="201914"/>
                </a:solidFill>
                <a:latin typeface="Arial"/>
                <a:ea typeface="Arial"/>
                <a:cs typeface="Arial"/>
              </a:rPr>
              <a:t>The same customer, and two different companies</a:t>
            </a:r>
          </a:p>
        </p:txBody>
      </p:sp>
      <p:sp>
        <p:nvSpPr>
          <p:cNvPr id="4" name="TextBox 3"/>
          <p:cNvSpPr txBox="1"/>
          <p:nvPr/>
        </p:nvSpPr>
        <p:spPr>
          <a:xfrm>
            <a:off x="4337304" y="2857500"/>
            <a:ext cx="6294120" cy="304800"/>
          </a:xfrm>
          <a:prstGeom prst="rect">
            <a:avLst/>
          </a:prstGeom>
          <a:noFill/>
        </p:spPr>
        <p:txBody>
          <a:bodyPr wrap="square" lIns="0" tIns="0" rIns="0" bIns="0" anchor="t">
            <a:spAutoFit/>
          </a:bodyPr>
          <a:lstStyle/>
          <a:p>
            <a:pPr algn="l"/>
            <a:r>
              <a:rPr sz="1950" b="1" i="0" kern="0" spc="273" dirty="0">
                <a:solidFill>
                  <a:srgbClr val="6C6158"/>
                </a:solidFill>
                <a:latin typeface="Arial"/>
                <a:ea typeface="Arial"/>
                <a:cs typeface="Arial"/>
              </a:rPr>
              <a:t>BEAUTY · THE BEACHHEAD</a:t>
            </a:r>
          </a:p>
        </p:txBody>
      </p:sp>
      <p:sp>
        <p:nvSpPr>
          <p:cNvPr id="5" name="TextBox 4"/>
          <p:cNvSpPr txBox="1"/>
          <p:nvPr/>
        </p:nvSpPr>
        <p:spPr>
          <a:xfrm>
            <a:off x="10631424" y="2857500"/>
            <a:ext cx="6608826"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FASHION · THE ADJACENCY</a:t>
            </a:r>
          </a:p>
        </p:txBody>
      </p:sp>
      <p:sp>
        <p:nvSpPr>
          <p:cNvPr id="6" name="Rectangle 5"/>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76350" y="3429000"/>
            <a:ext cx="2603754" cy="32004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What she orders</a:t>
            </a:r>
          </a:p>
        </p:txBody>
      </p:sp>
      <p:sp>
        <p:nvSpPr>
          <p:cNvPr id="8" name="TextBox 7"/>
          <p:cNvSpPr txBox="1"/>
          <p:nvPr/>
        </p:nvSpPr>
        <p:spPr>
          <a:xfrm>
            <a:off x="4108704" y="3429000"/>
            <a:ext cx="6294120" cy="32004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One shade, one size, no fit risk</a:t>
            </a:r>
          </a:p>
        </p:txBody>
      </p:sp>
      <p:sp>
        <p:nvSpPr>
          <p:cNvPr id="9" name="TextBox 8"/>
          <p:cNvSpPr txBox="1"/>
          <p:nvPr/>
        </p:nvSpPr>
        <p:spPr>
          <a:xfrm>
            <a:off x="10631424" y="3429000"/>
            <a:ext cx="6608826" cy="32004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Often the same dress in three sizes, to keep one</a:t>
            </a:r>
          </a:p>
        </p:txBody>
      </p:sp>
      <p:sp>
        <p:nvSpPr>
          <p:cNvPr id="10" name="Rectangle 9"/>
          <p:cNvSpPr/>
          <p:nvPr/>
        </p:nvSpPr>
        <p:spPr>
          <a:xfrm>
            <a:off x="1047750" y="389191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7750" y="3882390"/>
            <a:ext cx="16192500" cy="90678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76350" y="4015740"/>
            <a:ext cx="2603754" cy="64008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Returns</a:t>
            </a:r>
          </a:p>
        </p:txBody>
      </p:sp>
      <p:sp>
        <p:nvSpPr>
          <p:cNvPr id="13" name="TextBox 12"/>
          <p:cNvSpPr txBox="1"/>
          <p:nvPr/>
        </p:nvSpPr>
        <p:spPr>
          <a:xfrm>
            <a:off x="4108704" y="4015740"/>
            <a:ext cx="629412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Low single digits</a:t>
            </a:r>
          </a:p>
        </p:txBody>
      </p:sp>
      <p:sp>
        <p:nvSpPr>
          <p:cNvPr id="14" name="TextBox 13"/>
          <p:cNvSpPr txBox="1"/>
          <p:nvPr/>
        </p:nvSpPr>
        <p:spPr>
          <a:xfrm>
            <a:off x="10631424" y="4015740"/>
            <a:ext cx="6608826" cy="640080"/>
          </a:xfrm>
          <a:prstGeom prst="rect">
            <a:avLst/>
          </a:prstGeom>
          <a:noFill/>
        </p:spPr>
        <p:txBody>
          <a:bodyPr wrap="square" lIns="0" tIns="0" rIns="0" bIns="0" anchor="t">
            <a:spAutoFit/>
          </a:bodyPr>
          <a:lstStyle/>
          <a:p>
            <a:pPr algn="l"/>
            <a:r>
              <a:rPr sz="2100" b="1" i="0" kern="0">
                <a:solidFill>
                  <a:srgbClr val="C35141"/>
                </a:solidFill>
                <a:latin typeface="Arial"/>
                <a:ea typeface="Arial"/>
                <a:cs typeface="Arial"/>
              </a:rPr>
              <a:t>Frequently reported at twenty to forty per cent in Indian online apparel</a:t>
            </a:r>
          </a:p>
        </p:txBody>
      </p:sp>
      <p:sp>
        <p:nvSpPr>
          <p:cNvPr id="15" name="Rectangle 14"/>
          <p:cNvSpPr/>
          <p:nvPr/>
        </p:nvSpPr>
        <p:spPr>
          <a:xfrm>
            <a:off x="1047750" y="479869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76350" y="4922520"/>
            <a:ext cx="2603754" cy="32004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Repeat pattern</a:t>
            </a:r>
          </a:p>
        </p:txBody>
      </p:sp>
      <p:sp>
        <p:nvSpPr>
          <p:cNvPr id="17" name="TextBox 16"/>
          <p:cNvSpPr txBox="1"/>
          <p:nvPr/>
        </p:nvSpPr>
        <p:spPr>
          <a:xfrm>
            <a:off x="4108704" y="4922520"/>
            <a:ext cx="6294120" cy="32004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Runs out on a clock — she comes back on her own</a:t>
            </a:r>
          </a:p>
        </p:txBody>
      </p:sp>
      <p:sp>
        <p:nvSpPr>
          <p:cNvPr id="18" name="TextBox 17"/>
          <p:cNvSpPr txBox="1"/>
          <p:nvPr/>
        </p:nvSpPr>
        <p:spPr>
          <a:xfrm>
            <a:off x="10631424" y="4922520"/>
            <a:ext cx="6608826" cy="32004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Occasion-driven and seasonal</a:t>
            </a:r>
          </a:p>
        </p:txBody>
      </p:sp>
      <p:sp>
        <p:nvSpPr>
          <p:cNvPr id="19" name="Rectangle 18"/>
          <p:cNvSpPr/>
          <p:nvPr/>
        </p:nvSpPr>
        <p:spPr>
          <a:xfrm>
            <a:off x="1047750" y="538543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47750" y="5375910"/>
            <a:ext cx="16192500" cy="90678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76350" y="5509260"/>
            <a:ext cx="2603754" cy="64008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Inventory</a:t>
            </a:r>
          </a:p>
        </p:txBody>
      </p:sp>
      <p:sp>
        <p:nvSpPr>
          <p:cNvPr id="22" name="TextBox 21"/>
          <p:cNvSpPr txBox="1"/>
          <p:nvPr/>
        </p:nvSpPr>
        <p:spPr>
          <a:xfrm>
            <a:off x="4108704" y="5509260"/>
            <a:ext cx="629412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Compact, shelf-stable, forgiving</a:t>
            </a:r>
          </a:p>
        </p:txBody>
      </p:sp>
      <p:sp>
        <p:nvSpPr>
          <p:cNvPr id="23" name="TextBox 22"/>
          <p:cNvSpPr txBox="1"/>
          <p:nvPr/>
        </p:nvSpPr>
        <p:spPr>
          <a:xfrm>
            <a:off x="10631424" y="5509260"/>
            <a:ext cx="6608826"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Seasonal, size-fragmented, unforgiving — last season is a write-off</a:t>
            </a:r>
          </a:p>
        </p:txBody>
      </p:sp>
      <p:sp>
        <p:nvSpPr>
          <p:cNvPr id="24" name="Rectangle 23"/>
          <p:cNvSpPr/>
          <p:nvPr/>
        </p:nvSpPr>
        <p:spPr>
          <a:xfrm>
            <a:off x="1047750" y="629221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76350" y="6416040"/>
            <a:ext cx="2603754" cy="64008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Who else is there</a:t>
            </a:r>
          </a:p>
        </p:txBody>
      </p:sp>
      <p:sp>
        <p:nvSpPr>
          <p:cNvPr id="26" name="TextBox 25"/>
          <p:cNvSpPr txBox="1"/>
          <p:nvPr/>
        </p:nvSpPr>
        <p:spPr>
          <a:xfrm>
            <a:off x="4108704" y="6416040"/>
            <a:ext cx="629412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Nykaa was the authority</a:t>
            </a:r>
          </a:p>
        </p:txBody>
      </p:sp>
      <p:sp>
        <p:nvSpPr>
          <p:cNvPr id="27" name="TextBox 26"/>
          <p:cNvSpPr txBox="1"/>
          <p:nvPr/>
        </p:nvSpPr>
        <p:spPr>
          <a:xfrm>
            <a:off x="10631424" y="6416040"/>
            <a:ext cx="6608826"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Myntra and Ajio, ten years ahead on exactly this operational problem</a:t>
            </a:r>
          </a:p>
        </p:txBody>
      </p:sp>
      <p:sp>
        <p:nvSpPr>
          <p:cNvPr id="28" name="Rectangle 27"/>
          <p:cNvSpPr/>
          <p:nvPr/>
        </p:nvSpPr>
        <p:spPr>
          <a:xfrm>
            <a:off x="1047750" y="719899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47750" y="7189470"/>
            <a:ext cx="16192500" cy="90678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76350" y="7322820"/>
            <a:ext cx="2603754" cy="64008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Verdict</a:t>
            </a:r>
          </a:p>
        </p:txBody>
      </p:sp>
      <p:sp>
        <p:nvSpPr>
          <p:cNvPr id="31" name="TextBox 30"/>
          <p:cNvSpPr txBox="1"/>
          <p:nvPr/>
        </p:nvSpPr>
        <p:spPr>
          <a:xfrm>
            <a:off x="4108704" y="7322820"/>
            <a:ext cx="6294120"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business the company knows how to run</a:t>
            </a:r>
          </a:p>
        </p:txBody>
      </p:sp>
      <p:sp>
        <p:nvSpPr>
          <p:cNvPr id="32" name="TextBox 31"/>
          <p:cNvSpPr txBox="1"/>
          <p:nvPr/>
        </p:nvSpPr>
        <p:spPr>
          <a:xfrm>
            <a:off x="10631424" y="7322820"/>
            <a:ext cx="6608826" cy="64008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Grew, but never matched beauty on economics — the harder half of the story to defend</a:t>
            </a:r>
          </a:p>
        </p:txBody>
      </p:sp>
      <p:sp>
        <p:nvSpPr>
          <p:cNvPr id="33" name="Rectangle 32"/>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The three questions that said yes are all about the customer. The one that said no is about the operation. That is why founders get this wrong.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FOUR NUMBERS DECIDE A SEGMENT · TWO OF THEM ARRIVE LATE</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Returns and acquisition cost</a:t>
            </a:r>
          </a:p>
        </p:txBody>
      </p:sp>
      <p:sp>
        <p:nvSpPr>
          <p:cNvPr id="4" name="TextBox 3"/>
          <p:cNvSpPr txBox="1"/>
          <p:nvPr/>
        </p:nvSpPr>
        <p:spPr>
          <a:xfrm>
            <a:off x="1047750" y="3429000"/>
            <a:ext cx="15430500" cy="2011680"/>
          </a:xfrm>
          <a:prstGeom prst="rect">
            <a:avLst/>
          </a:prstGeom>
          <a:noFill/>
        </p:spPr>
        <p:txBody>
          <a:bodyPr wrap="square" lIns="0" tIns="0" rIns="0" bIns="0" anchor="t">
            <a:spAutoFit/>
          </a:bodyPr>
          <a:lstStyle/>
          <a:p>
            <a:pPr algn="l"/>
            <a:r>
              <a:rPr sz="3300" b="1" i="0" kern="0">
                <a:solidFill>
                  <a:srgbClr val="201914"/>
                </a:solidFill>
                <a:latin typeface="Arial"/>
                <a:ea typeface="Arial"/>
                <a:cs typeface="Arial"/>
              </a:rPr>
              <a:t>Both are invisible in a plan and decisive in reality, and both get worse as you move away from your beachhead — a segment you understand less well needs more marketing to reach and sends more back. Which is why the first segment should also be the one you can measure fastest.</a:t>
            </a:r>
          </a:p>
        </p:txBody>
      </p:sp>
      <p:sp>
        <p:nvSpPr>
          <p:cNvPr id="5" name="Rectangle 4"/>
          <p:cNvSpPr/>
          <p:nvPr/>
        </p:nvSpPr>
        <p:spPr>
          <a:xfrm>
            <a:off x="1047750" y="8077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8439150"/>
            <a:ext cx="16192500" cy="960120"/>
          </a:xfrm>
          <a:prstGeom prst="rect">
            <a:avLst/>
          </a:prstGeom>
          <a:noFill/>
        </p:spPr>
        <p:txBody>
          <a:bodyPr wrap="square" lIns="0" tIns="0" rIns="0" bIns="0" anchor="t">
            <a:spAutoFit/>
          </a:bodyPr>
          <a:lstStyle/>
          <a:p>
            <a:pPr algn="l"/>
            <a:r>
              <a:rPr sz="3150" b="0" i="1" kern="0">
                <a:solidFill>
                  <a:srgbClr val="433830"/>
                </a:solidFill>
                <a:latin typeface="Georgia"/>
                <a:ea typeface="Georgia"/>
                <a:cs typeface="Georgia"/>
              </a:rPr>
              <a:t>Size is a fact about the market. The four answers are facts about you. Chase size before adjacency and you fund somebody else's learning curve.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WHEN A SEQUENCE COMES APART</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Three ways, and you will meet all three in your careers</a:t>
            </a:r>
          </a:p>
        </p:txBody>
      </p:sp>
      <p:sp>
        <p:nvSpPr>
          <p:cNvPr id="4" name="TextBox 3"/>
          <p:cNvSpPr txBox="1"/>
          <p:nvPr/>
        </p:nvSpPr>
        <p:spPr>
          <a:xfrm>
            <a:off x="1276350" y="2857500"/>
            <a:ext cx="3776472"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FAILURE</a:t>
            </a:r>
          </a:p>
        </p:txBody>
      </p:sp>
      <p:sp>
        <p:nvSpPr>
          <p:cNvPr id="5" name="TextBox 4"/>
          <p:cNvSpPr txBox="1"/>
          <p:nvPr/>
        </p:nvSpPr>
        <p:spPr>
          <a:xfrm>
            <a:off x="5052822" y="2857500"/>
            <a:ext cx="5664708"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GOES WRONG</a:t>
            </a:r>
          </a:p>
        </p:txBody>
      </p:sp>
      <p:sp>
        <p:nvSpPr>
          <p:cNvPr id="6" name="TextBox 5"/>
          <p:cNvSpPr txBox="1"/>
          <p:nvPr/>
        </p:nvSpPr>
        <p:spPr>
          <a:xfrm>
            <a:off x="10946130" y="2857500"/>
            <a:ext cx="629412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WHAT IT LOOKS LIKE</a:t>
            </a:r>
          </a:p>
        </p:txBody>
      </p:sp>
      <p:sp>
        <p:nvSpPr>
          <p:cNvPr id="7" name="Rectangle 6"/>
          <p:cNvSpPr/>
          <p:nvPr/>
        </p:nvSpPr>
        <p:spPr>
          <a:xfrm>
            <a:off x="1047750" y="322897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76350" y="3429000"/>
            <a:ext cx="3547872"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1 · You never leave the beachhead</a:t>
            </a:r>
          </a:p>
        </p:txBody>
      </p:sp>
      <p:sp>
        <p:nvSpPr>
          <p:cNvPr id="9" name="TextBox 8"/>
          <p:cNvSpPr txBox="1"/>
          <p:nvPr/>
        </p:nvSpPr>
        <p:spPr>
          <a:xfrm>
            <a:off x="5052822" y="3429000"/>
            <a:ext cx="5664708"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first segment is comfortable, profitable and known, so the company keeps optimising it long after the growth has gone. A beachhead is a starting position, not a destination.</a:t>
            </a:r>
          </a:p>
        </p:txBody>
      </p:sp>
      <p:sp>
        <p:nvSpPr>
          <p:cNvPr id="10" name="TextBox 9"/>
          <p:cNvSpPr txBox="1"/>
          <p:nvPr/>
        </p:nvSpPr>
        <p:spPr>
          <a:xfrm>
            <a:off x="10946130" y="3429000"/>
            <a:ext cx="6294120"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much-loved single-category brand that owns its niche, grows at single digits, and is eventually bought cheaply by somebody who wanted its customers rather than its business.</a:t>
            </a:r>
          </a:p>
        </p:txBody>
      </p:sp>
      <p:sp>
        <p:nvSpPr>
          <p:cNvPr id="11" name="Rectangle 10"/>
          <p:cNvSpPr/>
          <p:nvPr/>
        </p:nvSpPr>
        <p:spPr>
          <a:xfrm>
            <a:off x="1047750" y="492823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47750" y="4918710"/>
            <a:ext cx="16192500" cy="137922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76350" y="5128260"/>
            <a:ext cx="3547872" cy="96012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2 · You leave too early</a:t>
            </a:r>
          </a:p>
        </p:txBody>
      </p:sp>
      <p:sp>
        <p:nvSpPr>
          <p:cNvPr id="14" name="TextBox 13"/>
          <p:cNvSpPr txBox="1"/>
          <p:nvPr/>
        </p:nvSpPr>
        <p:spPr>
          <a:xfrm>
            <a:off x="5052822" y="5128260"/>
            <a:ext cx="5664708"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Expanding before you are the obvious first choice means you serve two segments adequately and neither well.</a:t>
            </a:r>
          </a:p>
        </p:txBody>
      </p:sp>
      <p:sp>
        <p:nvSpPr>
          <p:cNvPr id="15" name="TextBox 14"/>
          <p:cNvSpPr txBox="1"/>
          <p:nvPr/>
        </p:nvSpPr>
        <p:spPr>
          <a:xfrm>
            <a:off x="10946130" y="5128260"/>
            <a:ext cx="6294120" cy="96012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company that launched three product lines in eighteen months and cannot tell you which customer would miss it most if it disappeared tomorrow.</a:t>
            </a:r>
          </a:p>
        </p:txBody>
      </p:sp>
      <p:sp>
        <p:nvSpPr>
          <p:cNvPr id="16" name="Rectangle 15"/>
          <p:cNvSpPr/>
          <p:nvPr/>
        </p:nvSpPr>
        <p:spPr>
          <a:xfrm>
            <a:off x="1047750" y="630745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76350" y="6507480"/>
            <a:ext cx="3547872" cy="1280160"/>
          </a:xfrm>
          <a:prstGeom prst="rect">
            <a:avLst/>
          </a:prstGeom>
          <a:noFill/>
        </p:spPr>
        <p:txBody>
          <a:bodyPr wrap="square" lIns="0" tIns="0" rIns="0" bIns="0" anchor="t">
            <a:spAutoFit/>
          </a:bodyPr>
          <a:lstStyle/>
          <a:p>
            <a:pPr algn="l"/>
            <a:r>
              <a:rPr sz="2100" b="1" i="0" kern="0">
                <a:solidFill>
                  <a:srgbClr val="201914"/>
                </a:solidFill>
                <a:latin typeface="Arial"/>
                <a:ea typeface="Arial"/>
                <a:cs typeface="Arial"/>
              </a:rPr>
              <a:t>3 · You expand into different economics wearing the same name</a:t>
            </a:r>
          </a:p>
        </p:txBody>
      </p:sp>
      <p:sp>
        <p:nvSpPr>
          <p:cNvPr id="18" name="TextBox 17"/>
          <p:cNvSpPr txBox="1"/>
          <p:nvPr/>
        </p:nvSpPr>
        <p:spPr>
          <a:xfrm>
            <a:off x="5052822" y="6507480"/>
            <a:ext cx="5664708"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The customer looks the same, the brand seems to travel, and the operation underneath is a different business. A brand cannot fix a return rate.</a:t>
            </a:r>
          </a:p>
        </p:txBody>
      </p:sp>
      <p:sp>
        <p:nvSpPr>
          <p:cNvPr id="19" name="TextBox 18"/>
          <p:cNvSpPr txBox="1"/>
          <p:nvPr/>
        </p:nvSpPr>
        <p:spPr>
          <a:xfrm>
            <a:off x="10946130" y="6507480"/>
            <a:ext cx="6294120" cy="1280160"/>
          </a:xfrm>
          <a:prstGeom prst="rect">
            <a:avLst/>
          </a:prstGeom>
          <a:noFill/>
        </p:spPr>
        <p:txBody>
          <a:bodyPr wrap="square" lIns="0" tIns="0" rIns="0" bIns="0" anchor="t">
            <a:spAutoFit/>
          </a:bodyPr>
          <a:lstStyle/>
          <a:p>
            <a:pPr algn="l"/>
            <a:r>
              <a:rPr sz="2100" b="0" i="0" kern="0">
                <a:solidFill>
                  <a:srgbClr val="564B42"/>
                </a:solidFill>
                <a:latin typeface="Arial"/>
                <a:ea typeface="Arial"/>
                <a:cs typeface="Arial"/>
              </a:rPr>
              <a:t>Nykaa Fashion: same woman, same app, twenty-to-forty per cent returns against low single digits, and a decade-old incumbent already fluent in the problem.</a:t>
            </a:r>
          </a:p>
        </p:txBody>
      </p:sp>
      <p:sp>
        <p:nvSpPr>
          <p:cNvPr id="20" name="Rectangle 19"/>
          <p:cNvSpPr/>
          <p:nvPr/>
        </p:nvSpPr>
        <p:spPr>
          <a:xfrm>
            <a:off x="1047750" y="8382000"/>
            <a:ext cx="16192500" cy="135636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8648700"/>
            <a:ext cx="15430500" cy="822960"/>
          </a:xfrm>
          <a:prstGeom prst="rect">
            <a:avLst/>
          </a:prstGeom>
          <a:noFill/>
        </p:spPr>
        <p:txBody>
          <a:bodyPr wrap="square" lIns="0" tIns="0" rIns="0" bIns="0" anchor="t">
            <a:spAutoFit/>
          </a:bodyPr>
          <a:lstStyle/>
          <a:p>
            <a:pPr algn="l"/>
            <a:r>
              <a:rPr sz="2700" b="0" i="0" kern="0">
                <a:solidFill>
                  <a:srgbClr val="F5F1E9"/>
                </a:solidFill>
                <a:latin typeface="Arial"/>
                <a:ea typeface="Arial"/>
                <a:cs typeface="Arial"/>
              </a:rPr>
              <a:t>Number one is the one nobody warns you about, because it does not look like a mistake — it looks like discipline, and it feels like focus.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ACTIVITY · GROUPS OF THREE OR FOUR</a:t>
            </a:r>
          </a:p>
        </p:txBody>
      </p:sp>
      <p:sp>
        <p:nvSpPr>
          <p:cNvPr id="3" name="TextBox 2"/>
          <p:cNvSpPr txBox="1"/>
          <p:nvPr/>
        </p:nvSpPr>
        <p:spPr>
          <a:xfrm>
            <a:off x="1047750" y="1504950"/>
            <a:ext cx="16192500" cy="822960"/>
          </a:xfrm>
          <a:prstGeom prst="rect">
            <a:avLst/>
          </a:prstGeom>
          <a:noFill/>
        </p:spPr>
        <p:txBody>
          <a:bodyPr wrap="square" lIns="0" tIns="0" rIns="0" bIns="0" anchor="t">
            <a:spAutoFit/>
          </a:bodyPr>
          <a:lstStyle/>
          <a:p>
            <a:pPr algn="l"/>
            <a:r>
              <a:rPr sz="5400" b="1" i="0" kern="0" spc="-142">
                <a:solidFill>
                  <a:srgbClr val="201914"/>
                </a:solidFill>
                <a:latin typeface="Arial"/>
                <a:ea typeface="Arial"/>
                <a:cs typeface="Arial"/>
              </a:rPr>
              <a:t>Sequence a market you know, and refuse most of it</a:t>
            </a:r>
          </a:p>
        </p:txBody>
      </p:sp>
      <p:sp>
        <p:nvSpPr>
          <p:cNvPr id="4" name="TextBox 3"/>
          <p:cNvSpPr txBox="1"/>
          <p:nvPr/>
        </p:nvSpPr>
        <p:spPr>
          <a:xfrm>
            <a:off x="1047750" y="2857500"/>
            <a:ext cx="16192500" cy="13716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You are launching a monthly skincare and beauty subscription box for Indian women aged 18 to 25. Your job is not to design the box — it is to decide who goes first, and in what order the rest come.</a:t>
            </a:r>
          </a:p>
        </p:txBody>
      </p:sp>
      <p:sp>
        <p:nvSpPr>
          <p:cNvPr id="5" name="TextBox 4"/>
          <p:cNvSpPr txBox="1"/>
          <p:nvPr/>
        </p:nvSpPr>
        <p:spPr>
          <a:xfrm>
            <a:off x="1047750" y="4648200"/>
            <a:ext cx="381000" cy="381000"/>
          </a:xfrm>
          <a:prstGeom prst="rect">
            <a:avLst/>
          </a:prstGeom>
          <a:noFill/>
        </p:spPr>
        <p:txBody>
          <a:bodyPr wrap="square" lIns="0" tIns="0" rIns="0" bIns="0" anchor="t">
            <a:spAutoFit/>
          </a:bodyPr>
          <a:lstStyle/>
          <a:p>
            <a:pPr algn="l"/>
            <a:r>
              <a:rPr sz="2200" b="1" i="0" kern="0">
                <a:solidFill>
                  <a:srgbClr val="C35141"/>
                </a:solidFill>
                <a:latin typeface="Arial"/>
                <a:ea typeface="Arial"/>
                <a:cs typeface="Arial"/>
              </a:rPr>
              <a:t>1</a:t>
            </a:r>
          </a:p>
        </p:txBody>
      </p:sp>
      <p:sp>
        <p:nvSpPr>
          <p:cNvPr id="6" name="TextBox 5"/>
          <p:cNvSpPr txBox="1"/>
          <p:nvPr/>
        </p:nvSpPr>
        <p:spPr>
          <a:xfrm>
            <a:off x="1485900" y="4648200"/>
            <a:ext cx="7277100" cy="937260"/>
          </a:xfrm>
          <a:prstGeom prst="rect">
            <a:avLst/>
          </a:prstGeom>
          <a:noFill/>
        </p:spPr>
        <p:txBody>
          <a:bodyPr wrap="square" lIns="0" tIns="0" rIns="0" bIns="0" anchor="t">
            <a:spAutoFit/>
          </a:bodyPr>
          <a:lstStyle/>
          <a:p>
            <a:pPr algn="l"/>
            <a:r>
              <a:rPr sz="2050" b="0" i="0" kern="0">
                <a:solidFill>
                  <a:srgbClr val="201914"/>
                </a:solidFill>
                <a:latin typeface="Arial"/>
                <a:ea typeface="Arial"/>
                <a:cs typeface="Arial"/>
              </a:rPr>
              <a:t>Break the market into four to six segments. Every segment must contain a behaviour or a need, not just an age and a city. Give each one a name you could say out loud in a meeting.</a:t>
            </a:r>
          </a:p>
        </p:txBody>
      </p:sp>
      <p:sp>
        <p:nvSpPr>
          <p:cNvPr id="7" name="TextBox 6"/>
          <p:cNvSpPr txBox="1"/>
          <p:nvPr/>
        </p:nvSpPr>
        <p:spPr>
          <a:xfrm>
            <a:off x="1047750" y="5709285"/>
            <a:ext cx="381000" cy="381000"/>
          </a:xfrm>
          <a:prstGeom prst="rect">
            <a:avLst/>
          </a:prstGeom>
          <a:noFill/>
        </p:spPr>
        <p:txBody>
          <a:bodyPr wrap="square" lIns="0" tIns="0" rIns="0" bIns="0" anchor="t">
            <a:spAutoFit/>
          </a:bodyPr>
          <a:lstStyle/>
          <a:p>
            <a:pPr algn="l"/>
            <a:r>
              <a:rPr sz="2200" b="1" i="0" kern="0">
                <a:solidFill>
                  <a:srgbClr val="C35141"/>
                </a:solidFill>
                <a:latin typeface="Arial"/>
                <a:ea typeface="Arial"/>
                <a:cs typeface="Arial"/>
              </a:rPr>
              <a:t>2</a:t>
            </a:r>
          </a:p>
        </p:txBody>
      </p:sp>
      <p:sp>
        <p:nvSpPr>
          <p:cNvPr id="8" name="TextBox 7"/>
          <p:cNvSpPr txBox="1"/>
          <p:nvPr/>
        </p:nvSpPr>
        <p:spPr>
          <a:xfrm>
            <a:off x="1485900" y="5709285"/>
            <a:ext cx="7277100" cy="1249680"/>
          </a:xfrm>
          <a:prstGeom prst="rect">
            <a:avLst/>
          </a:prstGeom>
          <a:noFill/>
        </p:spPr>
        <p:txBody>
          <a:bodyPr wrap="square" lIns="0" tIns="0" rIns="0" bIns="0" anchor="t">
            <a:spAutoFit/>
          </a:bodyPr>
          <a:lstStyle/>
          <a:p>
            <a:pPr algn="l"/>
            <a:r>
              <a:rPr sz="2050" b="0" i="0" kern="0">
                <a:solidFill>
                  <a:srgbClr val="201914"/>
                </a:solidFill>
                <a:latin typeface="Arial"/>
                <a:ea typeface="Arial"/>
                <a:cs typeface="Arial"/>
              </a:rPr>
              <a:t>For each, write one line on what she actually wants from a monthly box — discovery, a routine she does not have to think about, an affordable way to try premium brands, or something you can name.</a:t>
            </a:r>
          </a:p>
        </p:txBody>
      </p:sp>
      <p:sp>
        <p:nvSpPr>
          <p:cNvPr id="9" name="TextBox 8"/>
          <p:cNvSpPr txBox="1"/>
          <p:nvPr/>
        </p:nvSpPr>
        <p:spPr>
          <a:xfrm>
            <a:off x="1047750" y="7082790"/>
            <a:ext cx="381000" cy="381000"/>
          </a:xfrm>
          <a:prstGeom prst="rect">
            <a:avLst/>
          </a:prstGeom>
          <a:noFill/>
        </p:spPr>
        <p:txBody>
          <a:bodyPr wrap="square" lIns="0" tIns="0" rIns="0" bIns="0" anchor="t">
            <a:spAutoFit/>
          </a:bodyPr>
          <a:lstStyle/>
          <a:p>
            <a:pPr algn="l"/>
            <a:r>
              <a:rPr sz="2200" b="1" i="0" kern="0">
                <a:solidFill>
                  <a:srgbClr val="C35141"/>
                </a:solidFill>
                <a:latin typeface="Arial"/>
                <a:ea typeface="Arial"/>
                <a:cs typeface="Arial"/>
              </a:rPr>
              <a:t>3</a:t>
            </a:r>
          </a:p>
        </p:txBody>
      </p:sp>
      <p:sp>
        <p:nvSpPr>
          <p:cNvPr id="10" name="TextBox 9"/>
          <p:cNvSpPr txBox="1"/>
          <p:nvPr/>
        </p:nvSpPr>
        <p:spPr>
          <a:xfrm>
            <a:off x="1485900" y="7082790"/>
            <a:ext cx="7277100" cy="937260"/>
          </a:xfrm>
          <a:prstGeom prst="rect">
            <a:avLst/>
          </a:prstGeom>
          <a:noFill/>
        </p:spPr>
        <p:txBody>
          <a:bodyPr wrap="square" lIns="0" tIns="0" rIns="0" bIns="0" anchor="t">
            <a:spAutoFit/>
          </a:bodyPr>
          <a:lstStyle/>
          <a:p>
            <a:pPr algn="l"/>
            <a:r>
              <a:rPr sz="2050" b="0" i="0" kern="0">
                <a:solidFill>
                  <a:srgbClr val="201914"/>
                </a:solidFill>
                <a:latin typeface="Arial"/>
                <a:ea typeface="Arial"/>
                <a:cs typeface="Arial"/>
              </a:rPr>
              <a:t>Pick your beachhead and score it out of three. A two out of three is acceptable if you say which test it fails and why you are proceeding anyway.</a:t>
            </a:r>
          </a:p>
        </p:txBody>
      </p:sp>
      <p:sp>
        <p:nvSpPr>
          <p:cNvPr id="11" name="TextBox 10"/>
          <p:cNvSpPr txBox="1"/>
          <p:nvPr/>
        </p:nvSpPr>
        <p:spPr>
          <a:xfrm>
            <a:off x="9429750" y="4648200"/>
            <a:ext cx="381000" cy="381000"/>
          </a:xfrm>
          <a:prstGeom prst="rect">
            <a:avLst/>
          </a:prstGeom>
          <a:noFill/>
        </p:spPr>
        <p:txBody>
          <a:bodyPr wrap="square" lIns="0" tIns="0" rIns="0" bIns="0" anchor="t">
            <a:spAutoFit/>
          </a:bodyPr>
          <a:lstStyle/>
          <a:p>
            <a:pPr algn="l"/>
            <a:r>
              <a:rPr sz="2200" b="1" i="0" kern="0">
                <a:solidFill>
                  <a:srgbClr val="C35141"/>
                </a:solidFill>
                <a:latin typeface="Arial"/>
                <a:ea typeface="Arial"/>
                <a:cs typeface="Arial"/>
              </a:rPr>
              <a:t>4</a:t>
            </a:r>
          </a:p>
        </p:txBody>
      </p:sp>
      <p:sp>
        <p:nvSpPr>
          <p:cNvPr id="12" name="TextBox 11"/>
          <p:cNvSpPr txBox="1"/>
          <p:nvPr/>
        </p:nvSpPr>
        <p:spPr>
          <a:xfrm>
            <a:off x="9867900" y="4648200"/>
            <a:ext cx="7277100" cy="624840"/>
          </a:xfrm>
          <a:prstGeom prst="rect">
            <a:avLst/>
          </a:prstGeom>
          <a:noFill/>
        </p:spPr>
        <p:txBody>
          <a:bodyPr wrap="square" lIns="0" tIns="0" rIns="0" bIns="0" anchor="t">
            <a:spAutoFit/>
          </a:bodyPr>
          <a:lstStyle/>
          <a:p>
            <a:pPr algn="l"/>
            <a:r>
              <a:rPr sz="2050" b="0" i="0" kern="0">
                <a:solidFill>
                  <a:srgbClr val="201914"/>
                </a:solidFill>
                <a:latin typeface="Arial"/>
                <a:ea typeface="Arial"/>
                <a:cs typeface="Arial"/>
              </a:rPr>
              <a:t>Write down, by name, the segments you are DELIBERATELY refusing — and one line on what refusing each one buys you.</a:t>
            </a:r>
          </a:p>
        </p:txBody>
      </p:sp>
      <p:sp>
        <p:nvSpPr>
          <p:cNvPr id="13" name="TextBox 12"/>
          <p:cNvSpPr txBox="1"/>
          <p:nvPr/>
        </p:nvSpPr>
        <p:spPr>
          <a:xfrm>
            <a:off x="9429750" y="5396865"/>
            <a:ext cx="381000" cy="381000"/>
          </a:xfrm>
          <a:prstGeom prst="rect">
            <a:avLst/>
          </a:prstGeom>
          <a:noFill/>
        </p:spPr>
        <p:txBody>
          <a:bodyPr wrap="square" lIns="0" tIns="0" rIns="0" bIns="0" anchor="t">
            <a:spAutoFit/>
          </a:bodyPr>
          <a:lstStyle/>
          <a:p>
            <a:pPr algn="l"/>
            <a:r>
              <a:rPr sz="2200" b="1" i="0" kern="0">
                <a:solidFill>
                  <a:srgbClr val="C35141"/>
                </a:solidFill>
                <a:latin typeface="Arial"/>
                <a:ea typeface="Arial"/>
                <a:cs typeface="Arial"/>
              </a:rPr>
              <a:t>5</a:t>
            </a:r>
          </a:p>
        </p:txBody>
      </p:sp>
      <p:sp>
        <p:nvSpPr>
          <p:cNvPr id="14" name="TextBox 13"/>
          <p:cNvSpPr txBox="1"/>
          <p:nvPr/>
        </p:nvSpPr>
        <p:spPr>
          <a:xfrm>
            <a:off x="9867900" y="5396865"/>
            <a:ext cx="7277100" cy="937260"/>
          </a:xfrm>
          <a:prstGeom prst="rect">
            <a:avLst/>
          </a:prstGeom>
          <a:noFill/>
        </p:spPr>
        <p:txBody>
          <a:bodyPr wrap="square" lIns="0" tIns="0" rIns="0" bIns="0" anchor="t">
            <a:spAutoFit/>
          </a:bodyPr>
          <a:lstStyle/>
          <a:p>
            <a:pPr algn="l"/>
            <a:r>
              <a:rPr sz="2050" b="0" i="0" kern="0">
                <a:solidFill>
                  <a:srgbClr val="201914"/>
                </a:solidFill>
                <a:latin typeface="Arial"/>
                <a:ea typeface="Arial"/>
                <a:cs typeface="Arial"/>
              </a:rPr>
              <a:t>Sequence the market: first, second, third. For each step, one line on what winning the previous step earns you that makes this step cheaper.</a:t>
            </a:r>
          </a:p>
        </p:txBody>
      </p:sp>
      <p:sp>
        <p:nvSpPr>
          <p:cNvPr id="15" name="TextBox 14"/>
          <p:cNvSpPr txBox="1"/>
          <p:nvPr/>
        </p:nvSpPr>
        <p:spPr>
          <a:xfrm>
            <a:off x="9429750" y="6457950"/>
            <a:ext cx="381000" cy="381000"/>
          </a:xfrm>
          <a:prstGeom prst="rect">
            <a:avLst/>
          </a:prstGeom>
          <a:noFill/>
        </p:spPr>
        <p:txBody>
          <a:bodyPr wrap="square" lIns="0" tIns="0" rIns="0" bIns="0" anchor="t">
            <a:spAutoFit/>
          </a:bodyPr>
          <a:lstStyle/>
          <a:p>
            <a:pPr algn="l"/>
            <a:r>
              <a:rPr sz="2200" b="1" i="0" kern="0">
                <a:solidFill>
                  <a:srgbClr val="C35141"/>
                </a:solidFill>
                <a:latin typeface="Arial"/>
                <a:ea typeface="Arial"/>
                <a:cs typeface="Arial"/>
              </a:rPr>
              <a:t>6</a:t>
            </a:r>
          </a:p>
        </p:txBody>
      </p:sp>
      <p:sp>
        <p:nvSpPr>
          <p:cNvPr id="16" name="TextBox 15"/>
          <p:cNvSpPr txBox="1"/>
          <p:nvPr/>
        </p:nvSpPr>
        <p:spPr>
          <a:xfrm>
            <a:off x="9867900" y="6457950"/>
            <a:ext cx="7277100" cy="937260"/>
          </a:xfrm>
          <a:prstGeom prst="rect">
            <a:avLst/>
          </a:prstGeom>
          <a:noFill/>
        </p:spPr>
        <p:txBody>
          <a:bodyPr wrap="square" lIns="0" tIns="0" rIns="0" bIns="0" anchor="t">
            <a:spAutoFit/>
          </a:bodyPr>
          <a:lstStyle/>
          <a:p>
            <a:pPr algn="l"/>
            <a:r>
              <a:rPr sz="2050" b="0" i="0" kern="0">
                <a:solidFill>
                  <a:srgbClr val="201914"/>
                </a:solidFill>
                <a:latin typeface="Arial"/>
                <a:ea typeface="Arial"/>
                <a:cs typeface="Arial"/>
              </a:rPr>
              <a:t>Check your second segment against the four adjacency questions. If any answer is no, write it down — a no is a finding, not a failure.</a:t>
            </a:r>
          </a:p>
        </p:txBody>
      </p:sp>
      <p:sp>
        <p:nvSpPr>
          <p:cNvPr id="17" name="TextBox 16"/>
          <p:cNvSpPr txBox="1"/>
          <p:nvPr/>
        </p:nvSpPr>
        <p:spPr>
          <a:xfrm>
            <a:off x="1047750" y="8343900"/>
            <a:ext cx="16192500" cy="304800"/>
          </a:xfrm>
          <a:prstGeom prst="rect">
            <a:avLst/>
          </a:prstGeom>
          <a:noFill/>
        </p:spPr>
        <p:txBody>
          <a:bodyPr wrap="square" lIns="0" tIns="0" rIns="0" bIns="0" anchor="t">
            <a:spAutoFit/>
          </a:bodyPr>
          <a:lstStyle/>
          <a:p>
            <a:pPr algn="l"/>
            <a:r>
              <a:rPr sz="1950" b="1" i="0" kern="0" spc="273">
                <a:solidFill>
                  <a:srgbClr val="6C6158"/>
                </a:solidFill>
                <a:latin typeface="Arial"/>
                <a:ea typeface="Arial"/>
                <a:cs typeface="Arial"/>
              </a:rPr>
              <a:t>YOUR TEMPLATE</a:t>
            </a:r>
          </a:p>
        </p:txBody>
      </p:sp>
      <p:sp>
        <p:nvSpPr>
          <p:cNvPr id="18" name="Rectangle 17"/>
          <p:cNvSpPr/>
          <p:nvPr/>
        </p:nvSpPr>
        <p:spPr>
          <a:xfrm>
            <a:off x="1047750" y="8743950"/>
            <a:ext cx="16192500" cy="190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477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SEGMENT NAME</a:t>
            </a:r>
          </a:p>
        </p:txBody>
      </p:sp>
      <p:sp>
        <p:nvSpPr>
          <p:cNvPr id="20" name="TextBox 19"/>
          <p:cNvSpPr txBox="1"/>
          <p:nvPr/>
        </p:nvSpPr>
        <p:spPr>
          <a:xfrm>
            <a:off x="42862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WHAT SHE WANTS FROM A BOX</a:t>
            </a:r>
          </a:p>
        </p:txBody>
      </p:sp>
      <p:sp>
        <p:nvSpPr>
          <p:cNvPr id="21" name="TextBox 20"/>
          <p:cNvSpPr txBox="1"/>
          <p:nvPr/>
        </p:nvSpPr>
        <p:spPr>
          <a:xfrm>
            <a:off x="75247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SCORE /3 — SMALL, LARGE, CONNECTED</a:t>
            </a:r>
          </a:p>
        </p:txBody>
      </p:sp>
      <p:sp>
        <p:nvSpPr>
          <p:cNvPr id="22" name="TextBox 21"/>
          <p:cNvSpPr txBox="1"/>
          <p:nvPr/>
        </p:nvSpPr>
        <p:spPr>
          <a:xfrm>
            <a:off x="107632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REFUSED?</a:t>
            </a:r>
          </a:p>
        </p:txBody>
      </p:sp>
      <p:sp>
        <p:nvSpPr>
          <p:cNvPr id="23" name="TextBox 22"/>
          <p:cNvSpPr txBox="1"/>
          <p:nvPr/>
        </p:nvSpPr>
        <p:spPr>
          <a:xfrm>
            <a:off x="14001750" y="8915400"/>
            <a:ext cx="3048000" cy="571500"/>
          </a:xfrm>
          <a:prstGeom prst="rect">
            <a:avLst/>
          </a:prstGeom>
          <a:noFill/>
        </p:spPr>
        <p:txBody>
          <a:bodyPr wrap="square" lIns="0" tIns="0" rIns="0" bIns="0" anchor="t">
            <a:spAutoFit/>
          </a:bodyPr>
          <a:lstStyle/>
          <a:p>
            <a:pPr algn="l"/>
            <a:r>
              <a:rPr sz="1800" b="1" i="0" kern="0" spc="160">
                <a:solidFill>
                  <a:srgbClr val="6C6158"/>
                </a:solidFill>
                <a:latin typeface="Arial"/>
                <a:ea typeface="Arial"/>
                <a:cs typeface="Arial"/>
              </a:rPr>
              <a:t>ORDER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THREE REAL INDIAN BEACHHEADS</a:t>
            </a:r>
          </a:p>
        </p:txBody>
      </p:sp>
      <p:sp>
        <p:nvSpPr>
          <p:cNvPr id="3" name="TextBox 2"/>
          <p:cNvSpPr txBox="1"/>
          <p:nvPr/>
        </p:nvSpPr>
        <p:spPr>
          <a:xfrm>
            <a:off x="1047750" y="1504950"/>
            <a:ext cx="16192500" cy="781050"/>
          </a:xfrm>
          <a:prstGeom prst="rect">
            <a:avLst/>
          </a:prstGeom>
          <a:noFill/>
        </p:spPr>
        <p:txBody>
          <a:bodyPr wrap="square" lIns="0" tIns="0" rIns="0" bIns="0" anchor="t">
            <a:spAutoFit/>
          </a:bodyPr>
          <a:lstStyle/>
          <a:p>
            <a:pPr algn="l"/>
            <a:r>
              <a:rPr sz="5100" b="1" i="0" kern="0" spc="-142">
                <a:solidFill>
                  <a:srgbClr val="201914"/>
                </a:solidFill>
                <a:latin typeface="Arial"/>
                <a:ea typeface="Arial"/>
                <a:cs typeface="Arial"/>
              </a:rPr>
              <a:t>Every one of them began by refusing most of its market</a:t>
            </a:r>
          </a:p>
        </p:txBody>
      </p:sp>
      <p:sp>
        <p:nvSpPr>
          <p:cNvPr id="4" name="Rectangle 3"/>
          <p:cNvSpPr/>
          <p:nvPr/>
        </p:nvSpPr>
        <p:spPr>
          <a:xfrm>
            <a:off x="1047750" y="2628900"/>
            <a:ext cx="5143500" cy="683514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52550" y="2933700"/>
            <a:ext cx="4533900" cy="35814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Lenskart</a:t>
            </a:r>
          </a:p>
        </p:txBody>
      </p:sp>
      <p:sp>
        <p:nvSpPr>
          <p:cNvPr id="6" name="TextBox 5"/>
          <p:cNvSpPr txBox="1"/>
          <p:nvPr/>
        </p:nvSpPr>
        <p:spPr>
          <a:xfrm>
            <a:off x="1352550" y="353949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BEACHHEAD</a:t>
            </a:r>
          </a:p>
        </p:txBody>
      </p:sp>
      <p:sp>
        <p:nvSpPr>
          <p:cNvPr id="7" name="TextBox 6"/>
          <p:cNvSpPr txBox="1"/>
          <p:nvPr/>
        </p:nvSpPr>
        <p:spPr>
          <a:xfrm>
            <a:off x="1352550" y="387096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Metro buyers in their twenties who wanted fashionable frames without an optician's shop, a haggle and a two-day wait.</a:t>
            </a:r>
          </a:p>
        </p:txBody>
      </p:sp>
      <p:sp>
        <p:nvSpPr>
          <p:cNvPr id="8" name="TextBox 7"/>
          <p:cNvSpPr txBox="1"/>
          <p:nvPr/>
        </p:nvSpPr>
        <p:spPr>
          <a:xfrm>
            <a:off x="1352550" y="488442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DELIBERATELY REFUSED</a:t>
            </a:r>
          </a:p>
        </p:txBody>
      </p:sp>
      <p:sp>
        <p:nvSpPr>
          <p:cNvPr id="9" name="TextBox 8"/>
          <p:cNvSpPr txBox="1"/>
          <p:nvPr/>
        </p:nvSpPr>
        <p:spPr>
          <a:xfrm>
            <a:off x="1352550" y="521589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Complex-prescription buyers who needed an optometrist's chair, and small-town buyers.</a:t>
            </a:r>
          </a:p>
        </p:txBody>
      </p:sp>
      <p:sp>
        <p:nvSpPr>
          <p:cNvPr id="10" name="TextBox 9"/>
          <p:cNvSpPr txBox="1"/>
          <p:nvPr/>
        </p:nvSpPr>
        <p:spPr>
          <a:xfrm>
            <a:off x="1352550" y="622935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SEQUENCE, AND ITS COST</a:t>
            </a:r>
          </a:p>
        </p:txBody>
      </p:sp>
      <p:sp>
        <p:nvSpPr>
          <p:cNvPr id="11" name="TextBox 10"/>
          <p:cNvSpPr txBox="1"/>
          <p:nvPr/>
        </p:nvSpPr>
        <p:spPr>
          <a:xfrm>
            <a:off x="1352550" y="6560820"/>
            <a:ext cx="4533900" cy="109728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Online frames, then home eye tests, then its own stores, then smaller cities. It had to become a physical retailer — the thing it positioned itself against.</a:t>
            </a:r>
          </a:p>
        </p:txBody>
      </p:sp>
      <p:sp>
        <p:nvSpPr>
          <p:cNvPr id="12" name="Rectangle 11"/>
          <p:cNvSpPr/>
          <p:nvPr/>
        </p:nvSpPr>
        <p:spPr>
          <a:xfrm>
            <a:off x="1047750" y="8077200"/>
            <a:ext cx="5143500" cy="138684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2550" y="8362950"/>
            <a:ext cx="4533900" cy="77724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An online win earned the right to open shops</a:t>
            </a:r>
          </a:p>
        </p:txBody>
      </p:sp>
      <p:sp>
        <p:nvSpPr>
          <p:cNvPr id="14" name="Rectangle 13"/>
          <p:cNvSpPr/>
          <p:nvPr/>
        </p:nvSpPr>
        <p:spPr>
          <a:xfrm>
            <a:off x="6572250" y="2628900"/>
            <a:ext cx="5143500" cy="683514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77050" y="2933700"/>
            <a:ext cx="4533900" cy="35814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boAt</a:t>
            </a:r>
          </a:p>
        </p:txBody>
      </p:sp>
      <p:sp>
        <p:nvSpPr>
          <p:cNvPr id="16" name="TextBox 15"/>
          <p:cNvSpPr txBox="1"/>
          <p:nvPr/>
        </p:nvSpPr>
        <p:spPr>
          <a:xfrm>
            <a:off x="6877050" y="353949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BEACHHEAD</a:t>
            </a:r>
          </a:p>
        </p:txBody>
      </p:sp>
      <p:sp>
        <p:nvSpPr>
          <p:cNvPr id="17" name="TextBox 16"/>
          <p:cNvSpPr txBox="1"/>
          <p:nvPr/>
        </p:nvSpPr>
        <p:spPr>
          <a:xfrm>
            <a:off x="6877050" y="387096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Young Indians who wanted audio that looked premium at around ₹1,500, when the choice was a ₹200 wired pair or a ₹15,000 one.</a:t>
            </a:r>
          </a:p>
        </p:txBody>
      </p:sp>
      <p:sp>
        <p:nvSpPr>
          <p:cNvPr id="18" name="TextBox 17"/>
          <p:cNvSpPr txBox="1"/>
          <p:nvPr/>
        </p:nvSpPr>
        <p:spPr>
          <a:xfrm>
            <a:off x="6877050" y="488442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DELIBERATELY REFUSED</a:t>
            </a:r>
          </a:p>
        </p:txBody>
      </p:sp>
      <p:sp>
        <p:nvSpPr>
          <p:cNvPr id="19" name="TextBox 18"/>
          <p:cNvSpPr txBox="1"/>
          <p:nvPr/>
        </p:nvSpPr>
        <p:spPr>
          <a:xfrm>
            <a:off x="6877050" y="521589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Audiophiles, who would have demanded sound the price could not fund, and the bottom of the market.</a:t>
            </a:r>
          </a:p>
        </p:txBody>
      </p:sp>
      <p:sp>
        <p:nvSpPr>
          <p:cNvPr id="20" name="TextBox 19"/>
          <p:cNvSpPr txBox="1"/>
          <p:nvPr/>
        </p:nvSpPr>
        <p:spPr>
          <a:xfrm>
            <a:off x="6877050" y="622935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SEQUENCE, AND ITS COST</a:t>
            </a:r>
          </a:p>
        </p:txBody>
      </p:sp>
      <p:sp>
        <p:nvSpPr>
          <p:cNvPr id="21" name="TextBox 20"/>
          <p:cNvSpPr txBox="1"/>
          <p:nvPr/>
        </p:nvSpPr>
        <p:spPr>
          <a:xfrm>
            <a:off x="6877050" y="6560820"/>
            <a:ext cx="4533900" cy="109728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Wired, then wireless, then speakers, then watches — the same customer at a higher price each time, in a category with thin margins.</a:t>
            </a:r>
          </a:p>
        </p:txBody>
      </p:sp>
      <p:sp>
        <p:nvSpPr>
          <p:cNvPr id="22" name="Rectangle 21"/>
          <p:cNvSpPr/>
          <p:nvPr/>
        </p:nvSpPr>
        <p:spPr>
          <a:xfrm>
            <a:off x="6572250" y="8077200"/>
            <a:ext cx="5143500" cy="138684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77050" y="8362950"/>
            <a:ext cx="4533900" cy="777240"/>
          </a:xfrm>
          <a:prstGeom prst="rect">
            <a:avLst/>
          </a:prstGeom>
          <a:noFill/>
        </p:spPr>
        <p:txBody>
          <a:bodyPr wrap="square" lIns="0" tIns="0" rIns="0" bIns="0" anchor="t">
            <a:spAutoFit/>
          </a:bodyPr>
          <a:lstStyle/>
          <a:p>
            <a:pPr algn="l"/>
            <a:r>
              <a:rPr sz="2550" b="1" i="0" kern="0">
                <a:solidFill>
                  <a:srgbClr val="F5F1E9"/>
                </a:solidFill>
                <a:latin typeface="Arial"/>
                <a:ea typeface="Arial"/>
                <a:cs typeface="Arial"/>
              </a:rPr>
              <a:t>Same customer, higher price — the cheap expansion</a:t>
            </a:r>
          </a:p>
        </p:txBody>
      </p:sp>
      <p:sp>
        <p:nvSpPr>
          <p:cNvPr id="24" name="Rectangle 23"/>
          <p:cNvSpPr/>
          <p:nvPr/>
        </p:nvSpPr>
        <p:spPr>
          <a:xfrm>
            <a:off x="12096750" y="2628900"/>
            <a:ext cx="5143500" cy="683514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401550" y="2933700"/>
            <a:ext cx="4533900" cy="358140"/>
          </a:xfrm>
          <a:prstGeom prst="rect">
            <a:avLst/>
          </a:prstGeom>
          <a:noFill/>
        </p:spPr>
        <p:txBody>
          <a:bodyPr wrap="square" lIns="0" tIns="0" rIns="0" bIns="0" anchor="t">
            <a:spAutoFit/>
          </a:bodyPr>
          <a:lstStyle/>
          <a:p>
            <a:pPr algn="l"/>
            <a:r>
              <a:rPr sz="2350" b="1" i="0" kern="0">
                <a:solidFill>
                  <a:srgbClr val="201914"/>
                </a:solidFill>
                <a:latin typeface="Arial"/>
                <a:ea typeface="Arial"/>
                <a:cs typeface="Arial"/>
              </a:rPr>
              <a:t>Wakefit</a:t>
            </a:r>
          </a:p>
        </p:txBody>
      </p:sp>
      <p:sp>
        <p:nvSpPr>
          <p:cNvPr id="26" name="TextBox 25"/>
          <p:cNvSpPr txBox="1"/>
          <p:nvPr/>
        </p:nvSpPr>
        <p:spPr>
          <a:xfrm>
            <a:off x="12401550" y="353949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BEACHHEAD</a:t>
            </a:r>
          </a:p>
        </p:txBody>
      </p:sp>
      <p:sp>
        <p:nvSpPr>
          <p:cNvPr id="27" name="TextBox 26"/>
          <p:cNvSpPr txBox="1"/>
          <p:nvPr/>
        </p:nvSpPr>
        <p:spPr>
          <a:xfrm>
            <a:off x="12401550" y="387096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First-time online mattress buyers, offered one or two variants and a hundred-night trial instead of forty confusing showroom options.</a:t>
            </a:r>
          </a:p>
        </p:txBody>
      </p:sp>
      <p:sp>
        <p:nvSpPr>
          <p:cNvPr id="28" name="TextBox 27"/>
          <p:cNvSpPr txBox="1"/>
          <p:nvPr/>
        </p:nvSpPr>
        <p:spPr>
          <a:xfrm>
            <a:off x="12401550" y="488442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DELIBERATELY REFUSED</a:t>
            </a:r>
          </a:p>
        </p:txBody>
      </p:sp>
      <p:sp>
        <p:nvSpPr>
          <p:cNvPr id="29" name="TextBox 28"/>
          <p:cNvSpPr txBox="1"/>
          <p:nvPr/>
        </p:nvSpPr>
        <p:spPr>
          <a:xfrm>
            <a:off x="12401550" y="5215890"/>
            <a:ext cx="4533900" cy="54864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Showroom shoppers who want to lie on it first, and the luxury end.</a:t>
            </a:r>
          </a:p>
        </p:txBody>
      </p:sp>
      <p:sp>
        <p:nvSpPr>
          <p:cNvPr id="30" name="TextBox 29"/>
          <p:cNvSpPr txBox="1"/>
          <p:nvPr/>
        </p:nvSpPr>
        <p:spPr>
          <a:xfrm>
            <a:off x="12401550" y="5955030"/>
            <a:ext cx="4533900" cy="274320"/>
          </a:xfrm>
          <a:prstGeom prst="rect">
            <a:avLst/>
          </a:prstGeom>
          <a:noFill/>
        </p:spPr>
        <p:txBody>
          <a:bodyPr wrap="square" lIns="0" tIns="0" rIns="0" bIns="0" anchor="t">
            <a:spAutoFit/>
          </a:bodyPr>
          <a:lstStyle/>
          <a:p>
            <a:pPr algn="l"/>
            <a:r>
              <a:rPr sz="1800" b="1" i="0" kern="0" spc="200">
                <a:solidFill>
                  <a:srgbClr val="6C6158"/>
                </a:solidFill>
                <a:latin typeface="Arial"/>
                <a:ea typeface="Arial"/>
                <a:cs typeface="Arial"/>
              </a:rPr>
              <a:t>THE SEQUENCE, AND ITS COST</a:t>
            </a:r>
          </a:p>
        </p:txBody>
      </p:sp>
      <p:sp>
        <p:nvSpPr>
          <p:cNvPr id="31" name="TextBox 30"/>
          <p:cNvSpPr txBox="1"/>
          <p:nvPr/>
        </p:nvSpPr>
        <p:spPr>
          <a:xfrm>
            <a:off x="12401550" y="6286500"/>
            <a:ext cx="4533900" cy="822960"/>
          </a:xfrm>
          <a:prstGeom prst="rect">
            <a:avLst/>
          </a:prstGeom>
          <a:noFill/>
        </p:spPr>
        <p:txBody>
          <a:bodyPr wrap="square" lIns="0" tIns="0" rIns="0" bIns="0" anchor="t">
            <a:spAutoFit/>
          </a:bodyPr>
          <a:lstStyle/>
          <a:p>
            <a:pPr algn="l"/>
            <a:r>
              <a:rPr sz="1800" b="0" i="0" kern="0">
                <a:solidFill>
                  <a:srgbClr val="564B42"/>
                </a:solidFill>
                <a:latin typeface="Arial"/>
                <a:ea typeface="Arial"/>
                <a:cs typeface="Arial"/>
              </a:rPr>
              <a:t>Mattresses, then bedding, then furniture — the same trust, a wider basket. But a mattress is bought once in several years.</a:t>
            </a:r>
          </a:p>
        </p:txBody>
      </p:sp>
      <p:sp>
        <p:nvSpPr>
          <p:cNvPr id="32" name="Rectangle 31"/>
          <p:cNvSpPr/>
          <p:nvPr/>
        </p:nvSpPr>
        <p:spPr>
          <a:xfrm>
            <a:off x="12096750" y="8077200"/>
            <a:ext cx="5143500" cy="138684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401550" y="8362950"/>
            <a:ext cx="4533900" cy="777240"/>
          </a:xfrm>
          <a:prstGeom prst="rect">
            <a:avLst/>
          </a:prstGeom>
          <a:noFill/>
        </p:spPr>
        <p:txBody>
          <a:bodyPr wrap="square" lIns="0" tIns="0" rIns="0" bIns="0" anchor="t">
            <a:spAutoFit/>
          </a:bodyPr>
          <a:lstStyle/>
          <a:p>
            <a:pPr algn="l"/>
            <a:r>
              <a:rPr sz="2550" b="1" i="0" kern="0">
                <a:solidFill>
                  <a:srgbClr val="201914"/>
                </a:solidFill>
                <a:latin typeface="Arial"/>
                <a:ea typeface="Arial"/>
                <a:cs typeface="Arial"/>
              </a:rPr>
              <a:t>Removing choice removed the risk as well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9F5ED"/>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C35141"/>
                </a:solidFill>
                <a:latin typeface="Arial"/>
                <a:ea typeface="Arial"/>
                <a:cs typeface="Arial"/>
              </a:rPr>
              <a:t>READ AFTER CLASS · DO NOT MEMORISE</a:t>
            </a:r>
          </a:p>
        </p:txBody>
      </p:sp>
      <p:sp>
        <p:nvSpPr>
          <p:cNvPr id="3" name="TextBox 2"/>
          <p:cNvSpPr txBox="1"/>
          <p:nvPr/>
        </p:nvSpPr>
        <p:spPr>
          <a:xfrm>
            <a:off x="1047750" y="1504950"/>
            <a:ext cx="16192500" cy="868680"/>
          </a:xfrm>
          <a:prstGeom prst="rect">
            <a:avLst/>
          </a:prstGeom>
          <a:noFill/>
        </p:spPr>
        <p:txBody>
          <a:bodyPr wrap="square" lIns="0" tIns="0" rIns="0" bIns="0" anchor="t">
            <a:spAutoFit/>
          </a:bodyPr>
          <a:lstStyle/>
          <a:p>
            <a:pPr algn="l"/>
            <a:r>
              <a:rPr sz="5700" b="1" i="0" kern="0" spc="-142">
                <a:solidFill>
                  <a:srgbClr val="201914"/>
                </a:solidFill>
                <a:latin typeface="Arial"/>
                <a:ea typeface="Arial"/>
                <a:cs typeface="Arial"/>
              </a:rPr>
              <a:t>Six terms, in plain English</a:t>
            </a:r>
          </a:p>
        </p:txBody>
      </p:sp>
      <p:sp>
        <p:nvSpPr>
          <p:cNvPr id="4" name="TextBox 3"/>
          <p:cNvSpPr txBox="1"/>
          <p:nvPr/>
        </p:nvSpPr>
        <p:spPr>
          <a:xfrm>
            <a:off x="1047750" y="28575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Jobs-to-Be-Done</a:t>
            </a:r>
          </a:p>
        </p:txBody>
      </p:sp>
      <p:sp>
        <p:nvSpPr>
          <p:cNvPr id="5" name="Rectangle 4"/>
          <p:cNvSpPr/>
          <p:nvPr/>
        </p:nvSpPr>
        <p:spPr>
          <a:xfrm>
            <a:off x="1047750" y="34480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7750" y="3752850"/>
            <a:ext cx="511810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Customers do not buy products, they hire them to make progress in a specific situation — and they fire them when something does the job better.</a:t>
            </a:r>
          </a:p>
        </p:txBody>
      </p:sp>
      <p:sp>
        <p:nvSpPr>
          <p:cNvPr id="7" name="TextBox 6"/>
          <p:cNvSpPr txBox="1"/>
          <p:nvPr/>
        </p:nvSpPr>
        <p:spPr>
          <a:xfrm>
            <a:off x="6584950" y="28575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job statement</a:t>
            </a:r>
          </a:p>
        </p:txBody>
      </p:sp>
      <p:sp>
        <p:nvSpPr>
          <p:cNvPr id="8" name="Rectangle 7"/>
          <p:cNvSpPr/>
          <p:nvPr/>
        </p:nvSpPr>
        <p:spPr>
          <a:xfrm>
            <a:off x="6584950" y="34480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4950" y="3752850"/>
            <a:ext cx="511810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A job written in a fixed form — when [situation], I want to [motivation], so I can [outcome] — so that it can actually be designed against.</a:t>
            </a:r>
          </a:p>
        </p:txBody>
      </p:sp>
      <p:sp>
        <p:nvSpPr>
          <p:cNvPr id="10" name="TextBox 9"/>
          <p:cNvSpPr txBox="1"/>
          <p:nvPr/>
        </p:nvSpPr>
        <p:spPr>
          <a:xfrm>
            <a:off x="12122150" y="28575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real competitive set</a:t>
            </a:r>
          </a:p>
        </p:txBody>
      </p:sp>
      <p:sp>
        <p:nvSpPr>
          <p:cNvPr id="11" name="Rectangle 10"/>
          <p:cNvSpPr/>
          <p:nvPr/>
        </p:nvSpPr>
        <p:spPr>
          <a:xfrm>
            <a:off x="12122150" y="34480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22150" y="3752850"/>
            <a:ext cx="51181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Everything a customer could hire for the same job, including the clumsy free workaround and doing nothing at all.</a:t>
            </a:r>
          </a:p>
        </p:txBody>
      </p:sp>
      <p:sp>
        <p:nvSpPr>
          <p:cNvPr id="13" name="TextBox 12"/>
          <p:cNvSpPr txBox="1"/>
          <p:nvPr/>
        </p:nvSpPr>
        <p:spPr>
          <a:xfrm>
            <a:off x="1047750" y="57150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The Beachhead Test</a:t>
            </a:r>
          </a:p>
        </p:txBody>
      </p:sp>
      <p:sp>
        <p:nvSpPr>
          <p:cNvPr id="14" name="Rectangle 13"/>
          <p:cNvSpPr/>
          <p:nvPr/>
        </p:nvSpPr>
        <p:spPr>
          <a:xfrm>
            <a:off x="1047750" y="63055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7750" y="6610350"/>
            <a:ext cx="51181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Small enough to win, large enough to sustain, connected enough to expand from. All three, or it is a trap.</a:t>
            </a:r>
          </a:p>
        </p:txBody>
      </p:sp>
      <p:sp>
        <p:nvSpPr>
          <p:cNvPr id="16" name="TextBox 15"/>
          <p:cNvSpPr txBox="1"/>
          <p:nvPr/>
        </p:nvSpPr>
        <p:spPr>
          <a:xfrm>
            <a:off x="6584950" y="57150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Adjacency</a:t>
            </a:r>
          </a:p>
        </p:txBody>
      </p:sp>
      <p:sp>
        <p:nvSpPr>
          <p:cNvPr id="17" name="Rectangle 16"/>
          <p:cNvSpPr/>
          <p:nvPr/>
        </p:nvSpPr>
        <p:spPr>
          <a:xfrm>
            <a:off x="6584950" y="63055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4950" y="6610350"/>
            <a:ext cx="5118100" cy="13716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How much of what you have already built you get to keep in the next segment — channels, operations, brand meaning, unit economics.</a:t>
            </a:r>
          </a:p>
        </p:txBody>
      </p:sp>
      <p:sp>
        <p:nvSpPr>
          <p:cNvPr id="19" name="TextBox 18"/>
          <p:cNvSpPr txBox="1"/>
          <p:nvPr/>
        </p:nvSpPr>
        <p:spPr>
          <a:xfrm>
            <a:off x="12122150" y="5715000"/>
            <a:ext cx="5118100" cy="457200"/>
          </a:xfrm>
          <a:prstGeom prst="rect">
            <a:avLst/>
          </a:prstGeom>
          <a:noFill/>
        </p:spPr>
        <p:txBody>
          <a:bodyPr wrap="square" lIns="0" tIns="0" rIns="0" bIns="0" anchor="t">
            <a:spAutoFit/>
          </a:bodyPr>
          <a:lstStyle/>
          <a:p>
            <a:pPr algn="l"/>
            <a:r>
              <a:rPr sz="3000" b="1" i="0" kern="0">
                <a:solidFill>
                  <a:srgbClr val="201914"/>
                </a:solidFill>
                <a:latin typeface="Arial"/>
                <a:ea typeface="Arial"/>
                <a:cs typeface="Arial"/>
              </a:rPr>
              <a:t>Segment economics</a:t>
            </a:r>
          </a:p>
        </p:txBody>
      </p:sp>
      <p:sp>
        <p:nvSpPr>
          <p:cNvPr id="20" name="Rectangle 19"/>
          <p:cNvSpPr/>
          <p:nvPr/>
        </p:nvSpPr>
        <p:spPr>
          <a:xfrm>
            <a:off x="12122150" y="6305550"/>
            <a:ext cx="51181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122150" y="6610350"/>
            <a:ext cx="5118100" cy="1028700"/>
          </a:xfrm>
          <a:prstGeom prst="rect">
            <a:avLst/>
          </a:prstGeom>
          <a:noFill/>
        </p:spPr>
        <p:txBody>
          <a:bodyPr wrap="square" lIns="0" tIns="0" rIns="0" bIns="0" anchor="t">
            <a:spAutoFit/>
          </a:bodyPr>
          <a:lstStyle/>
          <a:p>
            <a:pPr algn="l"/>
            <a:r>
              <a:rPr sz="2250" b="0" i="0" kern="0">
                <a:solidFill>
                  <a:srgbClr val="564B42"/>
                </a:solidFill>
                <a:latin typeface="Arial"/>
                <a:ea typeface="Arial"/>
                <a:cs typeface="Arial"/>
              </a:rPr>
              <a:t>Order value, repeat rate, acquisition cost and return rate. The last two arrive late and decide everything.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201914"/>
        </a:solidFill>
        <a:effectLst/>
      </p:bgPr>
    </p:bg>
    <p:spTree>
      <p:nvGrpSpPr>
        <p:cNvPr id="1" name=""/>
        <p:cNvGrpSpPr/>
        <p:nvPr/>
      </p:nvGrpSpPr>
      <p:grpSpPr>
        <a:xfrm>
          <a:off x="0" y="0"/>
          <a:ext cx="0" cy="0"/>
          <a:chOff x="0" y="0"/>
          <a:chExt cx="0" cy="0"/>
        </a:xfrm>
      </p:grpSpPr>
      <p:sp>
        <p:nvSpPr>
          <p:cNvPr id="2" name="TextBox 1"/>
          <p:cNvSpPr txBox="1"/>
          <p:nvPr/>
        </p:nvSpPr>
        <p:spPr>
          <a:xfrm>
            <a:off x="1047750" y="952500"/>
            <a:ext cx="16192500" cy="323850"/>
          </a:xfrm>
          <a:prstGeom prst="rect">
            <a:avLst/>
          </a:prstGeom>
          <a:noFill/>
        </p:spPr>
        <p:txBody>
          <a:bodyPr wrap="square" lIns="0" tIns="0" rIns="0" bIns="0" anchor="t">
            <a:spAutoFit/>
          </a:bodyPr>
          <a:lstStyle/>
          <a:p>
            <a:pPr algn="l"/>
            <a:r>
              <a:rPr sz="1950" b="1" i="0" kern="0" spc="312">
                <a:solidFill>
                  <a:srgbClr val="EF806F"/>
                </a:solidFill>
                <a:latin typeface="Arial"/>
                <a:ea typeface="Arial"/>
                <a:cs typeface="Arial"/>
              </a:rPr>
              <a:t>NEXT SESSION</a:t>
            </a:r>
          </a:p>
        </p:txBody>
      </p:sp>
      <p:sp>
        <p:nvSpPr>
          <p:cNvPr id="3" name="TextBox 2"/>
          <p:cNvSpPr txBox="1"/>
          <p:nvPr/>
        </p:nvSpPr>
        <p:spPr>
          <a:xfrm>
            <a:off x="1047750" y="3619500"/>
            <a:ext cx="15430500" cy="2331720"/>
          </a:xfrm>
          <a:prstGeom prst="rect">
            <a:avLst/>
          </a:prstGeom>
          <a:noFill/>
        </p:spPr>
        <p:txBody>
          <a:bodyPr wrap="square" lIns="0" tIns="0" rIns="0" bIns="0" anchor="t">
            <a:spAutoFit/>
          </a:bodyPr>
          <a:lstStyle/>
          <a:p>
            <a:pPr algn="l"/>
            <a:r>
              <a:rPr sz="5100" b="0" i="1" kern="0">
                <a:solidFill>
                  <a:srgbClr val="F5F1E9"/>
                </a:solidFill>
                <a:latin typeface="Georgia"/>
                <a:ea typeface="Georgia"/>
                <a:cs typeface="Georgia"/>
              </a:rPr>
              <a:t>Two sensible first customers, chosen on the same Tuesday, produce two completely different companies within eighteen months.</a:t>
            </a:r>
          </a:p>
        </p:txBody>
      </p:sp>
      <p:sp>
        <p:nvSpPr>
          <p:cNvPr id="4" name="TextBox 3"/>
          <p:cNvSpPr txBox="1"/>
          <p:nvPr/>
        </p:nvSpPr>
        <p:spPr>
          <a:xfrm>
            <a:off x="1047750" y="6408420"/>
            <a:ext cx="15430500" cy="1143000"/>
          </a:xfrm>
          <a:prstGeom prst="rect">
            <a:avLst/>
          </a:prstGeom>
          <a:noFill/>
        </p:spPr>
        <p:txBody>
          <a:bodyPr wrap="square" lIns="0" tIns="0" rIns="0" bIns="0" anchor="t">
            <a:spAutoFit/>
          </a:bodyPr>
          <a:lstStyle/>
          <a:p>
            <a:pPr algn="l"/>
            <a:r>
              <a:rPr sz="2550" b="0" i="0" kern="0">
                <a:solidFill>
                  <a:srgbClr val="AEA298"/>
                </a:solidFill>
                <a:latin typeface="Arial"/>
                <a:ea typeface="Arial"/>
                <a:cs typeface="Arial"/>
              </a:rPr>
              <a:t>Bring your sequencing memo and your three-app audit. Next session we build a persona detailed enough to settle a product argument.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9539</Words>
  <Application>Microsoft Macintosh PowerPoint</Application>
  <PresentationFormat>Custom</PresentationFormat>
  <Paragraphs>591</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Lectures 8 &amp; 9 — Jobs, and Who Goes First</dc:title>
  <dc:subject>Zenith School of AI · Customer Discovery · Module 2 · Facilitator deck</dc:subject>
  <dc:creator>Zenith School of AI</dc:creator>
  <cp:keywords>Customer Discovery</cp:keywords>
  <dc:description/>
  <cp:lastModifiedBy>Avinash Pandit</cp:lastModifiedBy>
  <cp:revision>2</cp:revision>
  <dcterms:created xsi:type="dcterms:W3CDTF">2026-08-29T07:31:33Z</dcterms:created>
  <dcterms:modified xsi:type="dcterms:W3CDTF">2026-08-30T13:40:15Z</dcterms:modified>
  <cp:category>Facilitator deck</cp:category>
</cp:coreProperties>
</file>