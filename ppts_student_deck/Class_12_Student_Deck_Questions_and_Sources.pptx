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ZENITH SCHOOL OF AI · CUSTOMER DISCOVERY · CLASS 12</a:t>
            </a:r>
          </a:p>
        </p:txBody>
      </p:sp>
      <p:sp>
        <p:nvSpPr>
          <p:cNvPr id="3" name="TextBox 2"/>
          <p:cNvSpPr txBox="1"/>
          <p:nvPr/>
        </p:nvSpPr>
        <p:spPr>
          <a:xfrm>
            <a:off x="1047750" y="3209925"/>
            <a:ext cx="16192500" cy="1209675"/>
          </a:xfrm>
          <a:prstGeom prst="rect">
            <a:avLst/>
          </a:prstGeom>
          <a:noFill/>
        </p:spPr>
        <p:txBody>
          <a:bodyPr wrap="square" lIns="0" rIns="0" tIns="0" bIns="0" anchor="t">
            <a:spAutoFit/>
            <a:spAutoFit/>
          </a:bodyPr>
          <a:lstStyle/>
          <a:p>
            <a:pPr algn="l">
              <a:lnSpc>
                <a:spcPct val="92000"/>
              </a:lnSpc>
            </a:pPr>
            <a:r>
              <a:rPr sz="9900" b="1" i="0" spc="-346">
                <a:solidFill>
                  <a:srgbClr val="F5F1E9"/>
                </a:solidFill>
                <a:latin typeface="Arial"/>
              </a:rPr>
              <a:t>Questions and Sources</a:t>
            </a:r>
          </a:p>
        </p:txBody>
      </p:sp>
      <p:sp>
        <p:nvSpPr>
          <p:cNvPr id="4" name="TextBox 3"/>
          <p:cNvSpPr txBox="1"/>
          <p:nvPr/>
        </p:nvSpPr>
        <p:spPr>
          <a:xfrm>
            <a:off x="1047750" y="4743450"/>
            <a:ext cx="13811250" cy="1133475"/>
          </a:xfrm>
          <a:prstGeom prst="rect">
            <a:avLst/>
          </a:prstGeom>
          <a:noFill/>
        </p:spPr>
        <p:txBody>
          <a:bodyPr wrap="square" lIns="0" rIns="0" tIns="0" bIns="0" anchor="t">
            <a:spAutoFit/>
            <a:spAutoFit/>
          </a:bodyPr>
          <a:lstStyle/>
          <a:p>
            <a:pPr algn="l">
              <a:lnSpc>
                <a:spcPct val="118000"/>
              </a:lnSpc>
            </a:pPr>
            <a:r>
              <a:rPr sz="3600" b="0" i="1">
                <a:solidFill>
                  <a:srgbClr val="C1B5AB"/>
                </a:solidFill>
                <a:latin typeface="Georgia"/>
              </a:rPr>
              <a:t>Two companies researched themselves to death. A third asked a question that killed its own founding idea, and lived.</a:t>
            </a:r>
          </a:p>
        </p:txBody>
      </p:sp>
      <p:sp>
        <p:nvSpPr>
          <p:cNvPr id="5" name="Rectangle 4"/>
          <p:cNvSpPr/>
          <p:nvPr/>
        </p:nvSpPr>
        <p:spPr>
          <a:xfrm>
            <a:off x="1047750" y="8877300"/>
            <a:ext cx="16192500" cy="19050"/>
          </a:xfrm>
          <a:prstGeom prst="rect">
            <a:avLst/>
          </a:prstGeom>
          <a:solidFill>
            <a:srgbClr val="3E3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Question Ladder</a:t>
            </a:r>
          </a:p>
        </p:txBody>
      </p:sp>
      <p:sp>
        <p:nvSpPr>
          <p:cNvPr id="7" name="TextBox 6"/>
          <p:cNvSpPr txBox="1"/>
          <p:nvPr/>
        </p:nvSpPr>
        <p:spPr>
          <a:xfrm>
            <a:off x="533400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Kill Criterion</a:t>
            </a:r>
          </a:p>
        </p:txBody>
      </p:sp>
      <p:sp>
        <p:nvSpPr>
          <p:cNvPr id="8" name="TextBox 7"/>
          <p:cNvSpPr txBox="1"/>
          <p:nvPr/>
        </p:nvSpPr>
        <p:spPr>
          <a:xfrm>
            <a:off x="962025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Evidence Ladder</a:t>
            </a:r>
          </a:p>
        </p:txBody>
      </p:sp>
      <p:sp>
        <p:nvSpPr>
          <p:cNvPr id="9" name="TextBox 8"/>
          <p:cNvSpPr txBox="1"/>
          <p:nvPr/>
        </p:nvSpPr>
        <p:spPr>
          <a:xfrm>
            <a:off x="13906500" y="9239250"/>
            <a:ext cx="3314700" cy="361950"/>
          </a:xfrm>
          <a:prstGeom prst="rect">
            <a:avLst/>
          </a:prstGeom>
          <a:noFill/>
        </p:spPr>
        <p:txBody>
          <a:bodyPr wrap="square" lIns="0" rIns="0" tIns="0" bIns="0" anchor="t">
            <a:spAutoFit/>
            <a:spAutoFit/>
          </a:bodyPr>
          <a:lstStyle/>
          <a:p>
            <a:pPr algn="l">
              <a:lnSpc>
                <a:spcPct val="108000"/>
              </a:lnSpc>
            </a:pPr>
            <a:r>
              <a:rPr sz="2100" b="0" i="0">
                <a:solidFill>
                  <a:srgbClr val="AEA298"/>
                </a:solidFill>
                <a:latin typeface="Arial"/>
              </a:rPr>
              <a:t>The Asymmetry Rule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WHERE WE LEFT OFF</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Module 2 ended with a company that understood one customer completely.</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Three Signals</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Every product decision comes from a pain, a behaviour or an aspiration — and each is found by a different method.</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Discovery Chain</a:t>
            </a:r>
          </a:p>
        </p:txBody>
      </p:sp>
      <p:sp>
        <p:nvSpPr>
          <p:cNvPr id="9" name="TextBox 8"/>
          <p:cNvSpPr txBox="1"/>
          <p:nvPr/>
        </p:nvSpPr>
        <p:spPr>
          <a:xfrm>
            <a:off x="6572250" y="4724400"/>
            <a:ext cx="5143500" cy="101917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Insight, decision, business model, moat, outcome. One link is always carrying the weight.</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What it does not protect you from</a:t>
            </a:r>
          </a:p>
        </p:txBody>
      </p:sp>
      <p:sp>
        <p:nvSpPr>
          <p:cNvPr id="12" name="TextBox 11"/>
          <p:cNvSpPr txBox="1"/>
          <p:nvPr/>
        </p:nvSpPr>
        <p:spPr>
          <a:xfrm>
            <a:off x="12096750" y="4724400"/>
            <a:ext cx="5143500" cy="101917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A regulator, a saturated segment, and your own instinct about a customer you have never been.</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Finding a pain needs arithmetic. Finding a behaviour needs watching. Finding an aspiration needs listening. Nobody in this room has been taught any of the three.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WRITE THESE DOWN BEFORE YOU READ ON</a:t>
            </a:r>
          </a:p>
        </p:txBody>
      </p:sp>
      <p:sp>
        <p:nvSpPr>
          <p:cNvPr id="3" name="TextBox 2"/>
          <p:cNvSpPr txBox="1"/>
          <p:nvPr/>
        </p:nvSpPr>
        <p:spPr>
          <a:xfrm>
            <a:off x="1714500" y="3390900"/>
            <a:ext cx="14859000" cy="3895725"/>
          </a:xfrm>
          <a:prstGeom prst="rect">
            <a:avLst/>
          </a:prstGeom>
          <a:noFill/>
        </p:spPr>
        <p:txBody>
          <a:bodyPr wrap="square" lIns="0" rIns="0" tIns="0" bIns="0" anchor="t">
            <a:spAutoFit/>
            <a:spAutoFit/>
          </a:bodyPr>
          <a:lstStyle/>
          <a:p>
            <a:pPr algn="l">
              <a:lnSpc>
                <a:spcPct val="126000"/>
              </a:lnSpc>
            </a:pPr>
            <a:r>
              <a:rPr sz="4000" b="1" i="0">
                <a:solidFill>
                  <a:srgbClr val="F5F1E9"/>
                </a:solidFill>
                <a:latin typeface="Arial"/>
              </a:rPr>
              <a:t>You have an idea: an app that helps hostel students manage shared money — mess dues, rent splits, who owes whom.</a:t>
            </a:r>
          </a:p>
          <a:p>
            <a:pPr algn="l">
              <a:lnSpc>
                <a:spcPct val="126000"/>
              </a:lnSpc>
            </a:pPr>
            <a:r>
              <a:rPr sz="4000" b="1" i="0">
                <a:solidFill>
                  <a:srgbClr val="F5F1E9"/>
                </a:solidFill>
                <a:latin typeface="Arial"/>
              </a:rPr>
              <a:t/>
            </a:r>
          </a:p>
          <a:p>
            <a:pPr algn="l">
              <a:lnSpc>
                <a:spcPct val="126000"/>
              </a:lnSpc>
            </a:pPr>
            <a:r>
              <a:rPr sz="4000" b="1" i="0">
                <a:solidFill>
                  <a:srgbClr val="F5F1E9"/>
                </a:solidFill>
                <a:latin typeface="Arial"/>
              </a:rPr>
              <a:t>Write down five questions you would ask students to find out whether to build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WHAT ALMOST EVERYBODY WRITES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Not one of these could have told you to stop.</a:t>
            </a:r>
          </a:p>
        </p:txBody>
      </p:sp>
      <p:sp>
        <p:nvSpPr>
          <p:cNvPr id="4" name="Rectangle 3"/>
          <p:cNvSpPr/>
          <p:nvPr/>
        </p:nvSpPr>
        <p:spPr>
          <a:xfrm>
            <a:off x="104775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'Would you use an app like this?'</a:t>
            </a:r>
          </a:p>
        </p:txBody>
      </p:sp>
      <p:sp>
        <p:nvSpPr>
          <p:cNvPr id="6" name="TextBox 5"/>
          <p:cNvSpPr txBox="1"/>
          <p:nvPr/>
        </p:nvSpPr>
        <p:spPr>
          <a:xfrm>
            <a:off x="1047750" y="4572000"/>
            <a:ext cx="37623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polite answer is yes, and the polite answer is what you will get.</a:t>
            </a:r>
          </a:p>
        </p:txBody>
      </p:sp>
      <p:sp>
        <p:nvSpPr>
          <p:cNvPr id="7" name="Rectangle 6"/>
          <p:cNvSpPr/>
          <p:nvPr/>
        </p:nvSpPr>
        <p:spPr>
          <a:xfrm>
            <a:off x="519112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'How annoying is it to split bills?'</a:t>
            </a:r>
          </a:p>
        </p:txBody>
      </p:sp>
      <p:sp>
        <p:nvSpPr>
          <p:cNvPr id="9" name="TextBox 8"/>
          <p:cNvSpPr txBox="1"/>
          <p:nvPr/>
        </p:nvSpPr>
        <p:spPr>
          <a:xfrm>
            <a:off x="5191125" y="4572000"/>
            <a:ext cx="37623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It has already decided that splitting bills is annoying. It is only asking how much.</a:t>
            </a:r>
          </a:p>
        </p:txBody>
      </p:sp>
      <p:sp>
        <p:nvSpPr>
          <p:cNvPr id="10" name="Rectangle 9"/>
          <p:cNvSpPr/>
          <p:nvPr/>
        </p:nvSpPr>
        <p:spPr>
          <a:xfrm>
            <a:off x="933450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'What features would you want?'</a:t>
            </a:r>
          </a:p>
        </p:txBody>
      </p:sp>
      <p:sp>
        <p:nvSpPr>
          <p:cNvPr id="12" name="TextBox 11"/>
          <p:cNvSpPr txBox="1"/>
          <p:nvPr/>
        </p:nvSpPr>
        <p:spPr>
          <a:xfrm>
            <a:off x="9334500" y="4572000"/>
            <a:ext cx="37623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It has skipped past whether the thing should exist and gone straight to what it should contain.</a:t>
            </a:r>
          </a:p>
        </p:txBody>
      </p:sp>
      <p:sp>
        <p:nvSpPr>
          <p:cNvPr id="13" name="Rectangle 12"/>
          <p:cNvSpPr/>
          <p:nvPr/>
        </p:nvSpPr>
        <p:spPr>
          <a:xfrm>
            <a:off x="1347787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724275"/>
            <a:ext cx="3762375" cy="6762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'How much would you pay for it?'</a:t>
            </a:r>
          </a:p>
        </p:txBody>
      </p:sp>
      <p:sp>
        <p:nvSpPr>
          <p:cNvPr id="15" name="TextBox 14"/>
          <p:cNvSpPr txBox="1"/>
          <p:nvPr/>
        </p:nvSpPr>
        <p:spPr>
          <a:xfrm>
            <a:off x="13477875" y="4572000"/>
            <a:ext cx="37623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It converts a guess into a number, and numbers get put into spreadsheets and treated as findings.</a:t>
            </a:r>
          </a:p>
        </p:txBody>
      </p:sp>
      <p:sp>
        <p:nvSpPr>
          <p:cNvPr id="16" name="TextBox 15"/>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You have all just written a research plan whose only possible finding is that your idea is good. Nokia spent a decade doing exactly this with a much larger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WHY DID EVERY ONE OF US DO THAT?</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Two of these cannot be fixed. The third closes in an afternoon.</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Because we like the idea</a:t>
            </a:r>
          </a:p>
        </p:txBody>
      </p:sp>
      <p:sp>
        <p:nvSpPr>
          <p:cNvPr id="6" name="TextBox 5"/>
          <p:cNvSpPr txBox="1"/>
          <p:nvPr/>
        </p:nvSpPr>
        <p:spPr>
          <a:xfrm>
            <a:off x="1047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You will always be attached to your own ideas, and that attachment is also what makes founders work at three in the morning.</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Because it feels rude</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Asking a question that invites somebody to say your idea is bad feels like bad manners. It is not.</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Because nobody taught us the other kind</a:t>
            </a:r>
          </a:p>
        </p:txBody>
      </p:sp>
      <p:sp>
        <p:nvSpPr>
          <p:cNvPr id="12" name="TextBox 11"/>
          <p:cNvSpPr txBox="1"/>
          <p:nvPr/>
        </p:nvSpPr>
        <p:spPr>
          <a:xfrm>
            <a:off x="12096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This is a skill gap, not a character flaw — and it is the good news, because what you need is a specific alternative sentence to say instead.</a:t>
            </a:r>
          </a:p>
        </p:txBody>
      </p:sp>
      <p:sp>
        <p:nvSpPr>
          <p:cNvPr id="13" name="TextBox 12"/>
          <p:cNvSpPr txBox="1"/>
          <p:nvPr/>
        </p:nvSpPr>
        <p:spPr>
          <a:xfrm>
            <a:off x="1047750" y="8439150"/>
            <a:ext cx="16192500" cy="50482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What you need is not a better attitude. It is a different sentence.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7029450"/>
            <a:ext cx="16192500" cy="1209675"/>
          </a:xfrm>
          <a:prstGeom prst="rect">
            <a:avLst/>
          </a:prstGeom>
          <a:noFill/>
        </p:spPr>
        <p:txBody>
          <a:bodyPr wrap="square" lIns="0" rIns="0" tIns="0" bIns="0" anchor="t">
            <a:spAutoFit/>
            <a:spAutoFit/>
          </a:bodyPr>
          <a:lstStyle/>
          <a:p>
            <a:pPr algn="l">
              <a:lnSpc>
                <a:spcPct val="92000"/>
              </a:lnSpc>
            </a:pPr>
            <a:r>
              <a:rPr sz="9900" b="1" i="0" spc="-300">
                <a:solidFill>
                  <a:srgbClr val="F5F1E9"/>
                </a:solidFill>
                <a:latin typeface="Arial"/>
              </a:rPr>
              <a:t>Three research designs</a:t>
            </a:r>
          </a:p>
        </p:txBody>
      </p:sp>
      <p:sp>
        <p:nvSpPr>
          <p:cNvPr id="3" name="TextBox 2"/>
          <p:cNvSpPr txBox="1"/>
          <p:nvPr/>
        </p:nvSpPr>
        <p:spPr>
          <a:xfrm>
            <a:off x="1047750" y="64770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CASE STUDY</a:t>
            </a:r>
          </a:p>
        </p:txBody>
      </p:sp>
      <p:sp>
        <p:nvSpPr>
          <p:cNvPr id="4" name="TextBox 3"/>
          <p:cNvSpPr txBox="1"/>
          <p:nvPr/>
        </p:nvSpPr>
        <p:spPr>
          <a:xfrm>
            <a:off x="1047750" y="8486775"/>
            <a:ext cx="14287500" cy="1133475"/>
          </a:xfrm>
          <a:prstGeom prst="rect">
            <a:avLst/>
          </a:prstGeom>
          <a:noFill/>
        </p:spPr>
        <p:txBody>
          <a:bodyPr wrap="square" lIns="0" rIns="0" tIns="0" bIns="0" anchor="t">
            <a:spAutoFit/>
            <a:spAutoFit/>
          </a:bodyPr>
          <a:lstStyle/>
          <a:p>
            <a:pPr algn="l">
              <a:lnSpc>
                <a:spcPct val="118000"/>
              </a:lnSpc>
            </a:pPr>
            <a:r>
              <a:rPr sz="3600" b="0" i="1">
                <a:solidFill>
                  <a:srgbClr val="C1B5AB"/>
                </a:solidFill>
                <a:latin typeface="Georgia"/>
              </a:rPr>
              <a:t>Two companies did a great deal of research, spent heavily on it and were destroyed anyway.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NOKIA · THROUGH THE 2000S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This was not a company that ignored its customers.</a:t>
            </a:r>
          </a:p>
        </p:txBody>
      </p:sp>
      <p:sp>
        <p:nvSpPr>
          <p:cNvPr id="4" name="Rectangle 3"/>
          <p:cNvSpPr/>
          <p:nvPr/>
        </p:nvSpPr>
        <p:spPr>
          <a:xfrm>
            <a:off x="1047750"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201914"/>
                </a:solidFill>
                <a:latin typeface="Arial"/>
              </a:rPr>
              <a:t>40%</a:t>
            </a:r>
          </a:p>
        </p:txBody>
      </p:sp>
      <p:sp>
        <p:nvSpPr>
          <p:cNvPr id="6" name="TextBox 5"/>
          <p:cNvSpPr txBox="1"/>
          <p:nvPr/>
        </p:nvSpPr>
        <p:spPr>
          <a:xfrm>
            <a:off x="1466850" y="4600575"/>
            <a:ext cx="2924175" cy="762000"/>
          </a:xfrm>
          <a:prstGeom prst="rect">
            <a:avLst/>
          </a:prstGeom>
          <a:noFill/>
        </p:spPr>
        <p:txBody>
          <a:bodyPr wrap="square" lIns="0" rIns="0" tIns="0" bIns="0" anchor="t">
            <a:spAutoFit/>
            <a:spAutoFit/>
          </a:bodyPr>
          <a:lstStyle/>
          <a:p>
            <a:pPr algn="l">
              <a:lnSpc>
                <a:spcPct val="104000"/>
              </a:lnSpc>
            </a:pPr>
            <a:r>
              <a:rPr sz="1800" b="1" i="0">
                <a:solidFill>
                  <a:srgbClr val="201914"/>
                </a:solidFill>
                <a:latin typeface="Arial"/>
              </a:rPr>
              <a:t>of the global handset market</a:t>
            </a:r>
          </a:p>
        </p:txBody>
      </p:sp>
      <p:sp>
        <p:nvSpPr>
          <p:cNvPr id="7" name="TextBox 6"/>
          <p:cNvSpPr txBox="1"/>
          <p:nvPr/>
        </p:nvSpPr>
        <p:spPr>
          <a:xfrm>
            <a:off x="1466850" y="5572125"/>
            <a:ext cx="29241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At its peak. In a market that size, a share competitors normally cannot approach.</a:t>
            </a:r>
          </a:p>
        </p:txBody>
      </p:sp>
      <p:sp>
        <p:nvSpPr>
          <p:cNvPr id="8" name="Rectangle 7"/>
          <p:cNvSpPr/>
          <p:nvPr/>
        </p:nvSpPr>
        <p:spPr>
          <a:xfrm>
            <a:off x="5191125"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0225"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201914"/>
                </a:solidFill>
                <a:latin typeface="Arial"/>
              </a:rPr>
              <a:t>Dozens</a:t>
            </a:r>
          </a:p>
        </p:txBody>
      </p:sp>
      <p:sp>
        <p:nvSpPr>
          <p:cNvPr id="10" name="TextBox 9"/>
          <p:cNvSpPr txBox="1"/>
          <p:nvPr/>
        </p:nvSpPr>
        <p:spPr>
          <a:xfrm>
            <a:off x="5610225" y="4600575"/>
            <a:ext cx="2924175" cy="762000"/>
          </a:xfrm>
          <a:prstGeom prst="rect">
            <a:avLst/>
          </a:prstGeom>
          <a:noFill/>
        </p:spPr>
        <p:txBody>
          <a:bodyPr wrap="square" lIns="0" rIns="0" tIns="0" bIns="0" anchor="t">
            <a:spAutoFit/>
            <a:spAutoFit/>
          </a:bodyPr>
          <a:lstStyle/>
          <a:p>
            <a:pPr algn="l">
              <a:lnSpc>
                <a:spcPct val="104000"/>
              </a:lnSpc>
            </a:pPr>
            <a:r>
              <a:rPr sz="1800" b="1" i="0">
                <a:solidFill>
                  <a:srgbClr val="201914"/>
                </a:solidFill>
                <a:latin typeface="Arial"/>
              </a:rPr>
              <a:t>of markets researched continuously</a:t>
            </a:r>
          </a:p>
        </p:txBody>
      </p:sp>
      <p:sp>
        <p:nvSpPr>
          <p:cNvPr id="11" name="TextBox 10"/>
          <p:cNvSpPr txBox="1"/>
          <p:nvPr/>
        </p:nvSpPr>
        <p:spPr>
          <a:xfrm>
            <a:off x="5610225" y="5572125"/>
            <a:ext cx="2924175" cy="18097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Well-staffed insight teams, tested designs, tracked satisfaction, all fed into the roadmap.</a:t>
            </a:r>
          </a:p>
        </p:txBody>
      </p:sp>
      <p:sp>
        <p:nvSpPr>
          <p:cNvPr id="12" name="Rectangle 11"/>
          <p:cNvSpPr/>
          <p:nvPr/>
        </p:nvSpPr>
        <p:spPr>
          <a:xfrm>
            <a:off x="9334500"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53600"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201914"/>
                </a:solidFill>
                <a:latin typeface="Arial"/>
              </a:rPr>
              <a:t>2007</a:t>
            </a:r>
          </a:p>
        </p:txBody>
      </p:sp>
      <p:sp>
        <p:nvSpPr>
          <p:cNvPr id="14" name="TextBox 13"/>
          <p:cNvSpPr txBox="1"/>
          <p:nvPr/>
        </p:nvSpPr>
        <p:spPr>
          <a:xfrm>
            <a:off x="9753600" y="4600575"/>
            <a:ext cx="2924175" cy="762000"/>
          </a:xfrm>
          <a:prstGeom prst="rect">
            <a:avLst/>
          </a:prstGeom>
          <a:noFill/>
        </p:spPr>
        <p:txBody>
          <a:bodyPr wrap="square" lIns="0" rIns="0" tIns="0" bIns="0" anchor="t">
            <a:spAutoFit/>
            <a:spAutoFit/>
          </a:bodyPr>
          <a:lstStyle/>
          <a:p>
            <a:pPr algn="l">
              <a:lnSpc>
                <a:spcPct val="104000"/>
              </a:lnSpc>
            </a:pPr>
            <a:r>
              <a:rPr sz="1800" b="1" i="0">
                <a:solidFill>
                  <a:srgbClr val="201914"/>
                </a:solidFill>
                <a:latin typeface="Arial"/>
              </a:rPr>
              <a:t>the iPhone launches</a:t>
            </a:r>
          </a:p>
        </p:txBody>
      </p:sp>
      <p:sp>
        <p:nvSpPr>
          <p:cNvPr id="15" name="TextBox 14"/>
          <p:cNvSpPr txBox="1"/>
          <p:nvPr/>
        </p:nvSpPr>
        <p:spPr>
          <a:xfrm>
            <a:off x="9753600" y="5572125"/>
            <a:ext cx="2924175" cy="18097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Worse battery, worse signal, worse durability, more expensive — and not competing on those axes at all.</a:t>
            </a:r>
          </a:p>
        </p:txBody>
      </p:sp>
      <p:sp>
        <p:nvSpPr>
          <p:cNvPr id="16" name="Rectangle 15"/>
          <p:cNvSpPr/>
          <p:nvPr/>
        </p:nvSpPr>
        <p:spPr>
          <a:xfrm>
            <a:off x="13477875" y="3409950"/>
            <a:ext cx="3762375"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896975" y="3790950"/>
            <a:ext cx="2924175" cy="800100"/>
          </a:xfrm>
          <a:prstGeom prst="rect">
            <a:avLst/>
          </a:prstGeom>
          <a:noFill/>
        </p:spPr>
        <p:txBody>
          <a:bodyPr wrap="square" lIns="0" rIns="0" tIns="0" bIns="0" anchor="t">
            <a:spAutoFit/>
            <a:spAutoFit/>
          </a:bodyPr>
          <a:lstStyle/>
          <a:p>
            <a:pPr algn="l">
              <a:lnSpc>
                <a:spcPct val="98000"/>
              </a:lnSpc>
            </a:pPr>
            <a:r>
              <a:rPr sz="6000" b="1" i="0">
                <a:solidFill>
                  <a:srgbClr val="F5F1E9"/>
                </a:solidFill>
                <a:latin typeface="Arial"/>
              </a:rPr>
              <a:t>2013</a:t>
            </a:r>
          </a:p>
        </p:txBody>
      </p:sp>
      <p:sp>
        <p:nvSpPr>
          <p:cNvPr id="18" name="TextBox 17"/>
          <p:cNvSpPr txBox="1"/>
          <p:nvPr/>
        </p:nvSpPr>
        <p:spPr>
          <a:xfrm>
            <a:off x="13896975" y="4600575"/>
            <a:ext cx="2924175" cy="762000"/>
          </a:xfrm>
          <a:prstGeom prst="rect">
            <a:avLst/>
          </a:prstGeom>
          <a:noFill/>
        </p:spPr>
        <p:txBody>
          <a:bodyPr wrap="square" lIns="0" rIns="0" tIns="0" bIns="0" anchor="t">
            <a:spAutoFit/>
            <a:spAutoFit/>
          </a:bodyPr>
          <a:lstStyle/>
          <a:p>
            <a:pPr algn="l">
              <a:lnSpc>
                <a:spcPct val="104000"/>
              </a:lnSpc>
            </a:pPr>
            <a:r>
              <a:rPr sz="1800" b="1" i="0">
                <a:solidFill>
                  <a:srgbClr val="F5F1E9"/>
                </a:solidFill>
                <a:latin typeface="Arial"/>
              </a:rPr>
              <a:t>handsets sold to Microsoft</a:t>
            </a:r>
          </a:p>
        </p:txBody>
      </p:sp>
      <p:sp>
        <p:nvSpPr>
          <p:cNvPr id="19" name="TextBox 18"/>
          <p:cNvSpPr txBox="1"/>
          <p:nvPr/>
        </p:nvSpPr>
        <p:spPr>
          <a:xfrm>
            <a:off x="13896975" y="5572125"/>
            <a:ext cx="2924175" cy="1809750"/>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For roughly five and a half billion euros. A large number, and a small one for what it had been.</a:t>
            </a:r>
          </a:p>
        </p:txBody>
      </p:sp>
      <p:sp>
        <p:nvSpPr>
          <p:cNvPr id="20" name="TextBox 19"/>
          <p:cNvSpPr txBox="1"/>
          <p:nvPr/>
        </p:nvSpPr>
        <p:spPr>
          <a:xfrm>
            <a:off x="1047750" y="8820150"/>
            <a:ext cx="16192500" cy="50482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The research had been right the whole way 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TWO ERRORS, AND THE SECOND ONE IS INVISIBLE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Which of our features would you like us to improve?</a:t>
            </a:r>
          </a:p>
        </p:txBody>
      </p:sp>
      <p:sp>
        <p:nvSpPr>
          <p:cNvPr id="4" name="Rectangle 3"/>
          <p:cNvSpPr/>
          <p:nvPr/>
        </p:nvSpPr>
        <p:spPr>
          <a:xfrm>
            <a:off x="1047750" y="3409950"/>
            <a:ext cx="7810500" cy="48387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THE QUESTION</a:t>
            </a:r>
          </a:p>
        </p:txBody>
      </p:sp>
      <p:sp>
        <p:nvSpPr>
          <p:cNvPr id="6" name="TextBox 5"/>
          <p:cNvSpPr txBox="1"/>
          <p:nvPr/>
        </p:nvSpPr>
        <p:spPr>
          <a:xfrm>
            <a:off x="1428750" y="4229100"/>
            <a:ext cx="7048500" cy="1095375"/>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It contains an assumption so quiet that nobody at Nokia noticed it: that the future would be a better Nokia phone.</a:t>
            </a:r>
          </a:p>
        </p:txBody>
      </p:sp>
      <p:sp>
        <p:nvSpPr>
          <p:cNvPr id="7" name="TextBox 6"/>
          <p:cNvSpPr txBox="1"/>
          <p:nvPr/>
        </p:nvSpPr>
        <p:spPr>
          <a:xfrm>
            <a:off x="1428750" y="547687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When the assumption is inside the question, no sample size can surface it.</a:t>
            </a:r>
          </a:p>
        </p:txBody>
      </p:sp>
      <p:sp>
        <p:nvSpPr>
          <p:cNvPr id="8" name="TextBox 7"/>
          <p:cNvSpPr txBox="1"/>
          <p:nvPr/>
        </p:nvSpPr>
        <p:spPr>
          <a:xfrm>
            <a:off x="1428750" y="6372225"/>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The respondent cannot object to a premise they were never shown.</a:t>
            </a:r>
          </a:p>
        </p:txBody>
      </p:sp>
      <p:sp>
        <p:nvSpPr>
          <p:cNvPr id="9" name="Rectangle 8"/>
          <p:cNvSpPr/>
          <p:nvPr/>
        </p:nvSpPr>
        <p:spPr>
          <a:xfrm>
            <a:off x="9429750" y="3409950"/>
            <a:ext cx="7810500" cy="4838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THE SAMPLE</a:t>
            </a:r>
          </a:p>
        </p:txBody>
      </p:sp>
      <p:sp>
        <p:nvSpPr>
          <p:cNvPr id="11" name="TextBox 10"/>
          <p:cNvSpPr txBox="1"/>
          <p:nvPr/>
        </p:nvSpPr>
        <p:spPr>
          <a:xfrm>
            <a:off x="9810750" y="4229100"/>
            <a:ext cx="7048500" cy="4000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Nokia asked Nokia customers.</a:t>
            </a:r>
          </a:p>
        </p:txBody>
      </p:sp>
      <p:sp>
        <p:nvSpPr>
          <p:cNvPr id="12" name="TextBox 11"/>
          <p:cNvSpPr txBox="1"/>
          <p:nvPr/>
        </p:nvSpPr>
        <p:spPr>
          <a:xfrm>
            <a:off x="9810750" y="4781550"/>
            <a:ext cx="7048500" cy="14382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The people most likely to abandon your product for a new paradigm are, by definition, not the ones currently happy enough to be in your customer database.</a:t>
            </a:r>
          </a:p>
        </p:txBody>
      </p:sp>
      <p:sp>
        <p:nvSpPr>
          <p:cNvPr id="13" name="TextBox 12"/>
          <p:cNvSpPr txBox="1"/>
          <p:nvPr/>
        </p:nvSpPr>
        <p:spPr>
          <a:xfrm>
            <a:off x="9810750" y="637222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Nokia's research showed high satisfaction because it was measuring the satisfied.</a:t>
            </a:r>
          </a:p>
        </p:txBody>
      </p:sp>
      <p:sp>
        <p:nvSpPr>
          <p:cNvPr id="14" name="TextBox 13"/>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An accurate answer to the wrong question, from the wrong people, repeated carefully for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MICROMAX · THE CRUELLER VERSION</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They did not start out confirmatory. They started out brilliant.</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A truck battery in rural Bengal</a:t>
            </a:r>
          </a:p>
        </p:txBody>
      </p:sp>
      <p:sp>
        <p:nvSpPr>
          <p:cNvPr id="6" name="TextBox 5"/>
          <p:cNvSpPr txBox="1"/>
          <p:nvPr/>
        </p:nvSpPr>
        <p:spPr>
          <a:xfrm>
            <a:off x="1047750" y="4724400"/>
            <a:ext cx="5143500" cy="23050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Rahul Sharma noticed villagers walking to a public call office not because they had no phone but because there was no reliable electricity to charge one, and a local operator was running a phone off a truck battery.</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A month of standby</a:t>
            </a:r>
          </a:p>
        </p:txBody>
      </p:sp>
      <p:sp>
        <p:nvSpPr>
          <p:cNvPr id="9" name="TextBox 8"/>
          <p:cNvSpPr txBox="1"/>
          <p:nvPr/>
        </p:nvSpPr>
        <p:spPr>
          <a:xfrm>
            <a:off x="6572250" y="4724400"/>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question he was implicitly asking was not what feature do you want. It was what is going wrong in your life around phones — and no market survey would have produced that handset.</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Then dual SIM</a:t>
            </a:r>
          </a:p>
        </p:txBody>
      </p:sp>
      <p:sp>
        <p:nvSpPr>
          <p:cNvPr id="12" name="TextBox 11"/>
          <p:cNvSpPr txBox="1"/>
          <p:nvPr/>
        </p:nvSpPr>
        <p:spPr>
          <a:xfrm>
            <a:off x="12096750" y="4724400"/>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Built off another observation about how Indians actually behaved — carrying two numbers to arbitrage tariffs — long before the large brands took the behaviour seriously.</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Six years to 17% of the market, by understanding an Indian customer the global brands were serving as an afterthought.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DRIFT NOBODY DECIDED ON</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Same company. Same founders. Seven years apart.</a:t>
            </a:r>
          </a:p>
        </p:txBody>
      </p:sp>
      <p:sp>
        <p:nvSpPr>
          <p:cNvPr id="4" name="Rectangle 3"/>
          <p:cNvSpPr/>
          <p:nvPr/>
        </p:nvSpPr>
        <p:spPr>
          <a:xfrm>
            <a:off x="1047750" y="3409950"/>
            <a:ext cx="7810500" cy="48387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MICROMAX IN 2008</a:t>
            </a:r>
          </a:p>
        </p:txBody>
      </p:sp>
      <p:sp>
        <p:nvSpPr>
          <p:cNvPr id="6" name="TextBox 5"/>
          <p:cNvSpPr txBox="1"/>
          <p:nvPr/>
        </p:nvSpPr>
        <p:spPr>
          <a:xfrm>
            <a:off x="1428750" y="4229100"/>
            <a:ext cx="7048500" cy="685800"/>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Go and watch what people actually do around phones, in places nobody is researching.</a:t>
            </a:r>
          </a:p>
        </p:txBody>
      </p:sp>
      <p:sp>
        <p:nvSpPr>
          <p:cNvPr id="7" name="TextBox 6"/>
          <p:cNvSpPr txBox="1"/>
          <p:nvPr/>
        </p:nvSpPr>
        <p:spPr>
          <a:xfrm>
            <a:off x="1428750" y="5067300"/>
            <a:ext cx="7048500" cy="371475"/>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Build for the behaviour you see.</a:t>
            </a:r>
          </a:p>
        </p:txBody>
      </p:sp>
      <p:sp>
        <p:nvSpPr>
          <p:cNvPr id="8" name="TextBox 7"/>
          <p:cNvSpPr txBox="1"/>
          <p:nvPr/>
        </p:nvSpPr>
        <p:spPr>
          <a:xfrm>
            <a:off x="1428750" y="5591175"/>
            <a:ext cx="7048500" cy="685800"/>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Sample: people who are not your customers, because you have none.</a:t>
            </a:r>
          </a:p>
        </p:txBody>
      </p:sp>
      <p:sp>
        <p:nvSpPr>
          <p:cNvPr id="9" name="Rectangle 8"/>
          <p:cNvSpPr/>
          <p:nvPr/>
        </p:nvSpPr>
        <p:spPr>
          <a:xfrm>
            <a:off x="9429750" y="3409950"/>
            <a:ext cx="7810500" cy="4838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MICROMAX IN 2015</a:t>
            </a:r>
          </a:p>
        </p:txBody>
      </p:sp>
      <p:sp>
        <p:nvSpPr>
          <p:cNvPr id="11" name="TextBox 10"/>
          <p:cNvSpPr txBox="1"/>
          <p:nvPr/>
        </p:nvSpPr>
        <p:spPr>
          <a:xfrm>
            <a:off x="9810750" y="4229100"/>
            <a:ext cx="7048500" cy="685800"/>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Tens of millions of existing buyers, cheap and fast to survey.</a:t>
            </a:r>
          </a:p>
        </p:txBody>
      </p:sp>
      <p:sp>
        <p:nvSpPr>
          <p:cNvPr id="12" name="TextBox 11"/>
          <p:cNvSpPr txBox="1"/>
          <p:nvPr/>
        </p:nvSpPr>
        <p:spPr>
          <a:xfrm>
            <a:off x="9810750" y="5067300"/>
            <a:ext cx="7048500" cy="1009650"/>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They wanted what budget-phone buyers always want: bigger battery, better camera for the price, lower price. All true. All confirmatory.</a:t>
            </a:r>
          </a:p>
        </p:txBody>
      </p:sp>
      <p:sp>
        <p:nvSpPr>
          <p:cNvPr id="13" name="TextBox 12"/>
          <p:cNvSpPr txBox="1"/>
          <p:nvPr/>
        </p:nvSpPr>
        <p:spPr>
          <a:xfrm>
            <a:off x="9810750" y="6229350"/>
            <a:ext cx="7048500" cy="1323975"/>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The question had drifted to 'which of our features would you like improved' — precisely Nokia's question, asked by a company built on the opposite one.</a:t>
            </a:r>
          </a:p>
        </p:txBody>
      </p:sp>
      <p:sp>
        <p:nvSpPr>
          <p:cNvPr id="14" name="TextBox 13"/>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Ask which of your own future companies this will happen to. The honest answer is all of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WHAT THAT RESEARCH COULD NOT SEE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Three shocks, none of which appear in an answer about your own features</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Xiaomi, Oppo and Vivo</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Better build quality and better cameras at similar prices, backed by capital that could absorb losses for years.</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Jio, 2016</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Made 4G the baseline while Micromax sat on 3G inventory it could not afford to replace at speed.</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Demonetisation, late 2016</a:t>
            </a:r>
          </a:p>
        </p:txBody>
      </p:sp>
      <p:sp>
        <p:nvSpPr>
          <p:cNvPr id="12" name="TextBox 11"/>
          <p:cNvSpPr txBox="1"/>
          <p:nvPr/>
        </p:nvSpPr>
        <p:spPr>
          <a:xfrm>
            <a:off x="12096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Hit cash-based retail sales of sub-₹10,000 handsets — exactly Micromax's segment — harder than anybody's.</a:t>
            </a:r>
          </a:p>
        </p:txBody>
      </p:sp>
      <p:sp>
        <p:nvSpPr>
          <p:cNvPr id="13" name="TextBox 12"/>
          <p:cNvSpPr txBox="1"/>
          <p:nvPr/>
        </p:nvSpPr>
        <p:spPr>
          <a:xfrm>
            <a:off x="1047750" y="8439150"/>
            <a:ext cx="16192500" cy="50482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Within about three years, from roughly 17% share to outside the top five.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ATHER ENERGY · FOUNDED 2013</a:t>
            </a:r>
          </a:p>
        </p:txBody>
      </p:sp>
      <p:sp>
        <p:nvSpPr>
          <p:cNvPr id="3" name="TextBox 2"/>
          <p:cNvSpPr txBox="1"/>
          <p:nvPr/>
        </p:nvSpPr>
        <p:spPr>
          <a:xfrm>
            <a:off x="1047750" y="1504950"/>
            <a:ext cx="16192500" cy="1400175"/>
          </a:xfrm>
          <a:prstGeom prst="rect">
            <a:avLst/>
          </a:prstGeom>
          <a:noFill/>
        </p:spPr>
        <p:txBody>
          <a:bodyPr wrap="square" lIns="0" rIns="0" tIns="0" bIns="0" anchor="t">
            <a:spAutoFit/>
            <a:spAutoFit/>
          </a:bodyPr>
          <a:lstStyle/>
          <a:p>
            <a:pPr algn="l">
              <a:lnSpc>
                <a:spcPct val="98000"/>
              </a:lnSpc>
            </a:pPr>
            <a:r>
              <a:rPr sz="5400" b="1" i="0" spc="-120">
                <a:solidFill>
                  <a:srgbClr val="201914"/>
                </a:solidFill>
                <a:latin typeface="Arial"/>
              </a:rPr>
              <a:t>Their research told them the founding premise was wrong, and they believed it.</a:t>
            </a:r>
          </a:p>
        </p:txBody>
      </p:sp>
      <p:sp>
        <p:nvSpPr>
          <p:cNvPr id="4" name="Rectangle 3"/>
          <p:cNvSpPr/>
          <p:nvPr/>
        </p:nvSpPr>
        <p:spPr>
          <a:xfrm>
            <a:off x="10477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657600"/>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idea they started with</a:t>
            </a:r>
          </a:p>
        </p:txBody>
      </p:sp>
      <p:sp>
        <p:nvSpPr>
          <p:cNvPr id="6" name="TextBox 5"/>
          <p:cNvSpPr txBox="1"/>
          <p:nvPr/>
        </p:nvSpPr>
        <p:spPr>
          <a:xfrm>
            <a:off x="1047750" y="4657725"/>
            <a:ext cx="5143500" cy="23050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Battery swapping. The barrier to electric two-wheelers was the time it took to charge, so you swap a depleted battery for a full one in a couple of minutes and ride away. It is still a good idea.</a:t>
            </a:r>
          </a:p>
        </p:txBody>
      </p:sp>
      <p:sp>
        <p:nvSpPr>
          <p:cNvPr id="7" name="Rectangle 6"/>
          <p:cNvSpPr/>
          <p:nvPr/>
        </p:nvSpPr>
        <p:spPr>
          <a:xfrm>
            <a:off x="65722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657600"/>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What the research came back with</a:t>
            </a:r>
          </a:p>
        </p:txBody>
      </p:sp>
      <p:sp>
        <p:nvSpPr>
          <p:cNvPr id="9" name="TextBox 8"/>
          <p:cNvSpPr txBox="1"/>
          <p:nvPr/>
        </p:nvSpPr>
        <p:spPr>
          <a:xfrm>
            <a:off x="6572250" y="4657725"/>
            <a:ext cx="5143500" cy="261937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Not that swapping was slightly suboptimal — that they were solving the wrong problem. The obstacle was that the electric scooters available in India were simply bad vehicles, and no charging arrangement fixes a machine nobody wants to ride.</a:t>
            </a:r>
          </a:p>
        </p:txBody>
      </p:sp>
      <p:sp>
        <p:nvSpPr>
          <p:cNvPr id="10" name="Rectangle 9"/>
          <p:cNvSpPr/>
          <p:nvPr/>
        </p:nvSpPr>
        <p:spPr>
          <a:xfrm>
            <a:off x="12096750" y="33432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657600"/>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What they did about it</a:t>
            </a:r>
          </a:p>
        </p:txBody>
      </p:sp>
      <p:sp>
        <p:nvSpPr>
          <p:cNvPr id="12" name="TextBox 11"/>
          <p:cNvSpPr txBox="1"/>
          <p:nvPr/>
        </p:nvSpPr>
        <p:spPr>
          <a:xfrm>
            <a:off x="12096750" y="4657725"/>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Abandoned the founding idea and became a vehicle company. The S340 was shown in 2016, three years in, with no product on sale and no revenue. The Ather 450 launched in 2018.</a:t>
            </a:r>
          </a:p>
        </p:txBody>
      </p:sp>
      <p:sp>
        <p:nvSpPr>
          <p:cNvPr id="13" name="TextBox 12"/>
          <p:cNvSpPr txBox="1"/>
          <p:nvPr/>
        </p:nvSpPr>
        <p:spPr>
          <a:xfrm>
            <a:off x="1047750" y="8181975"/>
            <a:ext cx="16192500" cy="140017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Five years passed between abandoning battery swapping and having a product in the market at any volume. Getting the question right early does not make the work fast. It makes the work worth doing.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SECOND FINDING, AND THE DECISION THAT LOOKS IRRATIONAL</a:t>
            </a:r>
          </a:p>
        </p:txBody>
      </p:sp>
      <p:sp>
        <p:nvSpPr>
          <p:cNvPr id="3" name="TextBox 2"/>
          <p:cNvSpPr txBox="1"/>
          <p:nvPr/>
        </p:nvSpPr>
        <p:spPr>
          <a:xfrm>
            <a:off x="1047750" y="1504950"/>
            <a:ext cx="16192500" cy="1323975"/>
          </a:xfrm>
          <a:prstGeom prst="rect">
            <a:avLst/>
          </a:prstGeom>
          <a:noFill/>
        </p:spPr>
        <p:txBody>
          <a:bodyPr wrap="square" lIns="0" rIns="0" tIns="0" bIns="0" anchor="t">
            <a:spAutoFit/>
            <a:spAutoFit/>
          </a:bodyPr>
          <a:lstStyle/>
          <a:p>
            <a:pPr algn="l">
              <a:lnSpc>
                <a:spcPct val="98000"/>
              </a:lnSpc>
            </a:pPr>
            <a:r>
              <a:rPr sz="5100" b="1" i="0" spc="-120">
                <a:solidFill>
                  <a:srgbClr val="201914"/>
                </a:solidFill>
                <a:latin typeface="Arial"/>
              </a:rPr>
              <a:t>They spent scarce capital building infrastructure that helps their competitors.</a:t>
            </a:r>
          </a:p>
        </p:txBody>
      </p:sp>
      <p:sp>
        <p:nvSpPr>
          <p:cNvPr id="4" name="Rectangle 3"/>
          <p:cNvSpPr/>
          <p:nvPr/>
        </p:nvSpPr>
        <p:spPr>
          <a:xfrm>
            <a:off x="1047750" y="3267075"/>
            <a:ext cx="7810500" cy="45339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5909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WHAT THE RESEARCH FOUND</a:t>
            </a:r>
          </a:p>
        </p:txBody>
      </p:sp>
      <p:sp>
        <p:nvSpPr>
          <p:cNvPr id="6" name="TextBox 5"/>
          <p:cNvSpPr txBox="1"/>
          <p:nvPr/>
        </p:nvSpPr>
        <p:spPr>
          <a:xfrm>
            <a:off x="1428750" y="4086225"/>
            <a:ext cx="7048500" cy="1009650"/>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Around half of Indian electric-vehicle owners had considered going back to petrol because of charging concerns.</a:t>
            </a:r>
          </a:p>
        </p:txBody>
      </p:sp>
      <p:sp>
        <p:nvSpPr>
          <p:cNvPr id="7" name="TextBox 6"/>
          <p:cNvSpPr txBox="1"/>
          <p:nvPr/>
        </p:nvSpPr>
        <p:spPr>
          <a:xfrm>
            <a:off x="1428750" y="5248275"/>
            <a:ext cx="7048500" cy="371475"/>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That is not a finding about product features.</a:t>
            </a:r>
          </a:p>
        </p:txBody>
      </p:sp>
      <p:sp>
        <p:nvSpPr>
          <p:cNvPr id="8" name="TextBox 7"/>
          <p:cNvSpPr txBox="1"/>
          <p:nvPr/>
        </p:nvSpPr>
        <p:spPr>
          <a:xfrm>
            <a:off x="1428750" y="5772150"/>
            <a:ext cx="7048500" cy="1323975"/>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The finding was not 'our customers want more chargers'. It was 'the category has a trust problem, and nobody buys any electric scooter until the anxiety is gone'.</a:t>
            </a:r>
          </a:p>
        </p:txBody>
      </p:sp>
      <p:sp>
        <p:nvSpPr>
          <p:cNvPr id="9" name="Rectangle 8"/>
          <p:cNvSpPr/>
          <p:nvPr/>
        </p:nvSpPr>
        <p:spPr>
          <a:xfrm>
            <a:off x="9429750" y="3267075"/>
            <a:ext cx="7810500" cy="45339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5909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WHAT THEY BUILT</a:t>
            </a:r>
          </a:p>
        </p:txBody>
      </p:sp>
      <p:sp>
        <p:nvSpPr>
          <p:cNvPr id="11" name="TextBox 10"/>
          <p:cNvSpPr txBox="1"/>
          <p:nvPr/>
        </p:nvSpPr>
        <p:spPr>
          <a:xfrm>
            <a:off x="9810750" y="4086225"/>
            <a:ext cx="7048500" cy="1009650"/>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The Ather Grid — a public fast-charging network, built before they had the sales volume to justify it.</a:t>
            </a:r>
          </a:p>
        </p:txBody>
      </p:sp>
      <p:sp>
        <p:nvSpPr>
          <p:cNvPr id="12" name="TextBox 11"/>
          <p:cNvSpPr txBox="1"/>
          <p:nvPr/>
        </p:nvSpPr>
        <p:spPr>
          <a:xfrm>
            <a:off x="9810750" y="5248275"/>
            <a:ext cx="7048500" cy="685800"/>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More than 2,500 charge points across 230-plus cities by mid-2024.</a:t>
            </a:r>
          </a:p>
        </p:txBody>
      </p:sp>
      <p:sp>
        <p:nvSpPr>
          <p:cNvPr id="13" name="TextBox 12"/>
          <p:cNvSpPr txBox="1"/>
          <p:nvPr/>
        </p:nvSpPr>
        <p:spPr>
          <a:xfrm>
            <a:off x="9810750" y="6086475"/>
            <a:ext cx="7048500" cy="1009650"/>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Then they open-sourced the charging standard, so competitors' scooters could use the network Ather had paid for.</a:t>
            </a:r>
          </a:p>
        </p:txBody>
      </p:sp>
      <p:sp>
        <p:nvSpPr>
          <p:cNvPr id="14" name="TextBox 13"/>
          <p:cNvSpPr txBox="1"/>
          <p:nvPr/>
        </p:nvSpPr>
        <p:spPr>
          <a:xfrm>
            <a:off x="1047750" y="8181975"/>
            <a:ext cx="16192500" cy="140017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'What would make you buy an Ather?' never produces that. 'Tell me about the last time you seriously considered an electric scooter and did not buy one' produces it immediately.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ATHER · FY24 · READ THESE HONESTLY</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This is not a triumphant counter-example to two giants.</a:t>
            </a:r>
          </a:p>
        </p:txBody>
      </p:sp>
      <p:sp>
        <p:nvSpPr>
          <p:cNvPr id="4" name="Rectangle 3"/>
          <p:cNvSpPr/>
          <p:nvPr/>
        </p:nvSpPr>
        <p:spPr>
          <a:xfrm>
            <a:off x="1047750" y="3409950"/>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90950"/>
            <a:ext cx="4305300" cy="762000"/>
          </a:xfrm>
          <a:prstGeom prst="rect">
            <a:avLst/>
          </a:prstGeom>
          <a:noFill/>
        </p:spPr>
        <p:txBody>
          <a:bodyPr wrap="square" lIns="0" rIns="0" tIns="0" bIns="0" anchor="t">
            <a:spAutoFit/>
            <a:spAutoFit/>
          </a:bodyPr>
          <a:lstStyle/>
          <a:p>
            <a:pPr algn="l">
              <a:lnSpc>
                <a:spcPct val="98000"/>
              </a:lnSpc>
            </a:pPr>
            <a:r>
              <a:rPr sz="5700" b="1" i="0">
                <a:solidFill>
                  <a:srgbClr val="201914"/>
                </a:solidFill>
                <a:latin typeface="Arial"/>
              </a:rPr>
              <a:t>₹1,754 cr</a:t>
            </a:r>
          </a:p>
        </p:txBody>
      </p:sp>
      <p:sp>
        <p:nvSpPr>
          <p:cNvPr id="6" name="TextBox 5"/>
          <p:cNvSpPr txBox="1"/>
          <p:nvPr/>
        </p:nvSpPr>
        <p:spPr>
          <a:xfrm>
            <a:off x="1466850" y="4552950"/>
            <a:ext cx="4305300"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revenue</a:t>
            </a:r>
          </a:p>
        </p:txBody>
      </p:sp>
      <p:sp>
        <p:nvSpPr>
          <p:cNvPr id="7" name="TextBox 6"/>
          <p:cNvSpPr txBox="1"/>
          <p:nvPr/>
        </p:nvSpPr>
        <p:spPr>
          <a:xfrm>
            <a:off x="1466850" y="5448300"/>
            <a:ext cx="4305300"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On roughly 109,500 vehicles — about ₹1.6 lakh average realisation per scooter.</a:t>
            </a:r>
          </a:p>
        </p:txBody>
      </p:sp>
      <p:sp>
        <p:nvSpPr>
          <p:cNvPr id="8" name="Rectangle 7"/>
          <p:cNvSpPr/>
          <p:nvPr/>
        </p:nvSpPr>
        <p:spPr>
          <a:xfrm>
            <a:off x="6572250" y="3409950"/>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1350" y="3790950"/>
            <a:ext cx="4305300" cy="762000"/>
          </a:xfrm>
          <a:prstGeom prst="rect">
            <a:avLst/>
          </a:prstGeom>
          <a:noFill/>
        </p:spPr>
        <p:txBody>
          <a:bodyPr wrap="square" lIns="0" rIns="0" tIns="0" bIns="0" anchor="t">
            <a:spAutoFit/>
            <a:spAutoFit/>
          </a:bodyPr>
          <a:lstStyle/>
          <a:p>
            <a:pPr algn="l">
              <a:lnSpc>
                <a:spcPct val="98000"/>
              </a:lnSpc>
            </a:pPr>
            <a:r>
              <a:rPr sz="5700" b="1" i="0">
                <a:solidFill>
                  <a:srgbClr val="201914"/>
                </a:solidFill>
                <a:latin typeface="Arial"/>
              </a:rPr>
              <a:t>11.5%</a:t>
            </a:r>
          </a:p>
        </p:txBody>
      </p:sp>
      <p:sp>
        <p:nvSpPr>
          <p:cNvPr id="10" name="TextBox 9"/>
          <p:cNvSpPr txBox="1"/>
          <p:nvPr/>
        </p:nvSpPr>
        <p:spPr>
          <a:xfrm>
            <a:off x="6991350" y="4552950"/>
            <a:ext cx="4305300"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of the electric two-wheeler market</a:t>
            </a:r>
          </a:p>
        </p:txBody>
      </p:sp>
      <p:sp>
        <p:nvSpPr>
          <p:cNvPr id="11" name="TextBox 10"/>
          <p:cNvSpPr txBox="1"/>
          <p:nvPr/>
        </p:nvSpPr>
        <p:spPr>
          <a:xfrm>
            <a:off x="6991350" y="5448300"/>
            <a:ext cx="4305300"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Third largest, with 208 experience centres across 154 cities.</a:t>
            </a:r>
          </a:p>
        </p:txBody>
      </p:sp>
      <p:sp>
        <p:nvSpPr>
          <p:cNvPr id="12" name="Rectangle 11"/>
          <p:cNvSpPr/>
          <p:nvPr/>
        </p:nvSpPr>
        <p:spPr>
          <a:xfrm>
            <a:off x="12096750" y="3409950"/>
            <a:ext cx="5143500"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15850" y="3790950"/>
            <a:ext cx="4305300" cy="762000"/>
          </a:xfrm>
          <a:prstGeom prst="rect">
            <a:avLst/>
          </a:prstGeom>
          <a:noFill/>
        </p:spPr>
        <p:txBody>
          <a:bodyPr wrap="square" lIns="0" rIns="0" tIns="0" bIns="0" anchor="t">
            <a:spAutoFit/>
            <a:spAutoFit/>
          </a:bodyPr>
          <a:lstStyle/>
          <a:p>
            <a:pPr algn="l">
              <a:lnSpc>
                <a:spcPct val="98000"/>
              </a:lnSpc>
            </a:pPr>
            <a:r>
              <a:rPr sz="5700" b="1" i="0">
                <a:solidFill>
                  <a:srgbClr val="F5F1E9"/>
                </a:solidFill>
                <a:latin typeface="Arial"/>
              </a:rPr>
              <a:t>29%</a:t>
            </a:r>
          </a:p>
        </p:txBody>
      </p:sp>
      <p:sp>
        <p:nvSpPr>
          <p:cNvPr id="14" name="TextBox 13"/>
          <p:cNvSpPr txBox="1"/>
          <p:nvPr/>
        </p:nvSpPr>
        <p:spPr>
          <a:xfrm>
            <a:off x="12515850" y="4552950"/>
            <a:ext cx="4305300" cy="685800"/>
          </a:xfrm>
          <a:prstGeom prst="rect">
            <a:avLst/>
          </a:prstGeom>
          <a:noFill/>
        </p:spPr>
        <p:txBody>
          <a:bodyPr wrap="square" lIns="0" rIns="0" tIns="0" bIns="0" anchor="t">
            <a:spAutoFit/>
            <a:spAutoFit/>
          </a:bodyPr>
          <a:lstStyle/>
          <a:p>
            <a:pPr algn="l">
              <a:lnSpc>
                <a:spcPct val="104000"/>
              </a:lnSpc>
            </a:pPr>
            <a:r>
              <a:rPr sz="2400" b="1" i="0">
                <a:solidFill>
                  <a:srgbClr val="F5F1E9"/>
                </a:solidFill>
                <a:latin typeface="Arial"/>
              </a:rPr>
              <a:t>factory utilisation</a:t>
            </a:r>
          </a:p>
        </p:txBody>
      </p:sp>
      <p:sp>
        <p:nvSpPr>
          <p:cNvPr id="15" name="TextBox 14"/>
          <p:cNvSpPr txBox="1"/>
          <p:nvPr/>
        </p:nvSpPr>
        <p:spPr>
          <a:xfrm>
            <a:off x="12515850" y="5448300"/>
            <a:ext cx="4305300" cy="1524000"/>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Premium pricing limits how far down the market it can reach, and ₹205 crore from Hero MotoCorp is what allowed it to scale at all.</a:t>
            </a:r>
          </a:p>
        </p:txBody>
      </p:sp>
      <p:sp>
        <p:nvSpPr>
          <p:cNvPr id="16" name="TextBox 15"/>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Good research did not make Ather bigger than Nokia. It meant that when the founding premise turned out to be wrong, they found out in year one rather than year seven.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DIFFERENCE IS FOUR WORDS LONG</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It decided both companies.</a:t>
            </a:r>
          </a:p>
        </p:txBody>
      </p:sp>
      <p:sp>
        <p:nvSpPr>
          <p:cNvPr id="4" name="Rectangle 3"/>
          <p:cNvSpPr/>
          <p:nvPr/>
        </p:nvSpPr>
        <p:spPr>
          <a:xfrm>
            <a:off x="1047750" y="2838450"/>
            <a:ext cx="7810500" cy="54102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1623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THE CONFIRMATORY QUESTION</a:t>
            </a:r>
          </a:p>
        </p:txBody>
      </p:sp>
      <p:sp>
        <p:nvSpPr>
          <p:cNvPr id="6" name="TextBox 5"/>
          <p:cNvSpPr txBox="1"/>
          <p:nvPr/>
        </p:nvSpPr>
        <p:spPr>
          <a:xfrm>
            <a:off x="1428750" y="365760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'Which of our features would you like us to improve?'</a:t>
            </a:r>
          </a:p>
        </p:txBody>
      </p:sp>
      <p:sp>
        <p:nvSpPr>
          <p:cNvPr id="7" name="TextBox 6"/>
          <p:cNvSpPr txBox="1"/>
          <p:nvPr/>
        </p:nvSpPr>
        <p:spPr>
          <a:xfrm>
            <a:off x="1428750" y="4552950"/>
            <a:ext cx="7048500" cy="1438275"/>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Assumes the customer uses your product. Assumes the category will continue in its present shape. Assumes improvement is the relevant axis.</a:t>
            </a:r>
          </a:p>
        </p:txBody>
      </p:sp>
      <p:sp>
        <p:nvSpPr>
          <p:cNvPr id="8" name="TextBox 7"/>
          <p:cNvSpPr txBox="1"/>
          <p:nvPr/>
        </p:nvSpPr>
        <p:spPr>
          <a:xfrm>
            <a:off x="1428750" y="6143625"/>
            <a:ext cx="7048500" cy="1095375"/>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Every one of those assumptions is invisible to the person answering, so they cannot disagree with it even if they want to.</a:t>
            </a:r>
          </a:p>
        </p:txBody>
      </p:sp>
      <p:sp>
        <p:nvSpPr>
          <p:cNvPr id="9" name="Rectangle 8"/>
          <p:cNvSpPr/>
          <p:nvPr/>
        </p:nvSpPr>
        <p:spPr>
          <a:xfrm>
            <a:off x="9429750" y="2838450"/>
            <a:ext cx="7810500" cy="54102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1623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THE EXPLORATORY QUESTION</a:t>
            </a:r>
          </a:p>
        </p:txBody>
      </p:sp>
      <p:sp>
        <p:nvSpPr>
          <p:cNvPr id="11" name="TextBox 10"/>
          <p:cNvSpPr txBox="1"/>
          <p:nvPr/>
        </p:nvSpPr>
        <p:spPr>
          <a:xfrm>
            <a:off x="9810750" y="3657600"/>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'Tell me about the last time this went wrong for you.'</a:t>
            </a:r>
          </a:p>
        </p:txBody>
      </p:sp>
      <p:sp>
        <p:nvSpPr>
          <p:cNvPr id="12" name="TextBox 11"/>
          <p:cNvSpPr txBox="1"/>
          <p:nvPr/>
        </p:nvSpPr>
        <p:spPr>
          <a:xfrm>
            <a:off x="9810750" y="4552950"/>
            <a:ext cx="7048500" cy="10953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Assumes almost nothing. It does not assume the respondent uses your product and does not ask them to imagine anything.</a:t>
            </a:r>
          </a:p>
        </p:txBody>
      </p:sp>
      <p:sp>
        <p:nvSpPr>
          <p:cNvPr id="13" name="TextBox 12"/>
          <p:cNvSpPr txBox="1"/>
          <p:nvPr/>
        </p:nvSpPr>
        <p:spPr>
          <a:xfrm>
            <a:off x="9810750" y="5800725"/>
            <a:ext cx="7048500" cy="14382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It asks for a memory of an event, which is the one thing a person can report reliably — and it can produce an answer that destroys your roadmap.</a:t>
            </a:r>
          </a:p>
        </p:txBody>
      </p:sp>
      <p:sp>
        <p:nvSpPr>
          <p:cNvPr id="14" name="TextBox 13"/>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Exploratory research finds the question. Confirmatory research answers it. Doing them in the wrong order is what killed both companies.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FRAMEWORK 1 · BLUE, GREEN, AMBER — KEEP THESE COLOURS THROUGHOUT</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Question Ladder</a:t>
            </a:r>
          </a:p>
        </p:txBody>
      </p:sp>
      <p:sp>
        <p:nvSpPr>
          <p:cNvPr id="4" name="TextBox 3"/>
          <p:cNvSpPr txBox="1"/>
          <p:nvPr/>
        </p:nvSpPr>
        <p:spPr>
          <a:xfrm>
            <a:off x="1314450" y="2838450"/>
            <a:ext cx="25622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FAMILY</a:t>
            </a:r>
          </a:p>
        </p:txBody>
      </p:sp>
      <p:sp>
        <p:nvSpPr>
          <p:cNvPr id="5" name="TextBox 4"/>
          <p:cNvSpPr txBox="1"/>
          <p:nvPr/>
        </p:nvSpPr>
        <p:spPr>
          <a:xfrm>
            <a:off x="4124325" y="2838450"/>
            <a:ext cx="27432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IT ASKS FOR</a:t>
            </a:r>
          </a:p>
        </p:txBody>
      </p:sp>
      <p:sp>
        <p:nvSpPr>
          <p:cNvPr id="6" name="TextBox 5"/>
          <p:cNvSpPr txBox="1"/>
          <p:nvPr/>
        </p:nvSpPr>
        <p:spPr>
          <a:xfrm>
            <a:off x="7115175" y="2838450"/>
            <a:ext cx="22860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THE RESPONDENT HAS TO DO</a:t>
            </a:r>
          </a:p>
        </p:txBody>
      </p:sp>
      <p:sp>
        <p:nvSpPr>
          <p:cNvPr id="7" name="TextBox 6"/>
          <p:cNvSpPr txBox="1"/>
          <p:nvPr/>
        </p:nvSpPr>
        <p:spPr>
          <a:xfrm>
            <a:off x="9648825" y="2838450"/>
            <a:ext cx="36576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HOW RELIABLE</a:t>
            </a:r>
          </a:p>
        </p:txBody>
      </p:sp>
      <p:sp>
        <p:nvSpPr>
          <p:cNvPr id="8" name="TextBox 7"/>
          <p:cNvSpPr txBox="1"/>
          <p:nvPr/>
        </p:nvSpPr>
        <p:spPr>
          <a:xfrm>
            <a:off x="13554075" y="2838450"/>
            <a:ext cx="36576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EXAMPLE</a:t>
            </a:r>
          </a:p>
        </p:txBody>
      </p:sp>
      <p:sp>
        <p:nvSpPr>
          <p:cNvPr id="9" name="Rectangle 8"/>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4450" y="4038600"/>
            <a:ext cx="256222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Behaviour (Blue)</a:t>
            </a:r>
          </a:p>
        </p:txBody>
      </p:sp>
      <p:sp>
        <p:nvSpPr>
          <p:cNvPr id="11" name="TextBox 10"/>
          <p:cNvSpPr txBox="1"/>
          <p:nvPr/>
        </p:nvSpPr>
        <p:spPr>
          <a:xfrm>
            <a:off x="4124325" y="4038600"/>
            <a:ext cx="27432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 specific past event, with a time and a scene</a:t>
            </a:r>
          </a:p>
        </p:txBody>
      </p:sp>
      <p:sp>
        <p:nvSpPr>
          <p:cNvPr id="12" name="TextBox 11"/>
          <p:cNvSpPr txBox="1"/>
          <p:nvPr/>
        </p:nvSpPr>
        <p:spPr>
          <a:xfrm>
            <a:off x="7115175" y="4038600"/>
            <a:ext cx="22860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Remember</a:t>
            </a:r>
          </a:p>
        </p:txBody>
      </p:sp>
      <p:sp>
        <p:nvSpPr>
          <p:cNvPr id="13" name="TextBox 12"/>
          <p:cNvSpPr txBox="1"/>
          <p:nvPr/>
        </p:nvSpPr>
        <p:spPr>
          <a:xfrm>
            <a:off x="9648825" y="4038600"/>
            <a:ext cx="36576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High — people report events far better than they report themselves</a:t>
            </a:r>
          </a:p>
        </p:txBody>
      </p:sp>
      <p:sp>
        <p:nvSpPr>
          <p:cNvPr id="14" name="TextBox 13"/>
          <p:cNvSpPr txBox="1"/>
          <p:nvPr/>
        </p:nvSpPr>
        <p:spPr>
          <a:xfrm>
            <a:off x="13554075" y="4038600"/>
            <a:ext cx="3657600"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'Tell me about the last time you and your roommates had to sort out money. What happened?'</a:t>
            </a:r>
          </a:p>
        </p:txBody>
      </p:sp>
      <p:sp>
        <p:nvSpPr>
          <p:cNvPr id="15" name="Rectangle 14"/>
          <p:cNvSpPr/>
          <p:nvPr/>
        </p:nvSpPr>
        <p:spPr>
          <a:xfrm>
            <a:off x="1047750" y="56483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7750" y="5648325"/>
            <a:ext cx="16192500" cy="18573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6153150"/>
            <a:ext cx="256222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Frustration (Green)</a:t>
            </a:r>
          </a:p>
        </p:txBody>
      </p:sp>
      <p:sp>
        <p:nvSpPr>
          <p:cNvPr id="18" name="TextBox 17"/>
          <p:cNvSpPr txBox="1"/>
          <p:nvPr/>
        </p:nvSpPr>
        <p:spPr>
          <a:xfrm>
            <a:off x="4124325" y="6153150"/>
            <a:ext cx="27432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What goes wrong in their world, with no product named</a:t>
            </a:r>
          </a:p>
        </p:txBody>
      </p:sp>
      <p:sp>
        <p:nvSpPr>
          <p:cNvPr id="19" name="TextBox 18"/>
          <p:cNvSpPr txBox="1"/>
          <p:nvPr/>
        </p:nvSpPr>
        <p:spPr>
          <a:xfrm>
            <a:off x="7115175" y="6153150"/>
            <a:ext cx="22860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Describe a pattern</a:t>
            </a:r>
          </a:p>
        </p:txBody>
      </p:sp>
      <p:sp>
        <p:nvSpPr>
          <p:cNvPr id="20" name="TextBox 19"/>
          <p:cNvSpPr txBox="1"/>
          <p:nvPr/>
        </p:nvSpPr>
        <p:spPr>
          <a:xfrm>
            <a:off x="9648825" y="6153150"/>
            <a:ext cx="36576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Moderate — accurate about the shape of the problem, unreliable about its size</a:t>
            </a:r>
          </a:p>
        </p:txBody>
      </p:sp>
      <p:sp>
        <p:nvSpPr>
          <p:cNvPr id="21" name="TextBox 20"/>
          <p:cNvSpPr txBox="1"/>
          <p:nvPr/>
        </p:nvSpPr>
        <p:spPr>
          <a:xfrm>
            <a:off x="13554075" y="6153150"/>
            <a:ext cx="36576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'What is the most irritating part of living with three other people?'</a:t>
            </a:r>
          </a:p>
        </p:txBody>
      </p:sp>
      <p:sp>
        <p:nvSpPr>
          <p:cNvPr id="22" name="Rectangle 21"/>
          <p:cNvSpPr/>
          <p:nvPr/>
        </p:nvSpPr>
        <p:spPr>
          <a:xfrm>
            <a:off x="1047750" y="75057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 y="8010525"/>
            <a:ext cx="2562225"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Opinion (Amber)</a:t>
            </a:r>
          </a:p>
        </p:txBody>
      </p:sp>
      <p:sp>
        <p:nvSpPr>
          <p:cNvPr id="24" name="TextBox 23"/>
          <p:cNvSpPr txBox="1"/>
          <p:nvPr/>
        </p:nvSpPr>
        <p:spPr>
          <a:xfrm>
            <a:off x="4124325" y="8010525"/>
            <a:ext cx="2743200" cy="109537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 preference, a judgement, or a prediction about themselves</a:t>
            </a:r>
          </a:p>
        </p:txBody>
      </p:sp>
      <p:sp>
        <p:nvSpPr>
          <p:cNvPr id="25" name="TextBox 24"/>
          <p:cNvSpPr txBox="1"/>
          <p:nvPr/>
        </p:nvSpPr>
        <p:spPr>
          <a:xfrm>
            <a:off x="7115175" y="8010525"/>
            <a:ext cx="22860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Imagine</a:t>
            </a:r>
          </a:p>
        </p:txBody>
      </p:sp>
      <p:sp>
        <p:nvSpPr>
          <p:cNvPr id="26" name="TextBox 25"/>
          <p:cNvSpPr txBox="1"/>
          <p:nvPr/>
        </p:nvSpPr>
        <p:spPr>
          <a:xfrm>
            <a:off x="9648825" y="8010525"/>
            <a:ext cx="3657600"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Low — and heavily shaped by whoever wrote the question</a:t>
            </a:r>
          </a:p>
        </p:txBody>
      </p:sp>
      <p:sp>
        <p:nvSpPr>
          <p:cNvPr id="27" name="TextBox 26"/>
          <p:cNvSpPr txBox="1"/>
          <p:nvPr/>
        </p:nvSpPr>
        <p:spPr>
          <a:xfrm>
            <a:off x="13554075" y="8010525"/>
            <a:ext cx="3657600" cy="8382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'Would you use an app that splits your hostel bills automatically?'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THREE RULES FOR USING IT</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ladder is ordered by what the respondent has to do in their head</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Remembering beats imagining</a:t>
            </a:r>
          </a:p>
        </p:txBody>
      </p:sp>
      <p:sp>
        <p:nvSpPr>
          <p:cNvPr id="6" name="TextBox 5"/>
          <p:cNvSpPr txBox="1"/>
          <p:nvPr/>
        </p:nvSpPr>
        <p:spPr>
          <a:xfrm>
            <a:off x="1047750" y="4724400"/>
            <a:ext cx="5143500" cy="23050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A person predicting their own future behaviour is not consulting evidence, they are constructing a flattering story in real time — and that is the family almost every untrained interviewer uses by default.</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Classify by the most foundational</a:t>
            </a:r>
          </a:p>
        </p:txBody>
      </p:sp>
      <p:sp>
        <p:nvSpPr>
          <p:cNvPr id="9" name="TextBox 8"/>
          <p:cNvSpPr txBox="1"/>
          <p:nvPr/>
        </p:nvSpPr>
        <p:spPr>
          <a:xfrm>
            <a:off x="65722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'When you last split a bill, what did you think of it?' is blue, because there is a real event anchoring it.</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You are not trying to eliminate amber</a:t>
            </a:r>
          </a:p>
        </p:txBody>
      </p:sp>
      <p:sp>
        <p:nvSpPr>
          <p:cNvPr id="12" name="TextBox 11"/>
          <p:cNvSpPr txBox="1"/>
          <p:nvPr/>
        </p:nvSpPr>
        <p:spPr>
          <a:xfrm>
            <a:off x="12096750" y="4724400"/>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You are trying to notice that a question is amber and not to base a decision on it. A good guide is mostly blue, some green, and at most one or two amber questions right at the end.</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good interview guide is mostly blue with some green. The amber questions are the ones you cut 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TRY THESE YOURSELF · BLUE, GREEN OR AMBER</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Audit these four</a:t>
            </a:r>
          </a:p>
        </p:txBody>
      </p:sp>
      <p:sp>
        <p:nvSpPr>
          <p:cNvPr id="4" name="Rectangle 3"/>
          <p:cNvSpPr/>
          <p:nvPr/>
        </p:nvSpPr>
        <p:spPr>
          <a:xfrm>
            <a:off x="1047750"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4450"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'Do you think our delivery is fast enough?'</a:t>
            </a:r>
          </a:p>
        </p:txBody>
      </p:sp>
      <p:sp>
        <p:nvSpPr>
          <p:cNvPr id="6" name="TextBox 5"/>
          <p:cNvSpPr txBox="1"/>
          <p:nvPr/>
        </p:nvSpPr>
        <p:spPr>
          <a:xfrm>
            <a:off x="1314450" y="4648200"/>
            <a:ext cx="32289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quick-commerce company surveys its own app users with this question and 78% say yes.</a:t>
            </a:r>
          </a:p>
        </p:txBody>
      </p:sp>
      <p:sp>
        <p:nvSpPr>
          <p:cNvPr id="7" name="Rectangle 6"/>
          <p:cNvSpPr/>
          <p:nvPr/>
        </p:nvSpPr>
        <p:spPr>
          <a:xfrm>
            <a:off x="5191125"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57825"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'How much would you pay for this?'</a:t>
            </a:r>
          </a:p>
        </p:txBody>
      </p:sp>
      <p:sp>
        <p:nvSpPr>
          <p:cNvPr id="9" name="TextBox 8"/>
          <p:cNvSpPr txBox="1"/>
          <p:nvPr/>
        </p:nvSpPr>
        <p:spPr>
          <a:xfrm>
            <a:off x="5457825" y="4648200"/>
            <a:ext cx="3228975" cy="18097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founder shows students a product concept. The average answer is ₹340 a month, and it goes into a revenue model.</a:t>
            </a:r>
          </a:p>
        </p:txBody>
      </p:sp>
      <p:sp>
        <p:nvSpPr>
          <p:cNvPr id="10" name="Rectangle 9"/>
          <p:cNvSpPr/>
          <p:nvPr/>
        </p:nvSpPr>
        <p:spPr>
          <a:xfrm>
            <a:off x="9334500"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'What is the most irritating part of sharing a room?'</a:t>
            </a:r>
          </a:p>
        </p:txBody>
      </p:sp>
      <p:sp>
        <p:nvSpPr>
          <p:cNvPr id="12" name="TextBox 11"/>
          <p:cNvSpPr txBox="1"/>
          <p:nvPr/>
        </p:nvSpPr>
        <p:spPr>
          <a:xfrm>
            <a:off x="9601200" y="4648200"/>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An interviewer asks this with no product mentioned at all.</a:t>
            </a:r>
          </a:p>
        </p:txBody>
      </p:sp>
      <p:sp>
        <p:nvSpPr>
          <p:cNvPr id="13" name="Rectangle 12"/>
          <p:cNvSpPr/>
          <p:nvPr/>
        </p:nvSpPr>
        <p:spPr>
          <a:xfrm>
            <a:off x="13477875"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4575"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'Tell me about the last time you lent money to a friend and it got awkward'</a:t>
            </a:r>
          </a:p>
        </p:txBody>
      </p:sp>
      <p:sp>
        <p:nvSpPr>
          <p:cNvPr id="15" name="TextBox 14"/>
          <p:cNvSpPr txBox="1"/>
          <p:nvPr/>
        </p:nvSpPr>
        <p:spPr>
          <a:xfrm>
            <a:off x="13744575" y="4648200"/>
            <a:ext cx="32289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Look at this one carefully before you answer. There is a trap in it.</a:t>
            </a:r>
          </a:p>
        </p:txBody>
      </p:sp>
      <p:sp>
        <p:nvSpPr>
          <p:cNvPr id="16" name="TextBox 15"/>
          <p:cNvSpPr txBox="1"/>
          <p:nvPr/>
        </p:nvSpPr>
        <p:spPr>
          <a:xfrm>
            <a:off x="1047750" y="9039225"/>
            <a:ext cx="16192500" cy="542925"/>
          </a:xfrm>
          <a:prstGeom prst="rect">
            <a:avLst/>
          </a:prstGeom>
          <a:noFill/>
        </p:spPr>
        <p:txBody>
          <a:bodyPr wrap="square" lIns="0" rIns="0" tIns="0" bIns="0" anchor="t">
            <a:spAutoFit/>
            <a:spAutoFit/>
          </a:bodyPr>
          <a:lstStyle/>
          <a:p>
            <a:pPr algn="l">
              <a:lnSpc>
                <a:spcPct val="118000"/>
              </a:lnSpc>
            </a:pPr>
            <a:r>
              <a:rPr sz="3300" b="0" i="1">
                <a:solidFill>
                  <a:srgbClr val="362C24"/>
                </a:solidFill>
                <a:latin typeface="Georgia"/>
              </a:rPr>
              <a:t>Name the rung, then say what is wrong with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Audit these four</a:t>
            </a:r>
          </a:p>
        </p:txBody>
      </p:sp>
      <p:sp>
        <p:nvSpPr>
          <p:cNvPr id="4" name="Rectangle 3"/>
          <p:cNvSpPr/>
          <p:nvPr/>
        </p:nvSpPr>
        <p:spPr>
          <a:xfrm>
            <a:off x="1047750" y="2838450"/>
            <a:ext cx="3762375" cy="29146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4450"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'Do you think our delivery is fast enough?'</a:t>
            </a:r>
          </a:p>
        </p:txBody>
      </p:sp>
      <p:sp>
        <p:nvSpPr>
          <p:cNvPr id="6" name="TextBox 5"/>
          <p:cNvSpPr txBox="1"/>
          <p:nvPr/>
        </p:nvSpPr>
        <p:spPr>
          <a:xfrm>
            <a:off x="1314450" y="4572000"/>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Asked of its own app users. 78% said yes.</a:t>
            </a:r>
          </a:p>
        </p:txBody>
      </p:sp>
      <p:sp>
        <p:nvSpPr>
          <p:cNvPr id="7" name="Rectangle 6"/>
          <p:cNvSpPr/>
          <p:nvPr/>
        </p:nvSpPr>
        <p:spPr>
          <a:xfrm>
            <a:off x="1047750" y="5981700"/>
            <a:ext cx="3762375" cy="36576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6267450"/>
            <a:ext cx="3228975" cy="61912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OPINION — amber, and the sample is worse</a:t>
            </a:r>
          </a:p>
        </p:txBody>
      </p:sp>
      <p:sp>
        <p:nvSpPr>
          <p:cNvPr id="9" name="TextBox 8"/>
          <p:cNvSpPr txBox="1"/>
          <p:nvPr/>
        </p:nvSpPr>
        <p:spPr>
          <a:xfrm>
            <a:off x="1314450" y="7000875"/>
            <a:ext cx="3228975" cy="2105025"/>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The company has learned that people who use its app are satisfied with its app. Blue rewrite: tell me about the last time you needed something urgently and did not order it from us.</a:t>
            </a:r>
          </a:p>
        </p:txBody>
      </p:sp>
      <p:sp>
        <p:nvSpPr>
          <p:cNvPr id="10" name="Rectangle 9"/>
          <p:cNvSpPr/>
          <p:nvPr/>
        </p:nvSpPr>
        <p:spPr>
          <a:xfrm>
            <a:off x="5191125" y="2838450"/>
            <a:ext cx="3762375" cy="29146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7825"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'How much would you pay for this?'</a:t>
            </a:r>
          </a:p>
        </p:txBody>
      </p:sp>
      <p:sp>
        <p:nvSpPr>
          <p:cNvPr id="12" name="TextBox 11"/>
          <p:cNvSpPr txBox="1"/>
          <p:nvPr/>
        </p:nvSpPr>
        <p:spPr>
          <a:xfrm>
            <a:off x="5457825" y="4572000"/>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Fifteen answers averaging ₹340 a month.</a:t>
            </a:r>
          </a:p>
        </p:txBody>
      </p:sp>
      <p:sp>
        <p:nvSpPr>
          <p:cNvPr id="13" name="Rectangle 12"/>
          <p:cNvSpPr/>
          <p:nvPr/>
        </p:nvSpPr>
        <p:spPr>
          <a:xfrm>
            <a:off x="5191125" y="5981700"/>
            <a:ext cx="3762375" cy="36576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7825" y="6267450"/>
            <a:ext cx="3228975" cy="61912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OPINION — amber</a:t>
            </a:r>
          </a:p>
        </p:txBody>
      </p:sp>
      <p:sp>
        <p:nvSpPr>
          <p:cNvPr id="15" name="TextBox 14"/>
          <p:cNvSpPr txBox="1"/>
          <p:nvPr/>
        </p:nvSpPr>
        <p:spPr>
          <a:xfrm>
            <a:off x="5457825" y="7000875"/>
            <a:ext cx="3228975" cy="2105025"/>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A prediction about your own spending, with no money on the table, made to somebody you want to be kind to. Blue rewrite: what do you spend on this today, and when did you last pay it?</a:t>
            </a:r>
          </a:p>
        </p:txBody>
      </p:sp>
      <p:sp>
        <p:nvSpPr>
          <p:cNvPr id="16" name="Rectangle 15"/>
          <p:cNvSpPr/>
          <p:nvPr/>
        </p:nvSpPr>
        <p:spPr>
          <a:xfrm>
            <a:off x="9334500" y="2838450"/>
            <a:ext cx="3762375" cy="29146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'What is the most irritating part of sharing a room?'</a:t>
            </a:r>
          </a:p>
        </p:txBody>
      </p:sp>
      <p:sp>
        <p:nvSpPr>
          <p:cNvPr id="18" name="TextBox 17"/>
          <p:cNvSpPr txBox="1"/>
          <p:nvPr/>
        </p:nvSpPr>
        <p:spPr>
          <a:xfrm>
            <a:off x="9601200" y="4572000"/>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No product mentioned at all.</a:t>
            </a:r>
          </a:p>
        </p:txBody>
      </p:sp>
      <p:sp>
        <p:nvSpPr>
          <p:cNvPr id="19" name="Rectangle 18"/>
          <p:cNvSpPr/>
          <p:nvPr/>
        </p:nvSpPr>
        <p:spPr>
          <a:xfrm>
            <a:off x="9334500" y="5981700"/>
            <a:ext cx="3762375" cy="36576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6267450"/>
            <a:ext cx="3228975" cy="61912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FRUSTRATION — green, and a good opener</a:t>
            </a:r>
          </a:p>
        </p:txBody>
      </p:sp>
      <p:sp>
        <p:nvSpPr>
          <p:cNvPr id="21" name="TextBox 20"/>
          <p:cNvSpPr txBox="1"/>
          <p:nvPr/>
        </p:nvSpPr>
        <p:spPr>
          <a:xfrm>
            <a:off x="9601200" y="7000875"/>
            <a:ext cx="3228975" cy="1847850"/>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Its job is to open the territory, not to settle anything. Follow it immediately with blue: you mentioned money — tell me about the last time that caused a problem.</a:t>
            </a:r>
          </a:p>
        </p:txBody>
      </p:sp>
      <p:sp>
        <p:nvSpPr>
          <p:cNvPr id="22" name="Rectangle 21"/>
          <p:cNvSpPr/>
          <p:nvPr/>
        </p:nvSpPr>
        <p:spPr>
          <a:xfrm>
            <a:off x="13477875" y="2838450"/>
            <a:ext cx="3762375" cy="29146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44575" y="3143250"/>
            <a:ext cx="3228975" cy="1181100"/>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'Tell me about the last time you lent money to a friend and it got awkward'</a:t>
            </a:r>
          </a:p>
        </p:txBody>
      </p:sp>
      <p:sp>
        <p:nvSpPr>
          <p:cNvPr id="24" name="TextBox 23"/>
          <p:cNvSpPr txBox="1"/>
          <p:nvPr/>
        </p:nvSpPr>
        <p:spPr>
          <a:xfrm>
            <a:off x="13744575" y="4572000"/>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An event anchor, and one word too many.</a:t>
            </a:r>
          </a:p>
        </p:txBody>
      </p:sp>
      <p:sp>
        <p:nvSpPr>
          <p:cNvPr id="25" name="Rectangle 24"/>
          <p:cNvSpPr/>
          <p:nvPr/>
        </p:nvSpPr>
        <p:spPr>
          <a:xfrm>
            <a:off x="13477875" y="5981700"/>
            <a:ext cx="3762375" cy="36576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44575" y="6267450"/>
            <a:ext cx="3228975" cy="61912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BEHAVIOUR — blue, but leading</a:t>
            </a:r>
          </a:p>
        </p:txBody>
      </p:sp>
      <p:sp>
        <p:nvSpPr>
          <p:cNvPr id="27" name="TextBox 26"/>
          <p:cNvSpPr txBox="1"/>
          <p:nvPr/>
        </p:nvSpPr>
        <p:spPr>
          <a:xfrm>
            <a:off x="13744575" y="7000875"/>
            <a:ext cx="3228975" cy="2105025"/>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The word 'awkward' has told the respondent what the answer felt like. Strip it out and let them supply their own word. A question can be on the right rung and still be broken.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WRITE THIS DOWN · IT TAKES FOUR SECONDS</a:t>
            </a:r>
          </a:p>
        </p:txBody>
      </p:sp>
      <p:sp>
        <p:nvSpPr>
          <p:cNvPr id="3" name="TextBox 2"/>
          <p:cNvSpPr txBox="1"/>
          <p:nvPr/>
        </p:nvSpPr>
        <p:spPr>
          <a:xfrm>
            <a:off x="1714500" y="4162425"/>
            <a:ext cx="14859000" cy="2352675"/>
          </a:xfrm>
          <a:prstGeom prst="rect">
            <a:avLst/>
          </a:prstGeom>
          <a:noFill/>
        </p:spPr>
        <p:txBody>
          <a:bodyPr wrap="square" lIns="0" rIns="0" tIns="0" bIns="0" anchor="t">
            <a:spAutoFit/>
            <a:spAutoFit/>
          </a:bodyPr>
          <a:lstStyle/>
          <a:p>
            <a:pPr algn="l">
              <a:lnSpc>
                <a:spcPct val="126000"/>
              </a:lnSpc>
            </a:pPr>
            <a:r>
              <a:rPr sz="3600" b="1" i="0">
                <a:solidFill>
                  <a:srgbClr val="F5F1E9"/>
                </a:solidFill>
                <a:latin typeface="Arial"/>
              </a:rPr>
              <a:t>Replace 'would you', 'do you think', 'how much' or 'what features'</a:t>
            </a:r>
          </a:p>
          <a:p>
            <a:pPr algn="l">
              <a:lnSpc>
                <a:spcPct val="126000"/>
              </a:lnSpc>
            </a:pPr>
            <a:r>
              <a:rPr sz="3600" b="1" i="0">
                <a:solidFill>
                  <a:srgbClr val="F5F1E9"/>
                </a:solidFill>
                <a:latin typeface="Arial"/>
              </a:rPr>
              <a:t>with</a:t>
            </a:r>
          </a:p>
          <a:p>
            <a:pPr algn="l">
              <a:lnSpc>
                <a:spcPct val="126000"/>
              </a:lnSpc>
            </a:pPr>
            <a:r>
              <a:rPr sz="3600" b="1" i="0">
                <a:solidFill>
                  <a:srgbClr val="F5F1E9"/>
                </a:solidFill>
                <a:latin typeface="Arial"/>
              </a:rPr>
              <a:t>'TELL ME ABOUT THE LAST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FRAMEWORK 2 · FILL THIS IN YOURSELF</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Kill Criterion</a:t>
            </a:r>
          </a:p>
        </p:txBody>
      </p:sp>
      <p:sp>
        <p:nvSpPr>
          <p:cNvPr id="4" name="TextBox 3"/>
          <p:cNvSpPr txBox="1"/>
          <p:nvPr/>
        </p:nvSpPr>
        <p:spPr>
          <a:xfrm>
            <a:off x="1314450" y="2838450"/>
            <a:ext cx="34099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FIELD</a:t>
            </a:r>
          </a:p>
        </p:txBody>
      </p:sp>
      <p:sp>
        <p:nvSpPr>
          <p:cNvPr id="5" name="TextBox 4"/>
          <p:cNvSpPr txBox="1"/>
          <p:nvPr/>
        </p:nvSpPr>
        <p:spPr>
          <a:xfrm>
            <a:off x="4972050" y="2838450"/>
            <a:ext cx="53054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FILL IN BEFORE RESEARCH BEGINS</a:t>
            </a:r>
          </a:p>
        </p:txBody>
      </p:sp>
      <p:sp>
        <p:nvSpPr>
          <p:cNvPr id="6" name="TextBox 5"/>
          <p:cNvSpPr txBox="1"/>
          <p:nvPr/>
        </p:nvSpPr>
        <p:spPr>
          <a:xfrm>
            <a:off x="10525125" y="2838450"/>
            <a:ext cx="66389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FOR OUR HOSTEL-MONEY APP</a:t>
            </a:r>
          </a:p>
        </p:txBody>
      </p:sp>
      <p:sp>
        <p:nvSpPr>
          <p:cNvPr id="7" name="Rectangle 6"/>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3876675"/>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The belief</a:t>
            </a:r>
          </a:p>
        </p:txBody>
      </p:sp>
      <p:sp>
        <p:nvSpPr>
          <p:cNvPr id="9" name="TextBox 8"/>
          <p:cNvSpPr txBox="1"/>
          <p:nvPr/>
        </p:nvSpPr>
        <p:spPr>
          <a:xfrm>
            <a:off x="4972050" y="3876675"/>
            <a:ext cx="53054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The one thing I am assuming is true</a:t>
            </a:r>
          </a:p>
        </p:txBody>
      </p:sp>
      <p:sp>
        <p:nvSpPr>
          <p:cNvPr id="10" name="TextBox 9"/>
          <p:cNvSpPr txBox="1"/>
          <p:nvPr/>
        </p:nvSpPr>
        <p:spPr>
          <a:xfrm>
            <a:off x="10525125" y="3876675"/>
            <a:ext cx="66389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a:t>
            </a:r>
          </a:p>
        </p:txBody>
      </p:sp>
      <p:sp>
        <p:nvSpPr>
          <p:cNvPr id="11" name="Rectangle 10"/>
          <p:cNvSpPr/>
          <p:nvPr/>
        </p:nvSpPr>
        <p:spPr>
          <a:xfrm>
            <a:off x="1047750" y="4705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4705350"/>
            <a:ext cx="16192500" cy="11715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5048250"/>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The evidence I expect</a:t>
            </a:r>
          </a:p>
        </p:txBody>
      </p:sp>
      <p:sp>
        <p:nvSpPr>
          <p:cNvPr id="14" name="TextBox 13"/>
          <p:cNvSpPr txBox="1"/>
          <p:nvPr/>
        </p:nvSpPr>
        <p:spPr>
          <a:xfrm>
            <a:off x="4972050" y="5048250"/>
            <a:ext cx="53054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What I will see if I am right</a:t>
            </a:r>
          </a:p>
        </p:txBody>
      </p:sp>
      <p:sp>
        <p:nvSpPr>
          <p:cNvPr id="15" name="TextBox 14"/>
          <p:cNvSpPr txBox="1"/>
          <p:nvPr/>
        </p:nvSpPr>
        <p:spPr>
          <a:xfrm>
            <a:off x="10525125" y="5048250"/>
            <a:ext cx="66389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a:t>
            </a:r>
          </a:p>
        </p:txBody>
      </p:sp>
      <p:sp>
        <p:nvSpPr>
          <p:cNvPr id="16" name="Rectangle 15"/>
          <p:cNvSpPr/>
          <p:nvPr/>
        </p:nvSpPr>
        <p:spPr>
          <a:xfrm>
            <a:off x="1047750" y="58769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6219825"/>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The kill criterion</a:t>
            </a:r>
          </a:p>
        </p:txBody>
      </p:sp>
      <p:sp>
        <p:nvSpPr>
          <p:cNvPr id="18" name="TextBox 17"/>
          <p:cNvSpPr txBox="1"/>
          <p:nvPr/>
        </p:nvSpPr>
        <p:spPr>
          <a:xfrm>
            <a:off x="4972050" y="6219825"/>
            <a:ext cx="53054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The finding that makes me stop, with a threshold</a:t>
            </a:r>
          </a:p>
        </p:txBody>
      </p:sp>
      <p:sp>
        <p:nvSpPr>
          <p:cNvPr id="19" name="TextBox 18"/>
          <p:cNvSpPr txBox="1"/>
          <p:nvPr/>
        </p:nvSpPr>
        <p:spPr>
          <a:xfrm>
            <a:off x="10525125" y="6219825"/>
            <a:ext cx="66389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a:t>
            </a:r>
          </a:p>
        </p:txBody>
      </p:sp>
      <p:sp>
        <p:nvSpPr>
          <p:cNvPr id="20" name="Rectangle 19"/>
          <p:cNvSpPr/>
          <p:nvPr/>
        </p:nvSpPr>
        <p:spPr>
          <a:xfrm>
            <a:off x="1047750" y="71723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47750" y="7172325"/>
            <a:ext cx="16192500" cy="1295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4450" y="7515225"/>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Who decides</a:t>
            </a:r>
          </a:p>
        </p:txBody>
      </p:sp>
      <p:sp>
        <p:nvSpPr>
          <p:cNvPr id="23" name="TextBox 22"/>
          <p:cNvSpPr txBox="1"/>
          <p:nvPr/>
        </p:nvSpPr>
        <p:spPr>
          <a:xfrm>
            <a:off x="4972050" y="7515225"/>
            <a:ext cx="53054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Who else has seen this sentence, so I cannot rewrite it</a:t>
            </a:r>
          </a:p>
        </p:txBody>
      </p:sp>
      <p:sp>
        <p:nvSpPr>
          <p:cNvPr id="24" name="TextBox 23"/>
          <p:cNvSpPr txBox="1"/>
          <p:nvPr/>
        </p:nvSpPr>
        <p:spPr>
          <a:xfrm>
            <a:off x="10525125" y="7515225"/>
            <a:ext cx="66389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a:t>
            </a:r>
          </a:p>
        </p:txBody>
      </p:sp>
      <p:sp>
        <p:nvSpPr>
          <p:cNvPr id="25" name="Rectangle 24"/>
          <p:cNvSpPr/>
          <p:nvPr/>
        </p:nvSpPr>
        <p:spPr>
          <a:xfrm>
            <a:off x="1047750" y="84677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14450" y="8810625"/>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What I do if it fires</a:t>
            </a:r>
          </a:p>
        </p:txBody>
      </p:sp>
      <p:sp>
        <p:nvSpPr>
          <p:cNvPr id="27" name="TextBox 26"/>
          <p:cNvSpPr txBox="1"/>
          <p:nvPr/>
        </p:nvSpPr>
        <p:spPr>
          <a:xfrm>
            <a:off x="4972050" y="8810625"/>
            <a:ext cx="53054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The actual next step, not 'reconsider'</a:t>
            </a:r>
          </a:p>
        </p:txBody>
      </p:sp>
      <p:sp>
        <p:nvSpPr>
          <p:cNvPr id="28" name="TextBox 27"/>
          <p:cNvSpPr txBox="1"/>
          <p:nvPr/>
        </p:nvSpPr>
        <p:spPr>
          <a:xfrm>
            <a:off x="10525125" y="8810625"/>
            <a:ext cx="66389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Kill Criterion</a:t>
            </a:r>
          </a:p>
        </p:txBody>
      </p:sp>
      <p:sp>
        <p:nvSpPr>
          <p:cNvPr id="4" name="TextBox 3"/>
          <p:cNvSpPr txBox="1"/>
          <p:nvPr/>
        </p:nvSpPr>
        <p:spPr>
          <a:xfrm>
            <a:off x="1314450" y="2838450"/>
            <a:ext cx="34099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FIELD</a:t>
            </a:r>
          </a:p>
        </p:txBody>
      </p:sp>
      <p:sp>
        <p:nvSpPr>
          <p:cNvPr id="5" name="TextBox 4"/>
          <p:cNvSpPr txBox="1"/>
          <p:nvPr/>
        </p:nvSpPr>
        <p:spPr>
          <a:xfrm>
            <a:off x="4972050" y="2838450"/>
            <a:ext cx="53054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FILL IN BEFORE RESEARCH BEGINS</a:t>
            </a:r>
          </a:p>
        </p:txBody>
      </p:sp>
      <p:sp>
        <p:nvSpPr>
          <p:cNvPr id="6" name="TextBox 5"/>
          <p:cNvSpPr txBox="1"/>
          <p:nvPr/>
        </p:nvSpPr>
        <p:spPr>
          <a:xfrm>
            <a:off x="10525125" y="2838450"/>
            <a:ext cx="66389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FOR OUR HOSTEL-MONEY APP</a:t>
            </a:r>
          </a:p>
        </p:txBody>
      </p:sp>
      <p:sp>
        <p:nvSpPr>
          <p:cNvPr id="7" name="Rectangle 6"/>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3695700"/>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The belief</a:t>
            </a:r>
          </a:p>
        </p:txBody>
      </p:sp>
      <p:sp>
        <p:nvSpPr>
          <p:cNvPr id="9" name="TextBox 8"/>
          <p:cNvSpPr txBox="1"/>
          <p:nvPr/>
        </p:nvSpPr>
        <p:spPr>
          <a:xfrm>
            <a:off x="4972050" y="3695700"/>
            <a:ext cx="53054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The one thing I am assuming is true</a:t>
            </a:r>
          </a:p>
        </p:txBody>
      </p:sp>
      <p:sp>
        <p:nvSpPr>
          <p:cNvPr id="10" name="TextBox 9"/>
          <p:cNvSpPr txBox="1"/>
          <p:nvPr/>
        </p:nvSpPr>
        <p:spPr>
          <a:xfrm>
            <a:off x="10525125" y="3695700"/>
            <a:ext cx="66389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Shared money causes real, repeated friction between hostel students</a:t>
            </a:r>
          </a:p>
        </p:txBody>
      </p:sp>
      <p:sp>
        <p:nvSpPr>
          <p:cNvPr id="11" name="Rectangle 10"/>
          <p:cNvSpPr/>
          <p:nvPr/>
        </p:nvSpPr>
        <p:spPr>
          <a:xfrm>
            <a:off x="1047750" y="44672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4467225"/>
            <a:ext cx="16192500" cy="9334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4629150"/>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The evidence I expect</a:t>
            </a:r>
          </a:p>
        </p:txBody>
      </p:sp>
      <p:sp>
        <p:nvSpPr>
          <p:cNvPr id="14" name="TextBox 13"/>
          <p:cNvSpPr txBox="1"/>
          <p:nvPr/>
        </p:nvSpPr>
        <p:spPr>
          <a:xfrm>
            <a:off x="4972050" y="4629150"/>
            <a:ext cx="53054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What I will see if I am right</a:t>
            </a:r>
          </a:p>
        </p:txBody>
      </p:sp>
      <p:sp>
        <p:nvSpPr>
          <p:cNvPr id="15" name="TextBox 14"/>
          <p:cNvSpPr txBox="1"/>
          <p:nvPr/>
        </p:nvSpPr>
        <p:spPr>
          <a:xfrm>
            <a:off x="10525125" y="4629150"/>
            <a:ext cx="66389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Most people can immediately recall a specific incident from the last month</a:t>
            </a:r>
          </a:p>
        </p:txBody>
      </p:sp>
      <p:sp>
        <p:nvSpPr>
          <p:cNvPr id="16" name="Rectangle 15"/>
          <p:cNvSpPr/>
          <p:nvPr/>
        </p:nvSpPr>
        <p:spPr>
          <a:xfrm>
            <a:off x="1047750" y="54006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7750" y="5400675"/>
            <a:ext cx="16192500" cy="12096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5562600"/>
            <a:ext cx="3409950" cy="323850"/>
          </a:xfrm>
          <a:prstGeom prst="rect">
            <a:avLst/>
          </a:prstGeom>
          <a:noFill/>
        </p:spPr>
        <p:txBody>
          <a:bodyPr wrap="square" lIns="0" rIns="0" tIns="0" bIns="0" anchor="t">
            <a:spAutoFit/>
            <a:spAutoFit/>
          </a:bodyPr>
          <a:lstStyle/>
          <a:p>
            <a:pPr algn="l">
              <a:lnSpc>
                <a:spcPct val="113999"/>
              </a:lnSpc>
            </a:pPr>
            <a:r>
              <a:rPr sz="1900" b="1" i="0">
                <a:solidFill>
                  <a:srgbClr val="F5F1E9"/>
                </a:solidFill>
                <a:latin typeface="Arial"/>
              </a:rPr>
              <a:t>The kill criterion</a:t>
            </a:r>
          </a:p>
        </p:txBody>
      </p:sp>
      <p:sp>
        <p:nvSpPr>
          <p:cNvPr id="19" name="TextBox 18"/>
          <p:cNvSpPr txBox="1"/>
          <p:nvPr/>
        </p:nvSpPr>
        <p:spPr>
          <a:xfrm>
            <a:off x="4972050" y="5562600"/>
            <a:ext cx="5305425" cy="600075"/>
          </a:xfrm>
          <a:prstGeom prst="rect">
            <a:avLst/>
          </a:prstGeom>
          <a:noFill/>
        </p:spPr>
        <p:txBody>
          <a:bodyPr wrap="square" lIns="0" rIns="0" tIns="0" bIns="0" anchor="t">
            <a:spAutoFit/>
            <a:spAutoFit/>
          </a:bodyPr>
          <a:lstStyle/>
          <a:p>
            <a:pPr algn="l">
              <a:lnSpc>
                <a:spcPct val="113999"/>
              </a:lnSpc>
            </a:pPr>
            <a:r>
              <a:rPr sz="1900" b="0" i="0">
                <a:solidFill>
                  <a:srgbClr val="C1B5AB"/>
                </a:solidFill>
                <a:latin typeface="Arial"/>
              </a:rPr>
              <a:t>The finding that makes me stop, with a threshold</a:t>
            </a:r>
          </a:p>
        </p:txBody>
      </p:sp>
      <p:sp>
        <p:nvSpPr>
          <p:cNvPr id="20" name="TextBox 19"/>
          <p:cNvSpPr txBox="1"/>
          <p:nvPr/>
        </p:nvSpPr>
        <p:spPr>
          <a:xfrm>
            <a:off x="10525125" y="5562600"/>
            <a:ext cx="6638925" cy="876300"/>
          </a:xfrm>
          <a:prstGeom prst="rect">
            <a:avLst/>
          </a:prstGeom>
          <a:noFill/>
        </p:spPr>
        <p:txBody>
          <a:bodyPr wrap="square" lIns="0" rIns="0" tIns="0" bIns="0" anchor="t">
            <a:spAutoFit/>
            <a:spAutoFit/>
          </a:bodyPr>
          <a:lstStyle/>
          <a:p>
            <a:pPr algn="l">
              <a:lnSpc>
                <a:spcPct val="113999"/>
              </a:lnSpc>
            </a:pPr>
            <a:r>
              <a:rPr sz="1900" b="0" i="0">
                <a:solidFill>
                  <a:srgbClr val="C1B5AB"/>
                </a:solidFill>
                <a:latin typeface="Arial"/>
              </a:rPr>
              <a:t>If fewer than 6 of 15 students can name a specific incident from the last 3 months, the problem is not frequent enough and I stop</a:t>
            </a:r>
          </a:p>
        </p:txBody>
      </p:sp>
      <p:sp>
        <p:nvSpPr>
          <p:cNvPr id="21" name="Rectangle 20"/>
          <p:cNvSpPr/>
          <p:nvPr/>
        </p:nvSpPr>
        <p:spPr>
          <a:xfrm>
            <a:off x="1047750" y="6610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47750" y="6610350"/>
            <a:ext cx="16192500" cy="9334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 y="6772275"/>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Who decides</a:t>
            </a:r>
          </a:p>
        </p:txBody>
      </p:sp>
      <p:sp>
        <p:nvSpPr>
          <p:cNvPr id="24" name="TextBox 23"/>
          <p:cNvSpPr txBox="1"/>
          <p:nvPr/>
        </p:nvSpPr>
        <p:spPr>
          <a:xfrm>
            <a:off x="4972050" y="6772275"/>
            <a:ext cx="53054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Who else has seen this sentence, so I cannot rewrite it</a:t>
            </a:r>
          </a:p>
        </p:txBody>
      </p:sp>
      <p:sp>
        <p:nvSpPr>
          <p:cNvPr id="25" name="TextBox 24"/>
          <p:cNvSpPr txBox="1"/>
          <p:nvPr/>
        </p:nvSpPr>
        <p:spPr>
          <a:xfrm>
            <a:off x="10525125" y="6772275"/>
            <a:ext cx="66389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Written on this sheet, shown to my project partner before interviews start</a:t>
            </a:r>
          </a:p>
        </p:txBody>
      </p:sp>
      <p:sp>
        <p:nvSpPr>
          <p:cNvPr id="26" name="Rectangle 25"/>
          <p:cNvSpPr/>
          <p:nvPr/>
        </p:nvSpPr>
        <p:spPr>
          <a:xfrm>
            <a:off x="1047750" y="75438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14450" y="7705725"/>
            <a:ext cx="3409950" cy="323850"/>
          </a:xfrm>
          <a:prstGeom prst="rect">
            <a:avLst/>
          </a:prstGeom>
          <a:noFill/>
        </p:spPr>
        <p:txBody>
          <a:bodyPr wrap="square" lIns="0" rIns="0" tIns="0" bIns="0" anchor="t">
            <a:spAutoFit/>
            <a:spAutoFit/>
          </a:bodyPr>
          <a:lstStyle/>
          <a:p>
            <a:pPr algn="l">
              <a:lnSpc>
                <a:spcPct val="113999"/>
              </a:lnSpc>
            </a:pPr>
            <a:r>
              <a:rPr sz="1900" b="1" i="0">
                <a:solidFill>
                  <a:srgbClr val="201914"/>
                </a:solidFill>
                <a:latin typeface="Arial"/>
              </a:rPr>
              <a:t>What I do if it fires</a:t>
            </a:r>
          </a:p>
        </p:txBody>
      </p:sp>
      <p:sp>
        <p:nvSpPr>
          <p:cNvPr id="28" name="TextBox 27"/>
          <p:cNvSpPr txBox="1"/>
          <p:nvPr/>
        </p:nvSpPr>
        <p:spPr>
          <a:xfrm>
            <a:off x="4972050" y="7705725"/>
            <a:ext cx="5305425" cy="323850"/>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The actual next step, not 'reconsider'</a:t>
            </a:r>
          </a:p>
        </p:txBody>
      </p:sp>
      <p:sp>
        <p:nvSpPr>
          <p:cNvPr id="29" name="TextBox 28"/>
          <p:cNvSpPr txBox="1"/>
          <p:nvPr/>
        </p:nvSpPr>
        <p:spPr>
          <a:xfrm>
            <a:off x="10525125" y="7705725"/>
            <a:ext cx="6638925" cy="600075"/>
          </a:xfrm>
          <a:prstGeom prst="rect">
            <a:avLst/>
          </a:prstGeom>
          <a:noFill/>
        </p:spPr>
        <p:txBody>
          <a:bodyPr wrap="square" lIns="0" rIns="0" tIns="0" bIns="0" anchor="t">
            <a:spAutoFit/>
            <a:spAutoFit/>
          </a:bodyPr>
          <a:lstStyle/>
          <a:p>
            <a:pPr algn="l">
              <a:lnSpc>
                <a:spcPct val="113999"/>
              </a:lnSpc>
            </a:pPr>
            <a:r>
              <a:rPr sz="1900" b="0" i="0">
                <a:solidFill>
                  <a:srgbClr val="665B53"/>
                </a:solidFill>
                <a:latin typeface="Arial"/>
              </a:rPr>
              <a:t>Drop the app; go back and interview about what the friction actually is, with no product in mind</a:t>
            </a:r>
          </a:p>
        </p:txBody>
      </p:sp>
      <p:sp>
        <p:nvSpPr>
          <p:cNvPr id="30" name="TextBox 29"/>
          <p:cNvSpPr txBox="1"/>
          <p:nvPr/>
        </p:nvSpPr>
        <p:spPr>
          <a:xfrm>
            <a:off x="1047750" y="8724900"/>
            <a:ext cx="16192500" cy="857250"/>
          </a:xfrm>
          <a:prstGeom prst="rect">
            <a:avLst/>
          </a:prstGeom>
          <a:noFill/>
        </p:spPr>
        <p:txBody>
          <a:bodyPr wrap="square" lIns="0" rIns="0" tIns="0" bIns="0" anchor="t">
            <a:spAutoFit/>
            <a:spAutoFit/>
          </a:bodyPr>
          <a:lstStyle/>
          <a:p>
            <a:pPr algn="l">
              <a:lnSpc>
                <a:spcPct val="118000"/>
              </a:lnSpc>
            </a:pPr>
            <a:r>
              <a:rPr sz="2700" b="0" i="1">
                <a:solidFill>
                  <a:srgbClr val="362C24"/>
                </a:solidFill>
                <a:latin typeface="Georgia"/>
              </a:rPr>
              <a:t>A good kill criterion should make you slightly nervous when you write it. If it does not, it is too weak.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WOULD A KILL CRITERION HAVE SAVED NOKIA?</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Write the sentence they should have written in 2005.</a:t>
            </a:r>
          </a:p>
        </p:txBody>
      </p:sp>
      <p:sp>
        <p:nvSpPr>
          <p:cNvPr id="4" name="Rectangle 3"/>
          <p:cNvSpPr/>
          <p:nvPr/>
        </p:nvSpPr>
        <p:spPr>
          <a:xfrm>
            <a:off x="1047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obvious attempt</a:t>
            </a:r>
          </a:p>
        </p:txBody>
      </p:sp>
      <p:sp>
        <p:nvSpPr>
          <p:cNvPr id="6" name="TextBox 5"/>
          <p:cNvSpPr txBox="1"/>
          <p:nvPr/>
        </p:nvSpPr>
        <p:spPr>
          <a:xfrm>
            <a:off x="1047750" y="47244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'If a product outside our category takes more than X% of our premium customers, our roadmap is wrong.'</a:t>
            </a:r>
          </a:p>
        </p:txBody>
      </p:sp>
      <p:sp>
        <p:nvSpPr>
          <p:cNvPr id="7" name="Rectangle 6"/>
          <p:cNvSpPr/>
          <p:nvPr/>
        </p:nvSpPr>
        <p:spPr>
          <a:xfrm>
            <a:off x="65722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The objection that matters</a:t>
            </a:r>
          </a:p>
        </p:txBody>
      </p:sp>
      <p:sp>
        <p:nvSpPr>
          <p:cNvPr id="9" name="TextBox 8"/>
          <p:cNvSpPr txBox="1"/>
          <p:nvPr/>
        </p:nvSpPr>
        <p:spPr>
          <a:xfrm>
            <a:off x="6572250" y="4724400"/>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A kill criterion is useless if the research that would trigger it is never run. Nokia's data on its own customers could never have fired any sensible criterion.</a:t>
            </a:r>
          </a:p>
        </p:txBody>
      </p:sp>
      <p:sp>
        <p:nvSpPr>
          <p:cNvPr id="10" name="Rectangle 9"/>
          <p:cNvSpPr/>
          <p:nvPr/>
        </p:nvSpPr>
        <p:spPr>
          <a:xfrm>
            <a:off x="12096750" y="34099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724275"/>
            <a:ext cx="5143500" cy="828675"/>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So the discipline has two halves</a:t>
            </a:r>
          </a:p>
        </p:txBody>
      </p:sp>
      <p:sp>
        <p:nvSpPr>
          <p:cNvPr id="12" name="TextBox 11"/>
          <p:cNvSpPr txBox="1"/>
          <p:nvPr/>
        </p:nvSpPr>
        <p:spPr>
          <a:xfrm>
            <a:off x="12096750" y="4724400"/>
            <a:ext cx="5143500" cy="165735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Write the criterion. Then ask whether the research you have planned is even capable of producing the finding that would fire it.</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If the research cannot produce the finding that would fire your criterion, you have designed a test that cannot fail, which is not a test.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BOUNDARY · WHERE OPEN QUESTIONS GO WRONG</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Three ways exploration misleads</a:t>
            </a:r>
          </a:p>
        </p:txBody>
      </p:sp>
      <p:sp>
        <p:nvSpPr>
          <p:cNvPr id="4" name="TextBox 3"/>
          <p:cNvSpPr txBox="1"/>
          <p:nvPr/>
        </p:nvSpPr>
        <p:spPr>
          <a:xfrm>
            <a:off x="1314450" y="2838450"/>
            <a:ext cx="32956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FAILURE</a:t>
            </a:r>
          </a:p>
        </p:txBody>
      </p:sp>
      <p:sp>
        <p:nvSpPr>
          <p:cNvPr id="5" name="TextBox 4"/>
          <p:cNvSpPr txBox="1"/>
          <p:nvPr/>
        </p:nvSpPr>
        <p:spPr>
          <a:xfrm>
            <a:off x="4857750" y="2838450"/>
            <a:ext cx="64103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GOES WRONG</a:t>
            </a:r>
          </a:p>
        </p:txBody>
      </p:sp>
      <p:sp>
        <p:nvSpPr>
          <p:cNvPr id="6" name="TextBox 5"/>
          <p:cNvSpPr txBox="1"/>
          <p:nvPr/>
        </p:nvSpPr>
        <p:spPr>
          <a:xfrm>
            <a:off x="11515725" y="2838450"/>
            <a:ext cx="56769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CORRECTION</a:t>
            </a:r>
          </a:p>
        </p:txBody>
      </p:sp>
      <p:sp>
        <p:nvSpPr>
          <p:cNvPr id="7" name="Rectangle 6"/>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4029075"/>
            <a:ext cx="3295650" cy="29527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1 · Exploring forever</a:t>
            </a:r>
          </a:p>
        </p:txBody>
      </p:sp>
      <p:sp>
        <p:nvSpPr>
          <p:cNvPr id="9" name="TextBox 8"/>
          <p:cNvSpPr txBox="1"/>
          <p:nvPr/>
        </p:nvSpPr>
        <p:spPr>
          <a:xfrm>
            <a:off x="4857750" y="4029075"/>
            <a:ext cx="6410325"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Exploratory research does not converge on its own. It produces richness, richness is enjoyable, and there is always one more segment worth talking to. Founders get stuck here and it looks like diligence from outside.</a:t>
            </a:r>
          </a:p>
        </p:txBody>
      </p:sp>
      <p:sp>
        <p:nvSpPr>
          <p:cNvPr id="10" name="TextBox 9"/>
          <p:cNvSpPr txBox="1"/>
          <p:nvPr/>
        </p:nvSpPr>
        <p:spPr>
          <a:xfrm>
            <a:off x="11515725" y="4029075"/>
            <a:ext cx="5676900" cy="7905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Decide in advance how many conversations you will have, then switch deliberately into confirmatory mode and test one hypothesis with one threshold.</a:t>
            </a:r>
          </a:p>
        </p:txBody>
      </p:sp>
      <p:sp>
        <p:nvSpPr>
          <p:cNvPr id="11" name="Rectangle 10"/>
          <p:cNvSpPr/>
          <p:nvPr/>
        </p:nvSpPr>
        <p:spPr>
          <a:xfrm>
            <a:off x="1047750" y="55626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5562600"/>
            <a:ext cx="16192500" cy="20288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6057900"/>
            <a:ext cx="3295650" cy="29527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2 · The articulate minority</a:t>
            </a:r>
          </a:p>
        </p:txBody>
      </p:sp>
      <p:sp>
        <p:nvSpPr>
          <p:cNvPr id="14" name="TextBox 13"/>
          <p:cNvSpPr txBox="1"/>
          <p:nvPr/>
        </p:nvSpPr>
        <p:spPr>
          <a:xfrm>
            <a:off x="4857750" y="6057900"/>
            <a:ext cx="6410325"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In any fifteen interviews, two or three people are unusually good at describing their own experience. Those interviews dominate your memory and your report, out of all proportion to how typical they are.</a:t>
            </a:r>
          </a:p>
        </p:txBody>
      </p:sp>
      <p:sp>
        <p:nvSpPr>
          <p:cNvPr id="15" name="TextBox 14"/>
          <p:cNvSpPr txBox="1"/>
          <p:nvPr/>
        </p:nvSpPr>
        <p:spPr>
          <a:xfrm>
            <a:off x="11515725" y="6057900"/>
            <a:ext cx="567690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Count how many people said a thing before you weigh how well one of them said it. A quote is evidence that something can happen, not that it usually does.</a:t>
            </a:r>
          </a:p>
        </p:txBody>
      </p:sp>
      <p:sp>
        <p:nvSpPr>
          <p:cNvPr id="16" name="Rectangle 15"/>
          <p:cNvSpPr/>
          <p:nvPr/>
        </p:nvSpPr>
        <p:spPr>
          <a:xfrm>
            <a:off x="1047750" y="75914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8086725"/>
            <a:ext cx="3295650" cy="54292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3 · A sample that cannot contain the answer</a:t>
            </a:r>
          </a:p>
        </p:txBody>
      </p:sp>
      <p:sp>
        <p:nvSpPr>
          <p:cNvPr id="18" name="TextBox 17"/>
          <p:cNvSpPr txBox="1"/>
          <p:nvPr/>
        </p:nvSpPr>
        <p:spPr>
          <a:xfrm>
            <a:off x="4857750" y="8086725"/>
            <a:ext cx="6410325"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Your existing customers cannot tell you why non-customers stayed away. People who completed your signup flow cannot tell you what was wrong with it. This is the one that killed Nokia.</a:t>
            </a:r>
          </a:p>
        </p:txBody>
      </p:sp>
      <p:sp>
        <p:nvSpPr>
          <p:cNvPr id="19" name="TextBox 18"/>
          <p:cNvSpPr txBox="1"/>
          <p:nvPr/>
        </p:nvSpPr>
        <p:spPr>
          <a:xfrm>
            <a:off x="11515725" y="8086725"/>
            <a:ext cx="5676900" cy="7905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Before you design a single question, ask one thing about your list of people: is the answer I am afraid of even available in this room?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6705600"/>
            <a:ext cx="16192500" cy="1000125"/>
          </a:xfrm>
          <a:prstGeom prst="rect">
            <a:avLst/>
          </a:prstGeom>
          <a:noFill/>
        </p:spPr>
        <p:txBody>
          <a:bodyPr wrap="square" lIns="0" rIns="0" tIns="0" bIns="0" anchor="t">
            <a:spAutoFit/>
            <a:spAutoFit/>
          </a:bodyPr>
          <a:lstStyle/>
          <a:p>
            <a:pPr algn="l">
              <a:lnSpc>
                <a:spcPct val="92000"/>
              </a:lnSpc>
            </a:pPr>
            <a:r>
              <a:rPr sz="8100" b="1" i="0" spc="-300">
                <a:solidFill>
                  <a:srgbClr val="F5F1E9"/>
                </a:solidFill>
                <a:latin typeface="Arial"/>
              </a:rPr>
              <a:t>Where the answers come from</a:t>
            </a:r>
          </a:p>
        </p:txBody>
      </p:sp>
      <p:sp>
        <p:nvSpPr>
          <p:cNvPr id="3" name="TextBox 2"/>
          <p:cNvSpPr txBox="1"/>
          <p:nvPr/>
        </p:nvSpPr>
        <p:spPr>
          <a:xfrm>
            <a:off x="1047750" y="615315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PART TWO</a:t>
            </a:r>
          </a:p>
        </p:txBody>
      </p:sp>
      <p:sp>
        <p:nvSpPr>
          <p:cNvPr id="4" name="TextBox 3"/>
          <p:cNvSpPr txBox="1"/>
          <p:nvPr/>
        </p:nvSpPr>
        <p:spPr>
          <a:xfrm>
            <a:off x="1047750" y="7953375"/>
            <a:ext cx="14287500" cy="1666875"/>
          </a:xfrm>
          <a:prstGeom prst="rect">
            <a:avLst/>
          </a:prstGeom>
          <a:noFill/>
        </p:spPr>
        <p:txBody>
          <a:bodyPr wrap="square" lIns="0" rIns="0" tIns="0" bIns="0" anchor="t">
            <a:spAutoFit/>
            <a:spAutoFit/>
          </a:bodyPr>
          <a:lstStyle/>
          <a:p>
            <a:pPr algn="l">
              <a:lnSpc>
                <a:spcPct val="118000"/>
              </a:lnSpc>
            </a:pPr>
            <a:r>
              <a:rPr sz="3600" b="0" i="1">
                <a:solidFill>
                  <a:srgbClr val="C1B5AB"/>
                </a:solidFill>
                <a:latin typeface="Georgia"/>
              </a:rPr>
              <a:t>You now know which question to ask. Next: how much of it somebody has already answered, for free, before you ask anybody anything.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WRITE THIS DOWN</a:t>
            </a:r>
          </a:p>
        </p:txBody>
      </p:sp>
      <p:sp>
        <p:nvSpPr>
          <p:cNvPr id="3" name="TextBox 2"/>
          <p:cNvSpPr txBox="1"/>
          <p:nvPr/>
        </p:nvSpPr>
        <p:spPr>
          <a:xfrm>
            <a:off x="1714500" y="3771900"/>
            <a:ext cx="14859000" cy="3124200"/>
          </a:xfrm>
          <a:prstGeom prst="rect">
            <a:avLst/>
          </a:prstGeom>
          <a:noFill/>
        </p:spPr>
        <p:txBody>
          <a:bodyPr wrap="square" lIns="0" rIns="0" tIns="0" bIns="0" anchor="t">
            <a:spAutoFit/>
            <a:spAutoFit/>
          </a:bodyPr>
          <a:lstStyle/>
          <a:p>
            <a:pPr algn="l">
              <a:lnSpc>
                <a:spcPct val="126000"/>
              </a:lnSpc>
            </a:pPr>
            <a:r>
              <a:rPr sz="3200" b="1" i="0">
                <a:solidFill>
                  <a:srgbClr val="F5F1E9"/>
                </a:solidFill>
                <a:latin typeface="Arial"/>
              </a:rPr>
              <a:t>AN INTERVIEW COSTS SOMEBODY'S 40 MINUTES,</a:t>
            </a:r>
          </a:p>
          <a:p>
            <a:pPr algn="l">
              <a:lnSpc>
                <a:spcPct val="126000"/>
              </a:lnSpc>
            </a:pPr>
            <a:r>
              <a:rPr sz="3200" b="1" i="0">
                <a:solidFill>
                  <a:srgbClr val="F5F1E9"/>
                </a:solidFill>
                <a:latin typeface="Arial"/>
              </a:rPr>
              <a:t>given as a favour, spendable once.</a:t>
            </a:r>
          </a:p>
          <a:p>
            <a:pPr algn="l">
              <a:lnSpc>
                <a:spcPct val="126000"/>
              </a:lnSpc>
            </a:pPr>
            <a:r>
              <a:rPr sz="3200" b="1" i="0">
                <a:solidFill>
                  <a:srgbClr val="F5F1E9"/>
                </a:solidFill>
                <a:latin typeface="Arial"/>
              </a:rPr>
              <a:t>About 15 questions before their attention goes.</a:t>
            </a:r>
          </a:p>
          <a:p>
            <a:pPr algn="l">
              <a:lnSpc>
                <a:spcPct val="126000"/>
              </a:lnSpc>
            </a:pPr>
            <a:r>
              <a:rPr sz="3200" b="1" i="0">
                <a:solidFill>
                  <a:srgbClr val="F5F1E9"/>
                </a:solidFill>
                <a:latin typeface="Arial"/>
              </a:rPr>
              <a:t/>
            </a:r>
          </a:p>
          <a:p>
            <a:pPr algn="l">
              <a:lnSpc>
                <a:spcPct val="126000"/>
              </a:lnSpc>
            </a:pPr>
            <a:r>
              <a:rPr sz="3200" b="1" i="0">
                <a:solidFill>
                  <a:srgbClr val="F5F1E9"/>
                </a:solidFill>
                <a:latin typeface="Arial"/>
              </a:rPr>
              <a:t>How many are you willing to waste on facts that are published for free?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6496050"/>
            <a:ext cx="16192500" cy="1209675"/>
          </a:xfrm>
          <a:prstGeom prst="rect">
            <a:avLst/>
          </a:prstGeom>
          <a:noFill/>
        </p:spPr>
        <p:txBody>
          <a:bodyPr wrap="square" lIns="0" rIns="0" tIns="0" bIns="0" anchor="t">
            <a:spAutoFit/>
            <a:spAutoFit/>
          </a:bodyPr>
          <a:lstStyle/>
          <a:p>
            <a:pPr algn="l">
              <a:lnSpc>
                <a:spcPct val="92000"/>
              </a:lnSpc>
            </a:pPr>
            <a:r>
              <a:rPr sz="9900" b="1" i="0" spc="-300">
                <a:solidFill>
                  <a:srgbClr val="F5F1E9"/>
                </a:solidFill>
                <a:latin typeface="Arial"/>
              </a:rPr>
              <a:t>Lenskart and Wakefit</a:t>
            </a:r>
          </a:p>
        </p:txBody>
      </p:sp>
      <p:sp>
        <p:nvSpPr>
          <p:cNvPr id="3" name="TextBox 2"/>
          <p:cNvSpPr txBox="1"/>
          <p:nvPr/>
        </p:nvSpPr>
        <p:spPr>
          <a:xfrm>
            <a:off x="1047750" y="59436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CASE STUDY</a:t>
            </a:r>
          </a:p>
        </p:txBody>
      </p:sp>
      <p:sp>
        <p:nvSpPr>
          <p:cNvPr id="4" name="TextBox 3"/>
          <p:cNvSpPr txBox="1"/>
          <p:nvPr/>
        </p:nvSpPr>
        <p:spPr>
          <a:xfrm>
            <a:off x="1047750" y="7953375"/>
            <a:ext cx="14287500" cy="1666875"/>
          </a:xfrm>
          <a:prstGeom prst="rect">
            <a:avLst/>
          </a:prstGeom>
          <a:noFill/>
        </p:spPr>
        <p:txBody>
          <a:bodyPr wrap="square" lIns="0" rIns="0" tIns="0" bIns="0" anchor="t">
            <a:spAutoFit/>
            <a:spAutoFit/>
          </a:bodyPr>
          <a:lstStyle/>
          <a:p>
            <a:pPr algn="l">
              <a:lnSpc>
                <a:spcPct val="118000"/>
              </a:lnSpc>
            </a:pPr>
            <a:r>
              <a:rPr sz="3600" b="0" i="1">
                <a:solidFill>
                  <a:srgbClr val="C1B5AB"/>
                </a:solidFill>
                <a:latin typeface="Georgia"/>
              </a:rPr>
              <a:t>Both found their opening in a statistic anybody could have read for free. Then both went and found the thing no statistic could tell them.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LENSKART · WHAT ONE AFTERNOON AT A DESK COULD TELL YOU</a:t>
            </a:r>
          </a:p>
        </p:txBody>
      </p:sp>
      <p:sp>
        <p:nvSpPr>
          <p:cNvPr id="3" name="TextBox 2"/>
          <p:cNvSpPr txBox="1"/>
          <p:nvPr/>
        </p:nvSpPr>
        <p:spPr>
          <a:xfrm>
            <a:off x="1047750" y="1504950"/>
            <a:ext cx="16192500" cy="1400175"/>
          </a:xfrm>
          <a:prstGeom prst="rect">
            <a:avLst/>
          </a:prstGeom>
          <a:noFill/>
        </p:spPr>
        <p:txBody>
          <a:bodyPr wrap="square" lIns="0" rIns="0" tIns="0" bIns="0" anchor="t">
            <a:spAutoFit/>
            <a:spAutoFit/>
          </a:bodyPr>
          <a:lstStyle/>
          <a:p>
            <a:pPr algn="l">
              <a:lnSpc>
                <a:spcPct val="98000"/>
              </a:lnSpc>
            </a:pPr>
            <a:r>
              <a:rPr sz="5400" b="1" i="0" spc="-120">
                <a:solidFill>
                  <a:srgbClr val="201914"/>
                </a:solidFill>
                <a:latin typeface="Arial"/>
              </a:rPr>
              <a:t>A category where hundreds of millions need the product and most do not have it</a:t>
            </a:r>
          </a:p>
        </p:txBody>
      </p:sp>
      <p:sp>
        <p:nvSpPr>
          <p:cNvPr id="4" name="Rectangle 3"/>
          <p:cNvSpPr/>
          <p:nvPr/>
        </p:nvSpPr>
        <p:spPr>
          <a:xfrm>
            <a:off x="1047750" y="3343275"/>
            <a:ext cx="5143500"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24275"/>
            <a:ext cx="4305300" cy="876300"/>
          </a:xfrm>
          <a:prstGeom prst="rect">
            <a:avLst/>
          </a:prstGeom>
          <a:noFill/>
        </p:spPr>
        <p:txBody>
          <a:bodyPr wrap="square" lIns="0" rIns="0" tIns="0" bIns="0" anchor="t">
            <a:spAutoFit/>
            <a:spAutoFit/>
          </a:bodyPr>
          <a:lstStyle/>
          <a:p>
            <a:pPr algn="l">
              <a:lnSpc>
                <a:spcPct val="98000"/>
              </a:lnSpc>
            </a:pPr>
            <a:r>
              <a:rPr sz="6600" b="1" i="0">
                <a:solidFill>
                  <a:srgbClr val="F5F1E9"/>
                </a:solidFill>
                <a:latin typeface="Arial"/>
              </a:rPr>
              <a:t>~65%</a:t>
            </a:r>
          </a:p>
        </p:txBody>
      </p:sp>
      <p:sp>
        <p:nvSpPr>
          <p:cNvPr id="6" name="TextBox 5"/>
          <p:cNvSpPr txBox="1"/>
          <p:nvPr/>
        </p:nvSpPr>
        <p:spPr>
          <a:xfrm>
            <a:off x="1466850" y="4610100"/>
            <a:ext cx="4305300" cy="685800"/>
          </a:xfrm>
          <a:prstGeom prst="rect">
            <a:avLst/>
          </a:prstGeom>
          <a:noFill/>
        </p:spPr>
        <p:txBody>
          <a:bodyPr wrap="square" lIns="0" rIns="0" tIns="0" bIns="0" anchor="t">
            <a:spAutoFit/>
            <a:spAutoFit/>
          </a:bodyPr>
          <a:lstStyle/>
          <a:p>
            <a:pPr algn="l">
              <a:lnSpc>
                <a:spcPct val="104000"/>
              </a:lnSpc>
            </a:pPr>
            <a:r>
              <a:rPr sz="2400" b="1" i="0">
                <a:solidFill>
                  <a:srgbClr val="F5F1E9"/>
                </a:solidFill>
                <a:latin typeface="Arial"/>
              </a:rPr>
              <a:t>of Indians without vision correction</a:t>
            </a:r>
          </a:p>
        </p:txBody>
      </p:sp>
      <p:sp>
        <p:nvSpPr>
          <p:cNvPr id="7" name="TextBox 6"/>
          <p:cNvSpPr txBox="1"/>
          <p:nvPr/>
        </p:nvSpPr>
        <p:spPr>
          <a:xfrm>
            <a:off x="1466850" y="5505450"/>
            <a:ext cx="4305300" cy="933450"/>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The company's own framing of the market, which its founder still uses publicly.</a:t>
            </a:r>
          </a:p>
        </p:txBody>
      </p:sp>
      <p:sp>
        <p:nvSpPr>
          <p:cNvPr id="8" name="Rectangle 7"/>
          <p:cNvSpPr/>
          <p:nvPr/>
        </p:nvSpPr>
        <p:spPr>
          <a:xfrm>
            <a:off x="6572250" y="3343275"/>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1350" y="3724275"/>
            <a:ext cx="4305300" cy="876300"/>
          </a:xfrm>
          <a:prstGeom prst="rect">
            <a:avLst/>
          </a:prstGeom>
          <a:noFill/>
        </p:spPr>
        <p:txBody>
          <a:bodyPr wrap="square" lIns="0" rIns="0" tIns="0" bIns="0" anchor="t">
            <a:spAutoFit/>
            <a:spAutoFit/>
          </a:bodyPr>
          <a:lstStyle/>
          <a:p>
            <a:pPr algn="l">
              <a:lnSpc>
                <a:spcPct val="98000"/>
              </a:lnSpc>
            </a:pPr>
            <a:r>
              <a:rPr sz="6600" b="1" i="0">
                <a:solidFill>
                  <a:srgbClr val="201914"/>
                </a:solidFill>
                <a:latin typeface="Arial"/>
              </a:rPr>
              <a:t>Most</a:t>
            </a:r>
          </a:p>
        </p:txBody>
      </p:sp>
      <p:sp>
        <p:nvSpPr>
          <p:cNvPr id="10" name="TextBox 9"/>
          <p:cNvSpPr txBox="1"/>
          <p:nvPr/>
        </p:nvSpPr>
        <p:spPr>
          <a:xfrm>
            <a:off x="6991350" y="4610100"/>
            <a:ext cx="4305300"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eyewear sold by small independent opticians</a:t>
            </a:r>
          </a:p>
        </p:txBody>
      </p:sp>
      <p:sp>
        <p:nvSpPr>
          <p:cNvPr id="11" name="TextBox 10"/>
          <p:cNvSpPr txBox="1"/>
          <p:nvPr/>
        </p:nvSpPr>
        <p:spPr>
          <a:xfrm>
            <a:off x="6991350" y="5505450"/>
            <a:ext cx="4305300"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No published prices, no brand, no returns policy, and margins the customer had no way to assess.</a:t>
            </a:r>
          </a:p>
        </p:txBody>
      </p:sp>
      <p:sp>
        <p:nvSpPr>
          <p:cNvPr id="12" name="Rectangle 11"/>
          <p:cNvSpPr/>
          <p:nvPr/>
        </p:nvSpPr>
        <p:spPr>
          <a:xfrm>
            <a:off x="12096750" y="3343275"/>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15850" y="3724275"/>
            <a:ext cx="4305300" cy="876300"/>
          </a:xfrm>
          <a:prstGeom prst="rect">
            <a:avLst/>
          </a:prstGeom>
          <a:noFill/>
        </p:spPr>
        <p:txBody>
          <a:bodyPr wrap="square" lIns="0" rIns="0" tIns="0" bIns="0" anchor="t">
            <a:spAutoFit/>
            <a:spAutoFit/>
          </a:bodyPr>
          <a:lstStyle/>
          <a:p>
            <a:pPr algn="l">
              <a:lnSpc>
                <a:spcPct val="98000"/>
              </a:lnSpc>
            </a:pPr>
            <a:r>
              <a:rPr sz="6600" b="1" i="0">
                <a:solidFill>
                  <a:srgbClr val="201914"/>
                </a:solidFill>
                <a:latin typeface="Arial"/>
              </a:rPr>
              <a:t>₹0</a:t>
            </a:r>
          </a:p>
        </p:txBody>
      </p:sp>
      <p:sp>
        <p:nvSpPr>
          <p:cNvPr id="14" name="TextBox 13"/>
          <p:cNvSpPr txBox="1"/>
          <p:nvPr/>
        </p:nvSpPr>
        <p:spPr>
          <a:xfrm>
            <a:off x="12515850" y="4610100"/>
            <a:ext cx="4305300"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of research spend required</a:t>
            </a:r>
          </a:p>
        </p:txBody>
      </p:sp>
      <p:sp>
        <p:nvSpPr>
          <p:cNvPr id="15" name="TextBox 14"/>
          <p:cNvSpPr txBox="1"/>
          <p:nvPr/>
        </p:nvSpPr>
        <p:spPr>
          <a:xfrm>
            <a:off x="12515850" y="5505450"/>
            <a:ext cx="4305300" cy="18097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Population statistics, penetration estimates and the retail structure were all in published surveys, ministry data and ordinary observation of any market street.</a:t>
            </a:r>
          </a:p>
        </p:txBody>
      </p:sp>
      <p:sp>
        <p:nvSpPr>
          <p:cNvPr id="16" name="TextBox 15"/>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What it could not tell anybody was why the gap persisted — and four completely different businesses follow from four possible answers.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FINDING THAT REQUIRED SOMEBODY'S LIVING ROOM</a:t>
            </a:r>
          </a:p>
        </p:txBody>
      </p:sp>
      <p:sp>
        <p:nvSpPr>
          <p:cNvPr id="3" name="TextBox 2"/>
          <p:cNvSpPr txBox="1"/>
          <p:nvPr/>
        </p:nvSpPr>
        <p:spPr>
          <a:xfrm>
            <a:off x="1047750" y="1504950"/>
            <a:ext cx="16192500" cy="1171575"/>
          </a:xfrm>
          <a:prstGeom prst="rect">
            <a:avLst/>
          </a:prstGeom>
          <a:noFill/>
        </p:spPr>
        <p:txBody>
          <a:bodyPr wrap="square" lIns="0" rIns="0" tIns="0" bIns="0" anchor="t">
            <a:spAutoFit/>
            <a:spAutoFit/>
          </a:bodyPr>
          <a:lstStyle/>
          <a:p>
            <a:pPr algn="l">
              <a:lnSpc>
                <a:spcPct val="98000"/>
              </a:lnSpc>
            </a:pPr>
            <a:r>
              <a:rPr sz="4500" b="1" i="0" spc="-120">
                <a:solidFill>
                  <a:srgbClr val="201914"/>
                </a:solidFill>
                <a:latin typeface="Arial"/>
              </a:rPr>
              <a:t>A very large share of the people who need vision correction do not know that they need it.</a:t>
            </a:r>
          </a:p>
        </p:txBody>
      </p:sp>
      <p:sp>
        <p:nvSpPr>
          <p:cNvPr id="4" name="Rectangle 3"/>
          <p:cNvSpPr/>
          <p:nvPr/>
        </p:nvSpPr>
        <p:spPr>
          <a:xfrm>
            <a:off x="1047750" y="3114675"/>
            <a:ext cx="7810500" cy="51339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4385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WHY THAT IS STRANGER THAN IT SOUNDS</a:t>
            </a:r>
          </a:p>
        </p:txBody>
      </p:sp>
      <p:sp>
        <p:nvSpPr>
          <p:cNvPr id="6" name="TextBox 5"/>
          <p:cNvSpPr txBox="1"/>
          <p:nvPr/>
        </p:nvSpPr>
        <p:spPr>
          <a:xfrm>
            <a:off x="1428750" y="3933825"/>
            <a:ext cx="7048500" cy="1009650"/>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The obvious model is a person who knows their eyesight is poor and cannot afford or reach a solution.</a:t>
            </a:r>
          </a:p>
        </p:txBody>
      </p:sp>
      <p:sp>
        <p:nvSpPr>
          <p:cNvPr id="7" name="TextBox 6"/>
          <p:cNvSpPr txBox="1"/>
          <p:nvPr/>
        </p:nvSpPr>
        <p:spPr>
          <a:xfrm>
            <a:off x="1428750" y="5095875"/>
            <a:ext cx="7048500" cy="1647825"/>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What actually happens is that vision degrades slowly enough that the person adapts without noticing. They sit closer. They squint. They stop reading small print. They decide they are bad at night driving.</a:t>
            </a:r>
          </a:p>
        </p:txBody>
      </p:sp>
      <p:sp>
        <p:nvSpPr>
          <p:cNvPr id="8" name="TextBox 7"/>
          <p:cNvSpPr txBox="1"/>
          <p:nvPr/>
        </p:nvSpPr>
        <p:spPr>
          <a:xfrm>
            <a:off x="1428750" y="6896100"/>
            <a:ext cx="7048500" cy="1009650"/>
          </a:xfrm>
          <a:prstGeom prst="rect">
            <a:avLst/>
          </a:prstGeom>
          <a:noFill/>
        </p:spPr>
        <p:txBody>
          <a:bodyPr wrap="square" lIns="0" rIns="0" tIns="0" bIns="0" anchor="t">
            <a:spAutoFit/>
            <a:spAutoFit/>
          </a:bodyPr>
          <a:lstStyle/>
          <a:p>
            <a:pPr algn="l">
              <a:lnSpc>
                <a:spcPct val="113999"/>
              </a:lnSpc>
            </a:pPr>
            <a:r>
              <a:rPr sz="2200" b="0" i="0">
                <a:solidFill>
                  <a:srgbClr val="201914"/>
                </a:solidFill>
                <a:latin typeface="Arial"/>
              </a:rPr>
              <a:t>There is no moment at which they think 'I need glasses', so there is no search, no shop visit and no purchase.</a:t>
            </a:r>
          </a:p>
        </p:txBody>
      </p:sp>
      <p:sp>
        <p:nvSpPr>
          <p:cNvPr id="9" name="Rectangle 8"/>
          <p:cNvSpPr/>
          <p:nvPr/>
        </p:nvSpPr>
        <p:spPr>
          <a:xfrm>
            <a:off x="9429750" y="3114675"/>
            <a:ext cx="7810500" cy="51339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438525"/>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WHAT THAT MAKES THE BUSINESS</a:t>
            </a:r>
          </a:p>
        </p:txBody>
      </p:sp>
      <p:sp>
        <p:nvSpPr>
          <p:cNvPr id="11" name="TextBox 10"/>
          <p:cNvSpPr txBox="1"/>
          <p:nvPr/>
        </p:nvSpPr>
        <p:spPr>
          <a:xfrm>
            <a:off x="9810750" y="3933825"/>
            <a:ext cx="7048500" cy="1009650"/>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Not a cheaper eyewear shop. No amount of making glasses cheaper changes anything, because the customer is not looking.</a:t>
            </a:r>
          </a:p>
        </p:txBody>
      </p:sp>
      <p:sp>
        <p:nvSpPr>
          <p:cNvPr id="12" name="TextBox 11"/>
          <p:cNvSpPr txBox="1"/>
          <p:nvPr/>
        </p:nvSpPr>
        <p:spPr>
          <a:xfrm>
            <a:off x="9810750" y="5095875"/>
            <a:ext cx="7048500" cy="1323975"/>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A business that gets an eye test in front of somebody who was not asking for one — the home eye check-up, a trained person with equipment, initially free.</a:t>
            </a:r>
          </a:p>
        </p:txBody>
      </p:sp>
      <p:sp>
        <p:nvSpPr>
          <p:cNvPr id="13" name="TextBox 12"/>
          <p:cNvSpPr txBox="1"/>
          <p:nvPr/>
        </p:nvSpPr>
        <p:spPr>
          <a:xfrm>
            <a:off x="9810750" y="6572250"/>
            <a:ext cx="7048500" cy="1323975"/>
          </a:xfrm>
          <a:prstGeom prst="rect">
            <a:avLst/>
          </a:prstGeom>
          <a:noFill/>
        </p:spPr>
        <p:txBody>
          <a:bodyPr wrap="square" lIns="0" rIns="0" tIns="0" bIns="0" anchor="t">
            <a:spAutoFit/>
            <a:spAutoFit/>
          </a:bodyPr>
          <a:lstStyle/>
          <a:p>
            <a:pPr algn="l">
              <a:lnSpc>
                <a:spcPct val="113999"/>
              </a:lnSpc>
            </a:pPr>
            <a:r>
              <a:rPr sz="2200" b="0" i="0">
                <a:solidFill>
                  <a:srgbClr val="F5F1E9"/>
                </a:solidFill>
                <a:latin typeface="Arial"/>
              </a:rPr>
              <a:t>Read it as a research instrument as well as a service. It puts the company in the customer's home at the exact moment the need becomes undeniable.</a:t>
            </a:r>
          </a:p>
        </p:txBody>
      </p:sp>
      <p:sp>
        <p:nvSpPr>
          <p:cNvPr id="14" name="TextBox 13"/>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In FY25 the services line — memberships and eye check-ups — was about ₹133 crore, alongside ₹6,360 crore of goods sales. The research instrument is a revenue 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LENSKART · FY25</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reading found the market. The living room found the product.</a:t>
            </a:r>
          </a:p>
        </p:txBody>
      </p:sp>
      <p:sp>
        <p:nvSpPr>
          <p:cNvPr id="4" name="Rectangle 3"/>
          <p:cNvSpPr/>
          <p:nvPr/>
        </p:nvSpPr>
        <p:spPr>
          <a:xfrm>
            <a:off x="1047750" y="3409950"/>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90950"/>
            <a:ext cx="4305300" cy="762000"/>
          </a:xfrm>
          <a:prstGeom prst="rect">
            <a:avLst/>
          </a:prstGeom>
          <a:noFill/>
        </p:spPr>
        <p:txBody>
          <a:bodyPr wrap="square" lIns="0" rIns="0" tIns="0" bIns="0" anchor="t">
            <a:spAutoFit/>
            <a:spAutoFit/>
          </a:bodyPr>
          <a:lstStyle/>
          <a:p>
            <a:pPr algn="l">
              <a:lnSpc>
                <a:spcPct val="98000"/>
              </a:lnSpc>
            </a:pPr>
            <a:r>
              <a:rPr sz="5700" b="1" i="0">
                <a:solidFill>
                  <a:srgbClr val="201914"/>
                </a:solidFill>
                <a:latin typeface="Arial"/>
              </a:rPr>
              <a:t>₹6,653 cr</a:t>
            </a:r>
          </a:p>
        </p:txBody>
      </p:sp>
      <p:sp>
        <p:nvSpPr>
          <p:cNvPr id="6" name="TextBox 5"/>
          <p:cNvSpPr txBox="1"/>
          <p:nvPr/>
        </p:nvSpPr>
        <p:spPr>
          <a:xfrm>
            <a:off x="1466850" y="4552950"/>
            <a:ext cx="4305300"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operating revenue</a:t>
            </a:r>
          </a:p>
        </p:txBody>
      </p:sp>
      <p:sp>
        <p:nvSpPr>
          <p:cNvPr id="7" name="TextBox 6"/>
          <p:cNvSpPr txBox="1"/>
          <p:nvPr/>
        </p:nvSpPr>
        <p:spPr>
          <a:xfrm>
            <a:off x="1466850" y="5448300"/>
            <a:ext cx="4305300"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Up roughly 23% from ₹5,428 crore. India about ₹4,015 crore of it, growing 27%.</a:t>
            </a:r>
          </a:p>
        </p:txBody>
      </p:sp>
      <p:sp>
        <p:nvSpPr>
          <p:cNvPr id="8" name="Rectangle 7"/>
          <p:cNvSpPr/>
          <p:nvPr/>
        </p:nvSpPr>
        <p:spPr>
          <a:xfrm>
            <a:off x="6572250" y="3409950"/>
            <a:ext cx="5143500"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1350" y="3790950"/>
            <a:ext cx="4305300" cy="762000"/>
          </a:xfrm>
          <a:prstGeom prst="rect">
            <a:avLst/>
          </a:prstGeom>
          <a:noFill/>
        </p:spPr>
        <p:txBody>
          <a:bodyPr wrap="square" lIns="0" rIns="0" tIns="0" bIns="0" anchor="t">
            <a:spAutoFit/>
            <a:spAutoFit/>
          </a:bodyPr>
          <a:lstStyle/>
          <a:p>
            <a:pPr algn="l">
              <a:lnSpc>
                <a:spcPct val="98000"/>
              </a:lnSpc>
            </a:pPr>
            <a:r>
              <a:rPr sz="5700" b="1" i="0">
                <a:solidFill>
                  <a:srgbClr val="201914"/>
                </a:solidFill>
                <a:latin typeface="Arial"/>
              </a:rPr>
              <a:t>₹297 cr</a:t>
            </a:r>
          </a:p>
        </p:txBody>
      </p:sp>
      <p:sp>
        <p:nvSpPr>
          <p:cNvPr id="10" name="TextBox 9"/>
          <p:cNvSpPr txBox="1"/>
          <p:nvPr/>
        </p:nvSpPr>
        <p:spPr>
          <a:xfrm>
            <a:off x="6991350" y="4552950"/>
            <a:ext cx="4305300" cy="685800"/>
          </a:xfrm>
          <a:prstGeom prst="rect">
            <a:avLst/>
          </a:prstGeom>
          <a:noFill/>
        </p:spPr>
        <p:txBody>
          <a:bodyPr wrap="square" lIns="0" rIns="0" tIns="0" bIns="0" anchor="t">
            <a:spAutoFit/>
            <a:spAutoFit/>
          </a:bodyPr>
          <a:lstStyle/>
          <a:p>
            <a:pPr algn="l">
              <a:lnSpc>
                <a:spcPct val="104000"/>
              </a:lnSpc>
            </a:pPr>
            <a:r>
              <a:rPr sz="2400" b="1" i="0">
                <a:solidFill>
                  <a:srgbClr val="201914"/>
                </a:solidFill>
                <a:latin typeface="Arial"/>
              </a:rPr>
              <a:t>net profit</a:t>
            </a:r>
          </a:p>
        </p:txBody>
      </p:sp>
      <p:sp>
        <p:nvSpPr>
          <p:cNvPr id="11" name="TextBox 10"/>
          <p:cNvSpPr txBox="1"/>
          <p:nvPr/>
        </p:nvSpPr>
        <p:spPr>
          <a:xfrm>
            <a:off x="6991350" y="5448300"/>
            <a:ext cx="4305300"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From a loss of around ₹10 crore the previous year. 282 new stores added in the year.</a:t>
            </a:r>
          </a:p>
        </p:txBody>
      </p:sp>
      <p:sp>
        <p:nvSpPr>
          <p:cNvPr id="12" name="Rectangle 11"/>
          <p:cNvSpPr/>
          <p:nvPr/>
        </p:nvSpPr>
        <p:spPr>
          <a:xfrm>
            <a:off x="12096750" y="3409950"/>
            <a:ext cx="5143500"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15850" y="3790950"/>
            <a:ext cx="4305300" cy="762000"/>
          </a:xfrm>
          <a:prstGeom prst="rect">
            <a:avLst/>
          </a:prstGeom>
          <a:noFill/>
        </p:spPr>
        <p:txBody>
          <a:bodyPr wrap="square" lIns="0" rIns="0" tIns="0" bIns="0" anchor="t">
            <a:spAutoFit/>
            <a:spAutoFit/>
          </a:bodyPr>
          <a:lstStyle/>
          <a:p>
            <a:pPr algn="l">
              <a:lnSpc>
                <a:spcPct val="98000"/>
              </a:lnSpc>
            </a:pPr>
            <a:r>
              <a:rPr sz="5700" b="1" i="0">
                <a:solidFill>
                  <a:srgbClr val="F5F1E9"/>
                </a:solidFill>
                <a:latin typeface="Arial"/>
              </a:rPr>
              <a:t>₹133 cr</a:t>
            </a:r>
          </a:p>
        </p:txBody>
      </p:sp>
      <p:sp>
        <p:nvSpPr>
          <p:cNvPr id="14" name="TextBox 13"/>
          <p:cNvSpPr txBox="1"/>
          <p:nvPr/>
        </p:nvSpPr>
        <p:spPr>
          <a:xfrm>
            <a:off x="12515850" y="4552950"/>
            <a:ext cx="4305300" cy="685800"/>
          </a:xfrm>
          <a:prstGeom prst="rect">
            <a:avLst/>
          </a:prstGeom>
          <a:noFill/>
        </p:spPr>
        <p:txBody>
          <a:bodyPr wrap="square" lIns="0" rIns="0" tIns="0" bIns="0" anchor="t">
            <a:spAutoFit/>
            <a:spAutoFit/>
          </a:bodyPr>
          <a:lstStyle/>
          <a:p>
            <a:pPr algn="l">
              <a:lnSpc>
                <a:spcPct val="104000"/>
              </a:lnSpc>
            </a:pPr>
            <a:r>
              <a:rPr sz="2400" b="1" i="0">
                <a:solidFill>
                  <a:srgbClr val="F5F1E9"/>
                </a:solidFill>
                <a:latin typeface="Arial"/>
              </a:rPr>
              <a:t>services — the eye check-ups</a:t>
            </a:r>
          </a:p>
        </p:txBody>
      </p:sp>
      <p:sp>
        <p:nvSpPr>
          <p:cNvPr id="15" name="TextBox 14"/>
          <p:cNvSpPr txBox="1"/>
          <p:nvPr/>
        </p:nvSpPr>
        <p:spPr>
          <a:xfrm>
            <a:off x="12515850" y="5448300"/>
            <a:ext cx="4305300" cy="1524000"/>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Small next to the rest, and the number to point at: the primary research instrument pays for itself and then produces the insight for free.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WAKEFIT · FOUNDED 2016</a:t>
            </a:r>
          </a:p>
        </p:txBody>
      </p:sp>
      <p:sp>
        <p:nvSpPr>
          <p:cNvPr id="3" name="TextBox 2"/>
          <p:cNvSpPr txBox="1"/>
          <p:nvPr/>
        </p:nvSpPr>
        <p:spPr>
          <a:xfrm>
            <a:off x="1047750" y="1504950"/>
            <a:ext cx="16192500" cy="1323975"/>
          </a:xfrm>
          <a:prstGeom prst="rect">
            <a:avLst/>
          </a:prstGeom>
          <a:noFill/>
        </p:spPr>
        <p:txBody>
          <a:bodyPr wrap="square" lIns="0" rIns="0" tIns="0" bIns="0" anchor="t">
            <a:spAutoFit/>
            <a:spAutoFit/>
          </a:bodyPr>
          <a:lstStyle/>
          <a:p>
            <a:pPr algn="l">
              <a:lnSpc>
                <a:spcPct val="98000"/>
              </a:lnSpc>
            </a:pPr>
            <a:r>
              <a:rPr sz="5100" b="1" i="0" spc="-120">
                <a:solidFill>
                  <a:srgbClr val="201914"/>
                </a:solidFill>
                <a:latin typeface="Arial"/>
              </a:rPr>
              <a:t>A description of a broken market, available to anybody who walked into four shops</a:t>
            </a:r>
          </a:p>
        </p:txBody>
      </p:sp>
      <p:sp>
        <p:nvSpPr>
          <p:cNvPr id="4" name="Rectangle 3"/>
          <p:cNvSpPr/>
          <p:nvPr/>
        </p:nvSpPr>
        <p:spPr>
          <a:xfrm>
            <a:off x="1047750" y="32670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581400"/>
            <a:ext cx="5143500" cy="438150"/>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Bought once a decade</a:t>
            </a:r>
          </a:p>
        </p:txBody>
      </p:sp>
      <p:sp>
        <p:nvSpPr>
          <p:cNvPr id="6" name="TextBox 5"/>
          <p:cNvSpPr txBox="1"/>
          <p:nvPr/>
        </p:nvSpPr>
        <p:spPr>
          <a:xfrm>
            <a:off x="1047750" y="4191000"/>
            <a:ext cx="5143500" cy="1019175"/>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From a physical shop, at a price the customer could not evaluate against anything.</a:t>
            </a:r>
          </a:p>
        </p:txBody>
      </p:sp>
      <p:sp>
        <p:nvSpPr>
          <p:cNvPr id="7" name="Rectangle 6"/>
          <p:cNvSpPr/>
          <p:nvPr/>
        </p:nvSpPr>
        <p:spPr>
          <a:xfrm>
            <a:off x="6572250" y="32670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581400"/>
            <a:ext cx="5143500" cy="438150"/>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No published prices</a:t>
            </a:r>
          </a:p>
        </p:txBody>
      </p:sp>
      <p:sp>
        <p:nvSpPr>
          <p:cNvPr id="9" name="TextBox 8"/>
          <p:cNvSpPr txBox="1"/>
          <p:nvPr/>
        </p:nvSpPr>
        <p:spPr>
          <a:xfrm>
            <a:off x="6572250" y="4191000"/>
            <a:ext cx="5143500" cy="19812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The same product carried a different figure in two shops on the same road. Specifications that mattered, like foam density, were not printed on anything the customer could read.</a:t>
            </a:r>
          </a:p>
        </p:txBody>
      </p:sp>
      <p:sp>
        <p:nvSpPr>
          <p:cNvPr id="10" name="Rectangle 9"/>
          <p:cNvSpPr/>
          <p:nvPr/>
        </p:nvSpPr>
        <p:spPr>
          <a:xfrm>
            <a:off x="12096750" y="326707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581400"/>
            <a:ext cx="5143500" cy="438150"/>
          </a:xfrm>
          <a:prstGeom prst="rect">
            <a:avLst/>
          </a:prstGeom>
          <a:noFill/>
        </p:spPr>
        <p:txBody>
          <a:bodyPr wrap="square" lIns="0" rIns="0" tIns="0" bIns="0" anchor="t">
            <a:spAutoFit/>
            <a:spAutoFit/>
          </a:bodyPr>
          <a:lstStyle/>
          <a:p>
            <a:pPr algn="l">
              <a:lnSpc>
                <a:spcPct val="102000"/>
              </a:lnSpc>
            </a:pPr>
            <a:r>
              <a:rPr sz="3000" b="1" i="0">
                <a:solidFill>
                  <a:srgbClr val="201914"/>
                </a:solidFill>
                <a:latin typeface="Arial"/>
              </a:rPr>
              <a:t>Invisible margin layers</a:t>
            </a:r>
          </a:p>
        </p:txBody>
      </p:sp>
      <p:sp>
        <p:nvSpPr>
          <p:cNvPr id="12" name="TextBox 11"/>
          <p:cNvSpPr txBox="1"/>
          <p:nvPr/>
        </p:nvSpPr>
        <p:spPr>
          <a:xfrm>
            <a:off x="12096750" y="4191000"/>
            <a:ext cx="5143500" cy="1333500"/>
          </a:xfrm>
          <a:prstGeom prst="rect">
            <a:avLst/>
          </a:prstGeom>
          <a:noFill/>
        </p:spPr>
        <p:txBody>
          <a:bodyPr wrap="square" lIns="0" rIns="0" tIns="0" bIns="0" anchor="t">
            <a:spAutoFit/>
            <a:spAutoFit/>
          </a:bodyPr>
          <a:lstStyle/>
          <a:p>
            <a:pPr algn="l">
              <a:lnSpc>
                <a:spcPct val="110000"/>
              </a:lnSpc>
            </a:pPr>
            <a:r>
              <a:rPr sz="2300" b="0" i="0">
                <a:solidFill>
                  <a:srgbClr val="665B53"/>
                </a:solidFill>
                <a:latin typeface="Arial"/>
              </a:rPr>
              <a:t>Factory to distributor to showroom to you, each layer taking a margin to cover its own rent, staff and unsold stock.</a:t>
            </a:r>
          </a:p>
        </p:txBody>
      </p:sp>
      <p:sp>
        <p:nvSpPr>
          <p:cNvPr id="13" name="TextBox 12"/>
          <p:cNvSpPr txBox="1"/>
          <p:nvPr/>
        </p:nvSpPr>
        <p:spPr>
          <a:xfrm>
            <a:off x="1047750" y="84391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What that reading could not tell them was anything at all about the customer's actual night.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WHY 'CUT OUT THE MIDDLEMAN' IS A CALCULATION, NOT A SLOGAN</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Removing two layers does not only make the product cheaper.</a:t>
            </a:r>
          </a:p>
        </p:txBody>
      </p:sp>
      <p:sp>
        <p:nvSpPr>
          <p:cNvPr id="4" name="Rectangle 3"/>
          <p:cNvSpPr/>
          <p:nvPr/>
        </p:nvSpPr>
        <p:spPr>
          <a:xfrm>
            <a:off x="1047750" y="3409950"/>
            <a:ext cx="7810500" cy="58674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28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C35141"/>
                </a:solidFill>
                <a:latin typeface="Arial"/>
              </a:rPr>
              <a:t>THE OLD CHAIN</a:t>
            </a:r>
          </a:p>
        </p:txBody>
      </p:sp>
      <p:sp>
        <p:nvSpPr>
          <p:cNvPr id="6" name="TextBox 5"/>
          <p:cNvSpPr txBox="1"/>
          <p:nvPr/>
        </p:nvSpPr>
        <p:spPr>
          <a:xfrm>
            <a:off x="1428750" y="422910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Factory sells to a distributor, who sells to a showroom, who sells to you.</a:t>
            </a:r>
          </a:p>
        </p:txBody>
      </p:sp>
      <p:sp>
        <p:nvSpPr>
          <p:cNvPr id="7" name="TextBox 6"/>
          <p:cNvSpPr txBox="1"/>
          <p:nvPr/>
        </p:nvSpPr>
        <p:spPr>
          <a:xfrm>
            <a:off x="1428750" y="512445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Each layer takes a margin to cover rent, staff and unsold stock.</a:t>
            </a:r>
          </a:p>
        </p:txBody>
      </p:sp>
      <p:sp>
        <p:nvSpPr>
          <p:cNvPr id="8" name="TextBox 7"/>
          <p:cNvSpPr txBox="1"/>
          <p:nvPr/>
        </p:nvSpPr>
        <p:spPr>
          <a:xfrm>
            <a:off x="1428750" y="6019800"/>
            <a:ext cx="7048500" cy="742950"/>
          </a:xfrm>
          <a:prstGeom prst="rect">
            <a:avLst/>
          </a:prstGeom>
          <a:noFill/>
        </p:spPr>
        <p:txBody>
          <a:bodyPr wrap="square" lIns="0" rIns="0" tIns="0" bIns="0" anchor="t">
            <a:spAutoFit/>
            <a:spAutoFit/>
          </a:bodyPr>
          <a:lstStyle/>
          <a:p>
            <a:pPr algn="l">
              <a:lnSpc>
                <a:spcPct val="113999"/>
              </a:lnSpc>
            </a:pPr>
            <a:r>
              <a:rPr sz="2400" b="0" i="0">
                <a:solidFill>
                  <a:srgbClr val="201914"/>
                </a:solidFill>
                <a:latin typeface="Arial"/>
              </a:rPr>
              <a:t>None of it is visible from the buyer's side.</a:t>
            </a:r>
          </a:p>
        </p:txBody>
      </p:sp>
      <p:sp>
        <p:nvSpPr>
          <p:cNvPr id="9" name="Rectangle 8"/>
          <p:cNvSpPr/>
          <p:nvPr/>
        </p:nvSpPr>
        <p:spPr>
          <a:xfrm>
            <a:off x="9429750" y="3409950"/>
            <a:ext cx="7810500" cy="58674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0750" y="3733800"/>
            <a:ext cx="7048500" cy="304800"/>
          </a:xfrm>
          <a:prstGeom prst="rect">
            <a:avLst/>
          </a:prstGeom>
          <a:noFill/>
        </p:spPr>
        <p:txBody>
          <a:bodyPr wrap="square" lIns="0" rIns="0" tIns="0" bIns="0" anchor="t">
            <a:spAutoFit/>
            <a:spAutoFit/>
          </a:bodyPr>
          <a:lstStyle/>
          <a:p>
            <a:pPr algn="l">
              <a:lnSpc>
                <a:spcPct val="108000"/>
              </a:lnSpc>
            </a:pPr>
            <a:r>
              <a:rPr sz="2100" b="1" i="0" spc="230">
                <a:solidFill>
                  <a:srgbClr val="EF806F"/>
                </a:solidFill>
                <a:latin typeface="Arial"/>
              </a:rPr>
              <a:t>WHAT THE SAVED MARGIN BUYS</a:t>
            </a:r>
          </a:p>
        </p:txBody>
      </p:sp>
      <p:sp>
        <p:nvSpPr>
          <p:cNvPr id="11" name="TextBox 10"/>
          <p:cNvSpPr txBox="1"/>
          <p:nvPr/>
        </p:nvSpPr>
        <p:spPr>
          <a:xfrm>
            <a:off x="9810750" y="4229100"/>
            <a:ext cx="7048500" cy="1438275"/>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FY25 material costs of about ₹573 crore against revenue of ₹1,274 crore — roughly ₹45 of every ₹100 goes into the product itself.</a:t>
            </a:r>
          </a:p>
        </p:txBody>
      </p:sp>
      <p:sp>
        <p:nvSpPr>
          <p:cNvPr id="12" name="TextBox 11"/>
          <p:cNvSpPr txBox="1"/>
          <p:nvPr/>
        </p:nvSpPr>
        <p:spPr>
          <a:xfrm>
            <a:off x="9810750" y="581977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The rest funds a hundred-night trial, free delivery and a published warranty.</a:t>
            </a:r>
          </a:p>
        </p:txBody>
      </p:sp>
      <p:sp>
        <p:nvSpPr>
          <p:cNvPr id="13" name="TextBox 12"/>
          <p:cNvSpPr txBox="1"/>
          <p:nvPr/>
        </p:nvSpPr>
        <p:spPr>
          <a:xfrm>
            <a:off x="9810750" y="6715125"/>
            <a:ext cx="7048500" cy="742950"/>
          </a:xfrm>
          <a:prstGeom prst="rect">
            <a:avLst/>
          </a:prstGeom>
          <a:noFill/>
        </p:spPr>
        <p:txBody>
          <a:bodyPr wrap="square" lIns="0" rIns="0" tIns="0" bIns="0" anchor="t">
            <a:spAutoFit/>
            <a:spAutoFit/>
          </a:bodyPr>
          <a:lstStyle/>
          <a:p>
            <a:pPr algn="l">
              <a:lnSpc>
                <a:spcPct val="113999"/>
              </a:lnSpc>
            </a:pPr>
            <a:r>
              <a:rPr sz="2400" b="0" i="0">
                <a:solidFill>
                  <a:srgbClr val="F5F1E9"/>
                </a:solidFill>
                <a:latin typeface="Arial"/>
              </a:rPr>
              <a:t>None of which a showroom could ever have offered.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WAKEFIT · THE GREAT INDIAN SLEEP SCORECARD</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Most companies run primary research as a project. They made it an institution.</a:t>
            </a:r>
          </a:p>
        </p:txBody>
      </p:sp>
      <p:sp>
        <p:nvSpPr>
          <p:cNvPr id="4" name="Rectangle 3"/>
          <p:cNvSpPr/>
          <p:nvPr/>
        </p:nvSpPr>
        <p:spPr>
          <a:xfrm>
            <a:off x="1047750"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790950"/>
            <a:ext cx="2924175" cy="685800"/>
          </a:xfrm>
          <a:prstGeom prst="rect">
            <a:avLst/>
          </a:prstGeom>
          <a:noFill/>
        </p:spPr>
        <p:txBody>
          <a:bodyPr wrap="square" lIns="0" rIns="0" tIns="0" bIns="0" anchor="t">
            <a:spAutoFit/>
            <a:spAutoFit/>
          </a:bodyPr>
          <a:lstStyle/>
          <a:p>
            <a:pPr algn="l">
              <a:lnSpc>
                <a:spcPct val="98000"/>
              </a:lnSpc>
            </a:pPr>
            <a:r>
              <a:rPr sz="5100" b="1" i="0">
                <a:solidFill>
                  <a:srgbClr val="201914"/>
                </a:solidFill>
                <a:latin typeface="Arial"/>
              </a:rPr>
              <a:t>8 years</a:t>
            </a:r>
          </a:p>
        </p:txBody>
      </p:sp>
      <p:sp>
        <p:nvSpPr>
          <p:cNvPr id="6" name="TextBox 5"/>
          <p:cNvSpPr txBox="1"/>
          <p:nvPr/>
        </p:nvSpPr>
        <p:spPr>
          <a:xfrm>
            <a:off x="1466850" y="4476750"/>
            <a:ext cx="2924175" cy="762000"/>
          </a:xfrm>
          <a:prstGeom prst="rect">
            <a:avLst/>
          </a:prstGeom>
          <a:noFill/>
        </p:spPr>
        <p:txBody>
          <a:bodyPr wrap="square" lIns="0" rIns="0" tIns="0" bIns="0" anchor="t">
            <a:spAutoFit/>
            <a:spAutoFit/>
          </a:bodyPr>
          <a:lstStyle/>
          <a:p>
            <a:pPr algn="l">
              <a:lnSpc>
                <a:spcPct val="104000"/>
              </a:lnSpc>
            </a:pPr>
            <a:r>
              <a:rPr sz="1800" b="1" i="0">
                <a:solidFill>
                  <a:srgbClr val="201914"/>
                </a:solidFill>
                <a:latin typeface="Arial"/>
              </a:rPr>
              <a:t>the same survey, run the same way</a:t>
            </a:r>
          </a:p>
        </p:txBody>
      </p:sp>
      <p:sp>
        <p:nvSpPr>
          <p:cNvPr id="7" name="TextBox 6"/>
          <p:cNvSpPr txBox="1"/>
          <p:nvPr/>
        </p:nvSpPr>
        <p:spPr>
          <a:xfrm>
            <a:off x="1466850" y="5448300"/>
            <a:ext cx="2924175" cy="12287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2025 edition covered more than 4,500 respondents across India.</a:t>
            </a:r>
          </a:p>
        </p:txBody>
      </p:sp>
      <p:sp>
        <p:nvSpPr>
          <p:cNvPr id="8" name="Rectangle 7"/>
          <p:cNvSpPr/>
          <p:nvPr/>
        </p:nvSpPr>
        <p:spPr>
          <a:xfrm>
            <a:off x="5191125"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0225" y="3790950"/>
            <a:ext cx="2924175" cy="685800"/>
          </a:xfrm>
          <a:prstGeom prst="rect">
            <a:avLst/>
          </a:prstGeom>
          <a:noFill/>
        </p:spPr>
        <p:txBody>
          <a:bodyPr wrap="square" lIns="0" rIns="0" tIns="0" bIns="0" anchor="t">
            <a:spAutoFit/>
            <a:spAutoFit/>
          </a:bodyPr>
          <a:lstStyle/>
          <a:p>
            <a:pPr algn="l">
              <a:lnSpc>
                <a:spcPct val="98000"/>
              </a:lnSpc>
            </a:pPr>
            <a:r>
              <a:rPr sz="5100" b="1" i="0">
                <a:solidFill>
                  <a:srgbClr val="201914"/>
                </a:solidFill>
                <a:latin typeface="Arial"/>
              </a:rPr>
              <a:t>84%</a:t>
            </a:r>
          </a:p>
        </p:txBody>
      </p:sp>
      <p:sp>
        <p:nvSpPr>
          <p:cNvPr id="10" name="TextBox 9"/>
          <p:cNvSpPr txBox="1"/>
          <p:nvPr/>
        </p:nvSpPr>
        <p:spPr>
          <a:xfrm>
            <a:off x="5610225" y="4476750"/>
            <a:ext cx="2924175" cy="762000"/>
          </a:xfrm>
          <a:prstGeom prst="rect">
            <a:avLst/>
          </a:prstGeom>
          <a:noFill/>
        </p:spPr>
        <p:txBody>
          <a:bodyPr wrap="square" lIns="0" rIns="0" tIns="0" bIns="0" anchor="t">
            <a:spAutoFit/>
            <a:spAutoFit/>
          </a:bodyPr>
          <a:lstStyle/>
          <a:p>
            <a:pPr algn="l">
              <a:lnSpc>
                <a:spcPct val="104000"/>
              </a:lnSpc>
            </a:pPr>
            <a:r>
              <a:rPr sz="1800" b="1" i="0">
                <a:solidFill>
                  <a:srgbClr val="201914"/>
                </a:solidFill>
                <a:latin typeface="Arial"/>
              </a:rPr>
              <a:t>use their phones before bed</a:t>
            </a:r>
          </a:p>
        </p:txBody>
      </p:sp>
      <p:sp>
        <p:nvSpPr>
          <p:cNvPr id="11" name="TextBox 10"/>
          <p:cNvSpPr txBox="1"/>
          <p:nvPr/>
        </p:nvSpPr>
        <p:spPr>
          <a:xfrm>
            <a:off x="5610225" y="5448300"/>
            <a:ext cx="2924175" cy="152400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About 58% go to bed after 11 pm. Roughly half blame scrolling and watching for the late nights.</a:t>
            </a:r>
          </a:p>
        </p:txBody>
      </p:sp>
      <p:sp>
        <p:nvSpPr>
          <p:cNvPr id="12" name="Rectangle 11"/>
          <p:cNvSpPr/>
          <p:nvPr/>
        </p:nvSpPr>
        <p:spPr>
          <a:xfrm>
            <a:off x="9334500" y="3409950"/>
            <a:ext cx="3762375" cy="45720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53600" y="3790950"/>
            <a:ext cx="2924175" cy="685800"/>
          </a:xfrm>
          <a:prstGeom prst="rect">
            <a:avLst/>
          </a:prstGeom>
          <a:noFill/>
        </p:spPr>
        <p:txBody>
          <a:bodyPr wrap="square" lIns="0" rIns="0" tIns="0" bIns="0" anchor="t">
            <a:spAutoFit/>
            <a:spAutoFit/>
          </a:bodyPr>
          <a:lstStyle/>
          <a:p>
            <a:pPr algn="l">
              <a:lnSpc>
                <a:spcPct val="98000"/>
              </a:lnSpc>
            </a:pPr>
            <a:r>
              <a:rPr sz="5100" b="1" i="0">
                <a:solidFill>
                  <a:srgbClr val="201914"/>
                </a:solidFill>
                <a:latin typeface="Arial"/>
              </a:rPr>
              <a:t>44%</a:t>
            </a:r>
          </a:p>
        </p:txBody>
      </p:sp>
      <p:sp>
        <p:nvSpPr>
          <p:cNvPr id="14" name="TextBox 13"/>
          <p:cNvSpPr txBox="1"/>
          <p:nvPr/>
        </p:nvSpPr>
        <p:spPr>
          <a:xfrm>
            <a:off x="9753600" y="4476750"/>
            <a:ext cx="2924175" cy="762000"/>
          </a:xfrm>
          <a:prstGeom prst="rect">
            <a:avLst/>
          </a:prstGeom>
          <a:noFill/>
        </p:spPr>
        <p:txBody>
          <a:bodyPr wrap="square" lIns="0" rIns="0" tIns="0" bIns="0" anchor="t">
            <a:spAutoFit/>
            <a:spAutoFit/>
          </a:bodyPr>
          <a:lstStyle/>
          <a:p>
            <a:pPr algn="l">
              <a:lnSpc>
                <a:spcPct val="104000"/>
              </a:lnSpc>
            </a:pPr>
            <a:r>
              <a:rPr sz="1800" b="1" i="0">
                <a:solidFill>
                  <a:srgbClr val="201914"/>
                </a:solidFill>
                <a:latin typeface="Arial"/>
              </a:rPr>
              <a:t>do not feel refreshed when they wake</a:t>
            </a:r>
          </a:p>
        </p:txBody>
      </p:sp>
      <p:sp>
        <p:nvSpPr>
          <p:cNvPr id="15" name="TextBox 14"/>
          <p:cNvSpPr txBox="1"/>
          <p:nvPr/>
        </p:nvSpPr>
        <p:spPr>
          <a:xfrm>
            <a:off x="9753600" y="5448300"/>
            <a:ext cx="2924175" cy="21050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Around 59% report feeling sleepy at work. Kolkata reported the highest share of late sleepers at nearly 73%.</a:t>
            </a:r>
          </a:p>
        </p:txBody>
      </p:sp>
      <p:sp>
        <p:nvSpPr>
          <p:cNvPr id="16" name="Rectangle 15"/>
          <p:cNvSpPr/>
          <p:nvPr/>
        </p:nvSpPr>
        <p:spPr>
          <a:xfrm>
            <a:off x="13477875" y="3409950"/>
            <a:ext cx="3762375" cy="4572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896975" y="3790950"/>
            <a:ext cx="2924175" cy="685800"/>
          </a:xfrm>
          <a:prstGeom prst="rect">
            <a:avLst/>
          </a:prstGeom>
          <a:noFill/>
        </p:spPr>
        <p:txBody>
          <a:bodyPr wrap="square" lIns="0" rIns="0" tIns="0" bIns="0" anchor="t">
            <a:spAutoFit/>
            <a:spAutoFit/>
          </a:bodyPr>
          <a:lstStyle/>
          <a:p>
            <a:pPr algn="l">
              <a:lnSpc>
                <a:spcPct val="98000"/>
              </a:lnSpc>
            </a:pPr>
            <a:r>
              <a:rPr sz="5100" b="1" i="0">
                <a:solidFill>
                  <a:srgbClr val="F5F1E9"/>
                </a:solidFill>
                <a:latin typeface="Arial"/>
              </a:rPr>
              <a:t>0</a:t>
            </a:r>
          </a:p>
        </p:txBody>
      </p:sp>
      <p:sp>
        <p:nvSpPr>
          <p:cNvPr id="18" name="TextBox 17"/>
          <p:cNvSpPr txBox="1"/>
          <p:nvPr/>
        </p:nvSpPr>
        <p:spPr>
          <a:xfrm>
            <a:off x="13896975" y="4476750"/>
            <a:ext cx="2924175" cy="762000"/>
          </a:xfrm>
          <a:prstGeom prst="rect">
            <a:avLst/>
          </a:prstGeom>
          <a:noFill/>
        </p:spPr>
        <p:txBody>
          <a:bodyPr wrap="square" lIns="0" rIns="0" tIns="0" bIns="0" anchor="t">
            <a:spAutoFit/>
            <a:spAutoFit/>
          </a:bodyPr>
          <a:lstStyle/>
          <a:p>
            <a:pPr algn="l">
              <a:lnSpc>
                <a:spcPct val="104000"/>
              </a:lnSpc>
            </a:pPr>
            <a:r>
              <a:rPr sz="1800" b="1" i="0">
                <a:solidFill>
                  <a:srgbClr val="F5F1E9"/>
                </a:solidFill>
                <a:latin typeface="Arial"/>
              </a:rPr>
              <a:t>competitors who can buy it</a:t>
            </a:r>
          </a:p>
        </p:txBody>
      </p:sp>
      <p:sp>
        <p:nvSpPr>
          <p:cNvPr id="19" name="TextBox 18"/>
          <p:cNvSpPr txBox="1"/>
          <p:nvPr/>
        </p:nvSpPr>
        <p:spPr>
          <a:xfrm>
            <a:off x="13896975" y="5448300"/>
            <a:ext cx="2924175" cy="2105025"/>
          </a:xfrm>
          <a:prstGeom prst="rect">
            <a:avLst/>
          </a:prstGeom>
          <a:noFill/>
        </p:spPr>
        <p:txBody>
          <a:bodyPr wrap="square" lIns="0" rIns="0" tIns="0" bIns="0" anchor="t">
            <a:spAutoFit/>
            <a:spAutoFit/>
          </a:bodyPr>
          <a:lstStyle/>
          <a:p>
            <a:pPr algn="l">
              <a:lnSpc>
                <a:spcPct val="110000"/>
              </a:lnSpc>
            </a:pPr>
            <a:r>
              <a:rPr sz="2100" b="0" i="0">
                <a:solidFill>
                  <a:srgbClr val="F5F1E9"/>
                </a:solidFill>
                <a:latin typeface="Arial"/>
              </a:rPr>
              <a:t>Anybody can commission a survey this year. Nobody else can tell you how the same question has moved since 2018.</a:t>
            </a:r>
          </a:p>
        </p:txBody>
      </p:sp>
      <p:sp>
        <p:nvSpPr>
          <p:cNvPr id="20" name="TextBox 19"/>
          <p:cNvSpPr txBox="1"/>
          <p:nvPr/>
        </p:nvSpPr>
        <p:spPr>
          <a:xfrm>
            <a:off x="1047750" y="8629650"/>
            <a:ext cx="16192500" cy="952500"/>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single study answers a question. A repeated study, run the same way every year, builds an asset.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FRAMEWORK 3 · BLUE, GREEN, AMBER — AND THIS IS THE ORDER TO DO THEM IN</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Evidence Ladder</a:t>
            </a:r>
          </a:p>
        </p:txBody>
      </p:sp>
      <p:sp>
        <p:nvSpPr>
          <p:cNvPr id="4" name="TextBox 3"/>
          <p:cNvSpPr txBox="1"/>
          <p:nvPr/>
        </p:nvSpPr>
        <p:spPr>
          <a:xfrm>
            <a:off x="1314450" y="2838450"/>
            <a:ext cx="27241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RUNG</a:t>
            </a:r>
          </a:p>
        </p:txBody>
      </p:sp>
      <p:sp>
        <p:nvSpPr>
          <p:cNvPr id="5" name="TextBox 4"/>
          <p:cNvSpPr txBox="1"/>
          <p:nvPr/>
        </p:nvSpPr>
        <p:spPr>
          <a:xfrm>
            <a:off x="4286250" y="2838450"/>
            <a:ext cx="36385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IT IS</a:t>
            </a:r>
          </a:p>
        </p:txBody>
      </p:sp>
      <p:sp>
        <p:nvSpPr>
          <p:cNvPr id="6" name="TextBox 5"/>
          <p:cNvSpPr txBox="1"/>
          <p:nvPr/>
        </p:nvSpPr>
        <p:spPr>
          <a:xfrm>
            <a:off x="8172450" y="2838450"/>
            <a:ext cx="32670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IT IS GOOD FOR</a:t>
            </a:r>
          </a:p>
        </p:txBody>
      </p:sp>
      <p:sp>
        <p:nvSpPr>
          <p:cNvPr id="7" name="TextBox 6"/>
          <p:cNvSpPr txBox="1"/>
          <p:nvPr/>
        </p:nvSpPr>
        <p:spPr>
          <a:xfrm>
            <a:off x="11687175" y="2838450"/>
            <a:ext cx="25431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COST</a:t>
            </a:r>
          </a:p>
        </p:txBody>
      </p:sp>
      <p:sp>
        <p:nvSpPr>
          <p:cNvPr id="8" name="TextBox 7"/>
          <p:cNvSpPr txBox="1"/>
          <p:nvPr/>
        </p:nvSpPr>
        <p:spPr>
          <a:xfrm>
            <a:off x="14478000" y="2838450"/>
            <a:ext cx="27241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WHO ELSE HAS IT</a:t>
            </a:r>
          </a:p>
        </p:txBody>
      </p:sp>
      <p:sp>
        <p:nvSpPr>
          <p:cNvPr id="9" name="Rectangle 8"/>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4450" y="3838575"/>
            <a:ext cx="2724150" cy="54292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Published secondary (Blue)</a:t>
            </a:r>
          </a:p>
        </p:txBody>
      </p:sp>
      <p:sp>
        <p:nvSpPr>
          <p:cNvPr id="11" name="TextBox 10"/>
          <p:cNvSpPr txBox="1"/>
          <p:nvPr/>
        </p:nvSpPr>
        <p:spPr>
          <a:xfrm>
            <a:off x="4286250" y="3838575"/>
            <a:ext cx="363855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Government statistics, industry reports, academic work, regulatory filings, competitor annual accounts</a:t>
            </a:r>
          </a:p>
        </p:txBody>
      </p:sp>
      <p:sp>
        <p:nvSpPr>
          <p:cNvPr id="12" name="TextBox 11"/>
          <p:cNvSpPr txBox="1"/>
          <p:nvPr/>
        </p:nvSpPr>
        <p:spPr>
          <a:xfrm>
            <a:off x="8172450" y="3838575"/>
            <a:ext cx="3267075" cy="7905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Sizing the gap; deciding whether the market is worth years of your life</a:t>
            </a:r>
          </a:p>
        </p:txBody>
      </p:sp>
      <p:sp>
        <p:nvSpPr>
          <p:cNvPr id="13" name="TextBox 12"/>
          <p:cNvSpPr txBox="1"/>
          <p:nvPr/>
        </p:nvSpPr>
        <p:spPr>
          <a:xfrm>
            <a:off x="11687175" y="3838575"/>
            <a:ext cx="2543175" cy="5429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An afternoon. Usually free</a:t>
            </a:r>
          </a:p>
        </p:txBody>
      </p:sp>
      <p:sp>
        <p:nvSpPr>
          <p:cNvPr id="14" name="TextBox 13"/>
          <p:cNvSpPr txBox="1"/>
          <p:nvPr/>
        </p:nvSpPr>
        <p:spPr>
          <a:xfrm>
            <a:off x="14478000" y="3838575"/>
            <a:ext cx="2724150" cy="5429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Everybody. Assume every competitor has read it</a:t>
            </a:r>
          </a:p>
        </p:txBody>
      </p:sp>
      <p:sp>
        <p:nvSpPr>
          <p:cNvPr id="15" name="Rectangle 14"/>
          <p:cNvSpPr/>
          <p:nvPr/>
        </p:nvSpPr>
        <p:spPr>
          <a:xfrm>
            <a:off x="1047750" y="51816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7750" y="5181600"/>
            <a:ext cx="16192500" cy="18954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5486400"/>
            <a:ext cx="2724150" cy="29527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Found data (Green)</a:t>
            </a:r>
          </a:p>
        </p:txBody>
      </p:sp>
      <p:sp>
        <p:nvSpPr>
          <p:cNvPr id="18" name="TextBox 17"/>
          <p:cNvSpPr txBox="1"/>
          <p:nvPr/>
        </p:nvSpPr>
        <p:spPr>
          <a:xfrm>
            <a:off x="4286250" y="5486400"/>
            <a:ext cx="3638550" cy="12858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Customer reviews, app-store complaints, search behaviour, forum threads, competitor pricing pages and job advertisements</a:t>
            </a:r>
          </a:p>
        </p:txBody>
      </p:sp>
      <p:sp>
        <p:nvSpPr>
          <p:cNvPr id="19" name="TextBox 18"/>
          <p:cNvSpPr txBox="1"/>
          <p:nvPr/>
        </p:nvSpPr>
        <p:spPr>
          <a:xfrm>
            <a:off x="8172450" y="5486400"/>
            <a:ext cx="3267075"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Failure modes, real language, what actually goes wrong, what competitors are building next</a:t>
            </a:r>
          </a:p>
        </p:txBody>
      </p:sp>
      <p:sp>
        <p:nvSpPr>
          <p:cNvPr id="20" name="TextBox 19"/>
          <p:cNvSpPr txBox="1"/>
          <p:nvPr/>
        </p:nvSpPr>
        <p:spPr>
          <a:xfrm>
            <a:off x="11687175" y="5486400"/>
            <a:ext cx="2543175" cy="5429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A few days of patient reading. Free</a:t>
            </a:r>
          </a:p>
        </p:txBody>
      </p:sp>
      <p:sp>
        <p:nvSpPr>
          <p:cNvPr id="21" name="TextBox 20"/>
          <p:cNvSpPr txBox="1"/>
          <p:nvPr/>
        </p:nvSpPr>
        <p:spPr>
          <a:xfrm>
            <a:off x="14478000" y="5486400"/>
            <a:ext cx="2724150" cy="7905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Almost nobody, because almost nobody reads it systematically</a:t>
            </a:r>
          </a:p>
        </p:txBody>
      </p:sp>
      <p:sp>
        <p:nvSpPr>
          <p:cNvPr id="22" name="Rectangle 21"/>
          <p:cNvSpPr/>
          <p:nvPr/>
        </p:nvSpPr>
        <p:spPr>
          <a:xfrm>
            <a:off x="1047750" y="70770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 y="7381875"/>
            <a:ext cx="2724150" cy="29527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Primary (Amber)</a:t>
            </a:r>
          </a:p>
        </p:txBody>
      </p:sp>
      <p:sp>
        <p:nvSpPr>
          <p:cNvPr id="24" name="TextBox 23"/>
          <p:cNvSpPr txBox="1"/>
          <p:nvPr/>
        </p:nvSpPr>
        <p:spPr>
          <a:xfrm>
            <a:off x="4286250" y="7381875"/>
            <a:ext cx="3638550" cy="5429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Interviews, observation, surveys you run, experiments</a:t>
            </a:r>
          </a:p>
        </p:txBody>
      </p:sp>
      <p:sp>
        <p:nvSpPr>
          <p:cNvPr id="25" name="TextBox 24"/>
          <p:cNvSpPr txBox="1"/>
          <p:nvPr/>
        </p:nvSpPr>
        <p:spPr>
          <a:xfrm>
            <a:off x="8172450" y="7381875"/>
            <a:ext cx="3267075" cy="7905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Why. Motivation, decision-making, the reason a gap persists</a:t>
            </a:r>
          </a:p>
        </p:txBody>
      </p:sp>
      <p:sp>
        <p:nvSpPr>
          <p:cNvPr id="26" name="TextBox 25"/>
          <p:cNvSpPr txBox="1"/>
          <p:nvPr/>
        </p:nvSpPr>
        <p:spPr>
          <a:xfrm>
            <a:off x="11687175" y="7381875"/>
            <a:ext cx="2543175" cy="5429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Weeks, real money, and somebody's attention</a:t>
            </a:r>
          </a:p>
        </p:txBody>
      </p:sp>
      <p:sp>
        <p:nvSpPr>
          <p:cNvPr id="27" name="TextBox 26"/>
          <p:cNvSpPr txBox="1"/>
          <p:nvPr/>
        </p:nvSpPr>
        <p:spPr>
          <a:xfrm>
            <a:off x="14478000" y="7381875"/>
            <a:ext cx="2724150" cy="2952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Only you</a:t>
            </a:r>
          </a:p>
        </p:txBody>
      </p:sp>
      <p:sp>
        <p:nvSpPr>
          <p:cNvPr id="28" name="TextBox 27"/>
          <p:cNvSpPr txBox="1"/>
          <p:nvPr/>
        </p:nvSpPr>
        <p:spPr>
          <a:xfrm>
            <a:off x="1047750" y="8724900"/>
            <a:ext cx="16192500" cy="857250"/>
          </a:xfrm>
          <a:prstGeom prst="rect">
            <a:avLst/>
          </a:prstGeom>
          <a:noFill/>
        </p:spPr>
        <p:txBody>
          <a:bodyPr wrap="square" lIns="0" rIns="0" tIns="0" bIns="0" anchor="t">
            <a:spAutoFit/>
            <a:spAutoFit/>
          </a:bodyPr>
          <a:lstStyle/>
          <a:p>
            <a:pPr algn="l">
              <a:lnSpc>
                <a:spcPct val="118000"/>
              </a:lnSpc>
            </a:pPr>
            <a:r>
              <a:rPr sz="2700" b="0" i="1">
                <a:solidFill>
                  <a:srgbClr val="362C24"/>
                </a:solidFill>
                <a:latin typeface="Georgia"/>
              </a:rPr>
              <a:t>Blue is available to everyone and everyone has it. Amber is yours and costs a great deal. Green is available to everyone and almost nobody has bothered.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RUNG NOBODY USES</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Technically public. Practically private.</a:t>
            </a:r>
          </a:p>
        </p:txBody>
      </p:sp>
      <p:sp>
        <p:nvSpPr>
          <p:cNvPr id="4" name="Rectangle 3"/>
          <p:cNvSpPr/>
          <p:nvPr/>
        </p:nvSpPr>
        <p:spPr>
          <a:xfrm>
            <a:off x="104775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724275"/>
            <a:ext cx="3762375" cy="9810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Reviews are unstructured transcripts</a:t>
            </a:r>
          </a:p>
        </p:txBody>
      </p:sp>
      <p:sp>
        <p:nvSpPr>
          <p:cNvPr id="6" name="TextBox 5"/>
          <p:cNvSpPr txBox="1"/>
          <p:nvPr/>
        </p:nvSpPr>
        <p:spPr>
          <a:xfrm>
            <a:off x="1047750" y="4876800"/>
            <a:ext cx="3762375" cy="18097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one-star and three-star reviews are interview transcripts people wrote voluntarily, at length, with nobody selling anything.</a:t>
            </a:r>
          </a:p>
        </p:txBody>
      </p:sp>
      <p:sp>
        <p:nvSpPr>
          <p:cNvPr id="7" name="Rectangle 6"/>
          <p:cNvSpPr/>
          <p:nvPr/>
        </p:nvSpPr>
        <p:spPr>
          <a:xfrm>
            <a:off x="519112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724275"/>
            <a:ext cx="3762375" cy="9810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Search data is what people type when nobody is watching</a:t>
            </a:r>
          </a:p>
        </p:txBody>
      </p:sp>
      <p:sp>
        <p:nvSpPr>
          <p:cNvPr id="9" name="TextBox 8"/>
          <p:cNvSpPr txBox="1"/>
          <p:nvPr/>
        </p:nvSpPr>
        <p:spPr>
          <a:xfrm>
            <a:off x="5191125" y="4876800"/>
            <a:ext cx="37623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great deal more honest than what they say in a room with you.</a:t>
            </a:r>
          </a:p>
        </p:txBody>
      </p:sp>
      <p:sp>
        <p:nvSpPr>
          <p:cNvPr id="10" name="Rectangle 9"/>
          <p:cNvSpPr/>
          <p:nvPr/>
        </p:nvSpPr>
        <p:spPr>
          <a:xfrm>
            <a:off x="9334500"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724275"/>
            <a:ext cx="3762375" cy="9810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Competitors publish more than they realise</a:t>
            </a:r>
          </a:p>
        </p:txBody>
      </p:sp>
      <p:sp>
        <p:nvSpPr>
          <p:cNvPr id="12" name="TextBox 11"/>
          <p:cNvSpPr txBox="1"/>
          <p:nvPr/>
        </p:nvSpPr>
        <p:spPr>
          <a:xfrm>
            <a:off x="9334500" y="4876800"/>
            <a:ext cx="3762375" cy="18097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Prices, delivery promises, return policies, annual accounts — and job advertisements, which describe what they are building next.</a:t>
            </a:r>
          </a:p>
        </p:txBody>
      </p:sp>
      <p:sp>
        <p:nvSpPr>
          <p:cNvPr id="13" name="Rectangle 12"/>
          <p:cNvSpPr/>
          <p:nvPr/>
        </p:nvSpPr>
        <p:spPr>
          <a:xfrm>
            <a:off x="13477875" y="3409950"/>
            <a:ext cx="22193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724275"/>
            <a:ext cx="3762375" cy="981075"/>
          </a:xfrm>
          <a:prstGeom prst="rect">
            <a:avLst/>
          </a:prstGeom>
          <a:noFill/>
        </p:spPr>
        <p:txBody>
          <a:bodyPr wrap="square" lIns="0" rIns="0" tIns="0" bIns="0" anchor="t">
            <a:spAutoFit/>
            <a:spAutoFit/>
          </a:bodyPr>
          <a:lstStyle/>
          <a:p>
            <a:pPr algn="l">
              <a:lnSpc>
                <a:spcPct val="102000"/>
              </a:lnSpc>
            </a:pPr>
            <a:r>
              <a:rPr sz="2400" b="1" i="0">
                <a:solidFill>
                  <a:srgbClr val="201914"/>
                </a:solidFill>
                <a:latin typeface="Arial"/>
              </a:rPr>
              <a:t>Read three-star before one-star</a:t>
            </a:r>
          </a:p>
        </p:txBody>
      </p:sp>
      <p:sp>
        <p:nvSpPr>
          <p:cNvPr id="15" name="TextBox 14"/>
          <p:cNvSpPr txBox="1"/>
          <p:nvPr/>
        </p:nvSpPr>
        <p:spPr>
          <a:xfrm>
            <a:off x="13477875" y="4876800"/>
            <a:ext cx="3762375" cy="210502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One-star reviewers are often angry about a single delivery. Three-star reviewers liked the product and are telling you precisely what stopped them loving it.</a:t>
            </a:r>
          </a:p>
        </p:txBody>
      </p:sp>
      <p:sp>
        <p:nvSpPr>
          <p:cNvPr id="16" name="TextBox 15"/>
          <p:cNvSpPr txBox="1"/>
          <p:nvPr/>
        </p:nvSpPr>
        <p:spPr>
          <a:xfrm>
            <a:off x="1047750" y="8181975"/>
            <a:ext cx="16192500" cy="1400175"/>
          </a:xfrm>
          <a:prstGeom prst="rect">
            <a:avLst/>
          </a:prstGeom>
          <a:noFill/>
        </p:spPr>
        <p:txBody>
          <a:bodyPr wrap="square" lIns="0" rIns="0" tIns="0" bIns="0" anchor="t">
            <a:spAutoFit/>
            <a:spAutoFit/>
          </a:bodyPr>
          <a:lstStyle/>
          <a:p>
            <a:pPr algn="l">
              <a:lnSpc>
                <a:spcPct val="118000"/>
              </a:lnSpc>
            </a:pPr>
            <a:r>
              <a:rPr sz="3000" b="0" i="1">
                <a:solidFill>
                  <a:srgbClr val="362C24"/>
                </a:solidFill>
                <a:latin typeface="Georgia"/>
              </a:rPr>
              <a:t>A founder who spends one afternoon reading four hundred one-star reviews of the three market leaders will know more about that category's real failure modes than a founder who has done ten polite interviews.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TRY THESE YOURSELF · BLUE, GREEN OR AMBER</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Which rung answers each of these?</a:t>
            </a:r>
          </a:p>
        </p:txBody>
      </p:sp>
      <p:sp>
        <p:nvSpPr>
          <p:cNvPr id="4" name="Rectangle 3"/>
          <p:cNvSpPr/>
          <p:nvPr/>
        </p:nvSpPr>
        <p:spPr>
          <a:xfrm>
            <a:off x="1047750"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4450" y="3143250"/>
            <a:ext cx="3228975" cy="904875"/>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'How many students stay away from home in this city?'</a:t>
            </a:r>
          </a:p>
        </p:txBody>
      </p:sp>
      <p:sp>
        <p:nvSpPr>
          <p:cNvPr id="6" name="TextBox 5"/>
          <p:cNvSpPr txBox="1"/>
          <p:nvPr/>
        </p:nvSpPr>
        <p:spPr>
          <a:xfrm>
            <a:off x="1314450" y="4371975"/>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You need this number to size the tiffin opportunity.</a:t>
            </a:r>
          </a:p>
        </p:txBody>
      </p:sp>
      <p:sp>
        <p:nvSpPr>
          <p:cNvPr id="7" name="Rectangle 6"/>
          <p:cNvSpPr/>
          <p:nvPr/>
        </p:nvSpPr>
        <p:spPr>
          <a:xfrm>
            <a:off x="5191125"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57825" y="3143250"/>
            <a:ext cx="3228975" cy="904875"/>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'Why do people cancel a tiffin subscription in month two?'</a:t>
            </a:r>
          </a:p>
        </p:txBody>
      </p:sp>
      <p:sp>
        <p:nvSpPr>
          <p:cNvPr id="9" name="TextBox 8"/>
          <p:cNvSpPr txBox="1"/>
          <p:nvPr/>
        </p:nvSpPr>
        <p:spPr>
          <a:xfrm>
            <a:off x="5457825" y="4371975"/>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This is the question the whole business depends on.</a:t>
            </a:r>
          </a:p>
        </p:txBody>
      </p:sp>
      <p:sp>
        <p:nvSpPr>
          <p:cNvPr id="10" name="Rectangle 9"/>
          <p:cNvSpPr/>
          <p:nvPr/>
        </p:nvSpPr>
        <p:spPr>
          <a:xfrm>
            <a:off x="9334500"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3143250"/>
            <a:ext cx="3228975" cy="904875"/>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'What do people complain about in existing services?'</a:t>
            </a:r>
          </a:p>
        </p:txBody>
      </p:sp>
      <p:sp>
        <p:nvSpPr>
          <p:cNvPr id="12" name="TextBox 11"/>
          <p:cNvSpPr txBox="1"/>
          <p:nvPr/>
        </p:nvSpPr>
        <p:spPr>
          <a:xfrm>
            <a:off x="9601200" y="4371975"/>
            <a:ext cx="3228975" cy="63817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Which rung, and how long should it take?</a:t>
            </a:r>
          </a:p>
        </p:txBody>
      </p:sp>
      <p:sp>
        <p:nvSpPr>
          <p:cNvPr id="13" name="Rectangle 12"/>
          <p:cNvSpPr/>
          <p:nvPr/>
        </p:nvSpPr>
        <p:spPr>
          <a:xfrm>
            <a:off x="13477875" y="2838450"/>
            <a:ext cx="3762375" cy="59150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4575" y="3143250"/>
            <a:ext cx="3228975" cy="904875"/>
          </a:xfrm>
          <a:prstGeom prst="rect">
            <a:avLst/>
          </a:prstGeom>
          <a:noFill/>
        </p:spPr>
        <p:txBody>
          <a:bodyPr wrap="square" lIns="0" rIns="0" tIns="0" bIns="0" anchor="t">
            <a:spAutoFit/>
            <a:spAutoFit/>
          </a:bodyPr>
          <a:lstStyle/>
          <a:p>
            <a:pPr algn="l">
              <a:lnSpc>
                <a:spcPct val="106000"/>
              </a:lnSpc>
            </a:pPr>
            <a:r>
              <a:rPr sz="2100" b="1" i="0">
                <a:solidFill>
                  <a:srgbClr val="201914"/>
                </a:solidFill>
                <a:latin typeface="Arial"/>
              </a:rPr>
              <a:t>'Would a student pay ₹3,500 a month for this?'</a:t>
            </a:r>
          </a:p>
        </p:txBody>
      </p:sp>
      <p:sp>
        <p:nvSpPr>
          <p:cNvPr id="15" name="TextBox 14"/>
          <p:cNvSpPr txBox="1"/>
          <p:nvPr/>
        </p:nvSpPr>
        <p:spPr>
          <a:xfrm>
            <a:off x="13744575" y="4371975"/>
            <a:ext cx="3228975" cy="933450"/>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There is a trap in this one, and you met it last week.</a:t>
            </a:r>
          </a:p>
        </p:txBody>
      </p:sp>
      <p:sp>
        <p:nvSpPr>
          <p:cNvPr id="16" name="TextBox 15"/>
          <p:cNvSpPr txBox="1"/>
          <p:nvPr/>
        </p:nvSpPr>
        <p:spPr>
          <a:xfrm>
            <a:off x="1047750" y="9039225"/>
            <a:ext cx="16192500" cy="542925"/>
          </a:xfrm>
          <a:prstGeom prst="rect">
            <a:avLst/>
          </a:prstGeom>
          <a:noFill/>
        </p:spPr>
        <p:txBody>
          <a:bodyPr wrap="square" lIns="0" rIns="0" tIns="0" bIns="0" anchor="t">
            <a:spAutoFit/>
            <a:spAutoFit/>
          </a:bodyPr>
          <a:lstStyle/>
          <a:p>
            <a:pPr algn="l">
              <a:lnSpc>
                <a:spcPct val="118000"/>
              </a:lnSpc>
            </a:pPr>
            <a:r>
              <a:rPr sz="3300" b="0" i="1">
                <a:solidFill>
                  <a:srgbClr val="362C24"/>
                </a:solidFill>
                <a:latin typeface="Georgia"/>
              </a:rPr>
              <a:t>Name the rung, and say exactly where you would look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Which rung answers each of these?</a:t>
            </a:r>
          </a:p>
        </p:txBody>
      </p:sp>
      <p:sp>
        <p:nvSpPr>
          <p:cNvPr id="4" name="Rectangle 3"/>
          <p:cNvSpPr/>
          <p:nvPr/>
        </p:nvSpPr>
        <p:spPr>
          <a:xfrm>
            <a:off x="1047750" y="2838450"/>
            <a:ext cx="3762375" cy="2400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14450" y="3143250"/>
            <a:ext cx="3228975" cy="962025"/>
          </a:xfrm>
          <a:prstGeom prst="rect">
            <a:avLst/>
          </a:prstGeom>
          <a:noFill/>
        </p:spPr>
        <p:txBody>
          <a:bodyPr wrap="square" lIns="0" rIns="0" tIns="0" bIns="0" anchor="t">
            <a:spAutoFit/>
            <a:spAutoFit/>
          </a:bodyPr>
          <a:lstStyle/>
          <a:p>
            <a:pPr algn="l">
              <a:lnSpc>
                <a:spcPct val="106000"/>
              </a:lnSpc>
            </a:pPr>
            <a:r>
              <a:rPr sz="2250" b="1" i="0">
                <a:solidFill>
                  <a:srgbClr val="201914"/>
                </a:solidFill>
                <a:latin typeface="Arial"/>
              </a:rPr>
              <a:t>'How many students stay away from home in this city?'</a:t>
            </a:r>
          </a:p>
        </p:txBody>
      </p:sp>
      <p:sp>
        <p:nvSpPr>
          <p:cNvPr id="6" name="TextBox 5"/>
          <p:cNvSpPr txBox="1"/>
          <p:nvPr/>
        </p:nvSpPr>
        <p:spPr>
          <a:xfrm>
            <a:off x="1314450" y="4352925"/>
            <a:ext cx="3228975" cy="63817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counting question.</a:t>
            </a:r>
          </a:p>
        </p:txBody>
      </p:sp>
      <p:sp>
        <p:nvSpPr>
          <p:cNvPr id="7" name="Rectangle 6"/>
          <p:cNvSpPr/>
          <p:nvPr/>
        </p:nvSpPr>
        <p:spPr>
          <a:xfrm>
            <a:off x="1047750" y="5467350"/>
            <a:ext cx="3762375" cy="41719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5753100"/>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PUBLISHED SECONDARY — blue</a:t>
            </a:r>
          </a:p>
        </p:txBody>
      </p:sp>
      <p:sp>
        <p:nvSpPr>
          <p:cNvPr id="9" name="TextBox 8"/>
          <p:cNvSpPr txBox="1"/>
          <p:nvPr/>
        </p:nvSpPr>
        <p:spPr>
          <a:xfrm>
            <a:off x="1314450" y="6772275"/>
            <a:ext cx="3228975" cy="2105025"/>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Enrolment figures, census data, and the density of paying-guest listings on a mapping platform in four minutes. Any question beginning 'how many' is blue until proven otherwise.</a:t>
            </a:r>
          </a:p>
        </p:txBody>
      </p:sp>
      <p:sp>
        <p:nvSpPr>
          <p:cNvPr id="10" name="Rectangle 9"/>
          <p:cNvSpPr/>
          <p:nvPr/>
        </p:nvSpPr>
        <p:spPr>
          <a:xfrm>
            <a:off x="5191125" y="2838450"/>
            <a:ext cx="3762375" cy="2400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57825" y="3143250"/>
            <a:ext cx="3228975" cy="962025"/>
          </a:xfrm>
          <a:prstGeom prst="rect">
            <a:avLst/>
          </a:prstGeom>
          <a:noFill/>
        </p:spPr>
        <p:txBody>
          <a:bodyPr wrap="square" lIns="0" rIns="0" tIns="0" bIns="0" anchor="t">
            <a:spAutoFit/>
            <a:spAutoFit/>
          </a:bodyPr>
          <a:lstStyle/>
          <a:p>
            <a:pPr algn="l">
              <a:lnSpc>
                <a:spcPct val="106000"/>
              </a:lnSpc>
            </a:pPr>
            <a:r>
              <a:rPr sz="2250" b="1" i="0">
                <a:solidFill>
                  <a:srgbClr val="201914"/>
                </a:solidFill>
                <a:latin typeface="Arial"/>
              </a:rPr>
              <a:t>'Why do people cancel in month two?'</a:t>
            </a:r>
          </a:p>
        </p:txBody>
      </p:sp>
      <p:sp>
        <p:nvSpPr>
          <p:cNvPr id="12" name="TextBox 11"/>
          <p:cNvSpPr txBox="1"/>
          <p:nvPr/>
        </p:nvSpPr>
        <p:spPr>
          <a:xfrm>
            <a:off x="5457825" y="4352925"/>
            <a:ext cx="3228975" cy="63817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Where the business dies.</a:t>
            </a:r>
          </a:p>
        </p:txBody>
      </p:sp>
      <p:sp>
        <p:nvSpPr>
          <p:cNvPr id="13" name="Rectangle 12"/>
          <p:cNvSpPr/>
          <p:nvPr/>
        </p:nvSpPr>
        <p:spPr>
          <a:xfrm>
            <a:off x="5191125" y="5467350"/>
            <a:ext cx="3762375" cy="41719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7825" y="5753100"/>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PRIMARY — amber, but only after a green pass</a:t>
            </a:r>
          </a:p>
        </p:txBody>
      </p:sp>
      <p:sp>
        <p:nvSpPr>
          <p:cNvPr id="15" name="TextBox 14"/>
          <p:cNvSpPr txBox="1"/>
          <p:nvPr/>
        </p:nvSpPr>
        <p:spPr>
          <a:xfrm>
            <a:off x="5457825" y="6772275"/>
            <a:ext cx="3228975" cy="1847850"/>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Reviews give you the reported reasons. Interviews find the thing behind them, which is usually not the food but a routine that changed while the subscription did not.</a:t>
            </a:r>
          </a:p>
        </p:txBody>
      </p:sp>
      <p:sp>
        <p:nvSpPr>
          <p:cNvPr id="16" name="Rectangle 15"/>
          <p:cNvSpPr/>
          <p:nvPr/>
        </p:nvSpPr>
        <p:spPr>
          <a:xfrm>
            <a:off x="9334500" y="2838450"/>
            <a:ext cx="3762375" cy="2400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3143250"/>
            <a:ext cx="3228975" cy="962025"/>
          </a:xfrm>
          <a:prstGeom prst="rect">
            <a:avLst/>
          </a:prstGeom>
          <a:noFill/>
        </p:spPr>
        <p:txBody>
          <a:bodyPr wrap="square" lIns="0" rIns="0" tIns="0" bIns="0" anchor="t">
            <a:spAutoFit/>
            <a:spAutoFit/>
          </a:bodyPr>
          <a:lstStyle/>
          <a:p>
            <a:pPr algn="l">
              <a:lnSpc>
                <a:spcPct val="106000"/>
              </a:lnSpc>
            </a:pPr>
            <a:r>
              <a:rPr sz="2250" b="1" i="0">
                <a:solidFill>
                  <a:srgbClr val="201914"/>
                </a:solidFill>
                <a:latin typeface="Arial"/>
              </a:rPr>
              <a:t>'What do people complain about?'</a:t>
            </a:r>
          </a:p>
        </p:txBody>
      </p:sp>
      <p:sp>
        <p:nvSpPr>
          <p:cNvPr id="18" name="TextBox 17"/>
          <p:cNvSpPr txBox="1"/>
          <p:nvPr/>
        </p:nvSpPr>
        <p:spPr>
          <a:xfrm>
            <a:off x="9601200" y="4352925"/>
            <a:ext cx="3228975" cy="63817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The failure modes of what already exists.</a:t>
            </a:r>
          </a:p>
        </p:txBody>
      </p:sp>
      <p:sp>
        <p:nvSpPr>
          <p:cNvPr id="19" name="Rectangle 18"/>
          <p:cNvSpPr/>
          <p:nvPr/>
        </p:nvSpPr>
        <p:spPr>
          <a:xfrm>
            <a:off x="9334500" y="5467350"/>
            <a:ext cx="3762375" cy="41719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5753100"/>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FOUND DATA — green</a:t>
            </a:r>
          </a:p>
        </p:txBody>
      </p:sp>
      <p:sp>
        <p:nvSpPr>
          <p:cNvPr id="21" name="TextBox 20"/>
          <p:cNvSpPr txBox="1"/>
          <p:nvPr/>
        </p:nvSpPr>
        <p:spPr>
          <a:xfrm>
            <a:off x="9601200" y="6772275"/>
            <a:ext cx="3228975" cy="1847850"/>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One focused afternoon. Three largest competitors, three-star reviews before one-star, and tally the complaint types rather than collecting the vivid quote.</a:t>
            </a:r>
          </a:p>
        </p:txBody>
      </p:sp>
      <p:sp>
        <p:nvSpPr>
          <p:cNvPr id="22" name="Rectangle 21"/>
          <p:cNvSpPr/>
          <p:nvPr/>
        </p:nvSpPr>
        <p:spPr>
          <a:xfrm>
            <a:off x="13477875" y="2838450"/>
            <a:ext cx="3762375" cy="2400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44575" y="3143250"/>
            <a:ext cx="3228975" cy="962025"/>
          </a:xfrm>
          <a:prstGeom prst="rect">
            <a:avLst/>
          </a:prstGeom>
          <a:noFill/>
        </p:spPr>
        <p:txBody>
          <a:bodyPr wrap="square" lIns="0" rIns="0" tIns="0" bIns="0" anchor="t">
            <a:spAutoFit/>
            <a:spAutoFit/>
          </a:bodyPr>
          <a:lstStyle/>
          <a:p>
            <a:pPr algn="l">
              <a:lnSpc>
                <a:spcPct val="106000"/>
              </a:lnSpc>
            </a:pPr>
            <a:r>
              <a:rPr sz="2250" b="1" i="0">
                <a:solidFill>
                  <a:srgbClr val="201914"/>
                </a:solidFill>
                <a:latin typeface="Arial"/>
              </a:rPr>
              <a:t>'Would a student pay ₹3,500 a month?'</a:t>
            </a:r>
          </a:p>
        </p:txBody>
      </p:sp>
      <p:sp>
        <p:nvSpPr>
          <p:cNvPr id="24" name="TextBox 23"/>
          <p:cNvSpPr txBox="1"/>
          <p:nvPr/>
        </p:nvSpPr>
        <p:spPr>
          <a:xfrm>
            <a:off x="13744575" y="4352925"/>
            <a:ext cx="3228975" cy="638175"/>
          </a:xfrm>
          <a:prstGeom prst="rect">
            <a:avLst/>
          </a:prstGeom>
          <a:noFill/>
        </p:spPr>
        <p:txBody>
          <a:bodyPr wrap="square" lIns="0" rIns="0" tIns="0" bIns="0" anchor="t">
            <a:spAutoFit/>
            <a:spAutoFit/>
          </a:bodyPr>
          <a:lstStyle/>
          <a:p>
            <a:pPr algn="l">
              <a:lnSpc>
                <a:spcPct val="110000"/>
              </a:lnSpc>
            </a:pPr>
            <a:r>
              <a:rPr sz="2100" b="0" i="0">
                <a:solidFill>
                  <a:srgbClr val="665B53"/>
                </a:solidFill>
                <a:latin typeface="Arial"/>
              </a:rPr>
              <a:t>A question that should not be asked at all.</a:t>
            </a:r>
          </a:p>
        </p:txBody>
      </p:sp>
      <p:sp>
        <p:nvSpPr>
          <p:cNvPr id="25" name="Rectangle 24"/>
          <p:cNvSpPr/>
          <p:nvPr/>
        </p:nvSpPr>
        <p:spPr>
          <a:xfrm>
            <a:off x="13477875" y="5467350"/>
            <a:ext cx="3762375" cy="41719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44575" y="5753100"/>
            <a:ext cx="3228975" cy="904875"/>
          </a:xfrm>
          <a:prstGeom prst="rect">
            <a:avLst/>
          </a:prstGeom>
          <a:noFill/>
        </p:spPr>
        <p:txBody>
          <a:bodyPr wrap="square" lIns="0" rIns="0" tIns="0" bIns="0" anchor="t">
            <a:spAutoFit/>
            <a:spAutoFit/>
          </a:bodyPr>
          <a:lstStyle/>
          <a:p>
            <a:pPr algn="l">
              <a:lnSpc>
                <a:spcPct val="106000"/>
              </a:lnSpc>
            </a:pPr>
            <a:r>
              <a:rPr sz="2100" b="1" i="0">
                <a:solidFill>
                  <a:srgbClr val="F5F1E9"/>
                </a:solidFill>
                <a:latin typeface="Arial"/>
              </a:rPr>
              <a:t>NONE — take it apart first</a:t>
            </a:r>
          </a:p>
        </p:txBody>
      </p:sp>
      <p:sp>
        <p:nvSpPr>
          <p:cNvPr id="27" name="TextBox 26"/>
          <p:cNvSpPr txBox="1"/>
          <p:nvPr/>
        </p:nvSpPr>
        <p:spPr>
          <a:xfrm>
            <a:off x="13744575" y="6772275"/>
            <a:ext cx="3228975" cy="2352675"/>
          </a:xfrm>
          <a:prstGeom prst="rect">
            <a:avLst/>
          </a:prstGeom>
          <a:noFill/>
        </p:spPr>
        <p:txBody>
          <a:bodyPr wrap="square" lIns="0" rIns="0" tIns="0" bIns="0" anchor="t">
            <a:spAutoFit/>
            <a:spAutoFit/>
          </a:bodyPr>
          <a:lstStyle/>
          <a:p>
            <a:pPr algn="l">
              <a:lnSpc>
                <a:spcPct val="112000"/>
              </a:lnSpc>
            </a:pPr>
            <a:r>
              <a:rPr sz="1800" b="0" i="0">
                <a:solidFill>
                  <a:srgbClr val="C1B5AB"/>
                </a:solidFill>
                <a:latin typeface="Arial"/>
              </a:rPr>
              <a:t>What do comparable services charge, and what do students spend on food in a month? Both blue and green. The one amber question left is behavioural: walk me through what you spent on food last week.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FRAMEWORK 4 · FILL THIS IN YOURSELF</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Handoff · tiffin service for students</a:t>
            </a:r>
          </a:p>
        </p:txBody>
      </p:sp>
      <p:sp>
        <p:nvSpPr>
          <p:cNvPr id="4" name="TextBox 3"/>
          <p:cNvSpPr txBox="1"/>
          <p:nvPr/>
        </p:nvSpPr>
        <p:spPr>
          <a:xfrm>
            <a:off x="1314450" y="3409950"/>
            <a:ext cx="58102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WE NEED TO KNOW</a:t>
            </a:r>
          </a:p>
        </p:txBody>
      </p:sp>
      <p:sp>
        <p:nvSpPr>
          <p:cNvPr id="5" name="TextBox 4"/>
          <p:cNvSpPr txBox="1"/>
          <p:nvPr/>
        </p:nvSpPr>
        <p:spPr>
          <a:xfrm>
            <a:off x="7372350" y="3409950"/>
            <a:ext cx="20574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RUNG</a:t>
            </a:r>
          </a:p>
        </p:txBody>
      </p:sp>
      <p:sp>
        <p:nvSpPr>
          <p:cNvPr id="6" name="TextBox 5"/>
          <p:cNvSpPr txBox="1"/>
          <p:nvPr/>
        </p:nvSpPr>
        <p:spPr>
          <a:xfrm>
            <a:off x="9677400" y="3409950"/>
            <a:ext cx="74961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WHERE WE GET IT</a:t>
            </a:r>
          </a:p>
        </p:txBody>
      </p:sp>
      <p:sp>
        <p:nvSpPr>
          <p:cNvPr id="7" name="Rectangle 6"/>
          <p:cNvSpPr/>
          <p:nvPr/>
        </p:nvSpPr>
        <p:spPr>
          <a:xfrm>
            <a:off x="1047750" y="40005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4219575"/>
            <a:ext cx="58102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How many students stay away from home nearby</a:t>
            </a:r>
          </a:p>
        </p:txBody>
      </p:sp>
      <p:sp>
        <p:nvSpPr>
          <p:cNvPr id="9" name="TextBox 8"/>
          <p:cNvSpPr txBox="1"/>
          <p:nvPr/>
        </p:nvSpPr>
        <p:spPr>
          <a:xfrm>
            <a:off x="7372350" y="4219575"/>
            <a:ext cx="20574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BLUE</a:t>
            </a:r>
          </a:p>
        </p:txBody>
      </p:sp>
      <p:sp>
        <p:nvSpPr>
          <p:cNvPr id="10" name="TextBox 9"/>
          <p:cNvSpPr txBox="1"/>
          <p:nvPr/>
        </p:nvSpPr>
        <p:spPr>
          <a:xfrm>
            <a:off x="9677400" y="4219575"/>
            <a:ext cx="749617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Enrolment figures, census data, paying-guest density on a mapping platform</a:t>
            </a:r>
          </a:p>
        </p:txBody>
      </p:sp>
      <p:sp>
        <p:nvSpPr>
          <p:cNvPr id="11" name="Rectangle 10"/>
          <p:cNvSpPr/>
          <p:nvPr/>
        </p:nvSpPr>
        <p:spPr>
          <a:xfrm>
            <a:off x="1047750" y="49149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4914900"/>
            <a:ext cx="16192500" cy="8096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5029200"/>
            <a:ext cx="5810250" cy="571500"/>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What comparable services charge and what they promise</a:t>
            </a:r>
          </a:p>
        </p:txBody>
      </p:sp>
      <p:sp>
        <p:nvSpPr>
          <p:cNvPr id="14" name="TextBox 13"/>
          <p:cNvSpPr txBox="1"/>
          <p:nvPr/>
        </p:nvSpPr>
        <p:spPr>
          <a:xfrm>
            <a:off x="7372350" y="5029200"/>
            <a:ext cx="20574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BLUE / GREEN</a:t>
            </a:r>
          </a:p>
        </p:txBody>
      </p:sp>
      <p:sp>
        <p:nvSpPr>
          <p:cNvPr id="15" name="TextBox 14"/>
          <p:cNvSpPr txBox="1"/>
          <p:nvPr/>
        </p:nvSpPr>
        <p:spPr>
          <a:xfrm>
            <a:off x="9677400" y="5029200"/>
            <a:ext cx="749617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Their own pricing pages and menus — published, free, current</a:t>
            </a:r>
          </a:p>
        </p:txBody>
      </p:sp>
      <p:sp>
        <p:nvSpPr>
          <p:cNvPr id="16" name="Rectangle 15"/>
          <p:cNvSpPr/>
          <p:nvPr/>
        </p:nvSpPr>
        <p:spPr>
          <a:xfrm>
            <a:off x="1047750" y="57245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5838825"/>
            <a:ext cx="58102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What licences a food business legally needs</a:t>
            </a:r>
          </a:p>
        </p:txBody>
      </p:sp>
      <p:sp>
        <p:nvSpPr>
          <p:cNvPr id="18" name="TextBox 17"/>
          <p:cNvSpPr txBox="1"/>
          <p:nvPr/>
        </p:nvSpPr>
        <p:spPr>
          <a:xfrm>
            <a:off x="7372350" y="5838825"/>
            <a:ext cx="20574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BLUE</a:t>
            </a:r>
          </a:p>
        </p:txBody>
      </p:sp>
      <p:sp>
        <p:nvSpPr>
          <p:cNvPr id="19" name="TextBox 18"/>
          <p:cNvSpPr txBox="1"/>
          <p:nvPr/>
        </p:nvSpPr>
        <p:spPr>
          <a:xfrm>
            <a:off x="9677400" y="5838825"/>
            <a:ext cx="749617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The regulator's published requirements. Five minutes here saves a founder a year</a:t>
            </a:r>
          </a:p>
        </p:txBody>
      </p:sp>
      <p:sp>
        <p:nvSpPr>
          <p:cNvPr id="20" name="Rectangle 19"/>
          <p:cNvSpPr/>
          <p:nvPr/>
        </p:nvSpPr>
        <p:spPr>
          <a:xfrm>
            <a:off x="1047750" y="65341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47750" y="6534150"/>
            <a:ext cx="16192500" cy="8096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4450" y="6648450"/>
            <a:ext cx="5810250" cy="571500"/>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What actually goes wrong with existing services</a:t>
            </a:r>
          </a:p>
        </p:txBody>
      </p:sp>
      <p:sp>
        <p:nvSpPr>
          <p:cNvPr id="23" name="TextBox 22"/>
          <p:cNvSpPr txBox="1"/>
          <p:nvPr/>
        </p:nvSpPr>
        <p:spPr>
          <a:xfrm>
            <a:off x="7372350" y="6648450"/>
            <a:ext cx="20574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GREEN</a:t>
            </a:r>
          </a:p>
        </p:txBody>
      </p:sp>
      <p:sp>
        <p:nvSpPr>
          <p:cNvPr id="24" name="TextBox 23"/>
          <p:cNvSpPr txBox="1"/>
          <p:nvPr/>
        </p:nvSpPr>
        <p:spPr>
          <a:xfrm>
            <a:off x="9677400" y="6648450"/>
            <a:ext cx="7496175" cy="571500"/>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One afternoon of three-star reviews across the three biggest competitors</a:t>
            </a:r>
          </a:p>
        </p:txBody>
      </p:sp>
      <p:sp>
        <p:nvSpPr>
          <p:cNvPr id="25" name="Rectangle 24"/>
          <p:cNvSpPr/>
          <p:nvPr/>
        </p:nvSpPr>
        <p:spPr>
          <a:xfrm>
            <a:off x="1047750" y="7343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14450" y="7458075"/>
            <a:ext cx="5810250" cy="314325"/>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Why somebody cancels in month two</a:t>
            </a:r>
          </a:p>
        </p:txBody>
      </p:sp>
      <p:sp>
        <p:nvSpPr>
          <p:cNvPr id="27" name="TextBox 26"/>
          <p:cNvSpPr txBox="1"/>
          <p:nvPr/>
        </p:nvSpPr>
        <p:spPr>
          <a:xfrm>
            <a:off x="7372350" y="7458075"/>
            <a:ext cx="20574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AMBER</a:t>
            </a:r>
          </a:p>
        </p:txBody>
      </p:sp>
      <p:sp>
        <p:nvSpPr>
          <p:cNvPr id="28" name="TextBox 27"/>
          <p:cNvSpPr txBox="1"/>
          <p:nvPr/>
        </p:nvSpPr>
        <p:spPr>
          <a:xfrm>
            <a:off x="9677400" y="7458075"/>
            <a:ext cx="749617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Interviews with people who cancelled — nowhere else</a:t>
            </a:r>
          </a:p>
        </p:txBody>
      </p:sp>
      <p:sp>
        <p:nvSpPr>
          <p:cNvPr id="29" name="Rectangle 28"/>
          <p:cNvSpPr/>
          <p:nvPr/>
        </p:nvSpPr>
        <p:spPr>
          <a:xfrm>
            <a:off x="1047750" y="80581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7750" y="8058150"/>
            <a:ext cx="16192500" cy="8096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14450" y="8172450"/>
            <a:ext cx="5810250" cy="571500"/>
          </a:xfrm>
          <a:prstGeom prst="rect">
            <a:avLst/>
          </a:prstGeom>
          <a:noFill/>
        </p:spPr>
        <p:txBody>
          <a:bodyPr wrap="square" lIns="0" rIns="0" tIns="0" bIns="0" anchor="t">
            <a:spAutoFit/>
            <a:spAutoFit/>
          </a:bodyPr>
          <a:lstStyle/>
          <a:p>
            <a:pPr algn="l">
              <a:lnSpc>
                <a:spcPct val="113999"/>
              </a:lnSpc>
            </a:pPr>
            <a:r>
              <a:rPr sz="1800" b="1" i="0">
                <a:solidFill>
                  <a:srgbClr val="201914"/>
                </a:solidFill>
                <a:latin typeface="Arial"/>
              </a:rPr>
              <a:t>Who decides and who pays, the student or the parent</a:t>
            </a:r>
          </a:p>
        </p:txBody>
      </p:sp>
      <p:sp>
        <p:nvSpPr>
          <p:cNvPr id="32" name="TextBox 31"/>
          <p:cNvSpPr txBox="1"/>
          <p:nvPr/>
        </p:nvSpPr>
        <p:spPr>
          <a:xfrm>
            <a:off x="7372350" y="8172450"/>
            <a:ext cx="2057400"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AMBER</a:t>
            </a:r>
          </a:p>
        </p:txBody>
      </p:sp>
      <p:sp>
        <p:nvSpPr>
          <p:cNvPr id="33" name="TextBox 32"/>
          <p:cNvSpPr txBox="1"/>
          <p:nvPr/>
        </p:nvSpPr>
        <p:spPr>
          <a:xfrm>
            <a:off x="9677400" y="8172450"/>
            <a:ext cx="7496175" cy="314325"/>
          </a:xfrm>
          <a:prstGeom prst="rect">
            <a:avLst/>
          </a:prstGeom>
          <a:noFill/>
        </p:spPr>
        <p:txBody>
          <a:bodyPr wrap="square" lIns="0" rIns="0" tIns="0" bIns="0" anchor="t">
            <a:spAutoFit/>
            <a:spAutoFit/>
          </a:bodyPr>
          <a:lstStyle/>
          <a:p>
            <a:pPr algn="l">
              <a:lnSpc>
                <a:spcPct val="113999"/>
              </a:lnSpc>
            </a:pPr>
            <a:r>
              <a:rPr sz="1800" b="0" i="0">
                <a:solidFill>
                  <a:srgbClr val="665B53"/>
                </a:solidFill>
                <a:latin typeface="Arial"/>
              </a:rPr>
              <a:t>Interviews with both, separately</a:t>
            </a:r>
          </a:p>
        </p:txBody>
      </p:sp>
      <p:sp>
        <p:nvSpPr>
          <p:cNvPr id="34" name="TextBox 33"/>
          <p:cNvSpPr txBox="1"/>
          <p:nvPr/>
        </p:nvSpPr>
        <p:spPr>
          <a:xfrm>
            <a:off x="1047750" y="9124950"/>
            <a:ext cx="16192500" cy="457200"/>
          </a:xfrm>
          <a:prstGeom prst="rect">
            <a:avLst/>
          </a:prstGeom>
          <a:noFill/>
        </p:spPr>
        <p:txBody>
          <a:bodyPr wrap="square" lIns="0" rIns="0" tIns="0" bIns="0" anchor="t">
            <a:spAutoFit/>
            <a:spAutoFit/>
          </a:bodyPr>
          <a:lstStyle/>
          <a:p>
            <a:pPr algn="l">
              <a:lnSpc>
                <a:spcPct val="118000"/>
              </a:lnSpc>
            </a:pPr>
            <a:r>
              <a:rPr sz="2700" b="0" i="1">
                <a:solidFill>
                  <a:srgbClr val="362C24"/>
                </a:solidFill>
                <a:latin typeface="Georgia"/>
              </a:rPr>
              <a:t>Reading first does not replace interviewing. It upgrades every interview you subsequently do.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THE BOUNDARY · WHERE THE LADDER FAILS</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Three ways this still goes wrong</a:t>
            </a:r>
          </a:p>
        </p:txBody>
      </p:sp>
      <p:sp>
        <p:nvSpPr>
          <p:cNvPr id="4" name="TextBox 3"/>
          <p:cNvSpPr txBox="1"/>
          <p:nvPr/>
        </p:nvSpPr>
        <p:spPr>
          <a:xfrm>
            <a:off x="1314450" y="2838450"/>
            <a:ext cx="34766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FAILURE</a:t>
            </a:r>
          </a:p>
        </p:txBody>
      </p:sp>
      <p:sp>
        <p:nvSpPr>
          <p:cNvPr id="5" name="TextBox 4"/>
          <p:cNvSpPr txBox="1"/>
          <p:nvPr/>
        </p:nvSpPr>
        <p:spPr>
          <a:xfrm>
            <a:off x="5038725" y="2838450"/>
            <a:ext cx="62293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GOES WRONG</a:t>
            </a:r>
          </a:p>
        </p:txBody>
      </p:sp>
      <p:sp>
        <p:nvSpPr>
          <p:cNvPr id="6" name="TextBox 5"/>
          <p:cNvSpPr txBox="1"/>
          <p:nvPr/>
        </p:nvSpPr>
        <p:spPr>
          <a:xfrm>
            <a:off x="11515725" y="2838450"/>
            <a:ext cx="56769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THE CORRECTION</a:t>
            </a:r>
          </a:p>
        </p:txBody>
      </p:sp>
      <p:sp>
        <p:nvSpPr>
          <p:cNvPr id="7" name="Rectangle 6"/>
          <p:cNvSpPr/>
          <p:nvPr/>
        </p:nvSpPr>
        <p:spPr>
          <a:xfrm>
            <a:off x="1047750" y="34290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14450" y="4029075"/>
            <a:ext cx="3476625" cy="29527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1 · Stale and averaged</a:t>
            </a:r>
          </a:p>
        </p:txBody>
      </p:sp>
      <p:sp>
        <p:nvSpPr>
          <p:cNvPr id="9" name="TextBox 8"/>
          <p:cNvSpPr txBox="1"/>
          <p:nvPr/>
        </p:nvSpPr>
        <p:spPr>
          <a:xfrm>
            <a:off x="5038725" y="4029075"/>
            <a:ext cx="622935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Every published number describes a market that existed when the data was collected, often two or three years before the report reaches you, and it describes an average person who does not exist.</a:t>
            </a:r>
          </a:p>
        </p:txBody>
      </p:sp>
      <p:sp>
        <p:nvSpPr>
          <p:cNvPr id="10" name="TextBox 9"/>
          <p:cNvSpPr txBox="1"/>
          <p:nvPr/>
        </p:nvSpPr>
        <p:spPr>
          <a:xfrm>
            <a:off x="11515725" y="4029075"/>
            <a:ext cx="5676900" cy="79057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Use published data for magnitude and direction only. If your plan breaks when a published number is 30% wrong, it was built on the wrong rung.</a:t>
            </a:r>
          </a:p>
        </p:txBody>
      </p:sp>
      <p:sp>
        <p:nvSpPr>
          <p:cNvPr id="11" name="Rectangle 10"/>
          <p:cNvSpPr/>
          <p:nvPr/>
        </p:nvSpPr>
        <p:spPr>
          <a:xfrm>
            <a:off x="1047750" y="55626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47750" y="5562600"/>
            <a:ext cx="16192500" cy="20288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4450" y="6057900"/>
            <a:ext cx="3476625" cy="29527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2 · The asymmetry trap</a:t>
            </a:r>
          </a:p>
        </p:txBody>
      </p:sp>
      <p:sp>
        <p:nvSpPr>
          <p:cNvPr id="14" name="TextBox 13"/>
          <p:cNvSpPr txBox="1"/>
          <p:nvPr/>
        </p:nvSpPr>
        <p:spPr>
          <a:xfrm>
            <a:off x="5038725" y="6057900"/>
            <a:ext cx="622935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When a plan's central argument is a published figure — this market is growing 22% a year — the right question is not whether the number is correct. It is who else has read this report, and the answer is everyone.</a:t>
            </a:r>
          </a:p>
        </p:txBody>
      </p:sp>
      <p:sp>
        <p:nvSpPr>
          <p:cNvPr id="15" name="TextBox 14"/>
          <p:cNvSpPr txBox="1"/>
          <p:nvPr/>
        </p:nvSpPr>
        <p:spPr>
          <a:xfrm>
            <a:off x="11515725" y="6057900"/>
            <a:ext cx="567690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Secondary research is an excellent way to choose where to compete and never, by itself, a reason you will win. The advantage is whatever you found out afterwards.</a:t>
            </a:r>
          </a:p>
        </p:txBody>
      </p:sp>
      <p:sp>
        <p:nvSpPr>
          <p:cNvPr id="16" name="Rectangle 15"/>
          <p:cNvSpPr/>
          <p:nvPr/>
        </p:nvSpPr>
        <p:spPr>
          <a:xfrm>
            <a:off x="1047750" y="75914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14450" y="8086725"/>
            <a:ext cx="3476625" cy="542925"/>
          </a:xfrm>
          <a:prstGeom prst="rect">
            <a:avLst/>
          </a:prstGeom>
          <a:noFill/>
        </p:spPr>
        <p:txBody>
          <a:bodyPr wrap="square" lIns="0" rIns="0" tIns="0" bIns="0" anchor="t">
            <a:spAutoFit/>
            <a:spAutoFit/>
          </a:bodyPr>
          <a:lstStyle/>
          <a:p>
            <a:pPr algn="l">
              <a:lnSpc>
                <a:spcPct val="113999"/>
              </a:lnSpc>
            </a:pPr>
            <a:r>
              <a:rPr sz="1700" b="1" i="0">
                <a:solidFill>
                  <a:srgbClr val="201914"/>
                </a:solidFill>
                <a:latin typeface="Arial"/>
              </a:rPr>
              <a:t>3 · The wrong rung for the size of the question</a:t>
            </a:r>
          </a:p>
        </p:txBody>
      </p:sp>
      <p:sp>
        <p:nvSpPr>
          <p:cNvPr id="18" name="TextBox 17"/>
          <p:cNvSpPr txBox="1"/>
          <p:nvPr/>
        </p:nvSpPr>
        <p:spPr>
          <a:xfrm>
            <a:off x="5038725" y="8086725"/>
            <a:ext cx="622935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Eight interviews cannot tell you how big a market is. A 4,500-person survey cannot tell you why anybody does anything — it tells you what proportion of people report a thing.</a:t>
            </a:r>
          </a:p>
        </p:txBody>
      </p:sp>
      <p:sp>
        <p:nvSpPr>
          <p:cNvPr id="19" name="TextBox 18"/>
          <p:cNvSpPr txBox="1"/>
          <p:nvPr/>
        </p:nvSpPr>
        <p:spPr>
          <a:xfrm>
            <a:off x="11515725" y="8086725"/>
            <a:ext cx="5676900" cy="1038225"/>
          </a:xfrm>
          <a:prstGeom prst="rect">
            <a:avLst/>
          </a:prstGeom>
          <a:noFill/>
        </p:spPr>
        <p:txBody>
          <a:bodyPr wrap="square" lIns="0" rIns="0" tIns="0" bIns="0" anchor="t">
            <a:spAutoFit/>
            <a:spAutoFit/>
          </a:bodyPr>
          <a:lstStyle/>
          <a:p>
            <a:pPr algn="l">
              <a:lnSpc>
                <a:spcPct val="113999"/>
              </a:lnSpc>
            </a:pPr>
            <a:r>
              <a:rPr sz="1700" b="0" i="0">
                <a:solidFill>
                  <a:srgbClr val="665B53"/>
                </a:solidFill>
                <a:latin typeface="Arial"/>
              </a:rPr>
              <a:t>Scale questions need scale instruments and reason questions need depth instruments. Each is nearly useless at the other's job however well it is executed.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ACTIVITY · AUDIT, THEN SPRINT · PHONES OUT</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Audit, then find out who already knew</a:t>
            </a:r>
          </a:p>
        </p:txBody>
      </p:sp>
      <p:sp>
        <p:nvSpPr>
          <p:cNvPr id="4" name="TextBox 3"/>
          <p:cNvSpPr txBox="1"/>
          <p:nvPr/>
        </p:nvSpPr>
        <p:spPr>
          <a:xfrm>
            <a:off x="1047750" y="2838450"/>
            <a:ext cx="16192500" cy="1266825"/>
          </a:xfrm>
          <a:prstGeom prst="rect">
            <a:avLst/>
          </a:prstGeom>
          <a:noFill/>
        </p:spPr>
        <p:txBody>
          <a:bodyPr wrap="square" lIns="0" rIns="0" tIns="0" bIns="0" anchor="t">
            <a:spAutoFit/>
            <a:spAutoFit/>
          </a:bodyPr>
          <a:lstStyle/>
          <a:p>
            <a:pPr algn="l">
              <a:lnSpc>
                <a:spcPct val="112000"/>
              </a:lnSpc>
            </a:pPr>
            <a:r>
              <a:rPr sz="2850" b="1" i="0">
                <a:solidFill>
                  <a:srgbClr val="201914"/>
                </a:solidFill>
                <a:latin typeface="Arial"/>
              </a:rPr>
              <a:t>Take out the sheet of five questions you wrote at the start of this class. You are going to audit them, rewrite them, and then discover how much of what you were about to ask is already published for free.</a:t>
            </a:r>
          </a:p>
        </p:txBody>
      </p:sp>
      <p:sp>
        <p:nvSpPr>
          <p:cNvPr id="5" name="TextBox 4"/>
          <p:cNvSpPr txBox="1"/>
          <p:nvPr/>
        </p:nvSpPr>
        <p:spPr>
          <a:xfrm>
            <a:off x="1047750" y="44862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1</a:t>
            </a:r>
          </a:p>
        </p:txBody>
      </p:sp>
      <p:sp>
        <p:nvSpPr>
          <p:cNvPr id="6" name="TextBox 5"/>
          <p:cNvSpPr txBox="1"/>
          <p:nvPr/>
        </p:nvSpPr>
        <p:spPr>
          <a:xfrm>
            <a:off x="1485900" y="4486275"/>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Colour each of your five original questions blue, green or amber. Write the colour next to the question, on your original sheet, not on a fresh one.</a:t>
            </a:r>
          </a:p>
        </p:txBody>
      </p:sp>
      <p:sp>
        <p:nvSpPr>
          <p:cNvPr id="7" name="TextBox 6"/>
          <p:cNvSpPr txBox="1"/>
          <p:nvPr/>
        </p:nvSpPr>
        <p:spPr>
          <a:xfrm>
            <a:off x="1047750" y="54768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2</a:t>
            </a:r>
          </a:p>
        </p:txBody>
      </p:sp>
      <p:sp>
        <p:nvSpPr>
          <p:cNvPr id="8" name="TextBox 7"/>
          <p:cNvSpPr txBox="1"/>
          <p:nvPr/>
        </p:nvSpPr>
        <p:spPr>
          <a:xfrm>
            <a:off x="1485900" y="5476875"/>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For each, write one line: could the answer have told me not to build the app? If the honest answer is no, mark it with a cross and count your crosses.</a:t>
            </a:r>
          </a:p>
        </p:txBody>
      </p:sp>
      <p:sp>
        <p:nvSpPr>
          <p:cNvPr id="9" name="TextBox 8"/>
          <p:cNvSpPr txBox="1"/>
          <p:nvPr/>
        </p:nvSpPr>
        <p:spPr>
          <a:xfrm>
            <a:off x="1047750" y="64674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3</a:t>
            </a:r>
          </a:p>
        </p:txBody>
      </p:sp>
      <p:sp>
        <p:nvSpPr>
          <p:cNvPr id="10" name="TextBox 9"/>
          <p:cNvSpPr txBox="1"/>
          <p:nvPr/>
        </p:nvSpPr>
        <p:spPr>
          <a:xfrm>
            <a:off x="1485900" y="6467475"/>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Rewrite every question so it is blue or green. A rewrite that does not contain a specific past event has not moved rungs, however different it sounds.</a:t>
            </a:r>
          </a:p>
        </p:txBody>
      </p:sp>
      <p:sp>
        <p:nvSpPr>
          <p:cNvPr id="11" name="TextBox 10"/>
          <p:cNvSpPr txBox="1"/>
          <p:nvPr/>
        </p:nvSpPr>
        <p:spPr>
          <a:xfrm>
            <a:off x="1047750" y="74580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4</a:t>
            </a:r>
          </a:p>
        </p:txBody>
      </p:sp>
      <p:sp>
        <p:nvSpPr>
          <p:cNvPr id="12" name="TextBox 11"/>
          <p:cNvSpPr txBox="1"/>
          <p:nvPr/>
        </p:nvSpPr>
        <p:spPr>
          <a:xfrm>
            <a:off x="1485900" y="7458075"/>
            <a:ext cx="6953250" cy="561975"/>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Strip the leading words. A question can be blue and still broken if it tells the respondent how they felt.</a:t>
            </a:r>
          </a:p>
        </p:txBody>
      </p:sp>
      <p:sp>
        <p:nvSpPr>
          <p:cNvPr id="13" name="TextBox 12"/>
          <p:cNvSpPr txBox="1"/>
          <p:nvPr/>
        </p:nvSpPr>
        <p:spPr>
          <a:xfrm>
            <a:off x="9429750" y="448627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5</a:t>
            </a:r>
          </a:p>
        </p:txBody>
      </p:sp>
      <p:sp>
        <p:nvSpPr>
          <p:cNvPr id="14" name="TextBox 13"/>
          <p:cNvSpPr txBox="1"/>
          <p:nvPr/>
        </p:nvSpPr>
        <p:spPr>
          <a:xfrm>
            <a:off x="9867900" y="4486275"/>
            <a:ext cx="6953250" cy="1076325"/>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Phones out, ten minutes. For the hostel-money idea, find what is already known using only the blue and green rungs — what similar apps exist, what they charge, and what their reviews complain about. Source next to every claim.</a:t>
            </a:r>
          </a:p>
        </p:txBody>
      </p:sp>
      <p:sp>
        <p:nvSpPr>
          <p:cNvPr id="15" name="TextBox 14"/>
          <p:cNvSpPr txBox="1"/>
          <p:nvPr/>
        </p:nvSpPr>
        <p:spPr>
          <a:xfrm>
            <a:off x="9429750" y="5734050"/>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6</a:t>
            </a:r>
          </a:p>
        </p:txBody>
      </p:sp>
      <p:sp>
        <p:nvSpPr>
          <p:cNvPr id="16" name="TextBox 15"/>
          <p:cNvSpPr txBox="1"/>
          <p:nvPr/>
        </p:nvSpPr>
        <p:spPr>
          <a:xfrm>
            <a:off x="9867900" y="5734050"/>
            <a:ext cx="6953250" cy="1076325"/>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Phones face down. Write the three questions you could not answer from any source. Be strict: if it starts with 'how many' or 'what does it cost', it does not belong on this list.</a:t>
            </a:r>
          </a:p>
        </p:txBody>
      </p:sp>
      <p:sp>
        <p:nvSpPr>
          <p:cNvPr id="17" name="TextBox 16"/>
          <p:cNvSpPr txBox="1"/>
          <p:nvPr/>
        </p:nvSpPr>
        <p:spPr>
          <a:xfrm>
            <a:off x="9429750" y="6981825"/>
            <a:ext cx="381000" cy="419100"/>
          </a:xfrm>
          <a:prstGeom prst="rect">
            <a:avLst/>
          </a:prstGeom>
          <a:noFill/>
        </p:spPr>
        <p:txBody>
          <a:bodyPr wrap="square" lIns="0" rIns="0" tIns="0" bIns="0" anchor="t">
            <a:spAutoFit/>
            <a:spAutoFit/>
          </a:bodyPr>
          <a:lstStyle/>
          <a:p>
            <a:pPr algn="l">
              <a:lnSpc>
                <a:spcPct val="108000"/>
              </a:lnSpc>
            </a:pPr>
            <a:r>
              <a:rPr sz="1800" b="1" i="0">
                <a:solidFill>
                  <a:srgbClr val="C35141"/>
                </a:solidFill>
                <a:latin typeface="Arial"/>
              </a:rPr>
              <a:t>7</a:t>
            </a:r>
          </a:p>
        </p:txBody>
      </p:sp>
      <p:sp>
        <p:nvSpPr>
          <p:cNvPr id="18" name="TextBox 17"/>
          <p:cNvSpPr txBox="1"/>
          <p:nvPr/>
        </p:nvSpPr>
        <p:spPr>
          <a:xfrm>
            <a:off x="9867900" y="6981825"/>
            <a:ext cx="6953250" cy="819150"/>
          </a:xfrm>
          <a:prstGeom prst="rect">
            <a:avLst/>
          </a:prstGeom>
          <a:noFill/>
        </p:spPr>
        <p:txBody>
          <a:bodyPr wrap="square" lIns="0" rIns="0" tIns="0" bIns="0" anchor="t">
            <a:spAutoFit/>
            <a:spAutoFit/>
          </a:bodyPr>
          <a:lstStyle/>
          <a:p>
            <a:pPr algn="l">
              <a:lnSpc>
                <a:spcPct val="112000"/>
              </a:lnSpc>
            </a:pPr>
            <a:r>
              <a:rPr sz="1800" b="0" i="0">
                <a:solidFill>
                  <a:srgbClr val="201914"/>
                </a:solidFill>
                <a:latin typeface="Arial"/>
              </a:rPr>
              <a:t>Overnight — ask your single best blue question to three real people and write their answers in their own words, without tidying them up. Bring the raw notes.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YOUR TEMPLATE</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Two halves, one sheet. Keep the originals visible.</a:t>
            </a:r>
          </a:p>
        </p:txBody>
      </p:sp>
      <p:sp>
        <p:nvSpPr>
          <p:cNvPr id="4" name="TextBox 3"/>
          <p:cNvSpPr txBox="1"/>
          <p:nvPr/>
        </p:nvSpPr>
        <p:spPr>
          <a:xfrm>
            <a:off x="1314450" y="3409950"/>
            <a:ext cx="57150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a:t>
            </a:r>
          </a:p>
        </p:txBody>
      </p:sp>
      <p:sp>
        <p:nvSpPr>
          <p:cNvPr id="5" name="TextBox 4"/>
          <p:cNvSpPr txBox="1"/>
          <p:nvPr/>
        </p:nvSpPr>
        <p:spPr>
          <a:xfrm>
            <a:off x="2133600" y="3409950"/>
            <a:ext cx="319087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MY ORIGINAL QUESTION</a:t>
            </a:r>
          </a:p>
        </p:txBody>
      </p:sp>
      <p:sp>
        <p:nvSpPr>
          <p:cNvPr id="6" name="TextBox 5"/>
          <p:cNvSpPr txBox="1"/>
          <p:nvPr/>
        </p:nvSpPr>
        <p:spPr>
          <a:xfrm>
            <a:off x="5572125" y="3409950"/>
            <a:ext cx="13144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RUNG</a:t>
            </a:r>
          </a:p>
        </p:txBody>
      </p:sp>
      <p:sp>
        <p:nvSpPr>
          <p:cNvPr id="7" name="TextBox 6"/>
          <p:cNvSpPr txBox="1"/>
          <p:nvPr/>
        </p:nvSpPr>
        <p:spPr>
          <a:xfrm>
            <a:off x="7134225" y="3409950"/>
            <a:ext cx="27146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COULD IT HAVE SAID NO?</a:t>
            </a:r>
          </a:p>
        </p:txBody>
      </p:sp>
      <p:sp>
        <p:nvSpPr>
          <p:cNvPr id="8" name="TextBox 7"/>
          <p:cNvSpPr txBox="1"/>
          <p:nvPr/>
        </p:nvSpPr>
        <p:spPr>
          <a:xfrm>
            <a:off x="10096500" y="3409950"/>
            <a:ext cx="3562350"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MY REWRITE</a:t>
            </a:r>
          </a:p>
        </p:txBody>
      </p:sp>
      <p:sp>
        <p:nvSpPr>
          <p:cNvPr id="9" name="TextBox 8"/>
          <p:cNvSpPr txBox="1"/>
          <p:nvPr/>
        </p:nvSpPr>
        <p:spPr>
          <a:xfrm>
            <a:off x="13906500" y="3409950"/>
            <a:ext cx="3286125" cy="514350"/>
          </a:xfrm>
          <a:prstGeom prst="rect">
            <a:avLst/>
          </a:prstGeom>
          <a:noFill/>
        </p:spPr>
        <p:txBody>
          <a:bodyPr wrap="square" lIns="0" rIns="0" tIns="0" bIns="0" anchor="t">
            <a:spAutoFit/>
            <a:spAutoFit/>
          </a:bodyPr>
          <a:lstStyle/>
          <a:p>
            <a:pPr algn="l">
              <a:lnSpc>
                <a:spcPct val="108000"/>
              </a:lnSpc>
            </a:pPr>
            <a:r>
              <a:rPr sz="1800" b="1" i="0" spc="180">
                <a:solidFill>
                  <a:srgbClr val="7B6F66"/>
                </a:solidFill>
                <a:latin typeface="Arial"/>
              </a:rPr>
              <a:t>WHAT I FOUND BY READING INSTEAD</a:t>
            </a:r>
          </a:p>
        </p:txBody>
      </p:sp>
      <p:sp>
        <p:nvSpPr>
          <p:cNvPr id="10" name="Rectangle 9"/>
          <p:cNvSpPr/>
          <p:nvPr/>
        </p:nvSpPr>
        <p:spPr>
          <a:xfrm>
            <a:off x="1047750" y="401955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4191000"/>
            <a:ext cx="57150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1</a:t>
            </a:r>
          </a:p>
        </p:txBody>
      </p:sp>
      <p:sp>
        <p:nvSpPr>
          <p:cNvPr id="12" name="Rectangle 11"/>
          <p:cNvSpPr/>
          <p:nvPr/>
        </p:nvSpPr>
        <p:spPr>
          <a:xfrm>
            <a:off x="1047750" y="49339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7750" y="496252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5105400"/>
            <a:ext cx="57150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2</a:t>
            </a:r>
          </a:p>
        </p:txBody>
      </p:sp>
      <p:sp>
        <p:nvSpPr>
          <p:cNvPr id="15" name="Rectangle 14"/>
          <p:cNvSpPr/>
          <p:nvPr/>
        </p:nvSpPr>
        <p:spPr>
          <a:xfrm>
            <a:off x="1047750" y="5848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4450" y="6019800"/>
            <a:ext cx="57150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3</a:t>
            </a:r>
          </a:p>
        </p:txBody>
      </p:sp>
      <p:sp>
        <p:nvSpPr>
          <p:cNvPr id="17" name="Rectangle 16"/>
          <p:cNvSpPr/>
          <p:nvPr/>
        </p:nvSpPr>
        <p:spPr>
          <a:xfrm>
            <a:off x="1047750" y="67627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47750" y="6791325"/>
            <a:ext cx="16192500" cy="9144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14450" y="6934200"/>
            <a:ext cx="57150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4</a:t>
            </a:r>
          </a:p>
        </p:txBody>
      </p:sp>
      <p:sp>
        <p:nvSpPr>
          <p:cNvPr id="20" name="Rectangle 19"/>
          <p:cNvSpPr/>
          <p:nvPr/>
        </p:nvSpPr>
        <p:spPr>
          <a:xfrm>
            <a:off x="1047750" y="76771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4450" y="7848600"/>
            <a:ext cx="571500" cy="381000"/>
          </a:xfrm>
          <a:prstGeom prst="rect">
            <a:avLst/>
          </a:prstGeom>
          <a:noFill/>
        </p:spPr>
        <p:txBody>
          <a:bodyPr wrap="square" lIns="0" rIns="0" tIns="0" bIns="0" anchor="t">
            <a:spAutoFit/>
            <a:spAutoFit/>
          </a:bodyPr>
          <a:lstStyle/>
          <a:p>
            <a:pPr algn="l">
              <a:lnSpc>
                <a:spcPct val="108000"/>
              </a:lnSpc>
            </a:pPr>
            <a:r>
              <a:rPr sz="2100" b="1" i="0">
                <a:solidFill>
                  <a:srgbClr val="201914"/>
                </a:solidFill>
                <a:latin typeface="Arial"/>
              </a:rPr>
              <a:t>5</a:t>
            </a:r>
          </a:p>
        </p:txBody>
      </p:sp>
      <p:sp>
        <p:nvSpPr>
          <p:cNvPr id="22" name="Rectangle 21"/>
          <p:cNvSpPr/>
          <p:nvPr/>
        </p:nvSpPr>
        <p:spPr>
          <a:xfrm>
            <a:off x="1047750" y="85915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THREE WORKED EXAMPLES · TWELVE MORE IN EACH LECTURE</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The same question, before and after</a:t>
            </a:r>
          </a:p>
        </p:txBody>
      </p:sp>
      <p:sp>
        <p:nvSpPr>
          <p:cNvPr id="4" name="Rectangle 3"/>
          <p:cNvSpPr/>
          <p:nvPr/>
        </p:nvSpPr>
        <p:spPr>
          <a:xfrm>
            <a:off x="1047750" y="28384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24200"/>
            <a:ext cx="5143500" cy="1181100"/>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'Would you use an app that splits your hostel bills?'</a:t>
            </a:r>
          </a:p>
        </p:txBody>
      </p:sp>
      <p:sp>
        <p:nvSpPr>
          <p:cNvPr id="6" name="TextBox 5"/>
          <p:cNvSpPr txBox="1"/>
          <p:nvPr/>
        </p:nvSpPr>
        <p:spPr>
          <a:xfrm>
            <a:off x="1047750" y="45339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RUNG OF THE ORIGINAL</a:t>
            </a:r>
          </a:p>
        </p:txBody>
      </p:sp>
      <p:sp>
        <p:nvSpPr>
          <p:cNvPr id="7" name="TextBox 6"/>
          <p:cNvSpPr txBox="1"/>
          <p:nvPr/>
        </p:nvSpPr>
        <p:spPr>
          <a:xfrm>
            <a:off x="1047750" y="4876800"/>
            <a:ext cx="5143500" cy="295275"/>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Opinion — amber</a:t>
            </a:r>
          </a:p>
        </p:txBody>
      </p:sp>
      <p:sp>
        <p:nvSpPr>
          <p:cNvPr id="8" name="TextBox 7"/>
          <p:cNvSpPr txBox="1"/>
          <p:nvPr/>
        </p:nvSpPr>
        <p:spPr>
          <a:xfrm>
            <a:off x="1047750" y="53435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WHAT IT WILL RELIABLY PRODUCE</a:t>
            </a:r>
          </a:p>
        </p:txBody>
      </p:sp>
      <p:sp>
        <p:nvSpPr>
          <p:cNvPr id="9" name="TextBox 8"/>
          <p:cNvSpPr txBox="1"/>
          <p:nvPr/>
        </p:nvSpPr>
        <p:spPr>
          <a:xfrm>
            <a:off x="1047750" y="5686425"/>
            <a:ext cx="5143500" cy="781050"/>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'Yeah, that sounds useful.' From almost everybody, including the people who would never install it.</a:t>
            </a:r>
          </a:p>
        </p:txBody>
      </p:sp>
      <p:sp>
        <p:nvSpPr>
          <p:cNvPr id="10" name="TextBox 9"/>
          <p:cNvSpPr txBox="1"/>
          <p:nvPr/>
        </p:nvSpPr>
        <p:spPr>
          <a:xfrm>
            <a:off x="1047750" y="6638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REWRITE</a:t>
            </a:r>
          </a:p>
        </p:txBody>
      </p:sp>
      <p:sp>
        <p:nvSpPr>
          <p:cNvPr id="11" name="TextBox 10"/>
          <p:cNvSpPr txBox="1"/>
          <p:nvPr/>
        </p:nvSpPr>
        <p:spPr>
          <a:xfrm>
            <a:off x="1047750" y="6981825"/>
            <a:ext cx="5143500" cy="781050"/>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Tell me about the last time you and your roommates had to sort out money between you. What actually happened?</a:t>
            </a:r>
          </a:p>
        </p:txBody>
      </p:sp>
      <p:sp>
        <p:nvSpPr>
          <p:cNvPr id="12" name="TextBox 11"/>
          <p:cNvSpPr txBox="1"/>
          <p:nvPr/>
        </p:nvSpPr>
        <p:spPr>
          <a:xfrm>
            <a:off x="1047750" y="8296275"/>
            <a:ext cx="5143500" cy="134302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It asks for a memory, and it mentions no app</a:t>
            </a:r>
          </a:p>
        </p:txBody>
      </p:sp>
      <p:sp>
        <p:nvSpPr>
          <p:cNvPr id="13" name="Rectangle 12"/>
          <p:cNvSpPr/>
          <p:nvPr/>
        </p:nvSpPr>
        <p:spPr>
          <a:xfrm>
            <a:off x="6572250" y="28384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72250" y="3124200"/>
            <a:ext cx="5143500" cy="1181100"/>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'How much would you pay for this?'</a:t>
            </a:r>
          </a:p>
        </p:txBody>
      </p:sp>
      <p:sp>
        <p:nvSpPr>
          <p:cNvPr id="15" name="TextBox 14"/>
          <p:cNvSpPr txBox="1"/>
          <p:nvPr/>
        </p:nvSpPr>
        <p:spPr>
          <a:xfrm>
            <a:off x="6572250" y="45339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RUNG OF THE ORIGINAL</a:t>
            </a:r>
          </a:p>
        </p:txBody>
      </p:sp>
      <p:sp>
        <p:nvSpPr>
          <p:cNvPr id="16" name="TextBox 15"/>
          <p:cNvSpPr txBox="1"/>
          <p:nvPr/>
        </p:nvSpPr>
        <p:spPr>
          <a:xfrm>
            <a:off x="6572250" y="4876800"/>
            <a:ext cx="5143500" cy="295275"/>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Opinion — amber</a:t>
            </a:r>
          </a:p>
        </p:txBody>
      </p:sp>
      <p:sp>
        <p:nvSpPr>
          <p:cNvPr id="17" name="TextBox 16"/>
          <p:cNvSpPr txBox="1"/>
          <p:nvPr/>
        </p:nvSpPr>
        <p:spPr>
          <a:xfrm>
            <a:off x="6572250" y="53435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WHAT IT WILL RELIABLY PRODUCE</a:t>
            </a:r>
          </a:p>
        </p:txBody>
      </p:sp>
      <p:sp>
        <p:nvSpPr>
          <p:cNvPr id="18" name="TextBox 17"/>
          <p:cNvSpPr txBox="1"/>
          <p:nvPr/>
        </p:nvSpPr>
        <p:spPr>
          <a:xfrm>
            <a:off x="6572250" y="5686425"/>
            <a:ext cx="5143500" cy="1019175"/>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A figure between generous and polite. Fifteen of them average to something like ₹340 a month, which then appears in a revenue model.</a:t>
            </a:r>
          </a:p>
        </p:txBody>
      </p:sp>
      <p:sp>
        <p:nvSpPr>
          <p:cNvPr id="19" name="TextBox 18"/>
          <p:cNvSpPr txBox="1"/>
          <p:nvPr/>
        </p:nvSpPr>
        <p:spPr>
          <a:xfrm>
            <a:off x="6572250" y="687705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REWRITE</a:t>
            </a:r>
          </a:p>
        </p:txBody>
      </p:sp>
      <p:sp>
        <p:nvSpPr>
          <p:cNvPr id="20" name="TextBox 19"/>
          <p:cNvSpPr txBox="1"/>
          <p:nvPr/>
        </p:nvSpPr>
        <p:spPr>
          <a:xfrm>
            <a:off x="6572250" y="7219950"/>
            <a:ext cx="5143500" cy="533400"/>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What do you spend on this today, and when did you last pay it?</a:t>
            </a:r>
          </a:p>
        </p:txBody>
      </p:sp>
      <p:sp>
        <p:nvSpPr>
          <p:cNvPr id="21" name="TextBox 20"/>
          <p:cNvSpPr txBox="1"/>
          <p:nvPr/>
        </p:nvSpPr>
        <p:spPr>
          <a:xfrm>
            <a:off x="6572250" y="8296275"/>
            <a:ext cx="5143500" cy="134302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Past spending is a fact. Stated willingness to pay is fiction with a number on it</a:t>
            </a:r>
          </a:p>
        </p:txBody>
      </p:sp>
      <p:sp>
        <p:nvSpPr>
          <p:cNvPr id="22" name="Rectangle 21"/>
          <p:cNvSpPr/>
          <p:nvPr/>
        </p:nvSpPr>
        <p:spPr>
          <a:xfrm>
            <a:off x="12096750" y="28384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96750" y="3124200"/>
            <a:ext cx="5143500" cy="1181100"/>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'Don't you find it frustrating when food arrives cold?'</a:t>
            </a:r>
          </a:p>
        </p:txBody>
      </p:sp>
      <p:sp>
        <p:nvSpPr>
          <p:cNvPr id="24" name="TextBox 23"/>
          <p:cNvSpPr txBox="1"/>
          <p:nvPr/>
        </p:nvSpPr>
        <p:spPr>
          <a:xfrm>
            <a:off x="12096750" y="45339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RUNG OF THE ORIGINAL</a:t>
            </a:r>
          </a:p>
        </p:txBody>
      </p:sp>
      <p:sp>
        <p:nvSpPr>
          <p:cNvPr id="25" name="TextBox 24"/>
          <p:cNvSpPr txBox="1"/>
          <p:nvPr/>
        </p:nvSpPr>
        <p:spPr>
          <a:xfrm>
            <a:off x="12096750" y="4876800"/>
            <a:ext cx="5143500" cy="295275"/>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Opinion — amber, with a leading frame on top</a:t>
            </a:r>
          </a:p>
        </p:txBody>
      </p:sp>
      <p:sp>
        <p:nvSpPr>
          <p:cNvPr id="26" name="TextBox 25"/>
          <p:cNvSpPr txBox="1"/>
          <p:nvPr/>
        </p:nvSpPr>
        <p:spPr>
          <a:xfrm>
            <a:off x="12096750" y="53435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WHAT IT WILL RELIABLY PRODUCE</a:t>
            </a:r>
          </a:p>
        </p:txBody>
      </p:sp>
      <p:sp>
        <p:nvSpPr>
          <p:cNvPr id="27" name="TextBox 26"/>
          <p:cNvSpPr txBox="1"/>
          <p:nvPr/>
        </p:nvSpPr>
        <p:spPr>
          <a:xfrm>
            <a:off x="12096750" y="5686425"/>
            <a:ext cx="5143500" cy="781050"/>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'Yes, definitely.' Even from somebody who has never received cold food, because disagreeing now means contradicting you.</a:t>
            </a:r>
          </a:p>
        </p:txBody>
      </p:sp>
      <p:sp>
        <p:nvSpPr>
          <p:cNvPr id="28" name="TextBox 27"/>
          <p:cNvSpPr txBox="1"/>
          <p:nvPr/>
        </p:nvSpPr>
        <p:spPr>
          <a:xfrm>
            <a:off x="12096750" y="6638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THE REWRITE</a:t>
            </a:r>
          </a:p>
        </p:txBody>
      </p:sp>
      <p:sp>
        <p:nvSpPr>
          <p:cNvPr id="29" name="TextBox 28"/>
          <p:cNvSpPr txBox="1"/>
          <p:nvPr/>
        </p:nvSpPr>
        <p:spPr>
          <a:xfrm>
            <a:off x="12096750" y="6981825"/>
            <a:ext cx="5143500" cy="533400"/>
          </a:xfrm>
          <a:prstGeom prst="rect">
            <a:avLst/>
          </a:prstGeom>
          <a:noFill/>
        </p:spPr>
        <p:txBody>
          <a:bodyPr wrap="square" lIns="0" rIns="0" tIns="0" bIns="0" anchor="t">
            <a:spAutoFit/>
            <a:spAutoFit/>
          </a:bodyPr>
          <a:lstStyle/>
          <a:p>
            <a:pPr algn="l">
              <a:lnSpc>
                <a:spcPct val="112000"/>
              </a:lnSpc>
            </a:pPr>
            <a:r>
              <a:rPr sz="1700" b="0" i="0">
                <a:solidFill>
                  <a:srgbClr val="665B53"/>
                </a:solidFill>
                <a:latin typeface="Arial"/>
              </a:rPr>
              <a:t>Tell me about the last time a food order did not go the way you expected. What happened?</a:t>
            </a:r>
          </a:p>
        </p:txBody>
      </p:sp>
      <p:sp>
        <p:nvSpPr>
          <p:cNvPr id="30" name="TextBox 29"/>
          <p:cNvSpPr txBox="1"/>
          <p:nvPr/>
        </p:nvSpPr>
        <p:spPr>
          <a:xfrm>
            <a:off x="12096750" y="8296275"/>
            <a:ext cx="5143500" cy="134302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A room full of people agreeing with you is the most misleading experience in early research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THREE MORE, SORTED BY RUNG</a:t>
            </a:r>
          </a:p>
        </p:txBody>
      </p:sp>
      <p:sp>
        <p:nvSpPr>
          <p:cNvPr id="3" name="TextBox 2"/>
          <p:cNvSpPr txBox="1"/>
          <p:nvPr/>
        </p:nvSpPr>
        <p:spPr>
          <a:xfrm>
            <a:off x="1047750" y="1504950"/>
            <a:ext cx="16192500" cy="146685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Only five of fifteen questions in the lecture need a human being</a:t>
            </a:r>
          </a:p>
        </p:txBody>
      </p:sp>
      <p:sp>
        <p:nvSpPr>
          <p:cNvPr id="4" name="Rectangle 3"/>
          <p:cNvSpPr/>
          <p:nvPr/>
        </p:nvSpPr>
        <p:spPr>
          <a:xfrm>
            <a:off x="10477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'How big is the Indian food services market?'</a:t>
            </a:r>
          </a:p>
        </p:txBody>
      </p:sp>
      <p:sp>
        <p:nvSpPr>
          <p:cNvPr id="6" name="TextBox 5"/>
          <p:cNvSpPr txBox="1"/>
          <p:nvPr/>
        </p:nvSpPr>
        <p:spPr>
          <a:xfrm>
            <a:off x="10477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RUNG THAT ANSWERS IT</a:t>
            </a:r>
          </a:p>
        </p:txBody>
      </p:sp>
      <p:sp>
        <p:nvSpPr>
          <p:cNvPr id="7" name="TextBox 6"/>
          <p:cNvSpPr txBox="1"/>
          <p:nvPr/>
        </p:nvSpPr>
        <p:spPr>
          <a:xfrm>
            <a:off x="1047750" y="5076825"/>
            <a:ext cx="5143500" cy="35242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Published secondary — blue</a:t>
            </a:r>
          </a:p>
        </p:txBody>
      </p:sp>
      <p:sp>
        <p:nvSpPr>
          <p:cNvPr id="8" name="TextBox 7"/>
          <p:cNvSpPr txBox="1"/>
          <p:nvPr/>
        </p:nvSpPr>
        <p:spPr>
          <a:xfrm>
            <a:off x="1047750" y="56007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WHERE YOU WOULD ACTUALLY LOOK</a:t>
            </a:r>
          </a:p>
        </p:txBody>
      </p:sp>
      <p:sp>
        <p:nvSpPr>
          <p:cNvPr id="9" name="TextBox 8"/>
          <p:cNvSpPr txBox="1"/>
          <p:nvPr/>
        </p:nvSpPr>
        <p:spPr>
          <a:xfrm>
            <a:off x="1047750" y="5943600"/>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Industry reports and company filings. Use it for magnitude and direction, never for a decision that turns on a precise figure.</a:t>
            </a:r>
          </a:p>
        </p:txBody>
      </p:sp>
      <p:sp>
        <p:nvSpPr>
          <p:cNvPr id="10" name="TextBox 9"/>
          <p:cNvSpPr txBox="1"/>
          <p:nvPr/>
        </p:nvSpPr>
        <p:spPr>
          <a:xfrm>
            <a:off x="1047750" y="8943975"/>
            <a:ext cx="5143500" cy="69532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Table stakes, not an achievement</a:t>
            </a:r>
          </a:p>
        </p:txBody>
      </p:sp>
      <p:sp>
        <p:nvSpPr>
          <p:cNvPr id="11" name="Rectangle 10"/>
          <p:cNvSpPr/>
          <p:nvPr/>
        </p:nvSpPr>
        <p:spPr>
          <a:xfrm>
            <a:off x="65722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22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'What do people type when they look for this?'</a:t>
            </a:r>
          </a:p>
        </p:txBody>
      </p:sp>
      <p:sp>
        <p:nvSpPr>
          <p:cNvPr id="13" name="TextBox 12"/>
          <p:cNvSpPr txBox="1"/>
          <p:nvPr/>
        </p:nvSpPr>
        <p:spPr>
          <a:xfrm>
            <a:off x="65722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RUNG THAT ANSWERS IT</a:t>
            </a:r>
          </a:p>
        </p:txBody>
      </p:sp>
      <p:sp>
        <p:nvSpPr>
          <p:cNvPr id="14" name="TextBox 13"/>
          <p:cNvSpPr txBox="1"/>
          <p:nvPr/>
        </p:nvSpPr>
        <p:spPr>
          <a:xfrm>
            <a:off x="6572250" y="5076825"/>
            <a:ext cx="5143500" cy="35242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Found data — green</a:t>
            </a:r>
          </a:p>
        </p:txBody>
      </p:sp>
      <p:sp>
        <p:nvSpPr>
          <p:cNvPr id="15" name="TextBox 14"/>
          <p:cNvSpPr txBox="1"/>
          <p:nvPr/>
        </p:nvSpPr>
        <p:spPr>
          <a:xfrm>
            <a:off x="6572250" y="56007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WHERE YOU WOULD ACTUALLY LOOK</a:t>
            </a:r>
          </a:p>
        </p:txBody>
      </p:sp>
      <p:sp>
        <p:nvSpPr>
          <p:cNvPr id="16" name="TextBox 15"/>
          <p:cNvSpPr txBox="1"/>
          <p:nvPr/>
        </p:nvSpPr>
        <p:spPr>
          <a:xfrm>
            <a:off x="6572250" y="5943600"/>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Search suggestions and volume tools. What people type when nobody is watching is more honest than what they say in a room.</a:t>
            </a:r>
          </a:p>
        </p:txBody>
      </p:sp>
      <p:sp>
        <p:nvSpPr>
          <p:cNvPr id="17" name="TextBox 16"/>
          <p:cNvSpPr txBox="1"/>
          <p:nvPr/>
        </p:nvSpPr>
        <p:spPr>
          <a:xfrm>
            <a:off x="6572250" y="8943975"/>
            <a:ext cx="5143500" cy="69532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Free, public, and almost nobody does it</a:t>
            </a:r>
          </a:p>
        </p:txBody>
      </p:sp>
      <p:sp>
        <p:nvSpPr>
          <p:cNvPr id="18" name="Rectangle 17"/>
          <p:cNvSpPr/>
          <p:nvPr/>
        </p:nvSpPr>
        <p:spPr>
          <a:xfrm>
            <a:off x="12096750" y="3409950"/>
            <a:ext cx="514350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96750" y="3695700"/>
            <a:ext cx="5143500" cy="809625"/>
          </a:xfrm>
          <a:prstGeom prst="rect">
            <a:avLst/>
          </a:prstGeom>
          <a:noFill/>
        </p:spPr>
        <p:txBody>
          <a:bodyPr wrap="square" lIns="0" rIns="0" tIns="0" bIns="0" anchor="t">
            <a:spAutoFit/>
            <a:spAutoFit/>
          </a:bodyPr>
          <a:lstStyle/>
          <a:p>
            <a:pPr algn="l">
              <a:lnSpc>
                <a:spcPct val="104000"/>
              </a:lnSpc>
            </a:pPr>
            <a:r>
              <a:rPr sz="2850" b="1" i="0">
                <a:solidFill>
                  <a:srgbClr val="201914"/>
                </a:solidFill>
                <a:latin typeface="Arial"/>
              </a:rPr>
              <a:t>'Who actually pays, the student or the parent?'</a:t>
            </a:r>
          </a:p>
        </p:txBody>
      </p:sp>
      <p:sp>
        <p:nvSpPr>
          <p:cNvPr id="20" name="TextBox 19"/>
          <p:cNvSpPr txBox="1"/>
          <p:nvPr/>
        </p:nvSpPr>
        <p:spPr>
          <a:xfrm>
            <a:off x="12096750" y="4733925"/>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RUNG THAT ANSWERS IT</a:t>
            </a:r>
          </a:p>
        </p:txBody>
      </p:sp>
      <p:sp>
        <p:nvSpPr>
          <p:cNvPr id="21" name="TextBox 20"/>
          <p:cNvSpPr txBox="1"/>
          <p:nvPr/>
        </p:nvSpPr>
        <p:spPr>
          <a:xfrm>
            <a:off x="12096750" y="5076825"/>
            <a:ext cx="5143500" cy="35242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Primary — amber</a:t>
            </a:r>
          </a:p>
        </p:txBody>
      </p:sp>
      <p:sp>
        <p:nvSpPr>
          <p:cNvPr id="22" name="TextBox 21"/>
          <p:cNvSpPr txBox="1"/>
          <p:nvPr/>
        </p:nvSpPr>
        <p:spPr>
          <a:xfrm>
            <a:off x="12096750" y="5600700"/>
            <a:ext cx="5143500" cy="285750"/>
          </a:xfrm>
          <a:prstGeom prst="rect">
            <a:avLst/>
          </a:prstGeom>
          <a:noFill/>
        </p:spPr>
        <p:txBody>
          <a:bodyPr wrap="square" lIns="0" rIns="0" tIns="0" bIns="0" anchor="t">
            <a:spAutoFit/>
            <a:spAutoFit/>
          </a:bodyPr>
          <a:lstStyle/>
          <a:p>
            <a:pPr algn="l">
              <a:lnSpc>
                <a:spcPct val="108000"/>
              </a:lnSpc>
            </a:pPr>
            <a:r>
              <a:rPr sz="1700" b="1" i="0" spc="180">
                <a:solidFill>
                  <a:srgbClr val="7B6F66"/>
                </a:solidFill>
                <a:latin typeface="Arial"/>
              </a:rPr>
              <a:t>WHERE YOU WOULD ACTUALLY LOOK</a:t>
            </a:r>
          </a:p>
        </p:txBody>
      </p:sp>
      <p:sp>
        <p:nvSpPr>
          <p:cNvPr id="23" name="TextBox 22"/>
          <p:cNvSpPr txBox="1"/>
          <p:nvPr/>
        </p:nvSpPr>
        <p:spPr>
          <a:xfrm>
            <a:off x="12096750" y="5943600"/>
            <a:ext cx="5143500" cy="1247775"/>
          </a:xfrm>
          <a:prstGeom prst="rect">
            <a:avLst/>
          </a:prstGeom>
          <a:noFill/>
        </p:spPr>
        <p:txBody>
          <a:bodyPr wrap="square" lIns="0" rIns="0" tIns="0" bIns="0" anchor="t">
            <a:spAutoFit/>
            <a:spAutoFit/>
          </a:bodyPr>
          <a:lstStyle/>
          <a:p>
            <a:pPr algn="l">
              <a:lnSpc>
                <a:spcPct val="112000"/>
              </a:lnSpc>
            </a:pPr>
            <a:r>
              <a:rPr sz="2100" b="0" i="0">
                <a:solidFill>
                  <a:srgbClr val="665B53"/>
                </a:solidFill>
                <a:latin typeface="Arial"/>
              </a:rPr>
              <a:t>Interviews with both, separately. If the parent pays, the product, the pricing and the entire way it is sold change completely.</a:t>
            </a:r>
          </a:p>
        </p:txBody>
      </p:sp>
      <p:sp>
        <p:nvSpPr>
          <p:cNvPr id="24" name="TextBox 23"/>
          <p:cNvSpPr txBox="1"/>
          <p:nvPr/>
        </p:nvSpPr>
        <p:spPr>
          <a:xfrm>
            <a:off x="12096750" y="8943975"/>
            <a:ext cx="5143500" cy="695325"/>
          </a:xfrm>
          <a:prstGeom prst="rect">
            <a:avLst/>
          </a:prstGeom>
          <a:noFill/>
        </p:spPr>
        <p:txBody>
          <a:bodyPr wrap="square" lIns="0" rIns="0" tIns="0" bIns="0" anchor="t">
            <a:spAutoFit/>
            <a:spAutoFit/>
          </a:bodyPr>
          <a:lstStyle/>
          <a:p>
            <a:pPr algn="l">
              <a:lnSpc>
                <a:spcPct val="106000"/>
              </a:lnSpc>
            </a:pPr>
            <a:r>
              <a:rPr sz="2400" b="1" i="0">
                <a:solidFill>
                  <a:srgbClr val="C35141"/>
                </a:solidFill>
                <a:latin typeface="Arial"/>
              </a:rPr>
              <a:t>Spend all five interviews here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C35141"/>
                </a:solidFill>
                <a:latin typeface="Arial"/>
              </a:rPr>
              <a:t>READ AFTER CLASS · DO NOT MEMORISE</a:t>
            </a:r>
          </a:p>
        </p:txBody>
      </p:sp>
      <p:sp>
        <p:nvSpPr>
          <p:cNvPr id="3" name="TextBox 2"/>
          <p:cNvSpPr txBox="1"/>
          <p:nvPr/>
        </p:nvSpPr>
        <p:spPr>
          <a:xfrm>
            <a:off x="1047750" y="1504950"/>
            <a:ext cx="16192500" cy="762000"/>
          </a:xfrm>
          <a:prstGeom prst="rect">
            <a:avLst/>
          </a:prstGeom>
          <a:noFill/>
        </p:spPr>
        <p:txBody>
          <a:bodyPr wrap="square" lIns="0" rIns="0" tIns="0" bIns="0" anchor="t">
            <a:spAutoFit/>
            <a:spAutoFit/>
          </a:bodyPr>
          <a:lstStyle/>
          <a:p>
            <a:pPr algn="l">
              <a:lnSpc>
                <a:spcPct val="98000"/>
              </a:lnSpc>
            </a:pPr>
            <a:r>
              <a:rPr sz="5700" b="1" i="0" spc="-120">
                <a:solidFill>
                  <a:srgbClr val="201914"/>
                </a:solidFill>
                <a:latin typeface="Arial"/>
              </a:rPr>
              <a:t>Six terms, in plain English</a:t>
            </a:r>
          </a:p>
        </p:txBody>
      </p:sp>
      <p:sp>
        <p:nvSpPr>
          <p:cNvPr id="4" name="TextBox 3"/>
          <p:cNvSpPr txBox="1"/>
          <p:nvPr/>
        </p:nvSpPr>
        <p:spPr>
          <a:xfrm>
            <a:off x="1047750" y="2838450"/>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Confirmation bias in research</a:t>
            </a:r>
          </a:p>
        </p:txBody>
      </p:sp>
      <p:sp>
        <p:nvSpPr>
          <p:cNvPr id="5" name="Rectangle 4"/>
          <p:cNvSpPr/>
          <p:nvPr/>
        </p:nvSpPr>
        <p:spPr>
          <a:xfrm>
            <a:off x="1047750" y="3819525"/>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105275"/>
            <a:ext cx="5143500" cy="15430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The tendency to believe what supports what you already think. In research it does its damage in the question design, not in the analysis.</a:t>
            </a:r>
          </a:p>
        </p:txBody>
      </p:sp>
      <p:sp>
        <p:nvSpPr>
          <p:cNvPr id="7" name="TextBox 6"/>
          <p:cNvSpPr txBox="1"/>
          <p:nvPr/>
        </p:nvSpPr>
        <p:spPr>
          <a:xfrm>
            <a:off x="6572250" y="2838450"/>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Exploratory vs confirmatory</a:t>
            </a:r>
          </a:p>
        </p:txBody>
      </p:sp>
      <p:sp>
        <p:nvSpPr>
          <p:cNvPr id="8" name="Rectangle 7"/>
          <p:cNvSpPr/>
          <p:nvPr/>
        </p:nvSpPr>
        <p:spPr>
          <a:xfrm>
            <a:off x="6572250" y="3819525"/>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2250" y="4105275"/>
            <a:ext cx="5143500" cy="15430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Exploratory starts by admitting you do not know what is going on. Confirmatory starts with a hypothesis and tests it. The failure is almost always sequencing.</a:t>
            </a:r>
          </a:p>
        </p:txBody>
      </p:sp>
      <p:sp>
        <p:nvSpPr>
          <p:cNvPr id="10" name="TextBox 9"/>
          <p:cNvSpPr txBox="1"/>
          <p:nvPr/>
        </p:nvSpPr>
        <p:spPr>
          <a:xfrm>
            <a:off x="12096750" y="2838450"/>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The Question Ladder</a:t>
            </a:r>
          </a:p>
        </p:txBody>
      </p:sp>
      <p:sp>
        <p:nvSpPr>
          <p:cNvPr id="11" name="Rectangle 10"/>
          <p:cNvSpPr/>
          <p:nvPr/>
        </p:nvSpPr>
        <p:spPr>
          <a:xfrm>
            <a:off x="12096750" y="3819525"/>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96750" y="4105275"/>
            <a:ext cx="5143500" cy="1247775"/>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Behaviour, frustration, opinion. Remembering is reliable, describing a pattern is vaguer, imagining is the least reliable of the three.</a:t>
            </a:r>
          </a:p>
        </p:txBody>
      </p:sp>
      <p:sp>
        <p:nvSpPr>
          <p:cNvPr id="13" name="TextBox 12"/>
          <p:cNvSpPr txBox="1"/>
          <p:nvPr/>
        </p:nvSpPr>
        <p:spPr>
          <a:xfrm>
            <a:off x="1047750" y="6238875"/>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Falsification and the kill criterion</a:t>
            </a:r>
          </a:p>
        </p:txBody>
      </p:sp>
      <p:sp>
        <p:nvSpPr>
          <p:cNvPr id="14" name="Rectangle 13"/>
          <p:cNvSpPr/>
          <p:nvPr/>
        </p:nvSpPr>
        <p:spPr>
          <a:xfrm>
            <a:off x="1047750" y="7219950"/>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7750" y="7505700"/>
            <a:ext cx="5143500" cy="1543050"/>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Research that cannot tell you that you are wrong is not research. Write the finding that would make you stop, with a number and a time period, before you start.</a:t>
            </a:r>
          </a:p>
        </p:txBody>
      </p:sp>
      <p:sp>
        <p:nvSpPr>
          <p:cNvPr id="16" name="TextBox 15"/>
          <p:cNvSpPr txBox="1"/>
          <p:nvPr/>
        </p:nvSpPr>
        <p:spPr>
          <a:xfrm>
            <a:off x="6572250" y="6238875"/>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The Evidence Ladder</a:t>
            </a:r>
          </a:p>
        </p:txBody>
      </p:sp>
      <p:sp>
        <p:nvSpPr>
          <p:cNvPr id="17" name="Rectangle 16"/>
          <p:cNvSpPr/>
          <p:nvPr/>
        </p:nvSpPr>
        <p:spPr>
          <a:xfrm>
            <a:off x="6572250" y="7219950"/>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0" y="7505700"/>
            <a:ext cx="5143500" cy="1247775"/>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Published secondary, found data, primary. Climb, never jump: everything a lower rung can answer must be answered there.</a:t>
            </a:r>
          </a:p>
        </p:txBody>
      </p:sp>
      <p:sp>
        <p:nvSpPr>
          <p:cNvPr id="19" name="TextBox 18"/>
          <p:cNvSpPr txBox="1"/>
          <p:nvPr/>
        </p:nvSpPr>
        <p:spPr>
          <a:xfrm>
            <a:off x="12096750" y="6238875"/>
            <a:ext cx="5143500" cy="847725"/>
          </a:xfrm>
          <a:prstGeom prst="rect">
            <a:avLst/>
          </a:prstGeom>
          <a:noFill/>
        </p:spPr>
        <p:txBody>
          <a:bodyPr wrap="square" lIns="0" rIns="0" tIns="0" bIns="0" anchor="t">
            <a:spAutoFit/>
            <a:spAutoFit/>
          </a:bodyPr>
          <a:lstStyle/>
          <a:p>
            <a:pPr algn="l">
              <a:lnSpc>
                <a:spcPct val="104000"/>
              </a:lnSpc>
            </a:pPr>
            <a:r>
              <a:rPr sz="3000" b="1" i="0">
                <a:solidFill>
                  <a:srgbClr val="201914"/>
                </a:solidFill>
                <a:latin typeface="Arial"/>
              </a:rPr>
              <a:t>The Asymmetry Rule</a:t>
            </a:r>
          </a:p>
        </p:txBody>
      </p:sp>
      <p:sp>
        <p:nvSpPr>
          <p:cNvPr id="20" name="Rectangle 19"/>
          <p:cNvSpPr/>
          <p:nvPr/>
        </p:nvSpPr>
        <p:spPr>
          <a:xfrm>
            <a:off x="12096750" y="7219950"/>
            <a:ext cx="3771900" cy="28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96750" y="7505700"/>
            <a:ext cx="5143500" cy="1247775"/>
          </a:xfrm>
          <a:prstGeom prst="rect">
            <a:avLst/>
          </a:prstGeom>
          <a:noFill/>
        </p:spPr>
        <p:txBody>
          <a:bodyPr wrap="square" lIns="0" rIns="0" tIns="0" bIns="0" anchor="t">
            <a:spAutoFit/>
            <a:spAutoFit/>
          </a:bodyPr>
          <a:lstStyle/>
          <a:p>
            <a:pPr algn="l">
              <a:lnSpc>
                <a:spcPct val="112000"/>
              </a:lnSpc>
            </a:pPr>
            <a:r>
              <a:rPr sz="2100" b="0" i="0">
                <a:solidFill>
                  <a:srgbClr val="201914"/>
                </a:solidFill>
                <a:latin typeface="Arial"/>
              </a:rPr>
              <a:t>Anything you learned by reading, your competitor can learn by reading. The advantage is always in what you found out afterwards.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spAutoFit/>
            <a:spAutoFit/>
          </a:bodyPr>
          <a:lstStyle/>
          <a:p>
            <a:pPr algn="l">
              <a:lnSpc>
                <a:spcPct val="108000"/>
              </a:lnSpc>
            </a:pPr>
            <a:r>
              <a:rPr sz="1950" b="1" i="0" spc="312">
                <a:solidFill>
                  <a:srgbClr val="EF806F"/>
                </a:solidFill>
                <a:latin typeface="Arial"/>
              </a:rPr>
              <a:t>NEXT SESSION · THE INTERVIEW ITSELF</a:t>
            </a:r>
          </a:p>
        </p:txBody>
      </p:sp>
      <p:sp>
        <p:nvSpPr>
          <p:cNvPr id="3" name="TextBox 2"/>
          <p:cNvSpPr txBox="1"/>
          <p:nvPr/>
        </p:nvSpPr>
        <p:spPr>
          <a:xfrm>
            <a:off x="1714500" y="3143250"/>
            <a:ext cx="14859000" cy="4391025"/>
          </a:xfrm>
          <a:prstGeom prst="rect">
            <a:avLst/>
          </a:prstGeom>
          <a:noFill/>
        </p:spPr>
        <p:txBody>
          <a:bodyPr wrap="square" lIns="0" rIns="0" tIns="0" bIns="0" anchor="t">
            <a:spAutoFit/>
            <a:spAutoFit/>
          </a:bodyPr>
          <a:lstStyle/>
          <a:p>
            <a:pPr algn="l">
              <a:lnSpc>
                <a:spcPct val="113999"/>
              </a:lnSpc>
            </a:pPr>
            <a:r>
              <a:rPr sz="5000" b="1" i="0" spc="-120">
                <a:solidFill>
                  <a:srgbClr val="F5F1E9"/>
                </a:solidFill>
                <a:latin typeface="Arial"/>
              </a:rPr>
              <a:t>You now know which question to ask and how much of the answer is already free.</a:t>
            </a:r>
          </a:p>
          <a:p>
            <a:pPr algn="l">
              <a:lnSpc>
                <a:spcPct val="113999"/>
              </a:lnSpc>
            </a:pPr>
            <a:r>
              <a:rPr sz="5000" b="1" i="0" spc="-120">
                <a:solidFill>
                  <a:srgbClr val="F5F1E9"/>
                </a:solidFill>
                <a:latin typeface="Arial"/>
              </a:rPr>
              <a:t/>
            </a:r>
          </a:p>
          <a:p>
            <a:pPr algn="l">
              <a:lnSpc>
                <a:spcPct val="113999"/>
              </a:lnSpc>
            </a:pPr>
            <a:r>
              <a:rPr sz="5000" b="1" i="0" spc="-120">
                <a:solidFill>
                  <a:srgbClr val="F5F1E9"/>
                </a:solidFill>
                <a:latin typeface="Arial"/>
              </a:rPr>
              <a:t>Next session: how to run the forty minutes so they are not wasted on polite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