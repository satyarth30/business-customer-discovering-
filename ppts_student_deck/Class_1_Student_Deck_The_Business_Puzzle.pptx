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2" r:id="rId18"/>
    <p:sldId id="275" r:id="rId19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0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526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hyperlink" Target="http://www.flickr.com/photos/insightinstore/3983494030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81864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ZENITH SCHOOL OF AI · CUSTOMER DISCOVERY · CLASS 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3698677"/>
            <a:ext cx="15716250" cy="1219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1632"/>
              </a:lnSpc>
              <a:buNone/>
            </a:pPr>
            <a:r>
              <a:rPr lang="en-US" sz="9900" b="1" kern="0" spc="-346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Businesses Exist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1047750" y="5223421"/>
            <a:ext cx="11772900" cy="1226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763"/>
              </a:lnSpc>
              <a:buNone/>
            </a:pPr>
            <a:r>
              <a:rPr lang="en-US" sz="3900" i="1" dirty="0">
                <a:solidFill>
                  <a:srgbClr val="C1B5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pays you for a product. They pay you for the gap you close.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047750" y="8872538"/>
            <a:ext cx="16192500" cy="19050"/>
          </a:xfrm>
          <a:prstGeom prst="rect">
            <a:avLst/>
          </a:prstGeom>
          <a:solidFill>
            <a:srgbClr val="4036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9234488"/>
            <a:ext cx="271539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EA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Puzzle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125888" y="9234488"/>
            <a:ext cx="199440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EA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Model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48586" y="9234488"/>
            <a:ext cx="236537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EA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 to Pay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08529" y="9234488"/>
            <a:ext cx="30216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EA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Kinds of Problems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CUSTOMER DISCOVERY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lectures on one question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4284985"/>
            <a:ext cx="8025194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375"/>
              </a:lnSpc>
              <a:buNone/>
            </a:pPr>
            <a:r>
              <a:rPr lang="en-US" sz="4200" i="1" dirty="0">
                <a:solidFill>
                  <a:srgbClr val="20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know that anybody actually wants the thing you are about to build?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47750" y="6704335"/>
            <a:ext cx="8025194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37"/>
              </a:lnSpc>
              <a:buNone/>
            </a:pPr>
            <a:r>
              <a:rPr lang="en-US" sz="2700" dirty="0">
                <a:solidFill>
                  <a:srgbClr val="50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spend four years learning to build things. This course exists so that what you build is worth building.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448800" y="3088556"/>
            <a:ext cx="7791450" cy="191452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91700" y="3431456"/>
            <a:ext cx="78162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memorisation subject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791700" y="3917231"/>
            <a:ext cx="731882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chapter to revise the night before. You get better at it by arguing about real businesses.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448800" y="5231681"/>
            <a:ext cx="7791450" cy="191452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91700" y="5574581"/>
            <a:ext cx="78162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example will be one you know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791700" y="6060356"/>
            <a:ext cx="731882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Zepto, Jio, chai, earphones, your hostel canteen. If an example does not connect, say so.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448800" y="7374806"/>
            <a:ext cx="7791450" cy="1914525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91700" y="7717706"/>
            <a:ext cx="78162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wrong out loud is the method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791700" y="8203481"/>
            <a:ext cx="731882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questions in this course have no clean answer. The argument is the learning.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COURSE GOES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 of the semester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29086"/>
            <a:ext cx="3819525" cy="4660553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66850" y="3348186"/>
            <a:ext cx="307076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YOU ARE HERE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66850" y="4110186"/>
            <a:ext cx="3279458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466850" y="4761681"/>
            <a:ext cx="307076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CEC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businesses exist. What value is. How to tell a real problem from a clever idea.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172075" y="2929086"/>
            <a:ext cx="3819525" cy="466055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91175" y="3348186"/>
            <a:ext cx="32794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6C6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591175" y="3824436"/>
            <a:ext cx="30707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customers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591175" y="4936927"/>
            <a:ext cx="307076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Segments, personas, who is actually buying and who merely says nice things.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296400" y="2929086"/>
            <a:ext cx="3819525" cy="466055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15500" y="3348186"/>
            <a:ext cx="32794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6C6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715500" y="3824436"/>
            <a:ext cx="3279458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 to them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715500" y="4475931"/>
            <a:ext cx="307076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that produce evidence instead of compliments.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420725" y="2929086"/>
            <a:ext cx="3819525" cy="466055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839825" y="3348186"/>
            <a:ext cx="32794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6C6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839825" y="3824436"/>
            <a:ext cx="30707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before building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3839825" y="4936927"/>
            <a:ext cx="30707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experiments that kill bad ideas early.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047750" y="8123039"/>
            <a:ext cx="16192500" cy="19050"/>
          </a:xfrm>
          <a:prstGeom prst="rect">
            <a:avLst/>
          </a:prstGeom>
          <a:solidFill>
            <a:srgbClr val="D4CC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7750" y="8484989"/>
            <a:ext cx="16678275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947"/>
              </a:lnSpc>
              <a:buNone/>
            </a:pPr>
            <a:r>
              <a:rPr lang="en-US" sz="3150" dirty="0">
                <a:solidFill>
                  <a:srgbClr val="43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modules 2 to 4 assumes you can answer the question we start with today. So we start at the beginning.</a:t>
            </a:r>
            <a:endParaRPr lang="en-US" sz="3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RULES FOR THE NEXT FORTY CLASSES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room works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29086"/>
            <a:ext cx="7753350" cy="5715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3291036"/>
            <a:ext cx="85286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Write before you speak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47750" y="3948261"/>
            <a:ext cx="7985950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33"/>
              </a:lnSpc>
              <a:buNone/>
            </a:pPr>
            <a:r>
              <a:rPr lang="en-US" sz="2550" dirty="0">
                <a:solidFill>
                  <a:srgbClr val="CEC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questions here start with sixty seconds of silence. That silence is not dead time.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486900" y="2929086"/>
            <a:ext cx="7753350" cy="5715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86900" y="3291036"/>
            <a:ext cx="85286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Use a real example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486900" y="3948261"/>
            <a:ext cx="7985950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33"/>
              </a:lnSpc>
              <a:buNone/>
            </a:pPr>
            <a:r>
              <a:rPr lang="en-US" sz="2550" dirty="0">
                <a:solidFill>
                  <a:srgbClr val="CEC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"Customers want convenience" is not an answer. Name the customer, name the moment.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47750" y="6226076"/>
            <a:ext cx="7753350" cy="5715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47750" y="6588026"/>
            <a:ext cx="85286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Disagree with each other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047750" y="7245251"/>
            <a:ext cx="7985950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33"/>
              </a:lnSpc>
              <a:buNone/>
            </a:pPr>
            <a:r>
              <a:rPr lang="en-US" sz="2550" dirty="0">
                <a:solidFill>
                  <a:srgbClr val="CEC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with me. The best moments in this course are two students arguing over one company.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486900" y="6226076"/>
            <a:ext cx="7753350" cy="5715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86900" y="6588026"/>
            <a:ext cx="85286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Hindi is fine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486900" y="7245251"/>
            <a:ext cx="7985950" cy="130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33"/>
              </a:lnSpc>
              <a:buNone/>
            </a:pPr>
            <a:r>
              <a:rPr lang="en-US" sz="2550" dirty="0">
                <a:solidFill>
                  <a:srgbClr val="CEC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in whichever language you think best. The slides are English so the vocabulary lands, but the argument can happen in either.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8803" y="3152775"/>
            <a:ext cx="64303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cs typeface="Arial" pitchFamily="34" charset="-120"/>
              </a:rPr>
              <a:t>PAUSE AND ANSWER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276475" y="3971925"/>
            <a:ext cx="13735050" cy="2400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6713"/>
              </a:lnSpc>
              <a:buNone/>
            </a:pPr>
            <a:r>
              <a:rPr lang="en-US" sz="9300" b="1" kern="0" spc="-325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business exist?</a:t>
            </a:r>
            <a:endParaRPr lang="en-US" sz="9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ROOM SAYS THE SAME THINGS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are true. None is the exact answer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29086"/>
            <a:ext cx="3025080" cy="571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3214836"/>
            <a:ext cx="3327589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make money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047750" y="3783434"/>
            <a:ext cx="332758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65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outcome.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339530" y="2929086"/>
            <a:ext cx="3025155" cy="571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39530" y="3214836"/>
            <a:ext cx="3327670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sell a product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4339530" y="3783434"/>
            <a:ext cx="33276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65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method.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631385" y="2929086"/>
            <a:ext cx="3025155" cy="571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31385" y="3214836"/>
            <a:ext cx="3327670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create jobs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7631385" y="3783434"/>
            <a:ext cx="33276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65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side effect.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923240" y="2929086"/>
            <a:ext cx="3025155" cy="571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23240" y="3214836"/>
            <a:ext cx="3327670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serve society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0923240" y="3783434"/>
            <a:ext cx="33276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65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consequence.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4215095" y="2929086"/>
            <a:ext cx="3025155" cy="571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215095" y="3214836"/>
            <a:ext cx="3115910" cy="8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solve a problem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4215095" y="4199632"/>
            <a:ext cx="33276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65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Closest. Still too vague.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47750" y="7549604"/>
            <a:ext cx="16192500" cy="1975396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543050" y="7968704"/>
            <a:ext cx="15687675" cy="117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n-US" sz="3300" dirty="0">
                <a:solidFill>
                  <a:srgbClr val="F5F1E9"/>
                </a:solidFill>
                <a:highlight>
                  <a:srgbClr val="201914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None of these explains why a customer </a:t>
            </a:r>
            <a:r>
              <a:rPr lang="en-US" sz="3300" i="1" dirty="0">
                <a:solidFill>
                  <a:srgbClr val="F5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voluntarily </a:t>
            </a:r>
            <a:r>
              <a:rPr lang="en-US" sz="3300" dirty="0">
                <a:solidFill>
                  <a:srgbClr val="F5F1E9"/>
                </a:solidFill>
                <a:highlight>
                  <a:srgbClr val="201914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hands over money. That is the only question that matters.</a:t>
            </a:r>
            <a:endParaRPr lang="en-US" sz="3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07695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6667500"/>
            <a:ext cx="1781175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9769"/>
              </a:lnSpc>
              <a:buNone/>
            </a:pPr>
            <a:r>
              <a:rPr lang="en-US" sz="11250" b="1" kern="0" spc="-45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1047750" y="8286750"/>
            <a:ext cx="12753975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169"/>
              </a:lnSpc>
              <a:buNone/>
            </a:pPr>
            <a:r>
              <a:rPr lang="en-US" sz="3900" dirty="0">
                <a:solidFill>
                  <a:srgbClr val="C1B5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nineteen-year-olds, a failed first startup, and a ten-minute promise.</a:t>
            </a:r>
            <a:endParaRPr lang="en-US" sz="3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INDIA, in 2019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universal consumer need in the country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5522714"/>
            <a:ext cx="554603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035"/>
              </a:lnSpc>
              <a:buNone/>
            </a:pPr>
            <a:r>
              <a:rPr lang="en-US" sz="11250" b="1" kern="0" spc="-45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₹40L cr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1047750" y="7037189"/>
            <a:ext cx="5193106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50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grocery market. Roughly $480 billion.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23000" y="5522714"/>
            <a:ext cx="5546117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035"/>
              </a:lnSpc>
              <a:buNone/>
            </a:pPr>
            <a:r>
              <a:rPr lang="en-US" sz="11250" b="1" kern="0" spc="-45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90%+</a:t>
            </a:r>
            <a:endParaRPr lang="en-US" sz="11250" dirty="0"/>
          </a:p>
        </p:txBody>
      </p:sp>
      <p:sp>
        <p:nvSpPr>
          <p:cNvPr id="7" name="Text 5"/>
          <p:cNvSpPr/>
          <p:nvPr/>
        </p:nvSpPr>
        <p:spPr>
          <a:xfrm>
            <a:off x="6623000" y="7037189"/>
            <a:ext cx="519318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50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Unorganised — kirana stores, bazaars, push-carts.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98325" y="5522714"/>
            <a:ext cx="554603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035"/>
              </a:lnSpc>
              <a:buNone/>
            </a:pPr>
            <a:r>
              <a:rPr lang="en-US" sz="11250" b="1" kern="0" spc="-45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12198325" y="7037189"/>
            <a:ext cx="5193106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50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Household, restaurant and office in India is a customer.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" y="8439150"/>
            <a:ext cx="16192500" cy="19050"/>
          </a:xfrm>
          <a:prstGeom prst="rect">
            <a:avLst/>
          </a:prstGeom>
          <a:solidFill>
            <a:srgbClr val="D4CC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47750" y="8763000"/>
            <a:ext cx="1667827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504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market this large, this old, and this fragmented is not usually where you expect a billion-dollar company to appear in eighteen months.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INCUMBENT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kirana store is a brilliant business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9992320" y="2776686"/>
            <a:ext cx="797264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008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992320" y="3276749"/>
            <a:ext cx="797264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Five-minute walk in any dense area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992320" y="3806279"/>
            <a:ext cx="797264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knows your family, extends credit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992320" y="4335810"/>
            <a:ext cx="797264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early, closes late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92320" y="5112990"/>
            <a:ext cx="797264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992320" y="5613053"/>
            <a:ext cx="7465291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inventory system — nobody knows what is in stock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992320" y="6538764"/>
            <a:ext cx="797264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500–2,000 items in 200–400 sq ft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992320" y="7068294"/>
            <a:ext cx="797264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delivery capability worth the name</a:t>
            </a:r>
            <a:endParaRPr lang="en-US" sz="2400" dirty="0"/>
          </a:p>
        </p:txBody>
      </p:sp>
      <p:pic>
        <p:nvPicPr>
          <p:cNvPr id="16" name="Picture 15" descr="A couple of men standing in front of a store&#10;&#10;AI-generated content may be incorrect.">
            <a:extLst>
              <a:ext uri="{FF2B5EF4-FFF2-40B4-BE49-F238E27FC236}">
                <a16:creationId xmlns:a16="http://schemas.microsoft.com/office/drawing/2014/main" id="{B02B8560-4A33-875F-C82B-9F81D2024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02639" y="2677644"/>
            <a:ext cx="8041361" cy="50509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 · WHAT DO THEY SHARE?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6678275" cy="1514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was already trying to solve grocery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3623"/>
            <a:ext cx="3819525" cy="228302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66850" y="4162723"/>
            <a:ext cx="327945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Kirana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466850" y="4815185"/>
            <a:ext cx="307076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over, hope it is in stock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72075" y="3743623"/>
            <a:ext cx="3819525" cy="228302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91175" y="4162723"/>
            <a:ext cx="327945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D-Mart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5591175" y="4815185"/>
            <a:ext cx="307076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45–60 min in store, lowest prices in India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296400" y="3743623"/>
            <a:ext cx="3819525" cy="228302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15500" y="4162723"/>
            <a:ext cx="327945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BigBasket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9715500" y="4815185"/>
            <a:ext cx="307076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20,000+ SKUs, next-day slot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420725" y="3743623"/>
            <a:ext cx="3819525" cy="228302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839825" y="4162723"/>
            <a:ext cx="327945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Grofers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3839825" y="4815185"/>
            <a:ext cx="307076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Two-hour delivery windows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" y="7936260"/>
            <a:ext cx="16192500" cy="19050"/>
          </a:xfrm>
          <a:prstGeom prst="rect">
            <a:avLst/>
          </a:prstGeom>
          <a:solidFill>
            <a:srgbClr val="D4CC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7750" y="8336310"/>
            <a:ext cx="16678275" cy="1226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495"/>
              </a:lnSpc>
              <a:buNone/>
            </a:pPr>
            <a:r>
              <a:rPr lang="en-US" sz="3600" dirty="0">
                <a:solidFill>
                  <a:srgbClr val="43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four are different businesses. They made exactly the same assumption about the customer. What was it?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82329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ASSUMPTION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272879"/>
            <a:ext cx="1569720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6747"/>
              </a:lnSpc>
              <a:buNone/>
            </a:pPr>
            <a:r>
              <a:rPr lang="en-US" sz="8100" b="1" kern="0" spc="-283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Grocery shopping is something you plan. You know what you need.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047750" y="6637402"/>
            <a:ext cx="13735050" cy="196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76"/>
              </a:lnSpc>
              <a:buNone/>
            </a:pPr>
            <a:r>
              <a:rPr lang="en-US" sz="3900" dirty="0">
                <a:solidFill>
                  <a:srgbClr val="C1B5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one of them competed on price, range or slot length. </a:t>
            </a:r>
            <a:endParaRPr lang="en-US" sz="3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4716125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6000" b="1" kern="0" spc="-18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 did not create the problem. It removed the workaround.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047750" y="4717777"/>
            <a:ext cx="857059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6C6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5255940"/>
            <a:ext cx="8025194" cy="1735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3300" dirty="0">
                <a:solidFill>
                  <a:srgbClr val="20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of milk at 10pm? Send someone downstairs. Five minutes. The friction was so small nobody called it a problem.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448800" y="4717777"/>
            <a:ext cx="38100" cy="2235473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20300" y="4717777"/>
            <a:ext cx="794194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20300" y="5255940"/>
            <a:ext cx="7436549" cy="1735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3300" dirty="0">
                <a:solidFill>
                  <a:srgbClr val="20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shuttered. BigBasket's next slot in three days. Parents borrowing eggs from the next building over WhatsApp.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7639050"/>
            <a:ext cx="16192500" cy="18859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00162" y="7963942"/>
            <a:ext cx="1568767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7843"/>
              </a:lnSpc>
              <a:buNone/>
            </a:pPr>
            <a:r>
              <a:rPr lang="en-US" sz="32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great businesses do not invent new problems. They find problems that were always there, hidden underneath a workaround everyone stopped noticing.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AADIT PALICHA &amp; KAIVALYA VOHRA · 2021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Nineteen, and already had one failure to learn from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776686"/>
            <a:ext cx="6622703" cy="191452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90650" y="3119586"/>
            <a:ext cx="65305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Admitted to Stanford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90650" y="3605361"/>
            <a:ext cx="61150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 back to Mumbai instead when classes went remote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4957911"/>
            <a:ext cx="6622703" cy="191452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90650" y="5300811"/>
            <a:ext cx="65305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experience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90650" y="5786586"/>
            <a:ext cx="61150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year of university. No retail, no logistics background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7139136"/>
            <a:ext cx="6622703" cy="191452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90650" y="7482036"/>
            <a:ext cx="65305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KiranaKart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90650" y="7967811"/>
            <a:ext cx="61150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Aadit's first startup — digitise kirana stores, deliver from them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8280053" y="2776686"/>
            <a:ext cx="8960197" cy="6748314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13453" y="3550072"/>
            <a:ext cx="868273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KIRANAKART FAILED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813453" y="4126334"/>
            <a:ext cx="8130199" cy="1672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157"/>
              </a:lnSpc>
              <a:buNone/>
            </a:pPr>
            <a:r>
              <a:rPr lang="en-US" sz="330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 was never the rider's speed. It was that nobody inside the kirana store knew what was actually in stock.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813453" y="6103590"/>
            <a:ext cx="8130199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81"/>
              </a:lnSpc>
              <a:buNone/>
            </a:pPr>
            <a:r>
              <a:rPr lang="en-US" sz="3000" i="1" dirty="0">
                <a:solidFill>
                  <a:srgbClr val="CEC1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Promise 30 minutes, deliver sometimes in 20 and sometimes in 75, and customers stop trusting you. Unpredictability is fatal.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813453" y="8027640"/>
            <a:ext cx="7893397" cy="19050"/>
          </a:xfrm>
          <a:prstGeom prst="rect">
            <a:avLst/>
          </a:prstGeom>
          <a:solidFill>
            <a:srgbClr val="4036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13453" y="8313390"/>
            <a:ext cx="813019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B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the inventory, control the delivery.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minutes is arithmetic, not marketing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852886"/>
            <a:ext cx="3876675" cy="297939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28750" y="3333276"/>
            <a:ext cx="3426143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8250" b="1" kern="0" spc="-33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1428750" y="4291161"/>
            <a:ext cx="34261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28750" y="4757886"/>
            <a:ext cx="320811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covers 1.5 km on a two-wheeler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153025" y="2852886"/>
            <a:ext cx="3876675" cy="297939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34025" y="3233886"/>
            <a:ext cx="3426143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8250" b="1" kern="0" spc="-33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0" dirty="0"/>
          </a:p>
        </p:txBody>
      </p:sp>
      <p:sp>
        <p:nvSpPr>
          <p:cNvPr id="10" name="Text 8"/>
          <p:cNvSpPr/>
          <p:nvPr/>
        </p:nvSpPr>
        <p:spPr>
          <a:xfrm>
            <a:off x="5534025" y="4291161"/>
            <a:ext cx="34261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34025" y="4757886"/>
            <a:ext cx="320811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 the order inside the dark store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58300" y="2852886"/>
            <a:ext cx="3876675" cy="297939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39300" y="3233886"/>
            <a:ext cx="3426143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8250" b="1" kern="0" spc="-33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0" dirty="0"/>
          </a:p>
        </p:txBody>
      </p:sp>
      <p:sp>
        <p:nvSpPr>
          <p:cNvPr id="14" name="Text 12"/>
          <p:cNvSpPr/>
          <p:nvPr/>
        </p:nvSpPr>
        <p:spPr>
          <a:xfrm>
            <a:off x="9639300" y="4291161"/>
            <a:ext cx="34261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39300" y="4757886"/>
            <a:ext cx="320811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 at the customer's door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363575" y="2852886"/>
            <a:ext cx="3876675" cy="297939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44575" y="3233886"/>
            <a:ext cx="3426143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8250" b="1" kern="0" spc="-330" dirty="0">
                <a:solidFill>
                  <a:srgbClr val="FC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250" dirty="0"/>
          </a:p>
        </p:txBody>
      </p:sp>
      <p:sp>
        <p:nvSpPr>
          <p:cNvPr id="18" name="Text 16"/>
          <p:cNvSpPr/>
          <p:nvPr/>
        </p:nvSpPr>
        <p:spPr>
          <a:xfrm>
            <a:off x="13744575" y="4291161"/>
            <a:ext cx="34261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C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44575" y="4757886"/>
            <a:ext cx="320811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CF8F1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promise, delivered reliably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47750" y="7958138"/>
            <a:ext cx="16192500" cy="19050"/>
          </a:xfrm>
          <a:prstGeom prst="rect">
            <a:avLst/>
          </a:prstGeom>
          <a:solidFill>
            <a:srgbClr val="D4CC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7750" y="8396288"/>
            <a:ext cx="554603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1,500–2,500 sq ft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047750" y="8882063"/>
            <a:ext cx="51931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counters, no baskets, no browsing. Lights on for staff only.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623000" y="8396288"/>
            <a:ext cx="554611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2,000–3,000 SKUs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623000" y="8882063"/>
            <a:ext cx="519318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50,000. Only what people need </a:t>
            </a:r>
            <a:r>
              <a:rPr lang="en-US" sz="2250" i="1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</a:t>
            </a: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198325" y="8396288"/>
            <a:ext cx="554603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housing colonies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2198325" y="8882063"/>
            <a:ext cx="55460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for proximity, not footfall.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ARE NOT BUSINESSES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people paying real money, repeatedly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852886"/>
            <a:ext cx="16192500" cy="3810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3195786"/>
            <a:ext cx="35623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47750" y="3638699"/>
            <a:ext cx="35623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Founded. Both 19.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286250" y="3195786"/>
            <a:ext cx="35623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286250" y="3638699"/>
            <a:ext cx="35623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Y Combinator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524750" y="3195786"/>
            <a:ext cx="35623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2021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524750" y="3638699"/>
            <a:ext cx="333565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dark store, Mumbai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63250" y="3195786"/>
            <a:ext cx="35623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763250" y="3638699"/>
            <a:ext cx="333565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$200M at $900M valuation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001750" y="3195786"/>
            <a:ext cx="35623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4001750" y="3638699"/>
            <a:ext cx="333565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~700–800k orders a day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47750" y="5060752"/>
            <a:ext cx="7867650" cy="446424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04950" y="5517952"/>
            <a:ext cx="76485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MATURE DARK STORE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504950" y="6094214"/>
            <a:ext cx="313269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984132" y="6094214"/>
            <a:ext cx="16214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₹350-400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504950" y="6651427"/>
            <a:ext cx="3372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gross margin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7269659" y="6651427"/>
            <a:ext cx="126474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15–20%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504950" y="7194352"/>
            <a:ext cx="344848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per order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7344370" y="7194352"/>
            <a:ext cx="11900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7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₹20–50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504950" y="7846814"/>
            <a:ext cx="716184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order covers its own costs and leaves something over.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372600" y="5060752"/>
            <a:ext cx="7867650" cy="4464248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29800" y="5517952"/>
            <a:ext cx="76485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COMPANY, FY2024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829800" y="6056114"/>
            <a:ext cx="76485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78"/>
              </a:lnSpc>
              <a:buNone/>
            </a:pPr>
            <a:r>
              <a:rPr lang="en-US" sz="7200" b="1" kern="0" spc="-216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−₹1,300 cr</a:t>
            </a:r>
            <a:endParaRPr lang="en-US" sz="7200" dirty="0"/>
          </a:p>
        </p:txBody>
      </p:sp>
      <p:sp>
        <p:nvSpPr>
          <p:cNvPr id="27" name="Text 25"/>
          <p:cNvSpPr/>
          <p:nvPr/>
        </p:nvSpPr>
        <p:spPr>
          <a:xfrm>
            <a:off x="9829800" y="7199114"/>
            <a:ext cx="716184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CEC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Technology, marketing, salaries, new stores, discounting — all on top of per-order economics.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829800" y="8258175"/>
            <a:ext cx="7161848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positive ≠ EBITDA positive ≠ profitable.</a:t>
            </a:r>
            <a:endParaRPr lang="en-US" sz="2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AND ANSWER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862758" y="4109002"/>
            <a:ext cx="1569720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29"/>
              </a:lnSpc>
              <a:buNone/>
            </a:pPr>
            <a:r>
              <a:rPr lang="en-US" sz="6600" b="1" kern="0" spc="-198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 does not grow vegetables or mill atta. So what exactly are they selling?</a:t>
            </a:r>
            <a:endParaRPr lang="en-US" sz="6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Model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852886"/>
            <a:ext cx="7334250" cy="245447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47750" y="2852886"/>
            <a:ext cx="7334250" cy="7620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66850" y="3348186"/>
            <a:ext cx="71456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5E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66850" y="3848249"/>
            <a:ext cx="6690932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947"/>
              </a:lnSpc>
              <a:buNone/>
            </a:pPr>
            <a:r>
              <a:rPr lang="en-US" sz="3150" dirty="0">
                <a:solidFill>
                  <a:srgbClr val="20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need groceries right now, and getting them takes 30–45 minutes."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8763000" y="3641973"/>
            <a:ext cx="838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9906000" y="2852886"/>
            <a:ext cx="7334250" cy="245447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906000" y="2852886"/>
            <a:ext cx="7334250" cy="7620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25100" y="3348186"/>
            <a:ext cx="71456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5E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 STATE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325100" y="3848249"/>
            <a:ext cx="6690932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947"/>
              </a:lnSpc>
              <a:buNone/>
            </a:pPr>
            <a:r>
              <a:rPr lang="en-US" sz="3150" dirty="0">
                <a:solidFill>
                  <a:srgbClr val="20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"Groceries arrive at my door in under ten minutes."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1047750" y="5688360"/>
            <a:ext cx="7905750" cy="2732633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66850" y="6069360"/>
            <a:ext cx="77743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FCF8F1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66850" y="6531322"/>
            <a:ext cx="7279577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529"/>
              </a:lnSpc>
              <a:buNone/>
            </a:pPr>
            <a:r>
              <a:rPr lang="en-US" sz="3300" b="1" dirty="0">
                <a:solidFill>
                  <a:srgbClr val="FC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solution bridges this reliably. The business is the bridge.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334500" y="5688360"/>
            <a:ext cx="7905750" cy="2732633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753600" y="6069360"/>
            <a:ext cx="77743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 TO PAY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753600" y="6531322"/>
            <a:ext cx="7279577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529"/>
              </a:lnSpc>
              <a:buNone/>
            </a:pPr>
            <a:r>
              <a:rPr lang="en-US" sz="33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 delivery fee — when walking to the store was free. That is your evidence.</a:t>
            </a:r>
            <a:endParaRPr lang="en-US" sz="3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401193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2953643"/>
            <a:ext cx="14716125" cy="174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871"/>
              </a:lnSpc>
              <a:buNone/>
            </a:pPr>
            <a:r>
              <a:rPr lang="en-US" sz="6600" b="1" kern="0" spc="-198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is free. Google Maps is free. So is there no business there?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047750" y="5425529"/>
            <a:ext cx="3848100" cy="5715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5711279"/>
            <a:ext cx="4232910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5162550" y="5425529"/>
            <a:ext cx="3848100" cy="5715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62550" y="5711279"/>
            <a:ext cx="4232910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9277350" y="5425529"/>
            <a:ext cx="3848100" cy="5715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277350" y="5711279"/>
            <a:ext cx="4232910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13392150" y="5425529"/>
            <a:ext cx="3848100" cy="5715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392150" y="5711279"/>
            <a:ext cx="4232910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047750" y="6887617"/>
            <a:ext cx="14716125" cy="1226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495"/>
              </a:lnSpc>
              <a:buNone/>
            </a:pPr>
            <a:r>
              <a:rPr lang="en-US" sz="3600" dirty="0">
                <a:solidFill>
                  <a:srgbClr val="43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legitimate currencies. Willingness to pay holds in all of them — people are always exchanging something they value.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8PM · MID-COOKING · NO TOMATOES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your options honestly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229124"/>
            <a:ext cx="16192500" cy="28575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14450" y="2776686"/>
            <a:ext cx="412346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5E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91658" y="2776686"/>
            <a:ext cx="27490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5E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19380" y="2776686"/>
            <a:ext cx="27490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5E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47102" y="2776686"/>
            <a:ext cx="357364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5E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224471" y="2776686"/>
            <a:ext cx="302390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5E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4105424"/>
            <a:ext cx="16192500" cy="9525"/>
          </a:xfrm>
          <a:prstGeom prst="rect">
            <a:avLst/>
          </a:prstGeom>
          <a:solidFill>
            <a:srgbClr val="D8C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14450" y="3505349"/>
            <a:ext cx="412346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yourself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91658" y="3505349"/>
            <a:ext cx="27490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30–45 min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19380" y="3505349"/>
            <a:ext cx="27490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+ petrol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747102" y="3505349"/>
            <a:ext cx="35736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224471" y="3505349"/>
            <a:ext cx="302390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C6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desperate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" y="4114949"/>
            <a:ext cx="16192500" cy="857250"/>
          </a:xfrm>
          <a:prstGeom prst="rect">
            <a:avLst/>
          </a:prstGeom>
          <a:solidFill>
            <a:srgbClr val="F3E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47750" y="4962674"/>
            <a:ext cx="16192500" cy="9525"/>
          </a:xfrm>
          <a:prstGeom prst="rect">
            <a:avLst/>
          </a:prstGeom>
          <a:solidFill>
            <a:srgbClr val="D8C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14450" y="4362599"/>
            <a:ext cx="412346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someone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291658" y="4362599"/>
            <a:ext cx="27490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30–45 min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019380" y="4362599"/>
            <a:ext cx="27490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747102" y="4362599"/>
            <a:ext cx="35736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224471" y="4362599"/>
            <a:ext cx="302390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C6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free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047750" y="5819924"/>
            <a:ext cx="16192500" cy="9525"/>
          </a:xfrm>
          <a:prstGeom prst="rect">
            <a:avLst/>
          </a:prstGeom>
          <a:solidFill>
            <a:srgbClr val="D8C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14450" y="5219849"/>
            <a:ext cx="412346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BigBasket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291658" y="5219849"/>
            <a:ext cx="27490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12–24 hrs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019380" y="5219849"/>
            <a:ext cx="27490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₹18/kg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747102" y="5219849"/>
            <a:ext cx="35736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late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4224471" y="5219849"/>
            <a:ext cx="302390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947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Problem is now.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047750" y="5829449"/>
            <a:ext cx="16192500" cy="857250"/>
          </a:xfrm>
          <a:prstGeom prst="rect">
            <a:avLst/>
          </a:prstGeom>
          <a:solidFill>
            <a:srgbClr val="F3E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47750" y="6677174"/>
            <a:ext cx="16192500" cy="9525"/>
          </a:xfrm>
          <a:prstGeom prst="rect">
            <a:avLst/>
          </a:prstGeom>
          <a:solidFill>
            <a:srgbClr val="D8C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14450" y="6077099"/>
            <a:ext cx="412346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neighbour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291658" y="6077099"/>
            <a:ext cx="27490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019380" y="6077099"/>
            <a:ext cx="27490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0747102" y="6077099"/>
            <a:ext cx="35736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cost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4224471" y="6077099"/>
            <a:ext cx="302390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C6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1047750" y="6686699"/>
            <a:ext cx="16192500" cy="13144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314450" y="6972449"/>
            <a:ext cx="386106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5291658" y="6972449"/>
            <a:ext cx="257532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550" dirty="0"/>
          </a:p>
        </p:txBody>
      </p:sp>
      <p:sp>
        <p:nvSpPr>
          <p:cNvPr id="39" name="Text 37"/>
          <p:cNvSpPr/>
          <p:nvPr/>
        </p:nvSpPr>
        <p:spPr>
          <a:xfrm>
            <a:off x="8019380" y="6972449"/>
            <a:ext cx="257532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 + ₹20</a:t>
            </a:r>
            <a:endParaRPr lang="en-US" sz="2550" dirty="0"/>
          </a:p>
        </p:txBody>
      </p:sp>
      <p:sp>
        <p:nvSpPr>
          <p:cNvPr id="40" name="Text 38"/>
          <p:cNvSpPr/>
          <p:nvPr/>
        </p:nvSpPr>
        <p:spPr>
          <a:xfrm>
            <a:off x="10747102" y="6972449"/>
            <a:ext cx="334623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</a:t>
            </a:r>
            <a:endParaRPr lang="en-US" sz="2550" dirty="0"/>
          </a:p>
        </p:txBody>
      </p:sp>
      <p:sp>
        <p:nvSpPr>
          <p:cNvPr id="41" name="Text 39"/>
          <p:cNvSpPr/>
          <p:nvPr/>
        </p:nvSpPr>
        <p:spPr>
          <a:xfrm>
            <a:off x="14224471" y="6972449"/>
            <a:ext cx="283147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A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at a premium</a:t>
            </a:r>
            <a:endParaRPr lang="en-US" sz="2550" dirty="0"/>
          </a:p>
        </p:txBody>
      </p:sp>
      <p:sp>
        <p:nvSpPr>
          <p:cNvPr id="42" name="Text 40"/>
          <p:cNvSpPr/>
          <p:nvPr/>
        </p:nvSpPr>
        <p:spPr>
          <a:xfrm>
            <a:off x="1047750" y="8387804"/>
            <a:ext cx="16678275" cy="117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n-US" sz="3300" dirty="0">
                <a:solidFill>
                  <a:srgbClr val="362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Zepto does not win because it is cheapest. It wins because it is the lowest </a:t>
            </a:r>
            <a:r>
              <a:rPr lang="en-US" sz="3300" i="1" dirty="0">
                <a:solidFill>
                  <a:srgbClr val="362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</a:t>
            </a:r>
            <a:r>
              <a:rPr lang="en-US" sz="3300" dirty="0">
                <a:solidFill>
                  <a:srgbClr val="362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— money plus time plus stress plus social cost — at the exact moment the need is urgent.</a:t>
            </a:r>
            <a:endParaRPr lang="en-US" sz="3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EXPERIMENT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Zepto charged ₹200 a delivery?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04875" y="4323085"/>
            <a:ext cx="31432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6957"/>
              </a:lnSpc>
              <a:buNone/>
            </a:pPr>
            <a:r>
              <a:rPr lang="en-US" sz="9000" b="1" kern="0" spc="-36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04875" y="5618485"/>
            <a:ext cx="31432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5E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charge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86250" y="4151635"/>
            <a:ext cx="9715500" cy="13335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00475" y="4513585"/>
            <a:ext cx="106870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SURPLUS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800475" y="5046985"/>
            <a:ext cx="106870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5E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the customer keeps for free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239875" y="3994472"/>
            <a:ext cx="31432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6957"/>
              </a:lnSpc>
              <a:buNone/>
            </a:pPr>
            <a:r>
              <a:rPr lang="en-US" sz="9000" b="1" kern="0" spc="-36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₹200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14339888" y="5289872"/>
            <a:ext cx="294322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5E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walk away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47750" y="7698284"/>
            <a:ext cx="16192500" cy="19050"/>
          </a:xfrm>
          <a:prstGeom prst="rect">
            <a:avLst/>
          </a:prstGeom>
          <a:solidFill>
            <a:srgbClr val="D4CC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7750" y="8136434"/>
            <a:ext cx="8103679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563"/>
              </a:lnSpc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businesses do not price at the customer's limit. They leave a large surplus on the table.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372600" y="8136434"/>
            <a:ext cx="8103679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37"/>
              </a:lnSpc>
              <a:buNone/>
            </a:pPr>
            <a:r>
              <a:rPr lang="en-US" sz="2700" dirty="0">
                <a:solidFill>
                  <a:srgbClr val="504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surplus is exactly what buys loyalty, repeat orders and word of mouth. Price at the limit and your customer leaves the day a rival drops a rupee.</a:t>
            </a:r>
            <a:endParaRPr lang="en-US" sz="2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BOUNDARY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problem is not automatically a business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29086"/>
            <a:ext cx="5143500" cy="7620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3310086"/>
            <a:ext cx="565785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047750" y="4133999"/>
            <a:ext cx="5297805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33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people, often enough, to be a market.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47750" y="8172450"/>
            <a:ext cx="5143500" cy="13525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52550" y="8477250"/>
            <a:ext cx="46882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B947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Fails: </a:t>
            </a:r>
            <a:r>
              <a:rPr lang="en-US" sz="2250" dirty="0">
                <a:solidFill>
                  <a:srgbClr val="50453D"/>
                </a:solidFill>
                <a:highlight>
                  <a:srgbClr val="F0EAE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 problem 200 Indians face once a decade.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572250" y="2929086"/>
            <a:ext cx="5143500" cy="7620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72250" y="3310086"/>
            <a:ext cx="565785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 to pay</a:t>
            </a:r>
            <a:endParaRPr lang="en-US" sz="4050" dirty="0"/>
          </a:p>
        </p:txBody>
      </p:sp>
      <p:sp>
        <p:nvSpPr>
          <p:cNvPr id="11" name="Text 9"/>
          <p:cNvSpPr/>
          <p:nvPr/>
        </p:nvSpPr>
        <p:spPr>
          <a:xfrm>
            <a:off x="6572250" y="4133999"/>
            <a:ext cx="5297805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33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to cover the cost and leave margin.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572250" y="8172450"/>
            <a:ext cx="5143500" cy="13525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77050" y="8477250"/>
            <a:ext cx="46882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B947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Fails: </a:t>
            </a:r>
            <a:r>
              <a:rPr lang="en-US" sz="2250" dirty="0">
                <a:solidFill>
                  <a:srgbClr val="50453D"/>
                </a:solidFill>
                <a:highlight>
                  <a:srgbClr val="F0EAE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costs ₹1,000 to solve, valued at ₹50.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096750" y="2929086"/>
            <a:ext cx="5143500" cy="7620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096750" y="3310086"/>
            <a:ext cx="565785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Solvability</a:t>
            </a:r>
            <a:endParaRPr lang="en-US" sz="4050" dirty="0"/>
          </a:p>
        </p:txBody>
      </p:sp>
      <p:sp>
        <p:nvSpPr>
          <p:cNvPr id="16" name="Text 14"/>
          <p:cNvSpPr/>
          <p:nvPr/>
        </p:nvSpPr>
        <p:spPr>
          <a:xfrm>
            <a:off x="12096750" y="4133999"/>
            <a:ext cx="5297805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33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actually solve it at a cost that works.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2096750" y="7800975"/>
            <a:ext cx="5143500" cy="172402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401550" y="8105775"/>
            <a:ext cx="468820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B947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Fails: </a:t>
            </a:r>
            <a:r>
              <a:rPr lang="en-US" sz="2250" dirty="0">
                <a:solidFill>
                  <a:srgbClr val="50453D"/>
                </a:solidFill>
                <a:highlight>
                  <a:srgbClr val="F0EAE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ending loneliness. Real, frequent, painful — and nobody used to have an economic model.</a:t>
            </a:r>
            <a:endParaRPr lang="en-US" sz="2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72229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FRAMEWORK, A PROBLEM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312840"/>
            <a:ext cx="1569720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47"/>
              </a:lnSpc>
              <a:buNone/>
            </a:pPr>
            <a:r>
              <a:rPr lang="en-US" sz="8100" b="1" kern="0" spc="-283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sells salt at ₹20 a kilo. What gap is that bridging?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047750" y="5903640"/>
            <a:ext cx="14716125" cy="1889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899"/>
              </a:lnSpc>
              <a:buNone/>
            </a:pPr>
            <a:r>
              <a:rPr lang="en-US" sz="3600" dirty="0">
                <a:solidFill>
                  <a:srgbClr val="C1B5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not faster. It is not more convenient. It is certainly not about feelings or identity. You cannot cook without salt. So "convenience" is the wrong word — and that means we need better categories.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types of gaps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29086"/>
            <a:ext cx="7867650" cy="5233839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47750" y="2929086"/>
            <a:ext cx="7867650" cy="952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43050" y="3519636"/>
            <a:ext cx="7564755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39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Functional Efficiency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543050" y="4306342"/>
            <a:ext cx="7083362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563"/>
              </a:lnSpc>
              <a:buNone/>
            </a:pPr>
            <a:r>
              <a:rPr lang="en-US" sz="28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already did — now faster, cheaper, easier.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543050" y="5514082"/>
            <a:ext cx="7083362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05"/>
              </a:lnSpc>
              <a:buNone/>
            </a:pPr>
            <a:r>
              <a:rPr lang="en-US" sz="2550" i="1" dirty="0">
                <a:solidFill>
                  <a:srgbClr val="5E5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"Were you doing this before? Now it is much easier."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543050" y="6922815"/>
            <a:ext cx="6877050" cy="19050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43050" y="7246665"/>
            <a:ext cx="7083362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33"/>
              </a:lnSpc>
              <a:buNone/>
            </a:pPr>
            <a:r>
              <a:rPr lang="en-US" sz="2550" dirty="0" err="1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Ola · Google Maps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372600" y="2929086"/>
            <a:ext cx="7867650" cy="5233839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72600" y="2929086"/>
            <a:ext cx="7867650" cy="952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67900" y="3519636"/>
            <a:ext cx="7564755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39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Functional Access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867900" y="4306342"/>
            <a:ext cx="7083362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563"/>
              </a:lnSpc>
              <a:buNone/>
            </a:pPr>
            <a:r>
              <a:rPr lang="en-US" sz="28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simply could not reach before — too costly, too far, unavailable.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867900" y="5514082"/>
            <a:ext cx="7083362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05"/>
              </a:lnSpc>
              <a:buNone/>
            </a:pPr>
            <a:r>
              <a:rPr lang="en-US" sz="2550" i="1" dirty="0">
                <a:solidFill>
                  <a:srgbClr val="5E5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"Would you have this at all without the business?"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867900" y="6922815"/>
            <a:ext cx="6877050" cy="19050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67900" y="7246665"/>
            <a:ext cx="7083362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33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Jio · Tata Salt · WhatsApp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47750" y="8620125"/>
            <a:ext cx="16678275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195"/>
              </a:lnSpc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about function. Neither explains why anybody pays ₹300 for a coffee. So there must be more.</a:t>
            </a:r>
            <a:endParaRPr lang="en-US" sz="2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· THE TWO NON-FUNCTIONAL KINDS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types of gaps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29086"/>
            <a:ext cx="7867650" cy="5233839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47750" y="2929086"/>
            <a:ext cx="7867650" cy="952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43050" y="3519636"/>
            <a:ext cx="7564755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39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Experience / Emotion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543050" y="4306342"/>
            <a:ext cx="7083362" cy="983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563"/>
              </a:lnSpc>
              <a:buNone/>
            </a:pPr>
            <a:r>
              <a:rPr lang="en-US" sz="28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need is already met. The business changes how meeting it </a:t>
            </a:r>
            <a:r>
              <a:rPr lang="en-US" sz="2850" i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</a:t>
            </a:r>
            <a:r>
              <a:rPr lang="en-US" sz="28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543050" y="5518845"/>
            <a:ext cx="7083362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05"/>
              </a:lnSpc>
              <a:buNone/>
            </a:pPr>
            <a:r>
              <a:rPr lang="en-US" sz="2550" i="1" dirty="0">
                <a:solidFill>
                  <a:srgbClr val="5E5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"Could you get the same outcome cheaper? Then why pay more?"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543050" y="6922815"/>
            <a:ext cx="6877050" cy="19050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43050" y="7246665"/>
            <a:ext cx="7083362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33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 point · Spotify · Netflix · Airbnb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372600" y="2929086"/>
            <a:ext cx="7867650" cy="5233839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72600" y="2929086"/>
            <a:ext cx="7867650" cy="9525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67900" y="3519636"/>
            <a:ext cx="7564755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39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Identity / Aspiration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867900" y="4306342"/>
            <a:ext cx="7083362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563"/>
              </a:lnSpc>
              <a:buNone/>
            </a:pPr>
            <a:r>
              <a:rPr lang="en-US" sz="285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is what it says about who you are, or who you are becoming.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867900" y="5514082"/>
            <a:ext cx="7083362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05"/>
              </a:lnSpc>
              <a:buNone/>
            </a:pPr>
            <a:r>
              <a:rPr lang="en-US" sz="2550" i="1" dirty="0">
                <a:solidFill>
                  <a:srgbClr val="CEC1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"Would you buy this if nobody knew you had it?"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867900" y="6501854"/>
            <a:ext cx="6877050" cy="19050"/>
          </a:xfrm>
          <a:prstGeom prst="rect">
            <a:avLst/>
          </a:prstGeom>
          <a:solidFill>
            <a:srgbClr val="504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67900" y="6825704"/>
            <a:ext cx="7083362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33"/>
              </a:lnSpc>
              <a:buNone/>
            </a:pPr>
            <a:r>
              <a:rPr lang="en-US" sz="255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 · Royal Enfield · Luxury watches · An IIM degree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47750" y="8620125"/>
            <a:ext cx="16678275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195"/>
              </a:lnSpc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businesses have one primary category and secondary elements. Naming the primary one decides your pricing, your marketing and who your real competition is.</a:t>
            </a:r>
            <a:endParaRPr lang="en-US" sz="2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YOURSELF · 1, 2, 3 OR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these four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852886"/>
            <a:ext cx="3848100" cy="517490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66850" y="3271986"/>
            <a:ext cx="331089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 Excel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1466850" y="4086374"/>
            <a:ext cx="3100197" cy="1349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50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₹200 a kilo. Generic detergent is ₹60. Both clean clothes.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162550" y="2852886"/>
            <a:ext cx="3848100" cy="517490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81650" y="3271986"/>
            <a:ext cx="331089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5581650" y="4086374"/>
            <a:ext cx="3100197" cy="1349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50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bank app pays the same bill in 30 seconds, free.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277350" y="2852886"/>
            <a:ext cx="3848100" cy="517490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96450" y="3271986"/>
            <a:ext cx="331089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Jio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9696450" y="4086374"/>
            <a:ext cx="3100197" cy="1786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50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₹299 unlimited in 2016. Hundreds of millions online for the first time.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3392150" y="2852886"/>
            <a:ext cx="3848100" cy="517490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811250" y="3271986"/>
            <a:ext cx="331089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MedPlus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13811250" y="4086374"/>
            <a:ext cx="3100197" cy="1349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50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prices, reliable stock, near your home.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047750" y="8484989"/>
            <a:ext cx="16678275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947"/>
              </a:lnSpc>
              <a:buNone/>
            </a:pPr>
            <a:r>
              <a:rPr lang="en-US" sz="3150" dirty="0">
                <a:solidFill>
                  <a:srgbClr val="43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each one before you move to the next slide</a:t>
            </a:r>
            <a:endParaRPr lang="en-US" sz="3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these four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852886"/>
            <a:ext cx="3848100" cy="667211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90650" y="3195786"/>
            <a:ext cx="347853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 Excel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90650" y="3872061"/>
            <a:ext cx="325716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50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₹200 a kilo versus ₹60. Both clean clothes.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6964784"/>
            <a:ext cx="3848100" cy="2560216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90650" y="7269584"/>
            <a:ext cx="3257169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615"/>
              </a:lnSpc>
              <a:buNone/>
            </a:pPr>
            <a:r>
              <a:rPr lang="en-US" sz="25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Experience/ Emotion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90650" y="8180115"/>
            <a:ext cx="3257169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Secondary: Functional efficiency. The premium buys cleaning confidence.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162550" y="2852886"/>
            <a:ext cx="3848100" cy="667211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05450" y="3195786"/>
            <a:ext cx="347853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505450" y="3872061"/>
            <a:ext cx="325716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50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bank app does the same job, free.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5162550" y="6964784"/>
            <a:ext cx="3848100" cy="2560216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05450" y="7269584"/>
            <a:ext cx="3257169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615"/>
              </a:lnSpc>
              <a:buNone/>
            </a:pPr>
            <a:r>
              <a:rPr lang="en-US" sz="2550" b="1" dirty="0">
                <a:solidFill>
                  <a:srgbClr val="FC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— Identity / Aspiration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505450" y="8180115"/>
            <a:ext cx="3257169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CF8F1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bill gets paid either way. You are buying the signal.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77350" y="2852886"/>
            <a:ext cx="3848100" cy="667211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20250" y="3195786"/>
            <a:ext cx="347853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Jio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620250" y="3872061"/>
            <a:ext cx="34785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50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₹299 unlimited, 2016.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277350" y="7311479"/>
            <a:ext cx="3848100" cy="2213521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20250" y="7616279"/>
            <a:ext cx="3257169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615"/>
              </a:lnSpc>
              <a:buNone/>
            </a:pPr>
            <a:r>
              <a:rPr lang="en-US" sz="25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Functional Access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620250" y="8526810"/>
            <a:ext cx="325716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better internet. Internet at all.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3392150" y="2852886"/>
            <a:ext cx="3848100" cy="667211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735050" y="3195786"/>
            <a:ext cx="347853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1mg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3735050" y="3872061"/>
            <a:ext cx="325716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50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prices, reliable stock.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3392150" y="7311479"/>
            <a:ext cx="3848100" cy="2213521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735050" y="7616279"/>
            <a:ext cx="3257169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615"/>
              </a:lnSpc>
              <a:buNone/>
            </a:pPr>
            <a:r>
              <a:rPr lang="en-US" sz="25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+ 1 — Access &amp; Efficiency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3735050" y="8526810"/>
            <a:ext cx="325716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emotion, no identity. Just reliability.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businesses in your own life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46532" y="2776686"/>
            <a:ext cx="7465291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563"/>
              </a:lnSpc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five businesses you personally used in the last 24 hours. For each one, answer: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246532" y="4060627"/>
            <a:ext cx="2457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6547" y="4060627"/>
            <a:ext cx="54180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current state — the problem I had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46532" y="4584502"/>
            <a:ext cx="2457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6547" y="4584502"/>
            <a:ext cx="243127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desired state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46532" y="5108377"/>
            <a:ext cx="2457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6547" y="5108377"/>
            <a:ext cx="329615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being bridged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46532" y="5632252"/>
            <a:ext cx="2457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06547" y="5632252"/>
            <a:ext cx="33483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— 1, 2, 3 or 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46532" y="6156127"/>
            <a:ext cx="24571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06547" y="6156127"/>
            <a:ext cx="709447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actually paid — rupees, time, attention or data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46532" y="7064314"/>
            <a:ext cx="24571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06547" y="7024558"/>
            <a:ext cx="709447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 have lived without it today? What would I have done instead?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WORKED EXAMPLES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good answer looks like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852886"/>
            <a:ext cx="5168875" cy="667211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66850" y="3271986"/>
            <a:ext cx="476374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6850" y="4024461"/>
            <a:ext cx="4460595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</a:t>
            </a: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cost ₹500+ a month. Hundreds of millions were priced out entirely.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66850" y="5377011"/>
            <a:ext cx="476374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Paid: </a:t>
            </a: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₹299 a month.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66850" y="5958036"/>
            <a:ext cx="4460595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it: </a:t>
            </a: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first-time user, genuinely nothing. No internet at all.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466850" y="7640985"/>
            <a:ext cx="4330675" cy="19050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6850" y="7926735"/>
            <a:ext cx="476374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A83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2 — Access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466850" y="8412510"/>
            <a:ext cx="446059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not make something better. Made it possible.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559525" y="2852886"/>
            <a:ext cx="5168875" cy="667211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78625" y="3271986"/>
            <a:ext cx="476374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78625" y="4024461"/>
            <a:ext cx="4460595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</a:t>
            </a: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was already free on YouTube — but cluttered, ad-broken, impersonal.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978625" y="5377011"/>
            <a:ext cx="476374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Paid: </a:t>
            </a: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₹119 a month.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978625" y="5958036"/>
            <a:ext cx="4460595" cy="81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it: </a:t>
            </a: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easily. YouTube, JioSaavn, FM radio all exist.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6978625" y="7640985"/>
            <a:ext cx="4330675" cy="19050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78625" y="7926735"/>
            <a:ext cx="476374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A83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3 — Experience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6978625" y="8412510"/>
            <a:ext cx="446059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pay for the feeling that this music is yours.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071300" y="2852886"/>
            <a:ext cx="5168950" cy="6672114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490400" y="3271986"/>
            <a:ext cx="476382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2490400" y="4024461"/>
            <a:ext cx="4460672" cy="81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</a:t>
            </a:r>
            <a:r>
              <a:rPr lang="en-US" sz="225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none, functionally. Your bank app pays the bill in thirty seconds.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2490400" y="4991249"/>
            <a:ext cx="4460672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Paid: </a:t>
            </a:r>
            <a:r>
              <a:rPr lang="en-US" sz="225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nothing. CRED earns from financial products sold to its users.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490400" y="6343799"/>
            <a:ext cx="4460672" cy="81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it: </a:t>
            </a:r>
            <a:r>
              <a:rPr lang="en-US" sz="225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absolutely. The bank app is faster.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2490400" y="7640985"/>
            <a:ext cx="4330750" cy="19050"/>
          </a:xfrm>
          <a:prstGeom prst="rect">
            <a:avLst/>
          </a:prstGeom>
          <a:solidFill>
            <a:srgbClr val="504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490400" y="7926735"/>
            <a:ext cx="47638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A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4 — Identity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2490400" y="8412510"/>
            <a:ext cx="446067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the invite-only branding and most users go back to the bank app.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AFTER CLASS · DO NOT MEMORISE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594"/>
              </a:lnSpc>
              <a:buNone/>
            </a:pPr>
            <a:r>
              <a:rPr lang="en-US" sz="5700" b="1" kern="0" spc="-142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terms, in plain English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443436"/>
            <a:ext cx="5041850" cy="3810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852886"/>
            <a:ext cx="519310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surplus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3672036"/>
            <a:ext cx="5193106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you got, minus what you paid. You'd pay ₹500 for that Uber in the rain. You paid ₹180.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623000" y="3443436"/>
            <a:ext cx="5041925" cy="3810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23000" y="2852886"/>
            <a:ext cx="519318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23000" y="3672036"/>
            <a:ext cx="5193183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ONE transaction make money? Chai at ₹10, costs ₹3.50. ₹6.50 a cup toward the rent.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198325" y="3443436"/>
            <a:ext cx="5041850" cy="3810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198325" y="2852886"/>
            <a:ext cx="519310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198325" y="3672036"/>
            <a:ext cx="5193106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minus the direct cost of what you sold. Before rent, salaries, marketing — everything.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6802338"/>
            <a:ext cx="5041850" cy="3810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47750" y="6211788"/>
            <a:ext cx="519310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47750" y="7030938"/>
            <a:ext cx="5193106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as a percentage. Compare within an industry, never across. 18% is great for grocery, terrible for consulting.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623000" y="6802338"/>
            <a:ext cx="5041925" cy="3810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23000" y="6211788"/>
            <a:ext cx="519318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 to pay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23000" y="7030938"/>
            <a:ext cx="5193183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a customer would give up rather than go without. In money, time, attention or data.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030885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621435"/>
            <a:ext cx="1569720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6747"/>
              </a:lnSpc>
              <a:buNone/>
            </a:pPr>
            <a:r>
              <a:rPr lang="en-US" sz="8100" b="1" kern="0" spc="-283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 leaves, milk, sugar, water. One product, thirty times the price. Why?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047750" y="7226026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899"/>
              </a:lnSpc>
              <a:buNone/>
            </a:pPr>
            <a:r>
              <a:rPr lang="en-US" sz="3600" dirty="0">
                <a:solidFill>
                  <a:srgbClr val="C1B5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time: ₹5, ₹35 and ₹180 for the same cup — and a company that raised $120 million and was destroyed by a bare hand.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3403</Words>
  <Application>Microsoft Macintosh PowerPoint</Application>
  <PresentationFormat>Custom</PresentationFormat>
  <Paragraphs>429</Paragraphs>
  <Slides>31</Slides>
  <Notes>31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Avinash Pandit</cp:lastModifiedBy>
  <cp:revision>2</cp:revision>
  <dcterms:created xsi:type="dcterms:W3CDTF">2026-08-06T18:12:14Z</dcterms:created>
  <dcterms:modified xsi:type="dcterms:W3CDTF">2026-08-18T13:11:54Z</dcterms:modified>
</cp:coreProperties>
</file>