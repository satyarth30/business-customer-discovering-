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ZENITH SCHOOL OF AI · CUSTOMER DISCOVERY · CLASS 11</a:t>
            </a:r>
          </a:p>
        </p:txBody>
      </p:sp>
      <p:sp>
        <p:nvSpPr>
          <p:cNvPr id="3" name="TextBox 2"/>
          <p:cNvSpPr txBox="1"/>
          <p:nvPr/>
        </p:nvSpPr>
        <p:spPr>
          <a:xfrm>
            <a:off x="1047750" y="2628900"/>
            <a:ext cx="16192500" cy="2362200"/>
          </a:xfrm>
          <a:prstGeom prst="rect">
            <a:avLst/>
          </a:prstGeom>
          <a:noFill/>
        </p:spPr>
        <p:txBody>
          <a:bodyPr wrap="square" lIns="0" rIns="0" tIns="0" bIns="0" anchor="t">
            <a:spAutoFit/>
            <a:spAutoFit/>
          </a:bodyPr>
          <a:lstStyle/>
          <a:p>
            <a:pPr algn="l">
              <a:lnSpc>
                <a:spcPct val="92000"/>
              </a:lnSpc>
            </a:pPr>
            <a:r>
              <a:rPr sz="9900" b="1" i="0" spc="-346">
                <a:solidFill>
                  <a:srgbClr val="F5F1E9"/>
                </a:solidFill>
                <a:latin typeface="Arial"/>
              </a:rPr>
              <a:t>One Customer,</a:t>
            </a:r>
          </a:p>
          <a:p>
            <a:pPr algn="l">
              <a:lnSpc>
                <a:spcPct val="92000"/>
              </a:lnSpc>
            </a:pPr>
            <a:r>
              <a:rPr sz="9900" b="1" i="0" spc="-346">
                <a:solidFill>
                  <a:srgbClr val="F5F1E9"/>
                </a:solidFill>
                <a:latin typeface="Arial"/>
              </a:rPr>
              <a:t>Completely</a:t>
            </a:r>
          </a:p>
        </p:txBody>
      </p:sp>
      <p:sp>
        <p:nvSpPr>
          <p:cNvPr id="4" name="TextBox 3"/>
          <p:cNvSpPr txBox="1"/>
          <p:nvPr/>
        </p:nvSpPr>
        <p:spPr>
          <a:xfrm>
            <a:off x="1047750" y="5314950"/>
            <a:ext cx="13811250" cy="1666875"/>
          </a:xfrm>
          <a:prstGeom prst="rect">
            <a:avLst/>
          </a:prstGeom>
          <a:noFill/>
        </p:spPr>
        <p:txBody>
          <a:bodyPr wrap="square" lIns="0" rIns="0" tIns="0" bIns="0" anchor="t">
            <a:spAutoFit/>
            <a:spAutoFit/>
          </a:bodyPr>
          <a:lstStyle/>
          <a:p>
            <a:pPr algn="l">
              <a:lnSpc>
                <a:spcPct val="118000"/>
              </a:lnSpc>
            </a:pPr>
            <a:r>
              <a:rPr sz="3600" b="0" i="1">
                <a:solidFill>
                  <a:srgbClr val="C1B5AB"/>
                </a:solidFill>
                <a:latin typeface="Georgia"/>
              </a:rPr>
              <a:t>One man understood one customer better than the industry did, and it turned out to be worth more than every rupee of capital raised against him.</a:t>
            </a:r>
          </a:p>
        </p:txBody>
      </p:sp>
      <p:sp>
        <p:nvSpPr>
          <p:cNvPr id="5" name="Rectangle 4"/>
          <p:cNvSpPr/>
          <p:nvPr/>
        </p:nvSpPr>
        <p:spPr>
          <a:xfrm>
            <a:off x="1047750" y="8877300"/>
            <a:ext cx="16192500" cy="19050"/>
          </a:xfrm>
          <a:prstGeom prst="rect">
            <a:avLst/>
          </a:prstGeom>
          <a:solidFill>
            <a:srgbClr val="3E3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9239250"/>
            <a:ext cx="3314700" cy="361950"/>
          </a:xfrm>
          <a:prstGeom prst="rect">
            <a:avLst/>
          </a:prstGeom>
          <a:noFill/>
        </p:spPr>
        <p:txBody>
          <a:bodyPr wrap="square" lIns="0" rIns="0" tIns="0" bIns="0" anchor="t">
            <a:spAutoFit/>
            <a:spAutoFit/>
          </a:bodyPr>
          <a:lstStyle/>
          <a:p>
            <a:pPr algn="l">
              <a:lnSpc>
                <a:spcPct val="108000"/>
              </a:lnSpc>
            </a:pPr>
            <a:r>
              <a:rPr sz="2100" b="0" i="0">
                <a:solidFill>
                  <a:srgbClr val="AEA298"/>
                </a:solidFill>
                <a:latin typeface="Arial"/>
              </a:rPr>
              <a:t>The Discovery Chain</a:t>
            </a:r>
          </a:p>
        </p:txBody>
      </p:sp>
      <p:sp>
        <p:nvSpPr>
          <p:cNvPr id="7" name="TextBox 6"/>
          <p:cNvSpPr txBox="1"/>
          <p:nvPr/>
        </p:nvSpPr>
        <p:spPr>
          <a:xfrm>
            <a:off x="5334000" y="9239250"/>
            <a:ext cx="3314700" cy="361950"/>
          </a:xfrm>
          <a:prstGeom prst="rect">
            <a:avLst/>
          </a:prstGeom>
          <a:noFill/>
        </p:spPr>
        <p:txBody>
          <a:bodyPr wrap="square" lIns="0" rIns="0" tIns="0" bIns="0" anchor="t">
            <a:spAutoFit/>
            <a:spAutoFit/>
          </a:bodyPr>
          <a:lstStyle/>
          <a:p>
            <a:pPr algn="l">
              <a:lnSpc>
                <a:spcPct val="108000"/>
              </a:lnSpc>
            </a:pPr>
            <a:r>
              <a:rPr sz="2100" b="0" i="0">
                <a:solidFill>
                  <a:srgbClr val="AEA298"/>
                </a:solidFill>
                <a:latin typeface="Arial"/>
              </a:rPr>
              <a:t>The Three Signals</a:t>
            </a:r>
          </a:p>
        </p:txBody>
      </p:sp>
      <p:sp>
        <p:nvSpPr>
          <p:cNvPr id="8" name="TextBox 7"/>
          <p:cNvSpPr txBox="1"/>
          <p:nvPr/>
        </p:nvSpPr>
        <p:spPr>
          <a:xfrm>
            <a:off x="9620250" y="9239250"/>
            <a:ext cx="3314700" cy="361950"/>
          </a:xfrm>
          <a:prstGeom prst="rect">
            <a:avLst/>
          </a:prstGeom>
          <a:noFill/>
        </p:spPr>
        <p:txBody>
          <a:bodyPr wrap="square" lIns="0" rIns="0" tIns="0" bIns="0" anchor="t">
            <a:spAutoFit/>
            <a:spAutoFit/>
          </a:bodyPr>
          <a:lstStyle/>
          <a:p>
            <a:pPr algn="l">
              <a:lnSpc>
                <a:spcPct val="108000"/>
              </a:lnSpc>
            </a:pPr>
            <a:r>
              <a:rPr sz="2100" b="0" i="0">
                <a:solidFill>
                  <a:srgbClr val="AEA298"/>
                </a:solidFill>
                <a:latin typeface="Arial"/>
              </a:rPr>
              <a:t>The Load-Bearing Link</a:t>
            </a:r>
          </a:p>
        </p:txBody>
      </p:sp>
      <p:sp>
        <p:nvSpPr>
          <p:cNvPr id="9" name="TextBox 8"/>
          <p:cNvSpPr txBox="1"/>
          <p:nvPr/>
        </p:nvSpPr>
        <p:spPr>
          <a:xfrm>
            <a:off x="13906500" y="9239250"/>
            <a:ext cx="3314700" cy="361950"/>
          </a:xfrm>
          <a:prstGeom prst="rect">
            <a:avLst/>
          </a:prstGeom>
          <a:noFill/>
        </p:spPr>
        <p:txBody>
          <a:bodyPr wrap="square" lIns="0" rIns="0" tIns="0" bIns="0" anchor="t">
            <a:spAutoFit/>
            <a:spAutoFit/>
          </a:bodyPr>
          <a:lstStyle/>
          <a:p>
            <a:pPr algn="l">
              <a:lnSpc>
                <a:spcPct val="108000"/>
              </a:lnSpc>
            </a:pPr>
            <a:r>
              <a:rPr sz="2100" b="0" i="0">
                <a:solidFill>
                  <a:srgbClr val="AEA298"/>
                </a:solidFill>
                <a:latin typeface="Arial"/>
              </a:rPr>
              <a:t>Segment Non-Transferability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WHERE WE LEFT OFF</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You have fifteen tools. Today they meet one company.</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What the customer feels</a:t>
            </a:r>
          </a:p>
        </p:txBody>
      </p:sp>
      <p:sp>
        <p:nvSpPr>
          <p:cNvPr id="6" name="TextBox 5"/>
          <p:cNvSpPr txBox="1"/>
          <p:nvPr/>
        </p:nvSpPr>
        <p:spPr>
          <a:xfrm>
            <a:off x="10477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Pains and gains, emotional drivers, the difference between a condition somebody lives with and a force that makes them move.</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Who the customer is</a:t>
            </a:r>
          </a:p>
        </p:txBody>
      </p:sp>
      <p:sp>
        <p:nvSpPr>
          <p:cNvPr id="9" name="TextBox 8"/>
          <p:cNvSpPr txBox="1"/>
          <p:nvPr/>
        </p:nvSpPr>
        <p:spPr>
          <a:xfrm>
            <a:off x="65722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Segments, beachheads, personas, journeys, jobs to be done — and the gap between what a customer says and what a customer does.</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What the company does about it</a:t>
            </a:r>
          </a:p>
        </p:txBody>
      </p:sp>
      <p:sp>
        <p:nvSpPr>
          <p:cNvPr id="12" name="TextBox 11"/>
          <p:cNvSpPr txBox="1"/>
          <p:nvPr/>
        </p:nvSpPr>
        <p:spPr>
          <a:xfrm>
            <a:off x="120967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Value against price, positioning, the screen between a feeling and the money. Fifteen lectures of forwards reasoning.</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Every one of those lectures worked forwards, from a customer to a decision. Today you work backwards.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PAUSE AND ANSWER</a:t>
            </a:r>
          </a:p>
        </p:txBody>
      </p:sp>
      <p:sp>
        <p:nvSpPr>
          <p:cNvPr id="3" name="TextBox 2"/>
          <p:cNvSpPr txBox="1"/>
          <p:nvPr/>
        </p:nvSpPr>
        <p:spPr>
          <a:xfrm>
            <a:off x="1714500" y="3390900"/>
            <a:ext cx="14859000" cy="3895725"/>
          </a:xfrm>
          <a:prstGeom prst="rect">
            <a:avLst/>
          </a:prstGeom>
          <a:noFill/>
        </p:spPr>
        <p:txBody>
          <a:bodyPr wrap="square" lIns="0" rIns="0" tIns="0" bIns="0" anchor="t">
            <a:spAutoFit/>
            <a:spAutoFit/>
          </a:bodyPr>
          <a:lstStyle/>
          <a:p>
            <a:pPr algn="l">
              <a:lnSpc>
                <a:spcPct val="112000"/>
              </a:lnSpc>
            </a:pPr>
            <a:r>
              <a:rPr sz="4500" b="1" i="0" spc="-120">
                <a:solidFill>
                  <a:srgbClr val="F5F1E9"/>
                </a:solidFill>
                <a:latin typeface="Arial"/>
              </a:rPr>
              <a:t>ICICI, HDFC, Kotak and Sharekhan had more capital, more brand, more branches and more customers.</a:t>
            </a:r>
          </a:p>
          <a:p>
            <a:pPr algn="l">
              <a:lnSpc>
                <a:spcPct val="112000"/>
              </a:lnSpc>
            </a:pPr>
            <a:r>
              <a:rPr sz="4500" b="1" i="0" spc="-120">
                <a:solidFill>
                  <a:srgbClr val="F5F1E9"/>
                </a:solidFill>
                <a:latin typeface="Arial"/>
              </a:rPr>
              <a:t/>
            </a:r>
          </a:p>
          <a:p>
            <a:pPr algn="l">
              <a:lnSpc>
                <a:spcPct val="112000"/>
              </a:lnSpc>
            </a:pPr>
            <a:r>
              <a:rPr sz="4500" b="1" i="0" spc="-120">
                <a:solidFill>
                  <a:srgbClr val="F5F1E9"/>
                </a:solidFill>
                <a:latin typeface="Arial"/>
              </a:rPr>
              <a:t>A company that never raised a rupee beat all of them. What did it have that they did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FOUR ANSWERS MOST PEOPLE GIVE</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Four answers. Three are outcomes. One is a shrug.</a:t>
            </a:r>
          </a:p>
        </p:txBody>
      </p:sp>
      <p:sp>
        <p:nvSpPr>
          <p:cNvPr id="4" name="Rectangle 3"/>
          <p:cNvSpPr/>
          <p:nvPr/>
        </p:nvSpPr>
        <p:spPr>
          <a:xfrm>
            <a:off x="1047750"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3762375" cy="361950"/>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'It was cheaper'</a:t>
            </a:r>
          </a:p>
        </p:txBody>
      </p:sp>
      <p:sp>
        <p:nvSpPr>
          <p:cNvPr id="6" name="TextBox 5"/>
          <p:cNvSpPr txBox="1"/>
          <p:nvPr/>
        </p:nvSpPr>
        <p:spPr>
          <a:xfrm>
            <a:off x="1047750" y="4257675"/>
            <a:ext cx="3762375" cy="152400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That is the decision, not the reason. Anybody can cut a price. The question is how they knew which price to cut.</a:t>
            </a:r>
          </a:p>
        </p:txBody>
      </p:sp>
      <p:sp>
        <p:nvSpPr>
          <p:cNvPr id="7" name="Rectangle 6"/>
          <p:cNvSpPr/>
          <p:nvPr/>
        </p:nvSpPr>
        <p:spPr>
          <a:xfrm>
            <a:off x="5191125"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91125" y="3724275"/>
            <a:ext cx="3762375" cy="361950"/>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'Better technology'</a:t>
            </a:r>
          </a:p>
        </p:txBody>
      </p:sp>
      <p:sp>
        <p:nvSpPr>
          <p:cNvPr id="9" name="TextBox 8"/>
          <p:cNvSpPr txBox="1"/>
          <p:nvPr/>
        </p:nvSpPr>
        <p:spPr>
          <a:xfrm>
            <a:off x="5191125" y="4257675"/>
            <a:ext cx="37623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Every one of those banks had a larger technology budget in 2010 than Zerodha had revenue.</a:t>
            </a:r>
          </a:p>
        </p:txBody>
      </p:sp>
      <p:sp>
        <p:nvSpPr>
          <p:cNvPr id="10" name="Rectangle 9"/>
          <p:cNvSpPr/>
          <p:nvPr/>
        </p:nvSpPr>
        <p:spPr>
          <a:xfrm>
            <a:off x="9334500"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34500" y="3724275"/>
            <a:ext cx="3762375" cy="361950"/>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'First mover'</a:t>
            </a:r>
          </a:p>
        </p:txBody>
      </p:sp>
      <p:sp>
        <p:nvSpPr>
          <p:cNvPr id="12" name="TextBox 11"/>
          <p:cNvSpPr txBox="1"/>
          <p:nvPr/>
        </p:nvSpPr>
        <p:spPr>
          <a:xfrm>
            <a:off x="9334500" y="4257675"/>
            <a:ext cx="37623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They were fifteen years late. The incumbents had been online since the late nineties.</a:t>
            </a:r>
          </a:p>
        </p:txBody>
      </p:sp>
      <p:sp>
        <p:nvSpPr>
          <p:cNvPr id="13" name="Rectangle 12"/>
          <p:cNvSpPr/>
          <p:nvPr/>
        </p:nvSpPr>
        <p:spPr>
          <a:xfrm>
            <a:off x="13477875"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77875" y="3724275"/>
            <a:ext cx="3762375" cy="361950"/>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'Luck'</a:t>
            </a:r>
          </a:p>
        </p:txBody>
      </p:sp>
      <p:sp>
        <p:nvSpPr>
          <p:cNvPr id="15" name="TextBox 14"/>
          <p:cNvSpPr txBox="1"/>
          <p:nvPr/>
        </p:nvSpPr>
        <p:spPr>
          <a:xfrm>
            <a:off x="13477875" y="4257675"/>
            <a:ext cx="37623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The answer that ends every discussion and teaches nothing. Write it down and leave it there.</a:t>
            </a:r>
          </a:p>
        </p:txBody>
      </p:sp>
      <p:sp>
        <p:nvSpPr>
          <p:cNvPr id="16" name="TextBox 15"/>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It had one customer understood completely, and the discipline to disappoint everybody else.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7029450"/>
            <a:ext cx="16192500" cy="1209675"/>
          </a:xfrm>
          <a:prstGeom prst="rect">
            <a:avLst/>
          </a:prstGeom>
          <a:noFill/>
        </p:spPr>
        <p:txBody>
          <a:bodyPr wrap="square" lIns="0" rIns="0" tIns="0" bIns="0" anchor="t">
            <a:spAutoFit/>
            <a:spAutoFit/>
          </a:bodyPr>
          <a:lstStyle/>
          <a:p>
            <a:pPr algn="l">
              <a:lnSpc>
                <a:spcPct val="92000"/>
              </a:lnSpc>
            </a:pPr>
            <a:r>
              <a:rPr sz="9900" b="1" i="0" spc="-300">
                <a:solidFill>
                  <a:srgbClr val="F5F1E9"/>
                </a:solidFill>
                <a:latin typeface="Arial"/>
              </a:rPr>
              <a:t>Zerodha</a:t>
            </a:r>
          </a:p>
        </p:txBody>
      </p:sp>
      <p:sp>
        <p:nvSpPr>
          <p:cNvPr id="3" name="TextBox 2"/>
          <p:cNvSpPr txBox="1"/>
          <p:nvPr/>
        </p:nvSpPr>
        <p:spPr>
          <a:xfrm>
            <a:off x="1047750" y="64770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CASE STUDY</a:t>
            </a:r>
          </a:p>
        </p:txBody>
      </p:sp>
      <p:sp>
        <p:nvSpPr>
          <p:cNvPr id="4" name="TextBox 3"/>
          <p:cNvSpPr txBox="1"/>
          <p:nvPr/>
        </p:nvSpPr>
        <p:spPr>
          <a:xfrm>
            <a:off x="1047750" y="8486775"/>
            <a:ext cx="14287500" cy="1133475"/>
          </a:xfrm>
          <a:prstGeom prst="rect">
            <a:avLst/>
          </a:prstGeom>
          <a:noFill/>
        </p:spPr>
        <p:txBody>
          <a:bodyPr wrap="square" lIns="0" rIns="0" tIns="0" bIns="0" anchor="t">
            <a:spAutoFit/>
            <a:spAutoFit/>
          </a:bodyPr>
          <a:lstStyle/>
          <a:p>
            <a:pPr algn="l">
              <a:lnSpc>
                <a:spcPct val="118000"/>
              </a:lnSpc>
            </a:pPr>
            <a:r>
              <a:rPr sz="3600" b="0" i="1">
                <a:solidFill>
                  <a:srgbClr val="C1B5AB"/>
                </a:solidFill>
                <a:latin typeface="Georgia"/>
              </a:rPr>
              <a:t>A trader who was tired of being overcharged, and who never took a rupee of outside money.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INDIA, BEFORE 2010</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A percentage fee sounds fair. Do the arithmetic.</a:t>
            </a:r>
          </a:p>
        </p:txBody>
      </p:sp>
      <p:sp>
        <p:nvSpPr>
          <p:cNvPr id="4" name="Rectangle 3"/>
          <p:cNvSpPr/>
          <p:nvPr/>
        </p:nvSpPr>
        <p:spPr>
          <a:xfrm>
            <a:off x="1047750" y="3409950"/>
            <a:ext cx="5143500"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790950"/>
            <a:ext cx="4305300" cy="876300"/>
          </a:xfrm>
          <a:prstGeom prst="rect">
            <a:avLst/>
          </a:prstGeom>
          <a:noFill/>
        </p:spPr>
        <p:txBody>
          <a:bodyPr wrap="square" lIns="0" rIns="0" tIns="0" bIns="0" anchor="t">
            <a:spAutoFit/>
            <a:spAutoFit/>
          </a:bodyPr>
          <a:lstStyle/>
          <a:p>
            <a:pPr algn="l">
              <a:lnSpc>
                <a:spcPct val="98000"/>
              </a:lnSpc>
            </a:pPr>
            <a:r>
              <a:rPr sz="6600" b="1" i="0">
                <a:solidFill>
                  <a:srgbClr val="201914"/>
                </a:solidFill>
                <a:latin typeface="Arial"/>
              </a:rPr>
              <a:t>0.5%</a:t>
            </a:r>
          </a:p>
        </p:txBody>
      </p:sp>
      <p:sp>
        <p:nvSpPr>
          <p:cNvPr id="6" name="TextBox 5"/>
          <p:cNvSpPr txBox="1"/>
          <p:nvPr/>
        </p:nvSpPr>
        <p:spPr>
          <a:xfrm>
            <a:off x="1466850" y="4676775"/>
            <a:ext cx="4305300" cy="371475"/>
          </a:xfrm>
          <a:prstGeom prst="rect">
            <a:avLst/>
          </a:prstGeom>
          <a:noFill/>
        </p:spPr>
        <p:txBody>
          <a:bodyPr wrap="square" lIns="0" rIns="0" tIns="0" bIns="0" anchor="t">
            <a:spAutoFit/>
            <a:spAutoFit/>
          </a:bodyPr>
          <a:lstStyle/>
          <a:p>
            <a:pPr algn="l">
              <a:lnSpc>
                <a:spcPct val="104000"/>
              </a:lnSpc>
            </a:pPr>
            <a:r>
              <a:rPr sz="2400" b="1" i="0">
                <a:solidFill>
                  <a:srgbClr val="201914"/>
                </a:solidFill>
                <a:latin typeface="Arial"/>
              </a:rPr>
              <a:t>of trade value</a:t>
            </a:r>
          </a:p>
        </p:txBody>
      </p:sp>
      <p:sp>
        <p:nvSpPr>
          <p:cNvPr id="7" name="TextBox 6"/>
          <p:cNvSpPr txBox="1"/>
          <p:nvPr/>
        </p:nvSpPr>
        <p:spPr>
          <a:xfrm>
            <a:off x="1466850" y="5257800"/>
            <a:ext cx="4305300"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The industry standard, charged on every buy and every sell, by almost every brokerage in India.</a:t>
            </a:r>
          </a:p>
        </p:txBody>
      </p:sp>
      <p:sp>
        <p:nvSpPr>
          <p:cNvPr id="8" name="Rectangle 7"/>
          <p:cNvSpPr/>
          <p:nvPr/>
        </p:nvSpPr>
        <p:spPr>
          <a:xfrm>
            <a:off x="6572250" y="3409950"/>
            <a:ext cx="5143500"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1350" y="3790950"/>
            <a:ext cx="4305300" cy="876300"/>
          </a:xfrm>
          <a:prstGeom prst="rect">
            <a:avLst/>
          </a:prstGeom>
          <a:noFill/>
        </p:spPr>
        <p:txBody>
          <a:bodyPr wrap="square" lIns="0" rIns="0" tIns="0" bIns="0" anchor="t">
            <a:spAutoFit/>
            <a:spAutoFit/>
          </a:bodyPr>
          <a:lstStyle/>
          <a:p>
            <a:pPr algn="l">
              <a:lnSpc>
                <a:spcPct val="98000"/>
              </a:lnSpc>
            </a:pPr>
            <a:r>
              <a:rPr sz="6600" b="1" i="0">
                <a:solidFill>
                  <a:srgbClr val="201914"/>
                </a:solidFill>
                <a:latin typeface="Arial"/>
              </a:rPr>
              <a:t>₹1,000</a:t>
            </a:r>
          </a:p>
        </p:txBody>
      </p:sp>
      <p:sp>
        <p:nvSpPr>
          <p:cNvPr id="10" name="TextBox 9"/>
          <p:cNvSpPr txBox="1"/>
          <p:nvPr/>
        </p:nvSpPr>
        <p:spPr>
          <a:xfrm>
            <a:off x="6991350" y="4676775"/>
            <a:ext cx="4305300" cy="371475"/>
          </a:xfrm>
          <a:prstGeom prst="rect">
            <a:avLst/>
          </a:prstGeom>
          <a:noFill/>
        </p:spPr>
        <p:txBody>
          <a:bodyPr wrap="square" lIns="0" rIns="0" tIns="0" bIns="0" anchor="t">
            <a:spAutoFit/>
            <a:spAutoFit/>
          </a:bodyPr>
          <a:lstStyle/>
          <a:p>
            <a:pPr algn="l">
              <a:lnSpc>
                <a:spcPct val="104000"/>
              </a:lnSpc>
            </a:pPr>
            <a:r>
              <a:rPr sz="2400" b="1" i="0">
                <a:solidFill>
                  <a:srgbClr val="201914"/>
                </a:solidFill>
                <a:latin typeface="Arial"/>
              </a:rPr>
              <a:t>per round trip</a:t>
            </a:r>
          </a:p>
        </p:txBody>
      </p:sp>
      <p:sp>
        <p:nvSpPr>
          <p:cNvPr id="11" name="TextBox 10"/>
          <p:cNvSpPr txBox="1"/>
          <p:nvPr/>
        </p:nvSpPr>
        <p:spPr>
          <a:xfrm>
            <a:off x="6991350" y="5257800"/>
            <a:ext cx="4305300"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Buy ₹1 lakh, sell it the same afternoon. The price now has to move 1% before you have made anything.</a:t>
            </a:r>
          </a:p>
        </p:txBody>
      </p:sp>
      <p:sp>
        <p:nvSpPr>
          <p:cNvPr id="12" name="Rectangle 11"/>
          <p:cNvSpPr/>
          <p:nvPr/>
        </p:nvSpPr>
        <p:spPr>
          <a:xfrm>
            <a:off x="12096750" y="3409950"/>
            <a:ext cx="5143500" cy="4572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15850" y="3790950"/>
            <a:ext cx="4305300" cy="876300"/>
          </a:xfrm>
          <a:prstGeom prst="rect">
            <a:avLst/>
          </a:prstGeom>
          <a:noFill/>
        </p:spPr>
        <p:txBody>
          <a:bodyPr wrap="square" lIns="0" rIns="0" tIns="0" bIns="0" anchor="t">
            <a:spAutoFit/>
            <a:spAutoFit/>
          </a:bodyPr>
          <a:lstStyle/>
          <a:p>
            <a:pPr algn="l">
              <a:lnSpc>
                <a:spcPct val="98000"/>
              </a:lnSpc>
            </a:pPr>
            <a:r>
              <a:rPr sz="6600" b="1" i="0">
                <a:solidFill>
                  <a:srgbClr val="F5F1E9"/>
                </a:solidFill>
                <a:latin typeface="Arial"/>
              </a:rPr>
              <a:t>₹35 lakh</a:t>
            </a:r>
          </a:p>
        </p:txBody>
      </p:sp>
      <p:sp>
        <p:nvSpPr>
          <p:cNvPr id="14" name="TextBox 13"/>
          <p:cNvSpPr txBox="1"/>
          <p:nvPr/>
        </p:nvSpPr>
        <p:spPr>
          <a:xfrm>
            <a:off x="12515850" y="4676775"/>
            <a:ext cx="4305300" cy="371475"/>
          </a:xfrm>
          <a:prstGeom prst="rect">
            <a:avLst/>
          </a:prstGeom>
          <a:noFill/>
        </p:spPr>
        <p:txBody>
          <a:bodyPr wrap="square" lIns="0" rIns="0" tIns="0" bIns="0" anchor="t">
            <a:spAutoFit/>
            <a:spAutoFit/>
          </a:bodyPr>
          <a:lstStyle/>
          <a:p>
            <a:pPr algn="l">
              <a:lnSpc>
                <a:spcPct val="104000"/>
              </a:lnSpc>
            </a:pPr>
            <a:r>
              <a:rPr sz="2400" b="1" i="0">
                <a:solidFill>
                  <a:srgbClr val="F5F1E9"/>
                </a:solidFill>
                <a:latin typeface="Arial"/>
              </a:rPr>
              <a:t>a year, one person</a:t>
            </a:r>
          </a:p>
        </p:txBody>
      </p:sp>
      <p:sp>
        <p:nvSpPr>
          <p:cNvPr id="15" name="TextBox 14"/>
          <p:cNvSpPr txBox="1"/>
          <p:nvPr/>
        </p:nvSpPr>
        <p:spPr>
          <a:xfrm>
            <a:off x="12515850" y="5257800"/>
            <a:ext cx="4305300" cy="1228725"/>
          </a:xfrm>
          <a:prstGeom prst="rect">
            <a:avLst/>
          </a:prstGeom>
          <a:noFill/>
        </p:spPr>
        <p:txBody>
          <a:bodyPr wrap="square" lIns="0" rIns="0" tIns="0" bIns="0" anchor="t">
            <a:spAutoFit/>
            <a:spAutoFit/>
          </a:bodyPr>
          <a:lstStyle/>
          <a:p>
            <a:pPr algn="l">
              <a:lnSpc>
                <a:spcPct val="110000"/>
              </a:lnSpc>
            </a:pPr>
            <a:r>
              <a:rPr sz="2100" b="0" i="0">
                <a:solidFill>
                  <a:srgbClr val="F5F1E9"/>
                </a:solidFill>
                <a:latin typeface="Arial"/>
              </a:rPr>
              <a:t>Fifteen round trips a day, 250 trading days. That customer is not paying a fee. He is working for the broker.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OTHER TWO HALVES OF THE PROBLEM</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software was built for somebody else entirely</a:t>
            </a:r>
          </a:p>
        </p:txBody>
      </p:sp>
      <p:sp>
        <p:nvSpPr>
          <p:cNvPr id="4" name="Rectangle 3"/>
          <p:cNvSpPr/>
          <p:nvPr/>
        </p:nvSpPr>
        <p:spPr>
          <a:xfrm>
            <a:off x="1047750" y="3409950"/>
            <a:ext cx="7810500" cy="48387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28750" y="37338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C35141"/>
                </a:solidFill>
                <a:latin typeface="Arial"/>
              </a:rPr>
              <a:t>THE PLATFORM</a:t>
            </a:r>
          </a:p>
        </p:txBody>
      </p:sp>
      <p:sp>
        <p:nvSpPr>
          <p:cNvPr id="6" name="TextBox 5"/>
          <p:cNvSpPr txBox="1"/>
          <p:nvPr/>
        </p:nvSpPr>
        <p:spPr>
          <a:xfrm>
            <a:off x="1428750" y="4229100"/>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Built by banks as an add-on to a banking relationship.</a:t>
            </a:r>
          </a:p>
        </p:txBody>
      </p:sp>
      <p:sp>
        <p:nvSpPr>
          <p:cNvPr id="7" name="TextBox 6"/>
          <p:cNvSpPr txBox="1"/>
          <p:nvPr/>
        </p:nvSpPr>
        <p:spPr>
          <a:xfrm>
            <a:off x="1428750" y="5124450"/>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Slow. Logged you out. Four seconds to respond.</a:t>
            </a:r>
          </a:p>
        </p:txBody>
      </p:sp>
      <p:sp>
        <p:nvSpPr>
          <p:cNvPr id="8" name="TextBox 7"/>
          <p:cNvSpPr txBox="1"/>
          <p:nvPr/>
        </p:nvSpPr>
        <p:spPr>
          <a:xfrm>
            <a:off x="1428750" y="6019800"/>
            <a:ext cx="7048500" cy="1438275"/>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Designed for a customer who opens it, places one order and closes it — a fair description of an investor and a wrong one of a trader.</a:t>
            </a:r>
          </a:p>
        </p:txBody>
      </p:sp>
      <p:sp>
        <p:nvSpPr>
          <p:cNvPr id="9" name="Rectangle 8"/>
          <p:cNvSpPr/>
          <p:nvPr/>
        </p:nvSpPr>
        <p:spPr>
          <a:xfrm>
            <a:off x="9429750" y="3409950"/>
            <a:ext cx="7810500" cy="48387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0750" y="37338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EF806F"/>
                </a:solidFill>
                <a:latin typeface="Arial"/>
              </a:rPr>
              <a:t>THE TREATMENT</a:t>
            </a:r>
          </a:p>
        </p:txBody>
      </p:sp>
      <p:sp>
        <p:nvSpPr>
          <p:cNvPr id="11" name="TextBox 10"/>
          <p:cNvSpPr txBox="1"/>
          <p:nvPr/>
        </p:nvSpPr>
        <p:spPr>
          <a:xfrm>
            <a:off x="9810750" y="4229100"/>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A retail trader placing twenty orders a day was a nuisance.</a:t>
            </a:r>
          </a:p>
        </p:txBody>
      </p:sp>
      <p:sp>
        <p:nvSpPr>
          <p:cNvPr id="12" name="TextBox 11"/>
          <p:cNvSpPr txBox="1"/>
          <p:nvPr/>
        </p:nvSpPr>
        <p:spPr>
          <a:xfrm>
            <a:off x="9810750" y="5124450"/>
            <a:ext cx="7048500" cy="1095375"/>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He generated support calls and asked technical questions the relationship manager could not answer.</a:t>
            </a:r>
          </a:p>
        </p:txBody>
      </p:sp>
      <p:sp>
        <p:nvSpPr>
          <p:cNvPr id="13" name="TextBox 12"/>
          <p:cNvSpPr txBox="1"/>
          <p:nvPr/>
        </p:nvSpPr>
        <p:spPr>
          <a:xfrm>
            <a:off x="9810750" y="6372225"/>
            <a:ext cx="7048500" cy="1095375"/>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The industry's highest-frequency customer was a problem to be managed, not a customer to be served.</a:t>
            </a:r>
          </a:p>
        </p:txBody>
      </p:sp>
      <p:sp>
        <p:nvSpPr>
          <p:cNvPr id="14" name="TextBox 13"/>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Every one of those firms had more money, more brand and more distribution than the company about to take that customer away from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NITHIN KAMATH · BANGALORE, LATE 1990S</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He did not have the idea. He knew which complaint was load-bearing.</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Started in college</a:t>
            </a:r>
          </a:p>
        </p:txBody>
      </p:sp>
      <p:sp>
        <p:nvSpPr>
          <p:cNvPr id="6" name="TextBox 5"/>
          <p:cNvSpPr txBox="1"/>
          <p:nvPr/>
        </p:nvSpPr>
        <p:spPr>
          <a:xfrm>
            <a:off x="1047750" y="4724400"/>
            <a:ext cx="5143500" cy="16573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Trading on his own account with borrowed money. Not a finance graduate, not from a business family. Lost money, made it back, lost it again.</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Took a call centre job</a:t>
            </a:r>
          </a:p>
        </p:txBody>
      </p:sp>
      <p:sp>
        <p:nvSpPr>
          <p:cNvPr id="9" name="TextBox 8"/>
          <p:cNvSpPr txBox="1"/>
          <p:nvPr/>
        </p:nvSpPr>
        <p:spPr>
          <a:xfrm>
            <a:off x="65722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To fund the losses, while continuing to trade at night. By his mid-twenties he was managing money for other people.</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A decade as the irritating customer</a:t>
            </a:r>
          </a:p>
        </p:txBody>
      </p:sp>
      <p:sp>
        <p:nvSpPr>
          <p:cNvPr id="12" name="TextBox 11"/>
          <p:cNvSpPr txBox="1"/>
          <p:nvPr/>
        </p:nvSpPr>
        <p:spPr>
          <a:xfrm>
            <a:off x="12096750" y="4724400"/>
            <a:ext cx="5143500" cy="16573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By 2010 he had spent ten years being exactly the kind of customer the industry found annoying. Zerodha was founded in August 2010.</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Run a survey and all seven complaints come back with similar scores. He knew the fee was the only one that compounded.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TWO CUSTOMERS WHO LOOK ALIKE ON A FORM</a:t>
            </a:r>
          </a:p>
        </p:txBody>
      </p:sp>
      <p:sp>
        <p:nvSpPr>
          <p:cNvPr id="3" name="TextBox 2"/>
          <p:cNvSpPr txBox="1"/>
          <p:nvPr/>
        </p:nvSpPr>
        <p:spPr>
          <a:xfrm>
            <a:off x="1047750" y="1504950"/>
            <a:ext cx="16192500" cy="1400175"/>
          </a:xfrm>
          <a:prstGeom prst="rect">
            <a:avLst/>
          </a:prstGeom>
          <a:noFill/>
        </p:spPr>
        <p:txBody>
          <a:bodyPr wrap="square" lIns="0" rIns="0" tIns="0" bIns="0" anchor="t">
            <a:spAutoFit/>
            <a:spAutoFit/>
          </a:bodyPr>
          <a:lstStyle/>
          <a:p>
            <a:pPr algn="l">
              <a:lnSpc>
                <a:spcPct val="98000"/>
              </a:lnSpc>
            </a:pPr>
            <a:r>
              <a:rPr sz="5400" b="1" i="0" spc="-120">
                <a:solidFill>
                  <a:srgbClr val="201914"/>
                </a:solidFill>
                <a:latin typeface="Arial"/>
              </a:rPr>
              <a:t>Zerodha did not pick the biggest segment. It picked one it could win completely.</a:t>
            </a:r>
          </a:p>
        </p:txBody>
      </p:sp>
      <p:sp>
        <p:nvSpPr>
          <p:cNvPr id="4" name="Rectangle 3"/>
          <p:cNvSpPr/>
          <p:nvPr/>
        </p:nvSpPr>
        <p:spPr>
          <a:xfrm>
            <a:off x="1047750" y="3343275"/>
            <a:ext cx="7810500" cy="49053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28750" y="3667125"/>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C35141"/>
                </a:solidFill>
                <a:latin typeface="Arial"/>
              </a:rPr>
              <a:t>THE INCUMBENT'S CUSTOMER</a:t>
            </a:r>
          </a:p>
        </p:txBody>
      </p:sp>
      <p:sp>
        <p:nvSpPr>
          <p:cNvPr id="6" name="TextBox 5"/>
          <p:cNvSpPr txBox="1"/>
          <p:nvPr/>
        </p:nvSpPr>
        <p:spPr>
          <a:xfrm>
            <a:off x="1428750" y="416242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A salaried professional, banking at the same institution.</a:t>
            </a:r>
          </a:p>
        </p:txBody>
      </p:sp>
      <p:sp>
        <p:nvSpPr>
          <p:cNvPr id="7" name="TextBox 6"/>
          <p:cNvSpPr txBox="1"/>
          <p:nvPr/>
        </p:nvSpPr>
        <p:spPr>
          <a:xfrm>
            <a:off x="1428750" y="505777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Invests a few times a year. Wants advice and reassurance.</a:t>
            </a:r>
          </a:p>
        </p:txBody>
      </p:sp>
      <p:sp>
        <p:nvSpPr>
          <p:cNvPr id="8" name="TextBox 7"/>
          <p:cNvSpPr txBox="1"/>
          <p:nvPr/>
        </p:nvSpPr>
        <p:spPr>
          <a:xfrm>
            <a:off x="1428750" y="595312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Values a large brand and a relationship manager.</a:t>
            </a:r>
          </a:p>
        </p:txBody>
      </p:sp>
      <p:sp>
        <p:nvSpPr>
          <p:cNvPr id="9" name="TextBox 8"/>
          <p:cNvSpPr txBox="1"/>
          <p:nvPr/>
        </p:nvSpPr>
        <p:spPr>
          <a:xfrm>
            <a:off x="1428750" y="6848475"/>
            <a:ext cx="7048500" cy="1095375"/>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Never does the arithmetic on brokerage, because the amounts are small relative to how rarely he trades.</a:t>
            </a:r>
          </a:p>
        </p:txBody>
      </p:sp>
      <p:sp>
        <p:nvSpPr>
          <p:cNvPr id="10" name="Rectangle 9"/>
          <p:cNvSpPr/>
          <p:nvPr/>
        </p:nvSpPr>
        <p:spPr>
          <a:xfrm>
            <a:off x="9429750" y="3343275"/>
            <a:ext cx="7810500" cy="49053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10750" y="3667125"/>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EF806F"/>
                </a:solidFill>
                <a:latin typeface="Arial"/>
              </a:rPr>
              <a:t>THE SERIOUS RETAIL TRADER</a:t>
            </a:r>
          </a:p>
        </p:txBody>
      </p:sp>
      <p:sp>
        <p:nvSpPr>
          <p:cNvPr id="12" name="TextBox 11"/>
          <p:cNvSpPr txBox="1"/>
          <p:nvPr/>
        </p:nvSpPr>
        <p:spPr>
          <a:xfrm>
            <a:off x="9810750" y="416242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Late twenties to forties, technically comfortable, self-directed.</a:t>
            </a:r>
          </a:p>
        </p:txBody>
      </p:sp>
      <p:sp>
        <p:nvSpPr>
          <p:cNvPr id="13" name="TextBox 12"/>
          <p:cNvSpPr txBox="1"/>
          <p:nvPr/>
        </p:nvSpPr>
        <p:spPr>
          <a:xfrm>
            <a:off x="9810750" y="505777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Trading as a substantial second income or a main occupation.</a:t>
            </a:r>
          </a:p>
        </p:txBody>
      </p:sp>
      <p:sp>
        <p:nvSpPr>
          <p:cNvPr id="14" name="TextBox 13"/>
          <p:cNvSpPr txBox="1"/>
          <p:nvPr/>
        </p:nvSpPr>
        <p:spPr>
          <a:xfrm>
            <a:off x="9810750" y="595312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Several dozen trades a day, and a margin he can calculate.</a:t>
            </a:r>
          </a:p>
        </p:txBody>
      </p:sp>
      <p:sp>
        <p:nvSpPr>
          <p:cNvPr id="15" name="TextBox 14"/>
          <p:cNvSpPr txBox="1"/>
          <p:nvPr/>
        </p:nvSpPr>
        <p:spPr>
          <a:xfrm>
            <a:off x="9810750" y="684847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Interested in getting better at it, not only in getting rich from it.</a:t>
            </a:r>
          </a:p>
        </p:txBody>
      </p:sp>
      <p:sp>
        <p:nvSpPr>
          <p:cNvPr id="16" name="TextBox 15"/>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Lecture 5 said choosing a customer is also choosing who you will disappoint. Who did Zerodha choose to serve badly — and for how long?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BEFORE I SHOW YOU · DO THIS IN YOUR HEAD</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Same decision. Two customers. Work out what it is worth to each.</a:t>
            </a:r>
          </a:p>
        </p:txBody>
      </p:sp>
      <p:sp>
        <p:nvSpPr>
          <p:cNvPr id="4" name="TextBox 3"/>
          <p:cNvSpPr txBox="1"/>
          <p:nvPr/>
        </p:nvSpPr>
        <p:spPr>
          <a:xfrm>
            <a:off x="1314450" y="3409950"/>
            <a:ext cx="25717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CUSTOMER</a:t>
            </a:r>
          </a:p>
        </p:txBody>
      </p:sp>
      <p:sp>
        <p:nvSpPr>
          <p:cNvPr id="5" name="TextBox 4"/>
          <p:cNvSpPr txBox="1"/>
          <p:nvPr/>
        </p:nvSpPr>
        <p:spPr>
          <a:xfrm>
            <a:off x="4133850" y="3409950"/>
            <a:ext cx="38576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HE TRADES</a:t>
            </a:r>
          </a:p>
        </p:txBody>
      </p:sp>
      <p:sp>
        <p:nvSpPr>
          <p:cNvPr id="6" name="TextBox 5"/>
          <p:cNvSpPr txBox="1"/>
          <p:nvPr/>
        </p:nvSpPr>
        <p:spPr>
          <a:xfrm>
            <a:off x="8239125" y="3409950"/>
            <a:ext cx="27527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UNDER 0.5%</a:t>
            </a:r>
          </a:p>
        </p:txBody>
      </p:sp>
      <p:sp>
        <p:nvSpPr>
          <p:cNvPr id="7" name="TextBox 6"/>
          <p:cNvSpPr txBox="1"/>
          <p:nvPr/>
        </p:nvSpPr>
        <p:spPr>
          <a:xfrm>
            <a:off x="11239500" y="3409950"/>
            <a:ext cx="27527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UNDER FLAT ₹20</a:t>
            </a:r>
          </a:p>
        </p:txBody>
      </p:sp>
      <p:sp>
        <p:nvSpPr>
          <p:cNvPr id="8" name="TextBox 7"/>
          <p:cNvSpPr txBox="1"/>
          <p:nvPr/>
        </p:nvSpPr>
        <p:spPr>
          <a:xfrm>
            <a:off x="14239875" y="3409950"/>
            <a:ext cx="29432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HE SAVES</a:t>
            </a:r>
          </a:p>
        </p:txBody>
      </p:sp>
      <p:sp>
        <p:nvSpPr>
          <p:cNvPr id="9" name="Rectangle 8"/>
          <p:cNvSpPr/>
          <p:nvPr/>
        </p:nvSpPr>
        <p:spPr>
          <a:xfrm>
            <a:off x="1047750" y="40005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4450" y="4724400"/>
            <a:ext cx="2571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The serious trader</a:t>
            </a:r>
          </a:p>
        </p:txBody>
      </p:sp>
      <p:sp>
        <p:nvSpPr>
          <p:cNvPr id="11" name="TextBox 10"/>
          <p:cNvSpPr txBox="1"/>
          <p:nvPr/>
        </p:nvSpPr>
        <p:spPr>
          <a:xfrm>
            <a:off x="4133850" y="4724400"/>
            <a:ext cx="3857625"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15 round trips a day at ₹1 lakh each, 250 days a year</a:t>
            </a:r>
          </a:p>
        </p:txBody>
      </p:sp>
      <p:sp>
        <p:nvSpPr>
          <p:cNvPr id="12" name="TextBox 11"/>
          <p:cNvSpPr txBox="1"/>
          <p:nvPr/>
        </p:nvSpPr>
        <p:spPr>
          <a:xfrm>
            <a:off x="8239125" y="4724400"/>
            <a:ext cx="275272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13" name="TextBox 12"/>
          <p:cNvSpPr txBox="1"/>
          <p:nvPr/>
        </p:nvSpPr>
        <p:spPr>
          <a:xfrm>
            <a:off x="11239500" y="4724400"/>
            <a:ext cx="275272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14" name="TextBox 13"/>
          <p:cNvSpPr txBox="1"/>
          <p:nvPr/>
        </p:nvSpPr>
        <p:spPr>
          <a:xfrm>
            <a:off x="14239875" y="4724400"/>
            <a:ext cx="294322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15" name="Rectangle 14"/>
          <p:cNvSpPr/>
          <p:nvPr/>
        </p:nvSpPr>
        <p:spPr>
          <a:xfrm>
            <a:off x="1047750" y="59150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47750" y="5915025"/>
            <a:ext cx="16192500" cy="180975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4450" y="6534150"/>
            <a:ext cx="2571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The monthly investor</a:t>
            </a:r>
          </a:p>
        </p:txBody>
      </p:sp>
      <p:sp>
        <p:nvSpPr>
          <p:cNvPr id="18" name="TextBox 17"/>
          <p:cNvSpPr txBox="1"/>
          <p:nvPr/>
        </p:nvSpPr>
        <p:spPr>
          <a:xfrm>
            <a:off x="4133850" y="6534150"/>
            <a:ext cx="3857625"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₹5,000 of shares once a month, held for years</a:t>
            </a:r>
          </a:p>
        </p:txBody>
      </p:sp>
      <p:sp>
        <p:nvSpPr>
          <p:cNvPr id="19" name="TextBox 18"/>
          <p:cNvSpPr txBox="1"/>
          <p:nvPr/>
        </p:nvSpPr>
        <p:spPr>
          <a:xfrm>
            <a:off x="8239125" y="6534150"/>
            <a:ext cx="275272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20" name="TextBox 19"/>
          <p:cNvSpPr txBox="1"/>
          <p:nvPr/>
        </p:nvSpPr>
        <p:spPr>
          <a:xfrm>
            <a:off x="11239500" y="6534150"/>
            <a:ext cx="275272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21" name="TextBox 20"/>
          <p:cNvSpPr txBox="1"/>
          <p:nvPr/>
        </p:nvSpPr>
        <p:spPr>
          <a:xfrm>
            <a:off x="14239875" y="6534150"/>
            <a:ext cx="294322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22" name="TextBox 21"/>
          <p:cNvSpPr txBox="1"/>
          <p:nvPr/>
        </p:nvSpPr>
        <p:spPr>
          <a:xfrm>
            <a:off x="1047750" y="8010525"/>
            <a:ext cx="16192500" cy="857250"/>
          </a:xfrm>
          <a:prstGeom prst="rect">
            <a:avLst/>
          </a:prstGeom>
          <a:noFill/>
        </p:spPr>
        <p:txBody>
          <a:bodyPr wrap="square" lIns="0" rIns="0" tIns="0" bIns="0" anchor="t">
            <a:spAutoFit/>
            <a:spAutoFit/>
          </a:bodyPr>
          <a:lstStyle/>
          <a:p>
            <a:pPr algn="l">
              <a:lnSpc>
                <a:spcPct val="118000"/>
              </a:lnSpc>
            </a:pPr>
            <a:r>
              <a:rPr sz="2700" b="0" i="1">
                <a:solidFill>
                  <a:srgbClr val="362C24"/>
                </a:solidFill>
                <a:latin typeface="Georgia"/>
              </a:rPr>
              <a:t>Zerodha charged a maximum of ₹20 per executed order, whatever the size. Equity delivery was made free entirely.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ANSWERS</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Same decision. Two customers. Work out what it is worth to each.</a:t>
            </a:r>
          </a:p>
        </p:txBody>
      </p:sp>
      <p:sp>
        <p:nvSpPr>
          <p:cNvPr id="4" name="TextBox 3"/>
          <p:cNvSpPr txBox="1"/>
          <p:nvPr/>
        </p:nvSpPr>
        <p:spPr>
          <a:xfrm>
            <a:off x="1314450" y="3409950"/>
            <a:ext cx="25717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CUSTOMER</a:t>
            </a:r>
          </a:p>
        </p:txBody>
      </p:sp>
      <p:sp>
        <p:nvSpPr>
          <p:cNvPr id="5" name="TextBox 4"/>
          <p:cNvSpPr txBox="1"/>
          <p:nvPr/>
        </p:nvSpPr>
        <p:spPr>
          <a:xfrm>
            <a:off x="4133850" y="3409950"/>
            <a:ext cx="38576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HE TRADES</a:t>
            </a:r>
          </a:p>
        </p:txBody>
      </p:sp>
      <p:sp>
        <p:nvSpPr>
          <p:cNvPr id="6" name="TextBox 5"/>
          <p:cNvSpPr txBox="1"/>
          <p:nvPr/>
        </p:nvSpPr>
        <p:spPr>
          <a:xfrm>
            <a:off x="8239125" y="3409950"/>
            <a:ext cx="27527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UNDER 0.5%</a:t>
            </a:r>
          </a:p>
        </p:txBody>
      </p:sp>
      <p:sp>
        <p:nvSpPr>
          <p:cNvPr id="7" name="TextBox 6"/>
          <p:cNvSpPr txBox="1"/>
          <p:nvPr/>
        </p:nvSpPr>
        <p:spPr>
          <a:xfrm>
            <a:off x="11239500" y="3409950"/>
            <a:ext cx="27527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UNDER FLAT ₹20</a:t>
            </a:r>
          </a:p>
        </p:txBody>
      </p:sp>
      <p:sp>
        <p:nvSpPr>
          <p:cNvPr id="8" name="TextBox 7"/>
          <p:cNvSpPr txBox="1"/>
          <p:nvPr/>
        </p:nvSpPr>
        <p:spPr>
          <a:xfrm>
            <a:off x="14239875" y="3409950"/>
            <a:ext cx="29432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HE SAVES</a:t>
            </a:r>
          </a:p>
        </p:txBody>
      </p:sp>
      <p:sp>
        <p:nvSpPr>
          <p:cNvPr id="9" name="Rectangle 8"/>
          <p:cNvSpPr/>
          <p:nvPr/>
        </p:nvSpPr>
        <p:spPr>
          <a:xfrm>
            <a:off x="1047750" y="40005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7750" y="4105275"/>
            <a:ext cx="16192500" cy="18097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450" y="4724400"/>
            <a:ext cx="2571750" cy="314325"/>
          </a:xfrm>
          <a:prstGeom prst="rect">
            <a:avLst/>
          </a:prstGeom>
          <a:noFill/>
        </p:spPr>
        <p:txBody>
          <a:bodyPr wrap="square" lIns="0" rIns="0" tIns="0" bIns="0" anchor="t">
            <a:spAutoFit/>
            <a:spAutoFit/>
          </a:bodyPr>
          <a:lstStyle/>
          <a:p>
            <a:pPr algn="l">
              <a:lnSpc>
                <a:spcPct val="113999"/>
              </a:lnSpc>
            </a:pPr>
            <a:r>
              <a:rPr sz="1800" b="1" i="0">
                <a:solidFill>
                  <a:srgbClr val="F5F1E9"/>
                </a:solidFill>
                <a:latin typeface="Arial"/>
              </a:rPr>
              <a:t>The serious trader</a:t>
            </a:r>
          </a:p>
        </p:txBody>
      </p:sp>
      <p:sp>
        <p:nvSpPr>
          <p:cNvPr id="12" name="TextBox 11"/>
          <p:cNvSpPr txBox="1"/>
          <p:nvPr/>
        </p:nvSpPr>
        <p:spPr>
          <a:xfrm>
            <a:off x="4133850" y="4724400"/>
            <a:ext cx="3857625" cy="571500"/>
          </a:xfrm>
          <a:prstGeom prst="rect">
            <a:avLst/>
          </a:prstGeom>
          <a:noFill/>
        </p:spPr>
        <p:txBody>
          <a:bodyPr wrap="square" lIns="0" rIns="0" tIns="0" bIns="0" anchor="t">
            <a:spAutoFit/>
            <a:spAutoFit/>
          </a:bodyPr>
          <a:lstStyle/>
          <a:p>
            <a:pPr algn="l">
              <a:lnSpc>
                <a:spcPct val="113999"/>
              </a:lnSpc>
            </a:pPr>
            <a:r>
              <a:rPr sz="1800" b="0" i="0">
                <a:solidFill>
                  <a:srgbClr val="C1B5AB"/>
                </a:solidFill>
                <a:latin typeface="Arial"/>
              </a:rPr>
              <a:t>15 round trips a day at ₹1 lakh each, 250 days a year</a:t>
            </a:r>
          </a:p>
        </p:txBody>
      </p:sp>
      <p:sp>
        <p:nvSpPr>
          <p:cNvPr id="13" name="TextBox 12"/>
          <p:cNvSpPr txBox="1"/>
          <p:nvPr/>
        </p:nvSpPr>
        <p:spPr>
          <a:xfrm>
            <a:off x="8239125" y="4724400"/>
            <a:ext cx="2752725" cy="314325"/>
          </a:xfrm>
          <a:prstGeom prst="rect">
            <a:avLst/>
          </a:prstGeom>
          <a:noFill/>
        </p:spPr>
        <p:txBody>
          <a:bodyPr wrap="square" lIns="0" rIns="0" tIns="0" bIns="0" anchor="t">
            <a:spAutoFit/>
            <a:spAutoFit/>
          </a:bodyPr>
          <a:lstStyle/>
          <a:p>
            <a:pPr algn="l">
              <a:lnSpc>
                <a:spcPct val="113999"/>
              </a:lnSpc>
            </a:pPr>
            <a:r>
              <a:rPr sz="1800" b="0" i="0">
                <a:solidFill>
                  <a:srgbClr val="C1B5AB"/>
                </a:solidFill>
                <a:latin typeface="Arial"/>
              </a:rPr>
              <a:t>₹15,000 a day</a:t>
            </a:r>
          </a:p>
        </p:txBody>
      </p:sp>
      <p:sp>
        <p:nvSpPr>
          <p:cNvPr id="14" name="TextBox 13"/>
          <p:cNvSpPr txBox="1"/>
          <p:nvPr/>
        </p:nvSpPr>
        <p:spPr>
          <a:xfrm>
            <a:off x="11239500" y="4724400"/>
            <a:ext cx="2752725" cy="314325"/>
          </a:xfrm>
          <a:prstGeom prst="rect">
            <a:avLst/>
          </a:prstGeom>
          <a:noFill/>
        </p:spPr>
        <p:txBody>
          <a:bodyPr wrap="square" lIns="0" rIns="0" tIns="0" bIns="0" anchor="t">
            <a:spAutoFit/>
            <a:spAutoFit/>
          </a:bodyPr>
          <a:lstStyle/>
          <a:p>
            <a:pPr algn="l">
              <a:lnSpc>
                <a:spcPct val="113999"/>
              </a:lnSpc>
            </a:pPr>
            <a:r>
              <a:rPr sz="1800" b="0" i="0">
                <a:solidFill>
                  <a:srgbClr val="C1B5AB"/>
                </a:solidFill>
                <a:latin typeface="Arial"/>
              </a:rPr>
              <a:t>₹600 a day</a:t>
            </a:r>
          </a:p>
        </p:txBody>
      </p:sp>
      <p:sp>
        <p:nvSpPr>
          <p:cNvPr id="15" name="TextBox 14"/>
          <p:cNvSpPr txBox="1"/>
          <p:nvPr/>
        </p:nvSpPr>
        <p:spPr>
          <a:xfrm>
            <a:off x="14239875" y="4724400"/>
            <a:ext cx="2943225" cy="314325"/>
          </a:xfrm>
          <a:prstGeom prst="rect">
            <a:avLst/>
          </a:prstGeom>
          <a:noFill/>
        </p:spPr>
        <p:txBody>
          <a:bodyPr wrap="square" lIns="0" rIns="0" tIns="0" bIns="0" anchor="t">
            <a:spAutoFit/>
            <a:spAutoFit/>
          </a:bodyPr>
          <a:lstStyle/>
          <a:p>
            <a:pPr algn="l">
              <a:lnSpc>
                <a:spcPct val="113999"/>
              </a:lnSpc>
            </a:pPr>
            <a:r>
              <a:rPr sz="1800" b="0" i="0">
                <a:solidFill>
                  <a:srgbClr val="C1B5AB"/>
                </a:solidFill>
                <a:latin typeface="Arial"/>
              </a:rPr>
              <a:t>About ₹36 lakh a year</a:t>
            </a:r>
          </a:p>
        </p:txBody>
      </p:sp>
      <p:sp>
        <p:nvSpPr>
          <p:cNvPr id="16" name="Rectangle 15"/>
          <p:cNvSpPr/>
          <p:nvPr/>
        </p:nvSpPr>
        <p:spPr>
          <a:xfrm>
            <a:off x="1047750" y="59150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47750" y="5915025"/>
            <a:ext cx="16192500" cy="180975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14450" y="6534150"/>
            <a:ext cx="2571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The monthly investor</a:t>
            </a:r>
          </a:p>
        </p:txBody>
      </p:sp>
      <p:sp>
        <p:nvSpPr>
          <p:cNvPr id="19" name="TextBox 18"/>
          <p:cNvSpPr txBox="1"/>
          <p:nvPr/>
        </p:nvSpPr>
        <p:spPr>
          <a:xfrm>
            <a:off x="4133850" y="6534150"/>
            <a:ext cx="3857625"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₹5,000 of shares once a month, held for years</a:t>
            </a:r>
          </a:p>
        </p:txBody>
      </p:sp>
      <p:sp>
        <p:nvSpPr>
          <p:cNvPr id="20" name="TextBox 19"/>
          <p:cNvSpPr txBox="1"/>
          <p:nvPr/>
        </p:nvSpPr>
        <p:spPr>
          <a:xfrm>
            <a:off x="8239125" y="6534150"/>
            <a:ext cx="275272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₹25 a month</a:t>
            </a:r>
          </a:p>
        </p:txBody>
      </p:sp>
      <p:sp>
        <p:nvSpPr>
          <p:cNvPr id="21" name="TextBox 20"/>
          <p:cNvSpPr txBox="1"/>
          <p:nvPr/>
        </p:nvSpPr>
        <p:spPr>
          <a:xfrm>
            <a:off x="11239500" y="6534150"/>
            <a:ext cx="275272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₹20, or nothing at all</a:t>
            </a:r>
          </a:p>
        </p:txBody>
      </p:sp>
      <p:sp>
        <p:nvSpPr>
          <p:cNvPr id="22" name="TextBox 21"/>
          <p:cNvSpPr txBox="1"/>
          <p:nvPr/>
        </p:nvSpPr>
        <p:spPr>
          <a:xfrm>
            <a:off x="14239875" y="6534150"/>
            <a:ext cx="294322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₹25 a month</a:t>
            </a:r>
          </a:p>
        </p:txBody>
      </p:sp>
      <p:sp>
        <p:nvSpPr>
          <p:cNvPr id="23" name="TextBox 22"/>
          <p:cNvSpPr txBox="1"/>
          <p:nvPr/>
        </p:nvSpPr>
        <p:spPr>
          <a:xfrm>
            <a:off x="1047750" y="8010525"/>
            <a:ext cx="16192500" cy="857250"/>
          </a:xfrm>
          <a:prstGeom prst="rect">
            <a:avLst/>
          </a:prstGeom>
          <a:noFill/>
        </p:spPr>
        <p:txBody>
          <a:bodyPr wrap="square" lIns="0" rIns="0" tIns="0" bIns="0" anchor="t">
            <a:spAutoFit/>
            <a:spAutoFit/>
          </a:bodyPr>
          <a:lstStyle/>
          <a:p>
            <a:pPr algn="l">
              <a:lnSpc>
                <a:spcPct val="118000"/>
              </a:lnSpc>
            </a:pPr>
            <a:r>
              <a:rPr sz="2700" b="0" i="1">
                <a:solidFill>
                  <a:srgbClr val="362C24"/>
                </a:solidFill>
                <a:latin typeface="Georgia"/>
              </a:rPr>
              <a:t>There is no marketing budget in India that moves a man off a brand as effectively as showing him that first row once.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WRITE THIS DOWN</a:t>
            </a:r>
          </a:p>
        </p:txBody>
      </p:sp>
      <p:sp>
        <p:nvSpPr>
          <p:cNvPr id="3" name="TextBox 2"/>
          <p:cNvSpPr txBox="1"/>
          <p:nvPr/>
        </p:nvSpPr>
        <p:spPr>
          <a:xfrm>
            <a:off x="1714500" y="4095750"/>
            <a:ext cx="14859000" cy="2486025"/>
          </a:xfrm>
          <a:prstGeom prst="rect">
            <a:avLst/>
          </a:prstGeom>
          <a:noFill/>
        </p:spPr>
        <p:txBody>
          <a:bodyPr wrap="square" lIns="0" rIns="0" tIns="0" bIns="0" anchor="t">
            <a:spAutoFit/>
            <a:spAutoFit/>
          </a:bodyPr>
          <a:lstStyle/>
          <a:p>
            <a:pPr algn="l">
              <a:lnSpc>
                <a:spcPct val="126000"/>
              </a:lnSpc>
            </a:pPr>
            <a:r>
              <a:rPr sz="3800" b="1" i="0">
                <a:solidFill>
                  <a:srgbClr val="F5F1E9"/>
                </a:solidFill>
                <a:latin typeface="Arial"/>
              </a:rPr>
              <a:t>THERE IS NO SUCH THING AS A GOOD PRODUCT.</a:t>
            </a:r>
          </a:p>
          <a:p>
            <a:pPr algn="l">
              <a:lnSpc>
                <a:spcPct val="126000"/>
              </a:lnSpc>
            </a:pPr>
            <a:r>
              <a:rPr sz="3800" b="1" i="0">
                <a:solidFill>
                  <a:srgbClr val="F5F1E9"/>
                </a:solidFill>
                <a:latin typeface="Arial"/>
              </a:rPr>
              <a:t>Only a product that is good for somebody in particular — and the more sharply it is good for them, the more completely it is wasted on everybody else.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ONE DECISION, THREE CONSEQUENCES</a:t>
            </a:r>
          </a:p>
        </p:txBody>
      </p:sp>
      <p:sp>
        <p:nvSpPr>
          <p:cNvPr id="3" name="TextBox 2"/>
          <p:cNvSpPr txBox="1"/>
          <p:nvPr/>
        </p:nvSpPr>
        <p:spPr>
          <a:xfrm>
            <a:off x="1047750" y="1504950"/>
            <a:ext cx="16192500" cy="1400175"/>
          </a:xfrm>
          <a:prstGeom prst="rect">
            <a:avLst/>
          </a:prstGeom>
          <a:noFill/>
        </p:spPr>
        <p:txBody>
          <a:bodyPr wrap="square" lIns="0" rIns="0" tIns="0" bIns="0" anchor="t">
            <a:spAutoFit/>
            <a:spAutoFit/>
          </a:bodyPr>
          <a:lstStyle/>
          <a:p>
            <a:pPr algn="l">
              <a:lnSpc>
                <a:spcPct val="98000"/>
              </a:lnSpc>
            </a:pPr>
            <a:r>
              <a:rPr sz="5400" b="1" i="0" spc="-120">
                <a:solidFill>
                  <a:srgbClr val="201914"/>
                </a:solidFill>
                <a:latin typeface="Arial"/>
              </a:rPr>
              <a:t>A flat fee cannot grow with the customer. So the company had to grow differently.</a:t>
            </a:r>
          </a:p>
        </p:txBody>
      </p:sp>
      <p:sp>
        <p:nvSpPr>
          <p:cNvPr id="4" name="Rectangle 3"/>
          <p:cNvSpPr/>
          <p:nvPr/>
        </p:nvSpPr>
        <p:spPr>
          <a:xfrm>
            <a:off x="1047750" y="33432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657600"/>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A percentage fee grows on its own</a:t>
            </a:r>
          </a:p>
        </p:txBody>
      </p:sp>
      <p:sp>
        <p:nvSpPr>
          <p:cNvPr id="6" name="TextBox 5"/>
          <p:cNvSpPr txBox="1"/>
          <p:nvPr/>
        </p:nvSpPr>
        <p:spPr>
          <a:xfrm>
            <a:off x="1047750" y="4657725"/>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As customers get richer and trade bigger, revenue rises without the company doing anything. That is why nobody wanted to leave it.</a:t>
            </a:r>
          </a:p>
        </p:txBody>
      </p:sp>
      <p:sp>
        <p:nvSpPr>
          <p:cNvPr id="7" name="Rectangle 6"/>
          <p:cNvSpPr/>
          <p:nvPr/>
        </p:nvSpPr>
        <p:spPr>
          <a:xfrm>
            <a:off x="6572250" y="33432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657600"/>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A flat fee does not</a:t>
            </a:r>
          </a:p>
        </p:txBody>
      </p:sp>
      <p:sp>
        <p:nvSpPr>
          <p:cNvPr id="9" name="TextBox 8"/>
          <p:cNvSpPr txBox="1"/>
          <p:nvPr/>
        </p:nvSpPr>
        <p:spPr>
          <a:xfrm>
            <a:off x="6572250" y="4657725"/>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The only way revenue rises is more orders — more customers, or more activity from the ones you have.</a:t>
            </a:r>
          </a:p>
        </p:txBody>
      </p:sp>
      <p:sp>
        <p:nvSpPr>
          <p:cNvPr id="10" name="Rectangle 9"/>
          <p:cNvSpPr/>
          <p:nvPr/>
        </p:nvSpPr>
        <p:spPr>
          <a:xfrm>
            <a:off x="12096750" y="33432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657600"/>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So one number became everything</a:t>
            </a:r>
          </a:p>
        </p:txBody>
      </p:sp>
      <p:sp>
        <p:nvSpPr>
          <p:cNvPr id="12" name="TextBox 11"/>
          <p:cNvSpPr txBox="1"/>
          <p:nvPr/>
        </p:nvSpPr>
        <p:spPr>
          <a:xfrm>
            <a:off x="12096750" y="4657725"/>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How many of our customers are still actually trading? Most brokerages barely tracked it. For Zerodha it was the business.</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A business model produced directly by a pricing decision, which was produced directly by a customer insight.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KITE, COIN AND CONSOLE</a:t>
            </a:r>
          </a:p>
        </p:txBody>
      </p:sp>
      <p:sp>
        <p:nvSpPr>
          <p:cNvPr id="3" name="TextBox 2"/>
          <p:cNvSpPr txBox="1"/>
          <p:nvPr/>
        </p:nvSpPr>
        <p:spPr>
          <a:xfrm>
            <a:off x="1047750" y="1504950"/>
            <a:ext cx="16192500" cy="1400175"/>
          </a:xfrm>
          <a:prstGeom prst="rect">
            <a:avLst/>
          </a:prstGeom>
          <a:noFill/>
        </p:spPr>
        <p:txBody>
          <a:bodyPr wrap="square" lIns="0" rIns="0" tIns="0" bIns="0" anchor="t">
            <a:spAutoFit/>
            <a:spAutoFit/>
          </a:bodyPr>
          <a:lstStyle/>
          <a:p>
            <a:pPr algn="l">
              <a:lnSpc>
                <a:spcPct val="98000"/>
              </a:lnSpc>
            </a:pPr>
            <a:r>
              <a:rPr sz="5400" b="1" i="0" spc="-120">
                <a:solidFill>
                  <a:srgbClr val="201914"/>
                </a:solidFill>
                <a:latin typeface="Arial"/>
              </a:rPr>
              <a:t>Three products, and not one of them came from asking a trader what he wanted</a:t>
            </a:r>
          </a:p>
        </p:txBody>
      </p:sp>
      <p:sp>
        <p:nvSpPr>
          <p:cNvPr id="4" name="Rectangle 3"/>
          <p:cNvSpPr/>
          <p:nvPr/>
        </p:nvSpPr>
        <p:spPr>
          <a:xfrm>
            <a:off x="1047750" y="33432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657600"/>
            <a:ext cx="5143500" cy="438150"/>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Kite</a:t>
            </a:r>
          </a:p>
        </p:txBody>
      </p:sp>
      <p:sp>
        <p:nvSpPr>
          <p:cNvPr id="6" name="TextBox 5"/>
          <p:cNvSpPr txBox="1"/>
          <p:nvPr/>
        </p:nvSpPr>
        <p:spPr>
          <a:xfrm>
            <a:off x="1047750" y="4267200"/>
            <a:ext cx="5143500" cy="23050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Fast, visually plain, loads on a bad connection, keyboard shortcuts for the four actions a trader repeats hundreds of times a day. No advertisements, no news ticker, no research banner, no upsell.</a:t>
            </a:r>
          </a:p>
        </p:txBody>
      </p:sp>
      <p:sp>
        <p:nvSpPr>
          <p:cNvPr id="7" name="Rectangle 6"/>
          <p:cNvSpPr/>
          <p:nvPr/>
        </p:nvSpPr>
        <p:spPr>
          <a:xfrm>
            <a:off x="6572250" y="33432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657600"/>
            <a:ext cx="5143500" cy="438150"/>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Coin</a:t>
            </a:r>
          </a:p>
        </p:txBody>
      </p:sp>
      <p:sp>
        <p:nvSpPr>
          <p:cNvPr id="9" name="TextBox 8"/>
          <p:cNvSpPr txBox="1"/>
          <p:nvPr/>
        </p:nvSpPr>
        <p:spPr>
          <a:xfrm>
            <a:off x="6572250" y="42672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Mutual funds bought directly, without the trailing commission a distributor earned every year for the life of the investment.</a:t>
            </a:r>
          </a:p>
        </p:txBody>
      </p:sp>
      <p:sp>
        <p:nvSpPr>
          <p:cNvPr id="10" name="Rectangle 9"/>
          <p:cNvSpPr/>
          <p:nvPr/>
        </p:nvSpPr>
        <p:spPr>
          <a:xfrm>
            <a:off x="12096750" y="33432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657600"/>
            <a:ext cx="5143500" cy="438150"/>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Console</a:t>
            </a:r>
          </a:p>
        </p:txBody>
      </p:sp>
      <p:sp>
        <p:nvSpPr>
          <p:cNvPr id="12" name="TextBox 11"/>
          <p:cNvSpPr txBox="1"/>
          <p:nvPr/>
        </p:nvSpPr>
        <p:spPr>
          <a:xfrm>
            <a:off x="12096750" y="4267200"/>
            <a:ext cx="5143500" cy="16573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The back office — holdings, profit and loss, and a clear statement of exactly what everything cost you, including Zerodha's own charges.</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Kite is almost entirely subtraction. Everything removed was something a competitor would have called a feature.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WHAT A STRONG INSIGHT ACTUALLY BUYS YOU</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Not the ability to do everything well. The ability to say no quickly.</a:t>
            </a:r>
          </a:p>
        </p:txBody>
      </p:sp>
      <p:sp>
        <p:nvSpPr>
          <p:cNvPr id="4" name="Rectangle 3"/>
          <p:cNvSpPr/>
          <p:nvPr/>
        </p:nvSpPr>
        <p:spPr>
          <a:xfrm>
            <a:off x="1047750"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3762375" cy="6762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No to advice and research calls</a:t>
            </a:r>
          </a:p>
        </p:txBody>
      </p:sp>
      <p:sp>
        <p:nvSpPr>
          <p:cNvPr id="6" name="TextBox 5"/>
          <p:cNvSpPr txBox="1"/>
          <p:nvPr/>
        </p:nvSpPr>
        <p:spPr>
          <a:xfrm>
            <a:off x="1047750" y="4572000"/>
            <a:ext cx="37623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 large revenue line for every competitor, given up entirely.</a:t>
            </a:r>
          </a:p>
        </p:txBody>
      </p:sp>
      <p:sp>
        <p:nvSpPr>
          <p:cNvPr id="7" name="Rectangle 6"/>
          <p:cNvSpPr/>
          <p:nvPr/>
        </p:nvSpPr>
        <p:spPr>
          <a:xfrm>
            <a:off x="5191125"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91125" y="3724275"/>
            <a:ext cx="3762375" cy="6762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No to relationship managers</a:t>
            </a:r>
          </a:p>
        </p:txBody>
      </p:sp>
      <p:sp>
        <p:nvSpPr>
          <p:cNvPr id="9" name="TextBox 8"/>
          <p:cNvSpPr txBox="1"/>
          <p:nvPr/>
        </p:nvSpPr>
        <p:spPr>
          <a:xfrm>
            <a:off x="5191125" y="4572000"/>
            <a:ext cx="3762375" cy="63817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And no commissioned sales force to pay for.</a:t>
            </a:r>
          </a:p>
        </p:txBody>
      </p:sp>
      <p:sp>
        <p:nvSpPr>
          <p:cNvPr id="10" name="Rectangle 9"/>
          <p:cNvSpPr/>
          <p:nvPr/>
        </p:nvSpPr>
        <p:spPr>
          <a:xfrm>
            <a:off x="9334500"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34500" y="3724275"/>
            <a:ext cx="3762375" cy="6762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No to heavy advertising</a:t>
            </a:r>
          </a:p>
        </p:txBody>
      </p:sp>
      <p:sp>
        <p:nvSpPr>
          <p:cNvPr id="12" name="TextBox 11"/>
          <p:cNvSpPr txBox="1"/>
          <p:nvPr/>
        </p:nvSpPr>
        <p:spPr>
          <a:xfrm>
            <a:off x="9334500" y="4572000"/>
            <a:ext cx="37623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In a category where the incumbents spent freely on brand.</a:t>
            </a:r>
          </a:p>
        </p:txBody>
      </p:sp>
      <p:sp>
        <p:nvSpPr>
          <p:cNvPr id="13" name="Rectangle 12"/>
          <p:cNvSpPr/>
          <p:nvPr/>
        </p:nvSpPr>
        <p:spPr>
          <a:xfrm>
            <a:off x="13477875"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77875" y="3724275"/>
            <a:ext cx="3762375" cy="6762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No to being friendly to beginners</a:t>
            </a:r>
          </a:p>
        </p:txBody>
      </p:sp>
      <p:sp>
        <p:nvSpPr>
          <p:cNvPr id="15" name="TextBox 14"/>
          <p:cNvSpPr txBox="1"/>
          <p:nvPr/>
        </p:nvSpPr>
        <p:spPr>
          <a:xfrm>
            <a:off x="13477875" y="4572000"/>
            <a:ext cx="37623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For years. A nervous first-time investor got a bad product, deliberately.</a:t>
            </a:r>
          </a:p>
        </p:txBody>
      </p:sp>
      <p:sp>
        <p:nvSpPr>
          <p:cNvPr id="16" name="TextBox 15"/>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Every refusal cost them customers. Every one was affordable, because they knew exactly which customer they were keeping.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VARSITY · FREE, UNGATED, AND NOT A SALES DOCUMENT</a:t>
            </a:r>
          </a:p>
        </p:txBody>
      </p:sp>
      <p:sp>
        <p:nvSpPr>
          <p:cNvPr id="3" name="TextBox 2"/>
          <p:cNvSpPr txBox="1"/>
          <p:nvPr/>
        </p:nvSpPr>
        <p:spPr>
          <a:xfrm>
            <a:off x="1047750" y="1504950"/>
            <a:ext cx="16192500" cy="1247775"/>
          </a:xfrm>
          <a:prstGeom prst="rect">
            <a:avLst/>
          </a:prstGeom>
          <a:noFill/>
        </p:spPr>
        <p:txBody>
          <a:bodyPr wrap="square" lIns="0" rIns="0" tIns="0" bIns="0" anchor="t">
            <a:spAutoFit/>
            <a:spAutoFit/>
          </a:bodyPr>
          <a:lstStyle/>
          <a:p>
            <a:pPr algn="l">
              <a:lnSpc>
                <a:spcPct val="98000"/>
              </a:lnSpc>
            </a:pPr>
            <a:r>
              <a:rPr sz="4800" b="1" i="0" spc="-120">
                <a:solidFill>
                  <a:srgbClr val="201914"/>
                </a:solidFill>
                <a:latin typeface="Arial"/>
              </a:rPr>
              <a:t>The fee addressed what he was running from. Varsity addressed what he was running towards.</a:t>
            </a:r>
          </a:p>
        </p:txBody>
      </p:sp>
      <p:sp>
        <p:nvSpPr>
          <p:cNvPr id="4" name="Rectangle 3"/>
          <p:cNvSpPr/>
          <p:nvPr/>
        </p:nvSpPr>
        <p:spPr>
          <a:xfrm>
            <a:off x="1047750" y="3190875"/>
            <a:ext cx="7810500" cy="50577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28750" y="3514725"/>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C35141"/>
                </a:solidFill>
                <a:latin typeface="Arial"/>
              </a:rPr>
              <a:t>WHAT IT IS</a:t>
            </a:r>
          </a:p>
        </p:txBody>
      </p:sp>
      <p:sp>
        <p:nvSpPr>
          <p:cNvPr id="6" name="TextBox 5"/>
          <p:cNvSpPr txBox="1"/>
          <p:nvPr/>
        </p:nvSpPr>
        <p:spPr>
          <a:xfrm>
            <a:off x="1428750" y="401002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A long, structured, genuinely well-written library on markets, trading and investing.</a:t>
            </a:r>
          </a:p>
        </p:txBody>
      </p:sp>
      <p:sp>
        <p:nvSpPr>
          <p:cNvPr id="7" name="TextBox 6"/>
          <p:cNvSpPr txBox="1"/>
          <p:nvPr/>
        </p:nvSpPr>
        <p:spPr>
          <a:xfrm>
            <a:off x="1428750" y="490537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Free, with no account required to read it. Later in Hindi and other Indian languages.</a:t>
            </a:r>
          </a:p>
        </p:txBody>
      </p:sp>
      <p:sp>
        <p:nvSpPr>
          <p:cNvPr id="8" name="TextBox 7"/>
          <p:cNvSpPr txBox="1"/>
          <p:nvPr/>
        </p:nvSpPr>
        <p:spPr>
          <a:xfrm>
            <a:off x="1428750" y="580072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For years it was better than anything the paid education market was selling.</a:t>
            </a:r>
          </a:p>
        </p:txBody>
      </p:sp>
      <p:sp>
        <p:nvSpPr>
          <p:cNvPr id="9" name="Rectangle 8"/>
          <p:cNvSpPr/>
          <p:nvPr/>
        </p:nvSpPr>
        <p:spPr>
          <a:xfrm>
            <a:off x="9429750" y="3190875"/>
            <a:ext cx="7810500" cy="50577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0750" y="3514725"/>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EF806F"/>
                </a:solidFill>
                <a:latin typeface="Arial"/>
              </a:rPr>
              <a:t>WHAT IT IS NOT</a:t>
            </a:r>
          </a:p>
        </p:txBody>
      </p:sp>
      <p:sp>
        <p:nvSpPr>
          <p:cNvPr id="11" name="TextBox 10"/>
          <p:cNvSpPr txBox="1"/>
          <p:nvPr/>
        </p:nvSpPr>
        <p:spPr>
          <a:xfrm>
            <a:off x="9810750" y="401002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Not a paid course. Not gated behind an account.</a:t>
            </a:r>
          </a:p>
        </p:txBody>
      </p:sp>
      <p:sp>
        <p:nvSpPr>
          <p:cNvPr id="12" name="TextBox 11"/>
          <p:cNvSpPr txBox="1"/>
          <p:nvPr/>
        </p:nvSpPr>
        <p:spPr>
          <a:xfrm>
            <a:off x="9810750" y="490537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It does not push Zerodha products in its text.</a:t>
            </a:r>
          </a:p>
        </p:txBody>
      </p:sp>
      <p:sp>
        <p:nvSpPr>
          <p:cNvPr id="13" name="TextBox 12"/>
          <p:cNvSpPr txBox="1"/>
          <p:nvPr/>
        </p:nvSpPr>
        <p:spPr>
          <a:xfrm>
            <a:off x="9810750" y="5800725"/>
            <a:ext cx="7048500" cy="1438275"/>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Each of those would have raised short-term returns, and converted material the customer trusts into material the customer discounts.</a:t>
            </a:r>
          </a:p>
        </p:txBody>
      </p:sp>
      <p:sp>
        <p:nvSpPr>
          <p:cNvPr id="14" name="TextBox 13"/>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Products built on pain create urgency and weak loyalty. Products built on aspiration create almost no urgency and loyalty that is very hard to copy.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FY24 · READ THESE AS ONE SENTENCE</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They beat four banks without raising money, and kept more than half of it.</a:t>
            </a:r>
          </a:p>
        </p:txBody>
      </p:sp>
      <p:sp>
        <p:nvSpPr>
          <p:cNvPr id="4" name="Rectangle 3"/>
          <p:cNvSpPr/>
          <p:nvPr/>
        </p:nvSpPr>
        <p:spPr>
          <a:xfrm>
            <a:off x="1047750" y="3409950"/>
            <a:ext cx="3762375"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790950"/>
            <a:ext cx="2924175" cy="800100"/>
          </a:xfrm>
          <a:prstGeom prst="rect">
            <a:avLst/>
          </a:prstGeom>
          <a:noFill/>
        </p:spPr>
        <p:txBody>
          <a:bodyPr wrap="square" lIns="0" rIns="0" tIns="0" bIns="0" anchor="t">
            <a:spAutoFit/>
            <a:spAutoFit/>
          </a:bodyPr>
          <a:lstStyle/>
          <a:p>
            <a:pPr algn="l">
              <a:lnSpc>
                <a:spcPct val="98000"/>
              </a:lnSpc>
            </a:pPr>
            <a:r>
              <a:rPr sz="6000" b="1" i="0">
                <a:solidFill>
                  <a:srgbClr val="201914"/>
                </a:solidFill>
                <a:latin typeface="Arial"/>
              </a:rPr>
              <a:t>₹8,320</a:t>
            </a:r>
          </a:p>
        </p:txBody>
      </p:sp>
      <p:sp>
        <p:nvSpPr>
          <p:cNvPr id="6" name="TextBox 5"/>
          <p:cNvSpPr txBox="1"/>
          <p:nvPr/>
        </p:nvSpPr>
        <p:spPr>
          <a:xfrm>
            <a:off x="1466850" y="4600575"/>
            <a:ext cx="2924175" cy="685800"/>
          </a:xfrm>
          <a:prstGeom prst="rect">
            <a:avLst/>
          </a:prstGeom>
          <a:noFill/>
        </p:spPr>
        <p:txBody>
          <a:bodyPr wrap="square" lIns="0" rIns="0" tIns="0" bIns="0" anchor="t">
            <a:spAutoFit/>
            <a:spAutoFit/>
          </a:bodyPr>
          <a:lstStyle/>
          <a:p>
            <a:pPr algn="l">
              <a:lnSpc>
                <a:spcPct val="104000"/>
              </a:lnSpc>
            </a:pPr>
            <a:r>
              <a:rPr sz="2400" b="1" i="0">
                <a:solidFill>
                  <a:srgbClr val="201914"/>
                </a:solidFill>
                <a:latin typeface="Arial"/>
              </a:rPr>
              <a:t>crore revenue</a:t>
            </a:r>
          </a:p>
        </p:txBody>
      </p:sp>
      <p:sp>
        <p:nvSpPr>
          <p:cNvPr id="7" name="TextBox 6"/>
          <p:cNvSpPr txBox="1"/>
          <p:nvPr/>
        </p:nvSpPr>
        <p:spPr>
          <a:xfrm>
            <a:off x="1466850" y="5495925"/>
            <a:ext cx="2924175" cy="152400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Against incumbents with more capital, more brand, more branches and more customers.</a:t>
            </a:r>
          </a:p>
        </p:txBody>
      </p:sp>
      <p:sp>
        <p:nvSpPr>
          <p:cNvPr id="8" name="Rectangle 7"/>
          <p:cNvSpPr/>
          <p:nvPr/>
        </p:nvSpPr>
        <p:spPr>
          <a:xfrm>
            <a:off x="5191125" y="3409950"/>
            <a:ext cx="3762375"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0225" y="3790950"/>
            <a:ext cx="2924175" cy="800100"/>
          </a:xfrm>
          <a:prstGeom prst="rect">
            <a:avLst/>
          </a:prstGeom>
          <a:noFill/>
        </p:spPr>
        <p:txBody>
          <a:bodyPr wrap="square" lIns="0" rIns="0" tIns="0" bIns="0" anchor="t">
            <a:spAutoFit/>
            <a:spAutoFit/>
          </a:bodyPr>
          <a:lstStyle/>
          <a:p>
            <a:pPr algn="l">
              <a:lnSpc>
                <a:spcPct val="98000"/>
              </a:lnSpc>
            </a:pPr>
            <a:r>
              <a:rPr sz="6000" b="1" i="0">
                <a:solidFill>
                  <a:srgbClr val="201914"/>
                </a:solidFill>
                <a:latin typeface="Arial"/>
              </a:rPr>
              <a:t>₹4,700</a:t>
            </a:r>
          </a:p>
        </p:txBody>
      </p:sp>
      <p:sp>
        <p:nvSpPr>
          <p:cNvPr id="10" name="TextBox 9"/>
          <p:cNvSpPr txBox="1"/>
          <p:nvPr/>
        </p:nvSpPr>
        <p:spPr>
          <a:xfrm>
            <a:off x="5610225" y="4600575"/>
            <a:ext cx="2924175" cy="685800"/>
          </a:xfrm>
          <a:prstGeom prst="rect">
            <a:avLst/>
          </a:prstGeom>
          <a:noFill/>
        </p:spPr>
        <p:txBody>
          <a:bodyPr wrap="square" lIns="0" rIns="0" tIns="0" bIns="0" anchor="t">
            <a:spAutoFit/>
            <a:spAutoFit/>
          </a:bodyPr>
          <a:lstStyle/>
          <a:p>
            <a:pPr algn="l">
              <a:lnSpc>
                <a:spcPct val="104000"/>
              </a:lnSpc>
            </a:pPr>
            <a:r>
              <a:rPr sz="2400" b="1" i="0">
                <a:solidFill>
                  <a:srgbClr val="201914"/>
                </a:solidFill>
                <a:latin typeface="Arial"/>
              </a:rPr>
              <a:t>crore profit after tax</a:t>
            </a:r>
          </a:p>
        </p:txBody>
      </p:sp>
      <p:sp>
        <p:nvSpPr>
          <p:cNvPr id="11" name="TextBox 10"/>
          <p:cNvSpPr txBox="1"/>
          <p:nvPr/>
        </p:nvSpPr>
        <p:spPr>
          <a:xfrm>
            <a:off x="5610225" y="5495925"/>
            <a:ext cx="2924175" cy="152400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Up about 61% on the previous year. Roughly 7.5 million active clients on the NSE.</a:t>
            </a:r>
          </a:p>
        </p:txBody>
      </p:sp>
      <p:sp>
        <p:nvSpPr>
          <p:cNvPr id="12" name="Rectangle 11"/>
          <p:cNvSpPr/>
          <p:nvPr/>
        </p:nvSpPr>
        <p:spPr>
          <a:xfrm>
            <a:off x="9334500" y="3409950"/>
            <a:ext cx="3762375"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53600" y="3790950"/>
            <a:ext cx="2924175" cy="800100"/>
          </a:xfrm>
          <a:prstGeom prst="rect">
            <a:avLst/>
          </a:prstGeom>
          <a:noFill/>
        </p:spPr>
        <p:txBody>
          <a:bodyPr wrap="square" lIns="0" rIns="0" tIns="0" bIns="0" anchor="t">
            <a:spAutoFit/>
            <a:spAutoFit/>
          </a:bodyPr>
          <a:lstStyle/>
          <a:p>
            <a:pPr algn="l">
              <a:lnSpc>
                <a:spcPct val="98000"/>
              </a:lnSpc>
            </a:pPr>
            <a:r>
              <a:rPr sz="6000" b="1" i="0">
                <a:solidFill>
                  <a:srgbClr val="201914"/>
                </a:solidFill>
                <a:latin typeface="Arial"/>
              </a:rPr>
              <a:t>~56%</a:t>
            </a:r>
          </a:p>
        </p:txBody>
      </p:sp>
      <p:sp>
        <p:nvSpPr>
          <p:cNvPr id="14" name="TextBox 13"/>
          <p:cNvSpPr txBox="1"/>
          <p:nvPr/>
        </p:nvSpPr>
        <p:spPr>
          <a:xfrm>
            <a:off x="9753600" y="4600575"/>
            <a:ext cx="2924175" cy="685800"/>
          </a:xfrm>
          <a:prstGeom prst="rect">
            <a:avLst/>
          </a:prstGeom>
          <a:noFill/>
        </p:spPr>
        <p:txBody>
          <a:bodyPr wrap="square" lIns="0" rIns="0" tIns="0" bIns="0" anchor="t">
            <a:spAutoFit/>
            <a:spAutoFit/>
          </a:bodyPr>
          <a:lstStyle/>
          <a:p>
            <a:pPr algn="l">
              <a:lnSpc>
                <a:spcPct val="104000"/>
              </a:lnSpc>
            </a:pPr>
            <a:r>
              <a:rPr sz="2400" b="1" i="0">
                <a:solidFill>
                  <a:srgbClr val="201914"/>
                </a:solidFill>
                <a:latin typeface="Arial"/>
              </a:rPr>
              <a:t>net margin</a:t>
            </a:r>
          </a:p>
        </p:txBody>
      </p:sp>
      <p:sp>
        <p:nvSpPr>
          <p:cNvPr id="15" name="TextBox 14"/>
          <p:cNvSpPr txBox="1"/>
          <p:nvPr/>
        </p:nvSpPr>
        <p:spPr>
          <a:xfrm>
            <a:off x="9753600" y="5495925"/>
            <a:ext cx="2924175" cy="152400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 good, well-run Indian consumer business keeps ₹8 to ₹12 out of every ₹100.</a:t>
            </a:r>
          </a:p>
        </p:txBody>
      </p:sp>
      <p:sp>
        <p:nvSpPr>
          <p:cNvPr id="16" name="Rectangle 15"/>
          <p:cNvSpPr/>
          <p:nvPr/>
        </p:nvSpPr>
        <p:spPr>
          <a:xfrm>
            <a:off x="13477875" y="3409950"/>
            <a:ext cx="3762375" cy="4572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896975" y="3790950"/>
            <a:ext cx="2924175" cy="800100"/>
          </a:xfrm>
          <a:prstGeom prst="rect">
            <a:avLst/>
          </a:prstGeom>
          <a:noFill/>
        </p:spPr>
        <p:txBody>
          <a:bodyPr wrap="square" lIns="0" rIns="0" tIns="0" bIns="0" anchor="t">
            <a:spAutoFit/>
            <a:spAutoFit/>
          </a:bodyPr>
          <a:lstStyle/>
          <a:p>
            <a:pPr algn="l">
              <a:lnSpc>
                <a:spcPct val="98000"/>
              </a:lnSpc>
            </a:pPr>
            <a:r>
              <a:rPr sz="6000" b="1" i="0">
                <a:solidFill>
                  <a:srgbClr val="F5F1E9"/>
                </a:solidFill>
                <a:latin typeface="Arial"/>
              </a:rPr>
              <a:t>₹0</a:t>
            </a:r>
          </a:p>
        </p:txBody>
      </p:sp>
      <p:sp>
        <p:nvSpPr>
          <p:cNvPr id="18" name="TextBox 17"/>
          <p:cNvSpPr txBox="1"/>
          <p:nvPr/>
        </p:nvSpPr>
        <p:spPr>
          <a:xfrm>
            <a:off x="13896975" y="4600575"/>
            <a:ext cx="2924175" cy="685800"/>
          </a:xfrm>
          <a:prstGeom prst="rect">
            <a:avLst/>
          </a:prstGeom>
          <a:noFill/>
        </p:spPr>
        <p:txBody>
          <a:bodyPr wrap="square" lIns="0" rIns="0" tIns="0" bIns="0" anchor="t">
            <a:spAutoFit/>
            <a:spAutoFit/>
          </a:bodyPr>
          <a:lstStyle/>
          <a:p>
            <a:pPr algn="l">
              <a:lnSpc>
                <a:spcPct val="104000"/>
              </a:lnSpc>
            </a:pPr>
            <a:r>
              <a:rPr sz="2400" b="1" i="0">
                <a:solidFill>
                  <a:srgbClr val="F5F1E9"/>
                </a:solidFill>
                <a:latin typeface="Arial"/>
              </a:rPr>
              <a:t>raised, ever</a:t>
            </a:r>
          </a:p>
        </p:txBody>
      </p:sp>
      <p:sp>
        <p:nvSpPr>
          <p:cNvPr id="19" name="TextBox 18"/>
          <p:cNvSpPr txBox="1"/>
          <p:nvPr/>
        </p:nvSpPr>
        <p:spPr>
          <a:xfrm>
            <a:off x="13896975" y="5495925"/>
            <a:ext cx="2924175" cy="1228725"/>
          </a:xfrm>
          <a:prstGeom prst="rect">
            <a:avLst/>
          </a:prstGeom>
          <a:noFill/>
        </p:spPr>
        <p:txBody>
          <a:bodyPr wrap="square" lIns="0" rIns="0" tIns="0" bIns="0" anchor="t">
            <a:spAutoFit/>
            <a:spAutoFit/>
          </a:bodyPr>
          <a:lstStyle/>
          <a:p>
            <a:pPr algn="l">
              <a:lnSpc>
                <a:spcPct val="110000"/>
              </a:lnSpc>
            </a:pPr>
            <a:r>
              <a:rPr sz="2100" b="0" i="0">
                <a:solidFill>
                  <a:srgbClr val="F5F1E9"/>
                </a:solidFill>
                <a:latin typeface="Arial"/>
              </a:rPr>
              <a:t>No venture capital in 2010, none since. Still owned by the family.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FY25 · THE PART THAT MAKES THIS A CASE AND NOT A HAGIOGRAPHY</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Revenue and profit both fell. It had nothing to do with a competitor.</a:t>
            </a:r>
          </a:p>
        </p:txBody>
      </p:sp>
      <p:sp>
        <p:nvSpPr>
          <p:cNvPr id="4" name="Rectangle 3"/>
          <p:cNvSpPr/>
          <p:nvPr/>
        </p:nvSpPr>
        <p:spPr>
          <a:xfrm>
            <a:off x="1047750" y="3409950"/>
            <a:ext cx="7810500" cy="50292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28750" y="37338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C35141"/>
                </a:solidFill>
                <a:latin typeface="Arial"/>
              </a:rPr>
              <a:t>WHAT HAPPENED</a:t>
            </a:r>
          </a:p>
        </p:txBody>
      </p:sp>
      <p:sp>
        <p:nvSpPr>
          <p:cNvPr id="6" name="TextBox 5"/>
          <p:cNvSpPr txBox="1"/>
          <p:nvPr/>
        </p:nvSpPr>
        <p:spPr>
          <a:xfrm>
            <a:off x="1428750" y="4229100"/>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Profit came down to roughly ₹4,240 crore — the company's first decline.</a:t>
            </a:r>
          </a:p>
        </p:txBody>
      </p:sp>
      <p:sp>
        <p:nvSpPr>
          <p:cNvPr id="7" name="TextBox 6"/>
          <p:cNvSpPr txBox="1"/>
          <p:nvPr/>
        </p:nvSpPr>
        <p:spPr>
          <a:xfrm>
            <a:off x="1428750" y="5124450"/>
            <a:ext cx="7048500" cy="1438275"/>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SEBI introduced measures on index derivatives, along with changes to transaction taxes and to how brokers may charge.</a:t>
            </a:r>
          </a:p>
        </p:txBody>
      </p:sp>
      <p:sp>
        <p:nvSpPr>
          <p:cNvPr id="8" name="TextBox 7"/>
          <p:cNvSpPr txBox="1"/>
          <p:nvPr/>
        </p:nvSpPr>
        <p:spPr>
          <a:xfrm>
            <a:off x="1428750" y="671512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Volumes in the segment producing much of the revenue fell sharply.</a:t>
            </a:r>
          </a:p>
        </p:txBody>
      </p:sp>
      <p:sp>
        <p:nvSpPr>
          <p:cNvPr id="9" name="Rectangle 8"/>
          <p:cNvSpPr/>
          <p:nvPr/>
        </p:nvSpPr>
        <p:spPr>
          <a:xfrm>
            <a:off x="9429750" y="3409950"/>
            <a:ext cx="7810500" cy="50292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0750" y="37338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EF806F"/>
                </a:solidFill>
                <a:latin typeface="Arial"/>
              </a:rPr>
              <a:t>WHAT IT WAS NOT</a:t>
            </a:r>
          </a:p>
        </p:txBody>
      </p:sp>
      <p:sp>
        <p:nvSpPr>
          <p:cNvPr id="11" name="TextBox 10"/>
          <p:cNvSpPr txBox="1"/>
          <p:nvPr/>
        </p:nvSpPr>
        <p:spPr>
          <a:xfrm>
            <a:off x="9810750" y="4229100"/>
            <a:ext cx="7048500" cy="4000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Not a competitor taking customers.</a:t>
            </a:r>
          </a:p>
        </p:txBody>
      </p:sp>
      <p:sp>
        <p:nvSpPr>
          <p:cNvPr id="12" name="TextBox 11"/>
          <p:cNvSpPr txBox="1"/>
          <p:nvPr/>
        </p:nvSpPr>
        <p:spPr>
          <a:xfrm>
            <a:off x="9810750" y="4781550"/>
            <a:ext cx="7048500" cy="4000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Not a failure of customer understanding.</a:t>
            </a:r>
          </a:p>
        </p:txBody>
      </p:sp>
      <p:sp>
        <p:nvSpPr>
          <p:cNvPr id="13" name="TextBox 12"/>
          <p:cNvSpPr txBox="1"/>
          <p:nvPr/>
        </p:nvSpPr>
        <p:spPr>
          <a:xfrm>
            <a:off x="9810750" y="5334000"/>
            <a:ext cx="7048500" cy="179070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Kamath had warned about it publicly for over a year and had started building revenue away from derivatives — margin funding, mutual funds, insurance, lending against securities.</a:t>
            </a:r>
          </a:p>
        </p:txBody>
      </p:sp>
      <p:sp>
        <p:nvSpPr>
          <p:cNvPr id="14" name="TextBox 13"/>
          <p:cNvSpPr txBox="1"/>
          <p:nvPr/>
        </p:nvSpPr>
        <p:spPr>
          <a:xfrm>
            <a:off x="1047750" y="8820150"/>
            <a:ext cx="16192500" cy="504825"/>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A company can be entirely right about its customer and still lose a year.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FIFTEEN LECTURES, ONE COMPANY · PART ONE</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Find where each one appears. Lectures 1 to 8.</a:t>
            </a:r>
          </a:p>
        </p:txBody>
      </p:sp>
      <p:sp>
        <p:nvSpPr>
          <p:cNvPr id="4" name="TextBox 3"/>
          <p:cNvSpPr txBox="1"/>
          <p:nvPr/>
        </p:nvSpPr>
        <p:spPr>
          <a:xfrm>
            <a:off x="1314450" y="3409950"/>
            <a:ext cx="44767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CONCEPT</a:t>
            </a:r>
          </a:p>
        </p:txBody>
      </p:sp>
      <p:sp>
        <p:nvSpPr>
          <p:cNvPr id="5" name="TextBox 4"/>
          <p:cNvSpPr txBox="1"/>
          <p:nvPr/>
        </p:nvSpPr>
        <p:spPr>
          <a:xfrm>
            <a:off x="6038850" y="3409950"/>
            <a:ext cx="109537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WHERE IT SHOWS UP IN ZERODHA</a:t>
            </a:r>
          </a:p>
        </p:txBody>
      </p:sp>
      <p:sp>
        <p:nvSpPr>
          <p:cNvPr id="6" name="Rectangle 5"/>
          <p:cNvSpPr/>
          <p:nvPr/>
        </p:nvSpPr>
        <p:spPr>
          <a:xfrm>
            <a:off x="1047750" y="40005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4450" y="4200525"/>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The Gap Model (L1)</a:t>
            </a:r>
          </a:p>
        </p:txBody>
      </p:sp>
      <p:sp>
        <p:nvSpPr>
          <p:cNvPr id="8" name="TextBox 7"/>
          <p:cNvSpPr txBox="1"/>
          <p:nvPr/>
        </p:nvSpPr>
        <p:spPr>
          <a:xfrm>
            <a:off x="6038850" y="4200525"/>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9" name="Rectangle 8"/>
          <p:cNvSpPr/>
          <p:nvPr/>
        </p:nvSpPr>
        <p:spPr>
          <a:xfrm>
            <a:off x="1047750" y="47815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7750" y="4781550"/>
            <a:ext cx="16192500" cy="6762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450" y="4876800"/>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Value vs price (L2)</a:t>
            </a:r>
          </a:p>
        </p:txBody>
      </p:sp>
      <p:sp>
        <p:nvSpPr>
          <p:cNvPr id="12" name="TextBox 11"/>
          <p:cNvSpPr txBox="1"/>
          <p:nvPr/>
        </p:nvSpPr>
        <p:spPr>
          <a:xfrm>
            <a:off x="6038850" y="4876800"/>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13" name="Rectangle 12"/>
          <p:cNvSpPr/>
          <p:nvPr/>
        </p:nvSpPr>
        <p:spPr>
          <a:xfrm>
            <a:off x="1047750" y="54578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4450" y="5553075"/>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Problem-first (L3)</a:t>
            </a:r>
          </a:p>
        </p:txBody>
      </p:sp>
      <p:sp>
        <p:nvSpPr>
          <p:cNvPr id="15" name="TextBox 14"/>
          <p:cNvSpPr txBox="1"/>
          <p:nvPr/>
        </p:nvSpPr>
        <p:spPr>
          <a:xfrm>
            <a:off x="6038850" y="5553075"/>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16" name="Rectangle 15"/>
          <p:cNvSpPr/>
          <p:nvPr/>
        </p:nvSpPr>
        <p:spPr>
          <a:xfrm>
            <a:off x="1047750" y="61341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47750" y="6134100"/>
            <a:ext cx="16192500" cy="6762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14450" y="6229350"/>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Customer centricity (L4)</a:t>
            </a:r>
          </a:p>
        </p:txBody>
      </p:sp>
      <p:sp>
        <p:nvSpPr>
          <p:cNvPr id="19" name="TextBox 18"/>
          <p:cNvSpPr txBox="1"/>
          <p:nvPr/>
        </p:nvSpPr>
        <p:spPr>
          <a:xfrm>
            <a:off x="6038850" y="6229350"/>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20" name="Rectangle 19"/>
          <p:cNvSpPr/>
          <p:nvPr/>
        </p:nvSpPr>
        <p:spPr>
          <a:xfrm>
            <a:off x="1047750" y="68103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14450" y="6905625"/>
            <a:ext cx="4476750" cy="571500"/>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Segmentation and beachhead (L5, L9)</a:t>
            </a:r>
          </a:p>
        </p:txBody>
      </p:sp>
      <p:sp>
        <p:nvSpPr>
          <p:cNvPr id="22" name="TextBox 21"/>
          <p:cNvSpPr txBox="1"/>
          <p:nvPr/>
        </p:nvSpPr>
        <p:spPr>
          <a:xfrm>
            <a:off x="6038850" y="6905625"/>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23" name="Rectangle 22"/>
          <p:cNvSpPr/>
          <p:nvPr/>
        </p:nvSpPr>
        <p:spPr>
          <a:xfrm>
            <a:off x="1047750" y="75819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47750" y="7581900"/>
            <a:ext cx="16192500" cy="6762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14450" y="7677150"/>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Market sizing (L6)</a:t>
            </a:r>
          </a:p>
        </p:txBody>
      </p:sp>
      <p:sp>
        <p:nvSpPr>
          <p:cNvPr id="26" name="TextBox 25"/>
          <p:cNvSpPr txBox="1"/>
          <p:nvPr/>
        </p:nvSpPr>
        <p:spPr>
          <a:xfrm>
            <a:off x="6038850" y="7677150"/>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27" name="Rectangle 26"/>
          <p:cNvSpPr/>
          <p:nvPr/>
        </p:nvSpPr>
        <p:spPr>
          <a:xfrm>
            <a:off x="1047750" y="82581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14450" y="8353425"/>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Stated vs latent (L7)</a:t>
            </a:r>
          </a:p>
        </p:txBody>
      </p:sp>
      <p:sp>
        <p:nvSpPr>
          <p:cNvPr id="29" name="TextBox 28"/>
          <p:cNvSpPr txBox="1"/>
          <p:nvPr/>
        </p:nvSpPr>
        <p:spPr>
          <a:xfrm>
            <a:off x="6038850" y="8353425"/>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30" name="Rectangle 29"/>
          <p:cNvSpPr/>
          <p:nvPr/>
        </p:nvSpPr>
        <p:spPr>
          <a:xfrm>
            <a:off x="1047750" y="89344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7750" y="8934450"/>
            <a:ext cx="16192500" cy="6762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14450" y="9029700"/>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Jobs to be Done (L8)</a:t>
            </a:r>
          </a:p>
        </p:txBody>
      </p:sp>
      <p:sp>
        <p:nvSpPr>
          <p:cNvPr id="33" name="TextBox 32"/>
          <p:cNvSpPr txBox="1"/>
          <p:nvPr/>
        </p:nvSpPr>
        <p:spPr>
          <a:xfrm>
            <a:off x="6038850" y="9029700"/>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ANSWERS · PART ONE</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Find where each one appears. Lectures 1 to 8.</a:t>
            </a:r>
          </a:p>
        </p:txBody>
      </p:sp>
      <p:sp>
        <p:nvSpPr>
          <p:cNvPr id="4" name="TextBox 3"/>
          <p:cNvSpPr txBox="1"/>
          <p:nvPr/>
        </p:nvSpPr>
        <p:spPr>
          <a:xfrm>
            <a:off x="1314450" y="3409950"/>
            <a:ext cx="44767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CONCEPT</a:t>
            </a:r>
          </a:p>
        </p:txBody>
      </p:sp>
      <p:sp>
        <p:nvSpPr>
          <p:cNvPr id="5" name="TextBox 4"/>
          <p:cNvSpPr txBox="1"/>
          <p:nvPr/>
        </p:nvSpPr>
        <p:spPr>
          <a:xfrm>
            <a:off x="6038850" y="3409950"/>
            <a:ext cx="109537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WHERE IT SHOWS UP IN ZERODHA</a:t>
            </a:r>
          </a:p>
        </p:txBody>
      </p:sp>
      <p:sp>
        <p:nvSpPr>
          <p:cNvPr id="6" name="Rectangle 5"/>
          <p:cNvSpPr/>
          <p:nvPr/>
        </p:nvSpPr>
        <p:spPr>
          <a:xfrm>
            <a:off x="1047750" y="40005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4450" y="4200525"/>
            <a:ext cx="4476750" cy="285750"/>
          </a:xfrm>
          <a:prstGeom prst="rect">
            <a:avLst/>
          </a:prstGeom>
          <a:noFill/>
        </p:spPr>
        <p:txBody>
          <a:bodyPr wrap="square" lIns="0" rIns="0" tIns="0" bIns="0" anchor="t">
            <a:spAutoFit/>
            <a:spAutoFit/>
          </a:bodyPr>
          <a:lstStyle/>
          <a:p>
            <a:pPr algn="l">
              <a:lnSpc>
                <a:spcPct val="113999"/>
              </a:lnSpc>
            </a:pPr>
            <a:r>
              <a:rPr sz="1600" b="1" i="0">
                <a:solidFill>
                  <a:srgbClr val="201914"/>
                </a:solidFill>
                <a:latin typeface="Arial"/>
              </a:rPr>
              <a:t>The Gap Model (L1)</a:t>
            </a:r>
          </a:p>
        </p:txBody>
      </p:sp>
      <p:sp>
        <p:nvSpPr>
          <p:cNvPr id="8" name="TextBox 7"/>
          <p:cNvSpPr txBox="1"/>
          <p:nvPr/>
        </p:nvSpPr>
        <p:spPr>
          <a:xfrm>
            <a:off x="6038850" y="4200525"/>
            <a:ext cx="10953750" cy="285750"/>
          </a:xfrm>
          <a:prstGeom prst="rect">
            <a:avLst/>
          </a:prstGeom>
          <a:noFill/>
        </p:spPr>
        <p:txBody>
          <a:bodyPr wrap="square" lIns="0" rIns="0" tIns="0" bIns="0" anchor="t">
            <a:spAutoFit/>
            <a:spAutoFit/>
          </a:bodyPr>
          <a:lstStyle/>
          <a:p>
            <a:pPr algn="l">
              <a:lnSpc>
                <a:spcPct val="113999"/>
              </a:lnSpc>
            </a:pPr>
            <a:r>
              <a:rPr sz="1600" b="0" i="0">
                <a:solidFill>
                  <a:srgbClr val="665B53"/>
                </a:solidFill>
                <a:latin typeface="Arial"/>
              </a:rPr>
              <a:t>The gap between what a trader paid and what execution actually cost the broker to provide</a:t>
            </a:r>
          </a:p>
        </p:txBody>
      </p:sp>
      <p:sp>
        <p:nvSpPr>
          <p:cNvPr id="9" name="Rectangle 8"/>
          <p:cNvSpPr/>
          <p:nvPr/>
        </p:nvSpPr>
        <p:spPr>
          <a:xfrm>
            <a:off x="1047750" y="47815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7750" y="4781550"/>
            <a:ext cx="16192500" cy="7143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450" y="4876800"/>
            <a:ext cx="4476750" cy="285750"/>
          </a:xfrm>
          <a:prstGeom prst="rect">
            <a:avLst/>
          </a:prstGeom>
          <a:noFill/>
        </p:spPr>
        <p:txBody>
          <a:bodyPr wrap="square" lIns="0" rIns="0" tIns="0" bIns="0" anchor="t">
            <a:spAutoFit/>
            <a:spAutoFit/>
          </a:bodyPr>
          <a:lstStyle/>
          <a:p>
            <a:pPr algn="l">
              <a:lnSpc>
                <a:spcPct val="113999"/>
              </a:lnSpc>
            </a:pPr>
            <a:r>
              <a:rPr sz="1600" b="1" i="0">
                <a:solidFill>
                  <a:srgbClr val="201914"/>
                </a:solidFill>
                <a:latin typeface="Arial"/>
              </a:rPr>
              <a:t>Value vs price (L2)</a:t>
            </a:r>
          </a:p>
        </p:txBody>
      </p:sp>
      <p:sp>
        <p:nvSpPr>
          <p:cNvPr id="12" name="TextBox 11"/>
          <p:cNvSpPr txBox="1"/>
          <p:nvPr/>
        </p:nvSpPr>
        <p:spPr>
          <a:xfrm>
            <a:off x="6038850" y="4876800"/>
            <a:ext cx="10953750" cy="514350"/>
          </a:xfrm>
          <a:prstGeom prst="rect">
            <a:avLst/>
          </a:prstGeom>
          <a:noFill/>
        </p:spPr>
        <p:txBody>
          <a:bodyPr wrap="square" lIns="0" rIns="0" tIns="0" bIns="0" anchor="t">
            <a:spAutoFit/>
            <a:spAutoFit/>
          </a:bodyPr>
          <a:lstStyle/>
          <a:p>
            <a:pPr algn="l">
              <a:lnSpc>
                <a:spcPct val="113999"/>
              </a:lnSpc>
            </a:pPr>
            <a:r>
              <a:rPr sz="1600" b="0" i="0">
                <a:solidFill>
                  <a:srgbClr val="665B53"/>
                </a:solidFill>
                <a:latin typeface="Arial"/>
              </a:rPr>
              <a:t>A flat ₹20 unbundles price from trade size — the same service, priced on effort rather than on the customer's wealth</a:t>
            </a:r>
          </a:p>
        </p:txBody>
      </p:sp>
      <p:sp>
        <p:nvSpPr>
          <p:cNvPr id="13" name="Rectangle 12"/>
          <p:cNvSpPr/>
          <p:nvPr/>
        </p:nvSpPr>
        <p:spPr>
          <a:xfrm>
            <a:off x="1047750" y="54959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4450" y="5591175"/>
            <a:ext cx="4476750" cy="285750"/>
          </a:xfrm>
          <a:prstGeom prst="rect">
            <a:avLst/>
          </a:prstGeom>
          <a:noFill/>
        </p:spPr>
        <p:txBody>
          <a:bodyPr wrap="square" lIns="0" rIns="0" tIns="0" bIns="0" anchor="t">
            <a:spAutoFit/>
            <a:spAutoFit/>
          </a:bodyPr>
          <a:lstStyle/>
          <a:p>
            <a:pPr algn="l">
              <a:lnSpc>
                <a:spcPct val="113999"/>
              </a:lnSpc>
            </a:pPr>
            <a:r>
              <a:rPr sz="1600" b="1" i="0">
                <a:solidFill>
                  <a:srgbClr val="201914"/>
                </a:solidFill>
                <a:latin typeface="Arial"/>
              </a:rPr>
              <a:t>Problem-first (L3)</a:t>
            </a:r>
          </a:p>
        </p:txBody>
      </p:sp>
      <p:sp>
        <p:nvSpPr>
          <p:cNvPr id="15" name="TextBox 14"/>
          <p:cNvSpPr txBox="1"/>
          <p:nvPr/>
        </p:nvSpPr>
        <p:spPr>
          <a:xfrm>
            <a:off x="6038850" y="5591175"/>
            <a:ext cx="10953750" cy="514350"/>
          </a:xfrm>
          <a:prstGeom prst="rect">
            <a:avLst/>
          </a:prstGeom>
          <a:noFill/>
        </p:spPr>
        <p:txBody>
          <a:bodyPr wrap="square" lIns="0" rIns="0" tIns="0" bIns="0" anchor="t">
            <a:spAutoFit/>
            <a:spAutoFit/>
          </a:bodyPr>
          <a:lstStyle/>
          <a:p>
            <a:pPr algn="l">
              <a:lnSpc>
                <a:spcPct val="113999"/>
              </a:lnSpc>
            </a:pPr>
            <a:r>
              <a:rPr sz="1600" b="0" i="0">
                <a:solidFill>
                  <a:srgbClr val="665B53"/>
                </a:solidFill>
                <a:latin typeface="Arial"/>
              </a:rPr>
              <a:t>The problem had a workaround: traders were already negotiating rates and splitting orders across brokers</a:t>
            </a:r>
          </a:p>
        </p:txBody>
      </p:sp>
      <p:sp>
        <p:nvSpPr>
          <p:cNvPr id="16" name="Rectangle 15"/>
          <p:cNvSpPr/>
          <p:nvPr/>
        </p:nvSpPr>
        <p:spPr>
          <a:xfrm>
            <a:off x="1047750" y="62103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47750" y="6210300"/>
            <a:ext cx="16192500" cy="6762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14450" y="6305550"/>
            <a:ext cx="4476750" cy="285750"/>
          </a:xfrm>
          <a:prstGeom prst="rect">
            <a:avLst/>
          </a:prstGeom>
          <a:noFill/>
        </p:spPr>
        <p:txBody>
          <a:bodyPr wrap="square" lIns="0" rIns="0" tIns="0" bIns="0" anchor="t">
            <a:spAutoFit/>
            <a:spAutoFit/>
          </a:bodyPr>
          <a:lstStyle/>
          <a:p>
            <a:pPr algn="l">
              <a:lnSpc>
                <a:spcPct val="113999"/>
              </a:lnSpc>
            </a:pPr>
            <a:r>
              <a:rPr sz="1600" b="1" i="0">
                <a:solidFill>
                  <a:srgbClr val="201914"/>
                </a:solidFill>
                <a:latin typeface="Arial"/>
              </a:rPr>
              <a:t>Customer centricity (L4)</a:t>
            </a:r>
          </a:p>
        </p:txBody>
      </p:sp>
      <p:sp>
        <p:nvSpPr>
          <p:cNvPr id="19" name="TextBox 18"/>
          <p:cNvSpPr txBox="1"/>
          <p:nvPr/>
        </p:nvSpPr>
        <p:spPr>
          <a:xfrm>
            <a:off x="6038850" y="6305550"/>
            <a:ext cx="10953750" cy="285750"/>
          </a:xfrm>
          <a:prstGeom prst="rect">
            <a:avLst/>
          </a:prstGeom>
          <a:noFill/>
        </p:spPr>
        <p:txBody>
          <a:bodyPr wrap="square" lIns="0" rIns="0" tIns="0" bIns="0" anchor="t">
            <a:spAutoFit/>
            <a:spAutoFit/>
          </a:bodyPr>
          <a:lstStyle/>
          <a:p>
            <a:pPr algn="l">
              <a:lnSpc>
                <a:spcPct val="113999"/>
              </a:lnSpc>
            </a:pPr>
            <a:r>
              <a:rPr sz="1600" b="0" i="0">
                <a:solidFill>
                  <a:srgbClr val="665B53"/>
                </a:solidFill>
                <a:latin typeface="Arial"/>
              </a:rPr>
              <a:t>The founder was the customer for a decade before he was the founder</a:t>
            </a:r>
          </a:p>
        </p:txBody>
      </p:sp>
      <p:sp>
        <p:nvSpPr>
          <p:cNvPr id="20" name="Rectangle 19"/>
          <p:cNvSpPr/>
          <p:nvPr/>
        </p:nvSpPr>
        <p:spPr>
          <a:xfrm>
            <a:off x="1047750" y="68865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14450" y="6981825"/>
            <a:ext cx="4476750" cy="285750"/>
          </a:xfrm>
          <a:prstGeom prst="rect">
            <a:avLst/>
          </a:prstGeom>
          <a:noFill/>
        </p:spPr>
        <p:txBody>
          <a:bodyPr wrap="square" lIns="0" rIns="0" tIns="0" bIns="0" anchor="t">
            <a:spAutoFit/>
            <a:spAutoFit/>
          </a:bodyPr>
          <a:lstStyle/>
          <a:p>
            <a:pPr algn="l">
              <a:lnSpc>
                <a:spcPct val="113999"/>
              </a:lnSpc>
            </a:pPr>
            <a:r>
              <a:rPr sz="1600" b="1" i="0">
                <a:solidFill>
                  <a:srgbClr val="201914"/>
                </a:solidFill>
                <a:latin typeface="Arial"/>
              </a:rPr>
              <a:t>Segmentation and beachhead (L5, L9)</a:t>
            </a:r>
          </a:p>
        </p:txBody>
      </p:sp>
      <p:sp>
        <p:nvSpPr>
          <p:cNvPr id="22" name="TextBox 21"/>
          <p:cNvSpPr txBox="1"/>
          <p:nvPr/>
        </p:nvSpPr>
        <p:spPr>
          <a:xfrm>
            <a:off x="6038850" y="6981825"/>
            <a:ext cx="10953750" cy="285750"/>
          </a:xfrm>
          <a:prstGeom prst="rect">
            <a:avLst/>
          </a:prstGeom>
          <a:noFill/>
        </p:spPr>
        <p:txBody>
          <a:bodyPr wrap="square" lIns="0" rIns="0" tIns="0" bIns="0" anchor="t">
            <a:spAutoFit/>
            <a:spAutoFit/>
          </a:bodyPr>
          <a:lstStyle/>
          <a:p>
            <a:pPr algn="l">
              <a:lnSpc>
                <a:spcPct val="113999"/>
              </a:lnSpc>
            </a:pPr>
            <a:r>
              <a:rPr sz="1600" b="0" i="0">
                <a:solidFill>
                  <a:srgbClr val="665B53"/>
                </a:solidFill>
                <a:latin typeface="Arial"/>
              </a:rPr>
              <a:t>The serious retail trader: small, painful, and highly connected to others like him</a:t>
            </a:r>
          </a:p>
        </p:txBody>
      </p:sp>
      <p:sp>
        <p:nvSpPr>
          <p:cNvPr id="23" name="Rectangle 22"/>
          <p:cNvSpPr/>
          <p:nvPr/>
        </p:nvSpPr>
        <p:spPr>
          <a:xfrm>
            <a:off x="1047750" y="75628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47750" y="7562850"/>
            <a:ext cx="16192500" cy="6762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14450" y="7658100"/>
            <a:ext cx="4476750" cy="285750"/>
          </a:xfrm>
          <a:prstGeom prst="rect">
            <a:avLst/>
          </a:prstGeom>
          <a:noFill/>
        </p:spPr>
        <p:txBody>
          <a:bodyPr wrap="square" lIns="0" rIns="0" tIns="0" bIns="0" anchor="t">
            <a:spAutoFit/>
            <a:spAutoFit/>
          </a:bodyPr>
          <a:lstStyle/>
          <a:p>
            <a:pPr algn="l">
              <a:lnSpc>
                <a:spcPct val="113999"/>
              </a:lnSpc>
            </a:pPr>
            <a:r>
              <a:rPr sz="1600" b="1" i="0">
                <a:solidFill>
                  <a:srgbClr val="201914"/>
                </a:solidFill>
                <a:latin typeface="Arial"/>
              </a:rPr>
              <a:t>Market sizing (L6)</a:t>
            </a:r>
          </a:p>
        </p:txBody>
      </p:sp>
      <p:sp>
        <p:nvSpPr>
          <p:cNvPr id="26" name="TextBox 25"/>
          <p:cNvSpPr txBox="1"/>
          <p:nvPr/>
        </p:nvSpPr>
        <p:spPr>
          <a:xfrm>
            <a:off x="6038850" y="7658100"/>
            <a:ext cx="10953750" cy="285750"/>
          </a:xfrm>
          <a:prstGeom prst="rect">
            <a:avLst/>
          </a:prstGeom>
          <a:noFill/>
        </p:spPr>
        <p:txBody>
          <a:bodyPr wrap="square" lIns="0" rIns="0" tIns="0" bIns="0" anchor="t">
            <a:spAutoFit/>
            <a:spAutoFit/>
          </a:bodyPr>
          <a:lstStyle/>
          <a:p>
            <a:pPr algn="l">
              <a:lnSpc>
                <a:spcPct val="113999"/>
              </a:lnSpc>
            </a:pPr>
            <a:r>
              <a:rPr sz="1600" b="0" i="0">
                <a:solidFill>
                  <a:srgbClr val="665B53"/>
                </a:solidFill>
                <a:latin typeface="Arial"/>
              </a:rPr>
              <a:t>Small segment, very high frequency — the market was sized on orders per year, not on number of people</a:t>
            </a:r>
          </a:p>
        </p:txBody>
      </p:sp>
      <p:sp>
        <p:nvSpPr>
          <p:cNvPr id="27" name="Rectangle 26"/>
          <p:cNvSpPr/>
          <p:nvPr/>
        </p:nvSpPr>
        <p:spPr>
          <a:xfrm>
            <a:off x="1047750" y="82391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14450" y="8334375"/>
            <a:ext cx="4476750" cy="285750"/>
          </a:xfrm>
          <a:prstGeom prst="rect">
            <a:avLst/>
          </a:prstGeom>
          <a:noFill/>
        </p:spPr>
        <p:txBody>
          <a:bodyPr wrap="square" lIns="0" rIns="0" tIns="0" bIns="0" anchor="t">
            <a:spAutoFit/>
            <a:spAutoFit/>
          </a:bodyPr>
          <a:lstStyle/>
          <a:p>
            <a:pPr algn="l">
              <a:lnSpc>
                <a:spcPct val="113999"/>
              </a:lnSpc>
            </a:pPr>
            <a:r>
              <a:rPr sz="1600" b="1" i="0">
                <a:solidFill>
                  <a:srgbClr val="201914"/>
                </a:solidFill>
                <a:latin typeface="Arial"/>
              </a:rPr>
              <a:t>Stated vs latent (L7)</a:t>
            </a:r>
          </a:p>
        </p:txBody>
      </p:sp>
      <p:sp>
        <p:nvSpPr>
          <p:cNvPr id="29" name="TextBox 28"/>
          <p:cNvSpPr txBox="1"/>
          <p:nvPr/>
        </p:nvSpPr>
        <p:spPr>
          <a:xfrm>
            <a:off x="6038850" y="8334375"/>
            <a:ext cx="10953750" cy="285750"/>
          </a:xfrm>
          <a:prstGeom prst="rect">
            <a:avLst/>
          </a:prstGeom>
          <a:noFill/>
        </p:spPr>
        <p:txBody>
          <a:bodyPr wrap="square" lIns="0" rIns="0" tIns="0" bIns="0" anchor="t">
            <a:spAutoFit/>
            <a:spAutoFit/>
          </a:bodyPr>
          <a:lstStyle/>
          <a:p>
            <a:pPr algn="l">
              <a:lnSpc>
                <a:spcPct val="113999"/>
              </a:lnSpc>
            </a:pPr>
            <a:r>
              <a:rPr sz="1600" b="0" i="0">
                <a:solidFill>
                  <a:srgbClr val="665B53"/>
                </a:solidFill>
                <a:latin typeface="Arial"/>
              </a:rPr>
              <a:t>Traders said they wanted better research; what they needed was for the cost line to stop compounding</a:t>
            </a:r>
          </a:p>
        </p:txBody>
      </p:sp>
      <p:sp>
        <p:nvSpPr>
          <p:cNvPr id="30" name="Rectangle 29"/>
          <p:cNvSpPr/>
          <p:nvPr/>
        </p:nvSpPr>
        <p:spPr>
          <a:xfrm>
            <a:off x="1047750" y="89154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7750" y="8915400"/>
            <a:ext cx="16192500" cy="6762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14450" y="9010650"/>
            <a:ext cx="4476750" cy="285750"/>
          </a:xfrm>
          <a:prstGeom prst="rect">
            <a:avLst/>
          </a:prstGeom>
          <a:noFill/>
        </p:spPr>
        <p:txBody>
          <a:bodyPr wrap="square" lIns="0" rIns="0" tIns="0" bIns="0" anchor="t">
            <a:spAutoFit/>
            <a:spAutoFit/>
          </a:bodyPr>
          <a:lstStyle/>
          <a:p>
            <a:pPr algn="l">
              <a:lnSpc>
                <a:spcPct val="113999"/>
              </a:lnSpc>
            </a:pPr>
            <a:r>
              <a:rPr sz="1600" b="1" i="0">
                <a:solidFill>
                  <a:srgbClr val="201914"/>
                </a:solidFill>
                <a:latin typeface="Arial"/>
              </a:rPr>
              <a:t>Jobs to be Done (L8)</a:t>
            </a:r>
          </a:p>
        </p:txBody>
      </p:sp>
      <p:sp>
        <p:nvSpPr>
          <p:cNvPr id="33" name="TextBox 32"/>
          <p:cNvSpPr txBox="1"/>
          <p:nvPr/>
        </p:nvSpPr>
        <p:spPr>
          <a:xfrm>
            <a:off x="6038850" y="9010650"/>
            <a:ext cx="10953750" cy="285750"/>
          </a:xfrm>
          <a:prstGeom prst="rect">
            <a:avLst/>
          </a:prstGeom>
          <a:noFill/>
        </p:spPr>
        <p:txBody>
          <a:bodyPr wrap="square" lIns="0" rIns="0" tIns="0" bIns="0" anchor="t">
            <a:spAutoFit/>
            <a:spAutoFit/>
          </a:bodyPr>
          <a:lstStyle/>
          <a:p>
            <a:pPr algn="l">
              <a:lnSpc>
                <a:spcPct val="113999"/>
              </a:lnSpc>
            </a:pPr>
            <a:r>
              <a:rPr sz="1600" b="0" i="0">
                <a:solidFill>
                  <a:srgbClr val="665B53"/>
                </a:solidFill>
                <a:latin typeface="Arial"/>
              </a:rPr>
              <a:t>The job is 'execute my decision fast and cheaply', not 'help me decide'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FIFTEEN LECTURES, ONE COMPANY · PART TWO</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Find where each one appears. Lectures 10 to 15.</a:t>
            </a:r>
          </a:p>
        </p:txBody>
      </p:sp>
      <p:sp>
        <p:nvSpPr>
          <p:cNvPr id="4" name="TextBox 3"/>
          <p:cNvSpPr txBox="1"/>
          <p:nvPr/>
        </p:nvSpPr>
        <p:spPr>
          <a:xfrm>
            <a:off x="1314450" y="3409950"/>
            <a:ext cx="44767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CONCEPT</a:t>
            </a:r>
          </a:p>
        </p:txBody>
      </p:sp>
      <p:sp>
        <p:nvSpPr>
          <p:cNvPr id="5" name="TextBox 4"/>
          <p:cNvSpPr txBox="1"/>
          <p:nvPr/>
        </p:nvSpPr>
        <p:spPr>
          <a:xfrm>
            <a:off x="6038850" y="3409950"/>
            <a:ext cx="109537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WHERE IT SHOWS UP IN ZERODHA</a:t>
            </a:r>
          </a:p>
        </p:txBody>
      </p:sp>
      <p:sp>
        <p:nvSpPr>
          <p:cNvPr id="6" name="Rectangle 5"/>
          <p:cNvSpPr/>
          <p:nvPr/>
        </p:nvSpPr>
        <p:spPr>
          <a:xfrm>
            <a:off x="1047750" y="40005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4450" y="4324350"/>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Persona (L10)</a:t>
            </a:r>
          </a:p>
        </p:txBody>
      </p:sp>
      <p:sp>
        <p:nvSpPr>
          <p:cNvPr id="8" name="TextBox 7"/>
          <p:cNvSpPr txBox="1"/>
          <p:nvPr/>
        </p:nvSpPr>
        <p:spPr>
          <a:xfrm>
            <a:off x="6038850" y="4324350"/>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9" name="Rectangle 8"/>
          <p:cNvSpPr/>
          <p:nvPr/>
        </p:nvSpPr>
        <p:spPr>
          <a:xfrm>
            <a:off x="1047750" y="50196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7750" y="5019675"/>
            <a:ext cx="16192500" cy="9144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450" y="5238750"/>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Empathy map (L11)</a:t>
            </a:r>
          </a:p>
        </p:txBody>
      </p:sp>
      <p:sp>
        <p:nvSpPr>
          <p:cNvPr id="12" name="TextBox 11"/>
          <p:cNvSpPr txBox="1"/>
          <p:nvPr/>
        </p:nvSpPr>
        <p:spPr>
          <a:xfrm>
            <a:off x="6038850" y="5238750"/>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13" name="Rectangle 12"/>
          <p:cNvSpPr/>
          <p:nvPr/>
        </p:nvSpPr>
        <p:spPr>
          <a:xfrm>
            <a:off x="1047750" y="59340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4450" y="6153150"/>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Journey mapping (L12)</a:t>
            </a:r>
          </a:p>
        </p:txBody>
      </p:sp>
      <p:sp>
        <p:nvSpPr>
          <p:cNvPr id="15" name="TextBox 14"/>
          <p:cNvSpPr txBox="1"/>
          <p:nvPr/>
        </p:nvSpPr>
        <p:spPr>
          <a:xfrm>
            <a:off x="6038850" y="6153150"/>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16" name="Rectangle 15"/>
          <p:cNvSpPr/>
          <p:nvPr/>
        </p:nvSpPr>
        <p:spPr>
          <a:xfrm>
            <a:off x="1047750" y="68484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47750" y="6848475"/>
            <a:ext cx="16192500" cy="9144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14450" y="7067550"/>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Pains and gains (L13)</a:t>
            </a:r>
          </a:p>
        </p:txBody>
      </p:sp>
      <p:sp>
        <p:nvSpPr>
          <p:cNvPr id="19" name="TextBox 18"/>
          <p:cNvSpPr txBox="1"/>
          <p:nvPr/>
        </p:nvSpPr>
        <p:spPr>
          <a:xfrm>
            <a:off x="6038850" y="7067550"/>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20" name="Rectangle 19"/>
          <p:cNvSpPr/>
          <p:nvPr/>
        </p:nvSpPr>
        <p:spPr>
          <a:xfrm>
            <a:off x="1047750" y="77628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14450" y="7981950"/>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Emotional drivers (L14)</a:t>
            </a:r>
          </a:p>
        </p:txBody>
      </p:sp>
      <p:sp>
        <p:nvSpPr>
          <p:cNvPr id="22" name="TextBox 21"/>
          <p:cNvSpPr txBox="1"/>
          <p:nvPr/>
        </p:nvSpPr>
        <p:spPr>
          <a:xfrm>
            <a:off x="6038850" y="7981950"/>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
        <p:nvSpPr>
          <p:cNvPr id="23" name="Rectangle 22"/>
          <p:cNvSpPr/>
          <p:nvPr/>
        </p:nvSpPr>
        <p:spPr>
          <a:xfrm>
            <a:off x="1047750" y="86772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47750" y="8677275"/>
            <a:ext cx="16192500" cy="9144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14450" y="8896350"/>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Choice architecture (L15)</a:t>
            </a:r>
          </a:p>
        </p:txBody>
      </p:sp>
      <p:sp>
        <p:nvSpPr>
          <p:cNvPr id="26" name="TextBox 25"/>
          <p:cNvSpPr txBox="1"/>
          <p:nvPr/>
        </p:nvSpPr>
        <p:spPr>
          <a:xfrm>
            <a:off x="6038850" y="8896350"/>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ANSWERS · PART TWO</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Find where each one appears. Lectures 10 to 15.</a:t>
            </a:r>
          </a:p>
        </p:txBody>
      </p:sp>
      <p:sp>
        <p:nvSpPr>
          <p:cNvPr id="4" name="TextBox 3"/>
          <p:cNvSpPr txBox="1"/>
          <p:nvPr/>
        </p:nvSpPr>
        <p:spPr>
          <a:xfrm>
            <a:off x="1314450" y="3409950"/>
            <a:ext cx="44767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CONCEPT</a:t>
            </a:r>
          </a:p>
        </p:txBody>
      </p:sp>
      <p:sp>
        <p:nvSpPr>
          <p:cNvPr id="5" name="TextBox 4"/>
          <p:cNvSpPr txBox="1"/>
          <p:nvPr/>
        </p:nvSpPr>
        <p:spPr>
          <a:xfrm>
            <a:off x="6038850" y="3409950"/>
            <a:ext cx="109537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WHERE IT SHOWS UP IN ZERODHA</a:t>
            </a:r>
          </a:p>
        </p:txBody>
      </p:sp>
      <p:sp>
        <p:nvSpPr>
          <p:cNvPr id="6" name="Rectangle 5"/>
          <p:cNvSpPr/>
          <p:nvPr/>
        </p:nvSpPr>
        <p:spPr>
          <a:xfrm>
            <a:off x="1047750" y="40005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4450" y="4295775"/>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Persona (L10)</a:t>
            </a:r>
          </a:p>
        </p:txBody>
      </p:sp>
      <p:sp>
        <p:nvSpPr>
          <p:cNvPr id="8" name="TextBox 7"/>
          <p:cNvSpPr txBox="1"/>
          <p:nvPr/>
        </p:nvSpPr>
        <p:spPr>
          <a:xfrm>
            <a:off x="6038850" y="4295775"/>
            <a:ext cx="10953750"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Technically comfortable, cost-aware, self-directed, improvement-minded — precise enough to settle product arguments</a:t>
            </a:r>
          </a:p>
        </p:txBody>
      </p:sp>
      <p:sp>
        <p:nvSpPr>
          <p:cNvPr id="9" name="Rectangle 8"/>
          <p:cNvSpPr/>
          <p:nvPr/>
        </p:nvSpPr>
        <p:spPr>
          <a:xfrm>
            <a:off x="1047750" y="50577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7750" y="5057775"/>
            <a:ext cx="16192500" cy="9525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450" y="5248275"/>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Empathy map (L11)</a:t>
            </a:r>
          </a:p>
        </p:txBody>
      </p:sp>
      <p:sp>
        <p:nvSpPr>
          <p:cNvPr id="12" name="TextBox 11"/>
          <p:cNvSpPr txBox="1"/>
          <p:nvPr/>
        </p:nvSpPr>
        <p:spPr>
          <a:xfrm>
            <a:off x="6038850" y="5248275"/>
            <a:ext cx="10953750"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Says: 'brokerage is too high.' Feels: that he is working for the broker rather than for himself</a:t>
            </a:r>
          </a:p>
        </p:txBody>
      </p:sp>
      <p:sp>
        <p:nvSpPr>
          <p:cNvPr id="13" name="Rectangle 12"/>
          <p:cNvSpPr/>
          <p:nvPr/>
        </p:nvSpPr>
        <p:spPr>
          <a:xfrm>
            <a:off x="1047750" y="60102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4450" y="6200775"/>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Journey mapping (L12)</a:t>
            </a:r>
          </a:p>
        </p:txBody>
      </p:sp>
      <p:sp>
        <p:nvSpPr>
          <p:cNvPr id="15" name="TextBox 14"/>
          <p:cNvSpPr txBox="1"/>
          <p:nvPr/>
        </p:nvSpPr>
        <p:spPr>
          <a:xfrm>
            <a:off x="6038850" y="6200775"/>
            <a:ext cx="10953750"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Account opening, funding, order placement, settlement, tax reporting — Console exists because of the last two steps</a:t>
            </a:r>
          </a:p>
        </p:txBody>
      </p:sp>
      <p:sp>
        <p:nvSpPr>
          <p:cNvPr id="16" name="Rectangle 15"/>
          <p:cNvSpPr/>
          <p:nvPr/>
        </p:nvSpPr>
        <p:spPr>
          <a:xfrm>
            <a:off x="1047750" y="69627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47750" y="6962775"/>
            <a:ext cx="16192500" cy="9525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14450" y="7153275"/>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Pains and gains (L13)</a:t>
            </a:r>
          </a:p>
        </p:txBody>
      </p:sp>
      <p:sp>
        <p:nvSpPr>
          <p:cNvPr id="19" name="TextBox 18"/>
          <p:cNvSpPr txBox="1"/>
          <p:nvPr/>
        </p:nvSpPr>
        <p:spPr>
          <a:xfrm>
            <a:off x="6038850" y="7153275"/>
            <a:ext cx="10953750"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Pain: compounding fees and a slow platform. Gain: getting better at the craft — Varsity is the gain creator</a:t>
            </a:r>
          </a:p>
        </p:txBody>
      </p:sp>
      <p:sp>
        <p:nvSpPr>
          <p:cNvPr id="20" name="Rectangle 19"/>
          <p:cNvSpPr/>
          <p:nvPr/>
        </p:nvSpPr>
        <p:spPr>
          <a:xfrm>
            <a:off x="1047750" y="79152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14450" y="8105775"/>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Emotional drivers (L14)</a:t>
            </a:r>
          </a:p>
        </p:txBody>
      </p:sp>
      <p:sp>
        <p:nvSpPr>
          <p:cNvPr id="22" name="TextBox 21"/>
          <p:cNvSpPr txBox="1"/>
          <p:nvPr/>
        </p:nvSpPr>
        <p:spPr>
          <a:xfrm>
            <a:off x="6038850" y="8105775"/>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Avoidance from the fee; identity from Varsity and the community of self-taught traders</a:t>
            </a:r>
          </a:p>
        </p:txBody>
      </p:sp>
      <p:sp>
        <p:nvSpPr>
          <p:cNvPr id="23" name="Rectangle 22"/>
          <p:cNvSpPr/>
          <p:nvPr/>
        </p:nvSpPr>
        <p:spPr>
          <a:xfrm>
            <a:off x="1047750" y="87725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47750" y="8772525"/>
            <a:ext cx="16192500" cy="85725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14450" y="8963025"/>
            <a:ext cx="44767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Choice architecture (L15)</a:t>
            </a:r>
          </a:p>
        </p:txBody>
      </p:sp>
      <p:sp>
        <p:nvSpPr>
          <p:cNvPr id="26" name="TextBox 25"/>
          <p:cNvSpPr txBox="1"/>
          <p:nvPr/>
        </p:nvSpPr>
        <p:spPr>
          <a:xfrm>
            <a:off x="6038850" y="8963025"/>
            <a:ext cx="1095375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Deliberately inverted — Console makes Zerodha's own charges more visible, not less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HUNT FOR THE ONE THAT DOES NOT FIT</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A framework that fits every company equally well is telling you nothing.</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Choice architecture (L15)</a:t>
            </a:r>
          </a:p>
        </p:txBody>
      </p:sp>
      <p:sp>
        <p:nvSpPr>
          <p:cNvPr id="6" name="TextBox 5"/>
          <p:cNvSpPr txBox="1"/>
          <p:nvPr/>
        </p:nvSpPr>
        <p:spPr>
          <a:xfrm>
            <a:off x="1047750" y="4724400"/>
            <a:ext cx="5143500" cy="19812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Run backwards. Console makes the charges obvious. When your whole positioning is that you are cheaper, transparency about cost is not a sacrifice, it is the product.</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Emotional drivers (L14)</a:t>
            </a:r>
          </a:p>
        </p:txBody>
      </p:sp>
      <p:sp>
        <p:nvSpPr>
          <p:cNvPr id="9" name="TextBox 8"/>
          <p:cNvSpPr txBox="1"/>
          <p:nvPr/>
        </p:nvSpPr>
        <p:spPr>
          <a:xfrm>
            <a:off x="65722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The avoidance driver is weak. There is no streak, no penalty, no manufactured loss anywhere in the product.</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Market sizing (L6)</a:t>
            </a:r>
          </a:p>
        </p:txBody>
      </p:sp>
      <p:sp>
        <p:nvSpPr>
          <p:cNvPr id="12" name="TextBox 11"/>
          <p:cNvSpPr txBox="1"/>
          <p:nvPr/>
        </p:nvSpPr>
        <p:spPr>
          <a:xfrm>
            <a:off x="120967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The segment looked far too small on any conventional count. It was only large when counted in orders rather than in people.</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When you analyse a company, hunt for the framework that does not fit rather than the twelve that do.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FRAMEWORK 1 · BLUE, GREEN, AMBER — KEEP THESE COLOURS THROUGHOUT</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Three Signals</a:t>
            </a:r>
          </a:p>
        </p:txBody>
      </p:sp>
      <p:sp>
        <p:nvSpPr>
          <p:cNvPr id="4" name="TextBox 3"/>
          <p:cNvSpPr txBox="1"/>
          <p:nvPr/>
        </p:nvSpPr>
        <p:spPr>
          <a:xfrm>
            <a:off x="1314450" y="2838450"/>
            <a:ext cx="22955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SIGNAL</a:t>
            </a:r>
          </a:p>
        </p:txBody>
      </p:sp>
      <p:sp>
        <p:nvSpPr>
          <p:cNvPr id="5" name="TextBox 4"/>
          <p:cNvSpPr txBox="1"/>
          <p:nvPr/>
        </p:nvSpPr>
        <p:spPr>
          <a:xfrm>
            <a:off x="3857625" y="2838450"/>
            <a:ext cx="30289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IT IS</a:t>
            </a:r>
          </a:p>
        </p:txBody>
      </p:sp>
      <p:sp>
        <p:nvSpPr>
          <p:cNvPr id="6" name="TextBox 5"/>
          <p:cNvSpPr txBox="1"/>
          <p:nvPr/>
        </p:nvSpPr>
        <p:spPr>
          <a:xfrm>
            <a:off x="7134225" y="2838450"/>
            <a:ext cx="31242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HOW YOU FIND IT</a:t>
            </a:r>
          </a:p>
        </p:txBody>
      </p:sp>
      <p:sp>
        <p:nvSpPr>
          <p:cNvPr id="7" name="TextBox 6"/>
          <p:cNvSpPr txBox="1"/>
          <p:nvPr/>
        </p:nvSpPr>
        <p:spPr>
          <a:xfrm>
            <a:off x="10506075" y="2838450"/>
            <a:ext cx="349567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ZERODHA'S EXAMPLE</a:t>
            </a:r>
          </a:p>
        </p:txBody>
      </p:sp>
      <p:sp>
        <p:nvSpPr>
          <p:cNvPr id="8" name="TextBox 7"/>
          <p:cNvSpPr txBox="1"/>
          <p:nvPr/>
        </p:nvSpPr>
        <p:spPr>
          <a:xfrm>
            <a:off x="14249400" y="2838450"/>
            <a:ext cx="29432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IT BUYS YOU</a:t>
            </a:r>
          </a:p>
        </p:txBody>
      </p:sp>
      <p:sp>
        <p:nvSpPr>
          <p:cNvPr id="9" name="Rectangle 8"/>
          <p:cNvSpPr/>
          <p:nvPr/>
        </p:nvSpPr>
        <p:spPr>
          <a:xfrm>
            <a:off x="1047750" y="34290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4450" y="4000500"/>
            <a:ext cx="2295525"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Pain (Blue)</a:t>
            </a:r>
          </a:p>
        </p:txBody>
      </p:sp>
      <p:sp>
        <p:nvSpPr>
          <p:cNvPr id="11" name="TextBox 10"/>
          <p:cNvSpPr txBox="1"/>
          <p:nvPr/>
        </p:nvSpPr>
        <p:spPr>
          <a:xfrm>
            <a:off x="3857625" y="4000500"/>
            <a:ext cx="3028950" cy="109537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Something the customer is running from, with a rupee or a minute attached to it</a:t>
            </a:r>
          </a:p>
        </p:txBody>
      </p:sp>
      <p:sp>
        <p:nvSpPr>
          <p:cNvPr id="12" name="TextBox 11"/>
          <p:cNvSpPr txBox="1"/>
          <p:nvPr/>
        </p:nvSpPr>
        <p:spPr>
          <a:xfrm>
            <a:off x="7134225" y="4000500"/>
            <a:ext cx="3124200"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Ask, and then do the arithmetic</a:t>
            </a:r>
          </a:p>
        </p:txBody>
      </p:sp>
      <p:sp>
        <p:nvSpPr>
          <p:cNvPr id="13" name="TextBox 12"/>
          <p:cNvSpPr txBox="1"/>
          <p:nvPr/>
        </p:nvSpPr>
        <p:spPr>
          <a:xfrm>
            <a:off x="10506075" y="4000500"/>
            <a:ext cx="3495675"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The flat ₹20 replacing a percentage</a:t>
            </a:r>
          </a:p>
        </p:txBody>
      </p:sp>
      <p:sp>
        <p:nvSpPr>
          <p:cNvPr id="14" name="TextBox 13"/>
          <p:cNvSpPr txBox="1"/>
          <p:nvPr/>
        </p:nvSpPr>
        <p:spPr>
          <a:xfrm>
            <a:off x="14249400" y="4000500"/>
            <a:ext cx="2943225"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Fast switching. Customers move within weeks</a:t>
            </a:r>
          </a:p>
        </p:txBody>
      </p:sp>
      <p:sp>
        <p:nvSpPr>
          <p:cNvPr id="15" name="Rectangle 14"/>
          <p:cNvSpPr/>
          <p:nvPr/>
        </p:nvSpPr>
        <p:spPr>
          <a:xfrm>
            <a:off x="1047750" y="55626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47750" y="5562600"/>
            <a:ext cx="16192500" cy="202882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4450" y="6029325"/>
            <a:ext cx="2295525"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Behaviour (Green)</a:t>
            </a:r>
          </a:p>
        </p:txBody>
      </p:sp>
      <p:sp>
        <p:nvSpPr>
          <p:cNvPr id="18" name="TextBox 17"/>
          <p:cNvSpPr txBox="1"/>
          <p:nvPr/>
        </p:nvSpPr>
        <p:spPr>
          <a:xfrm>
            <a:off x="3857625" y="6029325"/>
            <a:ext cx="3028950" cy="109537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What the customer actually does, repeatedly, whether or not he can describe it</a:t>
            </a:r>
          </a:p>
        </p:txBody>
      </p:sp>
      <p:sp>
        <p:nvSpPr>
          <p:cNvPr id="19" name="TextBox 18"/>
          <p:cNvSpPr txBox="1"/>
          <p:nvPr/>
        </p:nvSpPr>
        <p:spPr>
          <a:xfrm>
            <a:off x="7134225" y="6029325"/>
            <a:ext cx="3124200"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Watch. Behaviour is almost never reported accurately</a:t>
            </a:r>
          </a:p>
        </p:txBody>
      </p:sp>
      <p:sp>
        <p:nvSpPr>
          <p:cNvPr id="20" name="TextBox 19"/>
          <p:cNvSpPr txBox="1"/>
          <p:nvPr/>
        </p:nvSpPr>
        <p:spPr>
          <a:xfrm>
            <a:off x="10506075" y="6029325"/>
            <a:ext cx="3495675"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Kite: fast, plain, keyboard-driven, nothing on screen that is not used</a:t>
            </a:r>
          </a:p>
        </p:txBody>
      </p:sp>
      <p:sp>
        <p:nvSpPr>
          <p:cNvPr id="21" name="TextBox 20"/>
          <p:cNvSpPr txBox="1"/>
          <p:nvPr/>
        </p:nvSpPr>
        <p:spPr>
          <a:xfrm>
            <a:off x="14249400" y="6029325"/>
            <a:ext cx="2943225"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Daily habit. Leaving means relearning</a:t>
            </a:r>
          </a:p>
        </p:txBody>
      </p:sp>
      <p:sp>
        <p:nvSpPr>
          <p:cNvPr id="22" name="Rectangle 21"/>
          <p:cNvSpPr/>
          <p:nvPr/>
        </p:nvSpPr>
        <p:spPr>
          <a:xfrm>
            <a:off x="1047750" y="75914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4450" y="8058150"/>
            <a:ext cx="2295525" cy="571500"/>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Aspiration (Amber)</a:t>
            </a:r>
          </a:p>
        </p:txBody>
      </p:sp>
      <p:sp>
        <p:nvSpPr>
          <p:cNvPr id="24" name="TextBox 23"/>
          <p:cNvSpPr txBox="1"/>
          <p:nvPr/>
        </p:nvSpPr>
        <p:spPr>
          <a:xfrm>
            <a:off x="3857625" y="8058150"/>
            <a:ext cx="3028950" cy="109537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Who the customer is trying to become, over a horizon longer than the transaction</a:t>
            </a:r>
          </a:p>
        </p:txBody>
      </p:sp>
      <p:sp>
        <p:nvSpPr>
          <p:cNvPr id="25" name="TextBox 24"/>
          <p:cNvSpPr txBox="1"/>
          <p:nvPr/>
        </p:nvSpPr>
        <p:spPr>
          <a:xfrm>
            <a:off x="7134225" y="8058150"/>
            <a:ext cx="3124200" cy="109537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Listen for the future tense, and for what they are embarrassed not to be good at yet</a:t>
            </a:r>
          </a:p>
        </p:txBody>
      </p:sp>
      <p:sp>
        <p:nvSpPr>
          <p:cNvPr id="26" name="TextBox 25"/>
          <p:cNvSpPr txBox="1"/>
          <p:nvPr/>
        </p:nvSpPr>
        <p:spPr>
          <a:xfrm>
            <a:off x="10506075" y="8058150"/>
            <a:ext cx="3495675"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Varsity: free, ungated, and not a sales document</a:t>
            </a:r>
          </a:p>
        </p:txBody>
      </p:sp>
      <p:sp>
        <p:nvSpPr>
          <p:cNvPr id="27" name="TextBox 26"/>
          <p:cNvSpPr txBox="1"/>
          <p:nvPr/>
        </p:nvSpPr>
        <p:spPr>
          <a:xfrm>
            <a:off x="14249400" y="8058150"/>
            <a:ext cx="2943225"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Slow, deep loyalty. Very hard to copy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BEFORE YOU USE IT</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Three rules, and the third is the one to write down</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The order is not arbitrary</a:t>
            </a:r>
          </a:p>
        </p:txBody>
      </p:sp>
      <p:sp>
        <p:nvSpPr>
          <p:cNvPr id="6" name="TextBox 5"/>
          <p:cNvSpPr txBox="1"/>
          <p:nvPr/>
        </p:nvSpPr>
        <p:spPr>
          <a:xfrm>
            <a:off x="1047750" y="4724400"/>
            <a:ext cx="5143500" cy="23050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Pain is the only signal that makes somebody change what they do this month. Almost every successful new company leads with a pain and adds the other two later. Zerodha shipped Varsity years after the fee.</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Classify by the most foundational</a:t>
            </a:r>
          </a:p>
        </p:txBody>
      </p:sp>
      <p:sp>
        <p:nvSpPr>
          <p:cNvPr id="9" name="TextBox 8"/>
          <p:cNvSpPr txBox="1"/>
          <p:nvPr/>
        </p:nvSpPr>
        <p:spPr>
          <a:xfrm>
            <a:off x="6572250" y="4724400"/>
            <a:ext cx="5143500" cy="16573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When a decision comes from more than one signal, it takes the colour of the most foundational one present. Pain and aspiration together is blue.</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Three signals, three methods</a:t>
            </a:r>
          </a:p>
        </p:txBody>
      </p:sp>
      <p:sp>
        <p:nvSpPr>
          <p:cNvPr id="12" name="TextBox 11"/>
          <p:cNvSpPr txBox="1"/>
          <p:nvPr/>
        </p:nvSpPr>
        <p:spPr>
          <a:xfrm>
            <a:off x="12096750" y="4724400"/>
            <a:ext cx="5143500" cy="23050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You find a pain by asking and then doing arithmetic. You find a behaviour by watching. You find an aspiration by listening for what somebody wants to be able to say about themselves in two years.</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A company that only knows how to run interviews will find every pain and miss both of the other signals.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TRY THESE YOURSELF · BLUE, GREEN OR AMBER</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Which signal produced each of these?</a:t>
            </a:r>
          </a:p>
        </p:txBody>
      </p:sp>
      <p:sp>
        <p:nvSpPr>
          <p:cNvPr id="4" name="Rectangle 3"/>
          <p:cNvSpPr/>
          <p:nvPr/>
        </p:nvSpPr>
        <p:spPr>
          <a:xfrm>
            <a:off x="1047750"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14450" y="3143250"/>
            <a:ext cx="3228975" cy="1200150"/>
          </a:xfrm>
          <a:prstGeom prst="rect">
            <a:avLst/>
          </a:prstGeom>
          <a:noFill/>
        </p:spPr>
        <p:txBody>
          <a:bodyPr wrap="square" lIns="0" rIns="0" tIns="0" bIns="0" anchor="t">
            <a:spAutoFit/>
            <a:spAutoFit/>
          </a:bodyPr>
          <a:lstStyle/>
          <a:p>
            <a:pPr algn="l">
              <a:lnSpc>
                <a:spcPct val="106000"/>
              </a:lnSpc>
            </a:pPr>
            <a:r>
              <a:rPr sz="2850" b="1" i="0">
                <a:solidFill>
                  <a:srgbClr val="201914"/>
                </a:solidFill>
                <a:latin typeface="Arial"/>
              </a:rPr>
              <a:t>Free equity delivery</a:t>
            </a:r>
          </a:p>
        </p:txBody>
      </p:sp>
      <p:sp>
        <p:nvSpPr>
          <p:cNvPr id="6" name="TextBox 5"/>
          <p:cNvSpPr txBox="1"/>
          <p:nvPr/>
        </p:nvSpPr>
        <p:spPr>
          <a:xfrm>
            <a:off x="1314450" y="4667250"/>
            <a:ext cx="3228975" cy="240030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Zerodha charges nothing at all for buying shares and holding them. A delivery investor buying ₹5,000 of shares was previously paying about ₹25.</a:t>
            </a:r>
          </a:p>
        </p:txBody>
      </p:sp>
      <p:sp>
        <p:nvSpPr>
          <p:cNvPr id="7" name="Rectangle 6"/>
          <p:cNvSpPr/>
          <p:nvPr/>
        </p:nvSpPr>
        <p:spPr>
          <a:xfrm>
            <a:off x="5191125"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57825" y="3143250"/>
            <a:ext cx="3228975" cy="1200150"/>
          </a:xfrm>
          <a:prstGeom prst="rect">
            <a:avLst/>
          </a:prstGeom>
          <a:noFill/>
        </p:spPr>
        <p:txBody>
          <a:bodyPr wrap="square" lIns="0" rIns="0" tIns="0" bIns="0" anchor="t">
            <a:spAutoFit/>
            <a:spAutoFit/>
          </a:bodyPr>
          <a:lstStyle/>
          <a:p>
            <a:pPr algn="l">
              <a:lnSpc>
                <a:spcPct val="106000"/>
              </a:lnSpc>
            </a:pPr>
            <a:r>
              <a:rPr sz="2850" b="1" i="0">
                <a:solidFill>
                  <a:srgbClr val="201914"/>
                </a:solidFill>
                <a:latin typeface="Arial"/>
              </a:rPr>
              <a:t>No advisory, no research calls, ever</a:t>
            </a:r>
          </a:p>
        </p:txBody>
      </p:sp>
      <p:sp>
        <p:nvSpPr>
          <p:cNvPr id="9" name="TextBox 8"/>
          <p:cNvSpPr txBox="1"/>
          <p:nvPr/>
        </p:nvSpPr>
        <p:spPr>
          <a:xfrm>
            <a:off x="5457825" y="4667250"/>
            <a:ext cx="3228975" cy="240030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 refusal to give investment advice or issue buy and sell recommendations, in a market where every incumbent treated research as a core service.</a:t>
            </a:r>
          </a:p>
        </p:txBody>
      </p:sp>
      <p:sp>
        <p:nvSpPr>
          <p:cNvPr id="10" name="Rectangle 9"/>
          <p:cNvSpPr/>
          <p:nvPr/>
        </p:nvSpPr>
        <p:spPr>
          <a:xfrm>
            <a:off x="9334500"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0" y="3143250"/>
            <a:ext cx="3228975" cy="1200150"/>
          </a:xfrm>
          <a:prstGeom prst="rect">
            <a:avLst/>
          </a:prstGeom>
          <a:noFill/>
        </p:spPr>
        <p:txBody>
          <a:bodyPr wrap="square" lIns="0" rIns="0" tIns="0" bIns="0" anchor="t">
            <a:spAutoFit/>
            <a:spAutoFit/>
          </a:bodyPr>
          <a:lstStyle/>
          <a:p>
            <a:pPr algn="l">
              <a:lnSpc>
                <a:spcPct val="106000"/>
              </a:lnSpc>
            </a:pPr>
            <a:r>
              <a:rPr sz="2850" b="1" i="0">
                <a:solidFill>
                  <a:srgbClr val="201914"/>
                </a:solidFill>
                <a:latin typeface="Arial"/>
              </a:rPr>
              <a:t>Console showing you exactly what you paid</a:t>
            </a:r>
          </a:p>
        </p:txBody>
      </p:sp>
      <p:sp>
        <p:nvSpPr>
          <p:cNvPr id="12" name="TextBox 11"/>
          <p:cNvSpPr txBox="1"/>
          <p:nvPr/>
        </p:nvSpPr>
        <p:spPr>
          <a:xfrm>
            <a:off x="9601200" y="4667250"/>
            <a:ext cx="3228975" cy="152400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 screen with a clear breakdown of every charge a customer has incurred, including Zerodha's own.</a:t>
            </a:r>
          </a:p>
        </p:txBody>
      </p:sp>
      <p:sp>
        <p:nvSpPr>
          <p:cNvPr id="13" name="Rectangle 12"/>
          <p:cNvSpPr/>
          <p:nvPr/>
        </p:nvSpPr>
        <p:spPr>
          <a:xfrm>
            <a:off x="13477875"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4575" y="3143250"/>
            <a:ext cx="3228975" cy="1200150"/>
          </a:xfrm>
          <a:prstGeom prst="rect">
            <a:avLst/>
          </a:prstGeom>
          <a:noFill/>
        </p:spPr>
        <p:txBody>
          <a:bodyPr wrap="square" lIns="0" rIns="0" tIns="0" bIns="0" anchor="t">
            <a:spAutoFit/>
            <a:spAutoFit/>
          </a:bodyPr>
          <a:lstStyle/>
          <a:p>
            <a:pPr algn="l">
              <a:lnSpc>
                <a:spcPct val="106000"/>
              </a:lnSpc>
            </a:pPr>
            <a:r>
              <a:rPr sz="2850" b="1" i="0">
                <a:solidFill>
                  <a:srgbClr val="201914"/>
                </a:solidFill>
                <a:latin typeface="Arial"/>
              </a:rPr>
              <a:t>Varsity translated into Hindi</a:t>
            </a:r>
          </a:p>
        </p:txBody>
      </p:sp>
      <p:sp>
        <p:nvSpPr>
          <p:cNvPr id="15" name="TextBox 14"/>
          <p:cNvSpPr txBox="1"/>
          <p:nvPr/>
        </p:nvSpPr>
        <p:spPr>
          <a:xfrm>
            <a:off x="13744575" y="4667250"/>
            <a:ext cx="3228975" cy="152400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The education library, already free and ungated, rewritten into Hindi and other Indian languages.</a:t>
            </a:r>
          </a:p>
        </p:txBody>
      </p:sp>
      <p:sp>
        <p:nvSpPr>
          <p:cNvPr id="16" name="TextBox 15"/>
          <p:cNvSpPr txBox="1"/>
          <p:nvPr/>
        </p:nvSpPr>
        <p:spPr>
          <a:xfrm>
            <a:off x="1047750" y="9039225"/>
            <a:ext cx="16192500" cy="542925"/>
          </a:xfrm>
          <a:prstGeom prst="rect">
            <a:avLst/>
          </a:prstGeom>
          <a:noFill/>
        </p:spPr>
        <p:txBody>
          <a:bodyPr wrap="square" lIns="0" rIns="0" tIns="0" bIns="0" anchor="t">
            <a:spAutoFit/>
            <a:spAutoFit/>
          </a:bodyPr>
          <a:lstStyle/>
          <a:p>
            <a:pPr algn="l">
              <a:lnSpc>
                <a:spcPct val="118000"/>
              </a:lnSpc>
            </a:pPr>
            <a:r>
              <a:rPr sz="3300" b="0" i="1">
                <a:solidFill>
                  <a:srgbClr val="362C24"/>
                </a:solidFill>
                <a:latin typeface="Georgia"/>
              </a:rPr>
              <a:t>Name the signal and the colour before I show you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ANSWERS</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Which signal produced each of these?</a:t>
            </a:r>
          </a:p>
        </p:txBody>
      </p:sp>
      <p:sp>
        <p:nvSpPr>
          <p:cNvPr id="4" name="Rectangle 3"/>
          <p:cNvSpPr/>
          <p:nvPr/>
        </p:nvSpPr>
        <p:spPr>
          <a:xfrm>
            <a:off x="1047750" y="2838450"/>
            <a:ext cx="3762375" cy="32289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14450" y="3143250"/>
            <a:ext cx="3228975" cy="1200150"/>
          </a:xfrm>
          <a:prstGeom prst="rect">
            <a:avLst/>
          </a:prstGeom>
          <a:noFill/>
        </p:spPr>
        <p:txBody>
          <a:bodyPr wrap="square" lIns="0" rIns="0" tIns="0" bIns="0" anchor="t">
            <a:spAutoFit/>
            <a:spAutoFit/>
          </a:bodyPr>
          <a:lstStyle/>
          <a:p>
            <a:pPr algn="l">
              <a:lnSpc>
                <a:spcPct val="106000"/>
              </a:lnSpc>
            </a:pPr>
            <a:r>
              <a:rPr sz="2850" b="1" i="0">
                <a:solidFill>
                  <a:srgbClr val="201914"/>
                </a:solidFill>
                <a:latin typeface="Arial"/>
              </a:rPr>
              <a:t>Free equity delivery</a:t>
            </a:r>
          </a:p>
        </p:txBody>
      </p:sp>
      <p:sp>
        <p:nvSpPr>
          <p:cNvPr id="6" name="TextBox 5"/>
          <p:cNvSpPr txBox="1"/>
          <p:nvPr/>
        </p:nvSpPr>
        <p:spPr>
          <a:xfrm>
            <a:off x="1314450" y="4591050"/>
            <a:ext cx="32289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Nothing charged for buying and holding. She was paying ₹25.</a:t>
            </a:r>
          </a:p>
        </p:txBody>
      </p:sp>
      <p:sp>
        <p:nvSpPr>
          <p:cNvPr id="7" name="Rectangle 6"/>
          <p:cNvSpPr/>
          <p:nvPr/>
        </p:nvSpPr>
        <p:spPr>
          <a:xfrm>
            <a:off x="1047750" y="6296025"/>
            <a:ext cx="3762375" cy="33432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14450" y="6581775"/>
            <a:ext cx="3228975" cy="90487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BEHAVIOUR — green</a:t>
            </a:r>
          </a:p>
        </p:txBody>
      </p:sp>
      <p:sp>
        <p:nvSpPr>
          <p:cNvPr id="9" name="TextBox 8"/>
          <p:cNvSpPr txBox="1"/>
          <p:nvPr/>
        </p:nvSpPr>
        <p:spPr>
          <a:xfrm>
            <a:off x="1314450" y="7600950"/>
            <a:ext cx="3228975" cy="1743075"/>
          </a:xfrm>
          <a:prstGeom prst="rect">
            <a:avLst/>
          </a:prstGeom>
          <a:noFill/>
        </p:spPr>
        <p:txBody>
          <a:bodyPr wrap="square" lIns="0" rIns="0" tIns="0" bIns="0" anchor="t">
            <a:spAutoFit/>
            <a:spAutoFit/>
          </a:bodyPr>
          <a:lstStyle/>
          <a:p>
            <a:pPr algn="l">
              <a:lnSpc>
                <a:spcPct val="112000"/>
              </a:lnSpc>
            </a:pPr>
            <a:r>
              <a:rPr sz="1700" b="0" i="0">
                <a:solidFill>
                  <a:srgbClr val="C1B5AB"/>
                </a:solidFill>
                <a:latin typeface="Arial"/>
              </a:rPr>
              <a:t>Not pain — removing ₹25 relieves nothing worth naming. Traders almost always begin as investors, so the free tier catches them years before they are valuable.</a:t>
            </a:r>
          </a:p>
        </p:txBody>
      </p:sp>
      <p:sp>
        <p:nvSpPr>
          <p:cNvPr id="10" name="Rectangle 9"/>
          <p:cNvSpPr/>
          <p:nvPr/>
        </p:nvSpPr>
        <p:spPr>
          <a:xfrm>
            <a:off x="5191125" y="2838450"/>
            <a:ext cx="3762375" cy="32289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7825" y="3143250"/>
            <a:ext cx="3228975" cy="1200150"/>
          </a:xfrm>
          <a:prstGeom prst="rect">
            <a:avLst/>
          </a:prstGeom>
          <a:noFill/>
        </p:spPr>
        <p:txBody>
          <a:bodyPr wrap="square" lIns="0" rIns="0" tIns="0" bIns="0" anchor="t">
            <a:spAutoFit/>
            <a:spAutoFit/>
          </a:bodyPr>
          <a:lstStyle/>
          <a:p>
            <a:pPr algn="l">
              <a:lnSpc>
                <a:spcPct val="106000"/>
              </a:lnSpc>
            </a:pPr>
            <a:r>
              <a:rPr sz="2850" b="1" i="0">
                <a:solidFill>
                  <a:srgbClr val="201914"/>
                </a:solidFill>
                <a:latin typeface="Arial"/>
              </a:rPr>
              <a:t>No advisory, no research calls, ever</a:t>
            </a:r>
          </a:p>
        </p:txBody>
      </p:sp>
      <p:sp>
        <p:nvSpPr>
          <p:cNvPr id="12" name="TextBox 11"/>
          <p:cNvSpPr txBox="1"/>
          <p:nvPr/>
        </p:nvSpPr>
        <p:spPr>
          <a:xfrm>
            <a:off x="5457825" y="4591050"/>
            <a:ext cx="32289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 refusal, in a market where every incumbent sold research.</a:t>
            </a:r>
          </a:p>
        </p:txBody>
      </p:sp>
      <p:sp>
        <p:nvSpPr>
          <p:cNvPr id="13" name="Rectangle 12"/>
          <p:cNvSpPr/>
          <p:nvPr/>
        </p:nvSpPr>
        <p:spPr>
          <a:xfrm>
            <a:off x="5191125" y="6296025"/>
            <a:ext cx="3762375" cy="33432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57825" y="6581775"/>
            <a:ext cx="3228975" cy="90487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ASPIRATION — amber</a:t>
            </a:r>
          </a:p>
        </p:txBody>
      </p:sp>
      <p:sp>
        <p:nvSpPr>
          <p:cNvPr id="15" name="TextBox 14"/>
          <p:cNvSpPr txBox="1"/>
          <p:nvPr/>
        </p:nvSpPr>
        <p:spPr>
          <a:xfrm>
            <a:off x="5457825" y="7600950"/>
            <a:ext cx="3228975" cy="1743075"/>
          </a:xfrm>
          <a:prstGeom prst="rect">
            <a:avLst/>
          </a:prstGeom>
          <a:noFill/>
        </p:spPr>
        <p:txBody>
          <a:bodyPr wrap="square" lIns="0" rIns="0" tIns="0" bIns="0" anchor="t">
            <a:spAutoFit/>
            <a:spAutoFit/>
          </a:bodyPr>
          <a:lstStyle/>
          <a:p>
            <a:pPr algn="l">
              <a:lnSpc>
                <a:spcPct val="112000"/>
              </a:lnSpc>
            </a:pPr>
            <a:r>
              <a:rPr sz="1700" b="0" i="0">
                <a:solidFill>
                  <a:srgbClr val="C1B5AB"/>
                </a:solidFill>
                <a:latin typeface="Arial"/>
              </a:rPr>
              <a:t>A refusal is a product decision, and a more revealing one than an addition. It states who the customer is: somebody who makes his own decisions and wants to get better at it.</a:t>
            </a:r>
          </a:p>
        </p:txBody>
      </p:sp>
      <p:sp>
        <p:nvSpPr>
          <p:cNvPr id="16" name="Rectangle 15"/>
          <p:cNvSpPr/>
          <p:nvPr/>
        </p:nvSpPr>
        <p:spPr>
          <a:xfrm>
            <a:off x="9334500" y="2838450"/>
            <a:ext cx="3762375" cy="32289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3143250"/>
            <a:ext cx="3228975" cy="1200150"/>
          </a:xfrm>
          <a:prstGeom prst="rect">
            <a:avLst/>
          </a:prstGeom>
          <a:noFill/>
        </p:spPr>
        <p:txBody>
          <a:bodyPr wrap="square" lIns="0" rIns="0" tIns="0" bIns="0" anchor="t">
            <a:spAutoFit/>
            <a:spAutoFit/>
          </a:bodyPr>
          <a:lstStyle/>
          <a:p>
            <a:pPr algn="l">
              <a:lnSpc>
                <a:spcPct val="106000"/>
              </a:lnSpc>
            </a:pPr>
            <a:r>
              <a:rPr sz="2850" b="1" i="0">
                <a:solidFill>
                  <a:srgbClr val="201914"/>
                </a:solidFill>
                <a:latin typeface="Arial"/>
              </a:rPr>
              <a:t>Console showing you exactly what you paid</a:t>
            </a:r>
          </a:p>
        </p:txBody>
      </p:sp>
      <p:sp>
        <p:nvSpPr>
          <p:cNvPr id="18" name="TextBox 17"/>
          <p:cNvSpPr txBox="1"/>
          <p:nvPr/>
        </p:nvSpPr>
        <p:spPr>
          <a:xfrm>
            <a:off x="9601200" y="4591050"/>
            <a:ext cx="32289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 screen built to make Zerodha's own charges obvious.</a:t>
            </a:r>
          </a:p>
        </p:txBody>
      </p:sp>
      <p:sp>
        <p:nvSpPr>
          <p:cNvPr id="19" name="Rectangle 18"/>
          <p:cNvSpPr/>
          <p:nvPr/>
        </p:nvSpPr>
        <p:spPr>
          <a:xfrm>
            <a:off x="9334500" y="6296025"/>
            <a:ext cx="3762375" cy="33432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6581775"/>
            <a:ext cx="3228975" cy="90487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PAIN — blue</a:t>
            </a:r>
          </a:p>
        </p:txBody>
      </p:sp>
      <p:sp>
        <p:nvSpPr>
          <p:cNvPr id="21" name="TextBox 20"/>
          <p:cNvSpPr txBox="1"/>
          <p:nvPr/>
        </p:nvSpPr>
        <p:spPr>
          <a:xfrm>
            <a:off x="9601200" y="7600950"/>
            <a:ext cx="3228975" cy="1743075"/>
          </a:xfrm>
          <a:prstGeom prst="rect">
            <a:avLst/>
          </a:prstGeom>
          <a:noFill/>
        </p:spPr>
        <p:txBody>
          <a:bodyPr wrap="square" lIns="0" rIns="0" tIns="0" bIns="0" anchor="t">
            <a:spAutoFit/>
            <a:spAutoFit/>
          </a:bodyPr>
          <a:lstStyle/>
          <a:p>
            <a:pPr algn="l">
              <a:lnSpc>
                <a:spcPct val="112000"/>
              </a:lnSpc>
            </a:pPr>
            <a:r>
              <a:rPr sz="1700" b="0" i="0">
                <a:solidFill>
                  <a:srgbClr val="C1B5AB"/>
                </a:solidFill>
                <a:latin typeface="Arial"/>
              </a:rPr>
              <a:t>'Transparency is good' is not a customer signal. He checks the number against what he would have paid elsewhere, every month, forever. For anyone not cheapest, this is self-harm.</a:t>
            </a:r>
          </a:p>
        </p:txBody>
      </p:sp>
      <p:sp>
        <p:nvSpPr>
          <p:cNvPr id="22" name="Rectangle 21"/>
          <p:cNvSpPr/>
          <p:nvPr/>
        </p:nvSpPr>
        <p:spPr>
          <a:xfrm>
            <a:off x="13477875" y="2838450"/>
            <a:ext cx="3762375" cy="32289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744575" y="3143250"/>
            <a:ext cx="3228975" cy="1200150"/>
          </a:xfrm>
          <a:prstGeom prst="rect">
            <a:avLst/>
          </a:prstGeom>
          <a:noFill/>
        </p:spPr>
        <p:txBody>
          <a:bodyPr wrap="square" lIns="0" rIns="0" tIns="0" bIns="0" anchor="t">
            <a:spAutoFit/>
            <a:spAutoFit/>
          </a:bodyPr>
          <a:lstStyle/>
          <a:p>
            <a:pPr algn="l">
              <a:lnSpc>
                <a:spcPct val="106000"/>
              </a:lnSpc>
            </a:pPr>
            <a:r>
              <a:rPr sz="2850" b="1" i="0">
                <a:solidFill>
                  <a:srgbClr val="201914"/>
                </a:solidFill>
                <a:latin typeface="Arial"/>
              </a:rPr>
              <a:t>Varsity translated into Hindi</a:t>
            </a:r>
          </a:p>
        </p:txBody>
      </p:sp>
      <p:sp>
        <p:nvSpPr>
          <p:cNvPr id="24" name="TextBox 23"/>
          <p:cNvSpPr txBox="1"/>
          <p:nvPr/>
        </p:nvSpPr>
        <p:spPr>
          <a:xfrm>
            <a:off x="13744575" y="4591050"/>
            <a:ext cx="32289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Already free and ungated. Now in Hindi and other Indian languages.</a:t>
            </a:r>
          </a:p>
        </p:txBody>
      </p:sp>
      <p:sp>
        <p:nvSpPr>
          <p:cNvPr id="25" name="Rectangle 24"/>
          <p:cNvSpPr/>
          <p:nvPr/>
        </p:nvSpPr>
        <p:spPr>
          <a:xfrm>
            <a:off x="13477875" y="6296025"/>
            <a:ext cx="3762375" cy="33432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44575" y="6581775"/>
            <a:ext cx="3228975" cy="90487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ASPIRATION — amber, and not the same decision</a:t>
            </a:r>
          </a:p>
        </p:txBody>
      </p:sp>
      <p:sp>
        <p:nvSpPr>
          <p:cNvPr id="27" name="TextBox 26"/>
          <p:cNvSpPr txBox="1"/>
          <p:nvPr/>
        </p:nvSpPr>
        <p:spPr>
          <a:xfrm>
            <a:off x="13744575" y="7600950"/>
            <a:ext cx="3228975" cy="1743075"/>
          </a:xfrm>
          <a:prstGeom prst="rect">
            <a:avLst/>
          </a:prstGeom>
          <a:noFill/>
        </p:spPr>
        <p:txBody>
          <a:bodyPr wrap="square" lIns="0" rIns="0" tIns="0" bIns="0" anchor="t">
            <a:spAutoFit/>
            <a:spAutoFit/>
          </a:bodyPr>
          <a:lstStyle/>
          <a:p>
            <a:pPr algn="l">
              <a:lnSpc>
                <a:spcPct val="112000"/>
              </a:lnSpc>
            </a:pPr>
            <a:r>
              <a:rPr sz="1700" b="0" i="0">
                <a:solidFill>
                  <a:srgbClr val="C1B5AB"/>
                </a:solidFill>
                <a:latin typeface="Arial"/>
              </a:rPr>
              <a:t>Building it served an existing customer's aspiration. Translating it reaches somebody with the same aspiration and no access — a segmentation move, not a product one.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WHY THE FEE CAME FIRST AND VARSITY CAME YEARS LATER</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Lead with pain. Build for behaviour. Invest in aspiration.</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Pain, first</a:t>
            </a:r>
          </a:p>
        </p:txBody>
      </p:sp>
      <p:sp>
        <p:nvSpPr>
          <p:cNvPr id="6" name="TextBox 5"/>
          <p:cNvSpPr txBox="1"/>
          <p:nvPr/>
        </p:nvSpPr>
        <p:spPr>
          <a:xfrm>
            <a:off x="10477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It is the only signal that moves people this quarter, and a new company needs customers to switch immediately.</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Behaviour, once you have customers</a:t>
            </a:r>
          </a:p>
        </p:txBody>
      </p:sp>
      <p:sp>
        <p:nvSpPr>
          <p:cNvPr id="9" name="TextBox 8"/>
          <p:cNvSpPr txBox="1"/>
          <p:nvPr/>
        </p:nvSpPr>
        <p:spPr>
          <a:xfrm>
            <a:off x="6572250" y="4724400"/>
            <a:ext cx="5143500" cy="695325"/>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You cannot observe a behaviour until there is somebody to watch.</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Aspiration, once you can afford it</a:t>
            </a:r>
          </a:p>
        </p:txBody>
      </p:sp>
      <p:sp>
        <p:nvSpPr>
          <p:cNvPr id="12" name="TextBox 11"/>
          <p:cNvSpPr txBox="1"/>
          <p:nvPr/>
        </p:nvSpPr>
        <p:spPr>
          <a:xfrm>
            <a:off x="12096750" y="4724400"/>
            <a:ext cx="5143500" cy="16573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It will not show a return for three years. A company that opens with an aspiration play and no pain relief produces a beautiful brand and no customers.</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A company that only ever solves pains will be undercut by whoever solves the same pain for less, because a pain has no loyalty attached to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FRAMEWORK 2 · DRAW THIS OUT YOURSELF</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Discovery Chain</a:t>
            </a:r>
          </a:p>
        </p:txBody>
      </p:sp>
      <p:sp>
        <p:nvSpPr>
          <p:cNvPr id="4" name="Rectangle 3"/>
          <p:cNvSpPr/>
          <p:nvPr/>
        </p:nvSpPr>
        <p:spPr>
          <a:xfrm>
            <a:off x="1047750" y="2838450"/>
            <a:ext cx="29718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05150"/>
            <a:ext cx="29718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CUSTOMER INSIGHT</a:t>
            </a:r>
          </a:p>
        </p:txBody>
      </p:sp>
      <p:sp>
        <p:nvSpPr>
          <p:cNvPr id="6" name="Rectangle 5"/>
          <p:cNvSpPr/>
          <p:nvPr/>
        </p:nvSpPr>
        <p:spPr>
          <a:xfrm>
            <a:off x="1047750" y="3752850"/>
            <a:ext cx="2971800" cy="22860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4457700"/>
            <a:ext cx="2971800" cy="876300"/>
          </a:xfrm>
          <a:prstGeom prst="rect">
            <a:avLst/>
          </a:prstGeom>
          <a:noFill/>
        </p:spPr>
        <p:txBody>
          <a:bodyPr wrap="square" lIns="0" rIns="0" tIns="0" bIns="0" anchor="t">
            <a:spAutoFit/>
            <a:spAutoFit/>
          </a:bodyPr>
          <a:lstStyle/>
          <a:p>
            <a:pPr algn="ctr">
              <a:lnSpc>
                <a:spcPct val="108000"/>
              </a:lnSpc>
            </a:pPr>
            <a:r>
              <a:rPr sz="5700" b="1" i="0">
                <a:solidFill>
                  <a:srgbClr val="C8BBB1"/>
                </a:solidFill>
                <a:latin typeface="Arial"/>
              </a:rPr>
              <a:t>?</a:t>
            </a:r>
          </a:p>
        </p:txBody>
      </p:sp>
      <p:sp>
        <p:nvSpPr>
          <p:cNvPr id="8" name="TextBox 7"/>
          <p:cNvSpPr txBox="1"/>
          <p:nvPr/>
        </p:nvSpPr>
        <p:spPr>
          <a:xfrm>
            <a:off x="4038600" y="4667250"/>
            <a:ext cx="323850" cy="419100"/>
          </a:xfrm>
          <a:prstGeom prst="rect">
            <a:avLst/>
          </a:prstGeom>
          <a:noFill/>
        </p:spPr>
        <p:txBody>
          <a:bodyPr wrap="square" lIns="0" rIns="0" tIns="0" bIns="0" anchor="t">
            <a:spAutoFit/>
            <a:spAutoFit/>
          </a:bodyPr>
          <a:lstStyle/>
          <a:p>
            <a:pPr algn="ctr">
              <a:lnSpc>
                <a:spcPct val="108000"/>
              </a:lnSpc>
            </a:pPr>
            <a:r>
              <a:rPr sz="2800" b="1" i="0">
                <a:solidFill>
                  <a:srgbClr val="C35141"/>
                </a:solidFill>
                <a:latin typeface="Arial"/>
              </a:rPr>
              <a:t>→</a:t>
            </a:r>
          </a:p>
        </p:txBody>
      </p:sp>
      <p:sp>
        <p:nvSpPr>
          <p:cNvPr id="9" name="Rectangle 8"/>
          <p:cNvSpPr/>
          <p:nvPr/>
        </p:nvSpPr>
        <p:spPr>
          <a:xfrm>
            <a:off x="4343400" y="2838450"/>
            <a:ext cx="29718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3105150"/>
            <a:ext cx="29718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PRODUCT DECISION</a:t>
            </a:r>
          </a:p>
        </p:txBody>
      </p:sp>
      <p:sp>
        <p:nvSpPr>
          <p:cNvPr id="11" name="Rectangle 10"/>
          <p:cNvSpPr/>
          <p:nvPr/>
        </p:nvSpPr>
        <p:spPr>
          <a:xfrm>
            <a:off x="4343400" y="3752850"/>
            <a:ext cx="2971800" cy="22860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4457700"/>
            <a:ext cx="2971800" cy="876300"/>
          </a:xfrm>
          <a:prstGeom prst="rect">
            <a:avLst/>
          </a:prstGeom>
          <a:noFill/>
        </p:spPr>
        <p:txBody>
          <a:bodyPr wrap="square" lIns="0" rIns="0" tIns="0" bIns="0" anchor="t">
            <a:spAutoFit/>
            <a:spAutoFit/>
          </a:bodyPr>
          <a:lstStyle/>
          <a:p>
            <a:pPr algn="ctr">
              <a:lnSpc>
                <a:spcPct val="108000"/>
              </a:lnSpc>
            </a:pPr>
            <a:r>
              <a:rPr sz="5700" b="1" i="0">
                <a:solidFill>
                  <a:srgbClr val="C8BBB1"/>
                </a:solidFill>
                <a:latin typeface="Arial"/>
              </a:rPr>
              <a:t>?</a:t>
            </a:r>
          </a:p>
        </p:txBody>
      </p:sp>
      <p:sp>
        <p:nvSpPr>
          <p:cNvPr id="13" name="TextBox 12"/>
          <p:cNvSpPr txBox="1"/>
          <p:nvPr/>
        </p:nvSpPr>
        <p:spPr>
          <a:xfrm>
            <a:off x="7334250" y="4667250"/>
            <a:ext cx="323850" cy="419100"/>
          </a:xfrm>
          <a:prstGeom prst="rect">
            <a:avLst/>
          </a:prstGeom>
          <a:noFill/>
        </p:spPr>
        <p:txBody>
          <a:bodyPr wrap="square" lIns="0" rIns="0" tIns="0" bIns="0" anchor="t">
            <a:spAutoFit/>
            <a:spAutoFit/>
          </a:bodyPr>
          <a:lstStyle/>
          <a:p>
            <a:pPr algn="ctr">
              <a:lnSpc>
                <a:spcPct val="108000"/>
              </a:lnSpc>
            </a:pPr>
            <a:r>
              <a:rPr sz="2800" b="1" i="0">
                <a:solidFill>
                  <a:srgbClr val="C35141"/>
                </a:solidFill>
                <a:latin typeface="Arial"/>
              </a:rPr>
              <a:t>→</a:t>
            </a:r>
          </a:p>
        </p:txBody>
      </p:sp>
      <p:sp>
        <p:nvSpPr>
          <p:cNvPr id="14" name="Rectangle 13"/>
          <p:cNvSpPr/>
          <p:nvPr/>
        </p:nvSpPr>
        <p:spPr>
          <a:xfrm>
            <a:off x="7639050" y="2838450"/>
            <a:ext cx="29718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9050" y="3105150"/>
            <a:ext cx="29718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BUSINESS MODEL</a:t>
            </a:r>
          </a:p>
        </p:txBody>
      </p:sp>
      <p:sp>
        <p:nvSpPr>
          <p:cNvPr id="16" name="Rectangle 15"/>
          <p:cNvSpPr/>
          <p:nvPr/>
        </p:nvSpPr>
        <p:spPr>
          <a:xfrm>
            <a:off x="7639050" y="3752850"/>
            <a:ext cx="2971800" cy="22860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39050" y="4457700"/>
            <a:ext cx="2971800" cy="876300"/>
          </a:xfrm>
          <a:prstGeom prst="rect">
            <a:avLst/>
          </a:prstGeom>
          <a:noFill/>
        </p:spPr>
        <p:txBody>
          <a:bodyPr wrap="square" lIns="0" rIns="0" tIns="0" bIns="0" anchor="t">
            <a:spAutoFit/>
            <a:spAutoFit/>
          </a:bodyPr>
          <a:lstStyle/>
          <a:p>
            <a:pPr algn="ctr">
              <a:lnSpc>
                <a:spcPct val="108000"/>
              </a:lnSpc>
            </a:pPr>
            <a:r>
              <a:rPr sz="5700" b="1" i="0">
                <a:solidFill>
                  <a:srgbClr val="C8BBB1"/>
                </a:solidFill>
                <a:latin typeface="Arial"/>
              </a:rPr>
              <a:t>?</a:t>
            </a:r>
          </a:p>
        </p:txBody>
      </p:sp>
      <p:sp>
        <p:nvSpPr>
          <p:cNvPr id="18" name="TextBox 17"/>
          <p:cNvSpPr txBox="1"/>
          <p:nvPr/>
        </p:nvSpPr>
        <p:spPr>
          <a:xfrm>
            <a:off x="10629900" y="4667250"/>
            <a:ext cx="323850" cy="419100"/>
          </a:xfrm>
          <a:prstGeom prst="rect">
            <a:avLst/>
          </a:prstGeom>
          <a:noFill/>
        </p:spPr>
        <p:txBody>
          <a:bodyPr wrap="square" lIns="0" rIns="0" tIns="0" bIns="0" anchor="t">
            <a:spAutoFit/>
            <a:spAutoFit/>
          </a:bodyPr>
          <a:lstStyle/>
          <a:p>
            <a:pPr algn="ctr">
              <a:lnSpc>
                <a:spcPct val="108000"/>
              </a:lnSpc>
            </a:pPr>
            <a:r>
              <a:rPr sz="2800" b="1" i="0">
                <a:solidFill>
                  <a:srgbClr val="C35141"/>
                </a:solidFill>
                <a:latin typeface="Arial"/>
              </a:rPr>
              <a:t>→</a:t>
            </a:r>
          </a:p>
        </p:txBody>
      </p:sp>
      <p:sp>
        <p:nvSpPr>
          <p:cNvPr id="19" name="Rectangle 18"/>
          <p:cNvSpPr/>
          <p:nvPr/>
        </p:nvSpPr>
        <p:spPr>
          <a:xfrm>
            <a:off x="10934700" y="2838450"/>
            <a:ext cx="29718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34700" y="3105150"/>
            <a:ext cx="29718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MOAT</a:t>
            </a:r>
          </a:p>
        </p:txBody>
      </p:sp>
      <p:sp>
        <p:nvSpPr>
          <p:cNvPr id="21" name="Rectangle 20"/>
          <p:cNvSpPr/>
          <p:nvPr/>
        </p:nvSpPr>
        <p:spPr>
          <a:xfrm>
            <a:off x="10934700" y="3752850"/>
            <a:ext cx="2971800" cy="22860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34700" y="4457700"/>
            <a:ext cx="2971800" cy="876300"/>
          </a:xfrm>
          <a:prstGeom prst="rect">
            <a:avLst/>
          </a:prstGeom>
          <a:noFill/>
        </p:spPr>
        <p:txBody>
          <a:bodyPr wrap="square" lIns="0" rIns="0" tIns="0" bIns="0" anchor="t">
            <a:spAutoFit/>
            <a:spAutoFit/>
          </a:bodyPr>
          <a:lstStyle/>
          <a:p>
            <a:pPr algn="ctr">
              <a:lnSpc>
                <a:spcPct val="108000"/>
              </a:lnSpc>
            </a:pPr>
            <a:r>
              <a:rPr sz="5700" b="1" i="0">
                <a:solidFill>
                  <a:srgbClr val="C8BBB1"/>
                </a:solidFill>
                <a:latin typeface="Arial"/>
              </a:rPr>
              <a:t>?</a:t>
            </a:r>
          </a:p>
        </p:txBody>
      </p:sp>
      <p:sp>
        <p:nvSpPr>
          <p:cNvPr id="23" name="TextBox 22"/>
          <p:cNvSpPr txBox="1"/>
          <p:nvPr/>
        </p:nvSpPr>
        <p:spPr>
          <a:xfrm>
            <a:off x="13925550" y="4667250"/>
            <a:ext cx="323850" cy="419100"/>
          </a:xfrm>
          <a:prstGeom prst="rect">
            <a:avLst/>
          </a:prstGeom>
          <a:noFill/>
        </p:spPr>
        <p:txBody>
          <a:bodyPr wrap="square" lIns="0" rIns="0" tIns="0" bIns="0" anchor="t">
            <a:spAutoFit/>
            <a:spAutoFit/>
          </a:bodyPr>
          <a:lstStyle/>
          <a:p>
            <a:pPr algn="ctr">
              <a:lnSpc>
                <a:spcPct val="108000"/>
              </a:lnSpc>
            </a:pPr>
            <a:r>
              <a:rPr sz="2800" b="1" i="0">
                <a:solidFill>
                  <a:srgbClr val="C35141"/>
                </a:solidFill>
                <a:latin typeface="Arial"/>
              </a:rPr>
              <a:t>→</a:t>
            </a:r>
          </a:p>
        </p:txBody>
      </p:sp>
      <p:sp>
        <p:nvSpPr>
          <p:cNvPr id="24" name="Rectangle 23"/>
          <p:cNvSpPr/>
          <p:nvPr/>
        </p:nvSpPr>
        <p:spPr>
          <a:xfrm>
            <a:off x="14230350" y="2838450"/>
            <a:ext cx="29718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230350" y="3105150"/>
            <a:ext cx="29718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FINANCIAL OUTCOME</a:t>
            </a:r>
          </a:p>
        </p:txBody>
      </p:sp>
      <p:sp>
        <p:nvSpPr>
          <p:cNvPr id="26" name="Rectangle 25"/>
          <p:cNvSpPr/>
          <p:nvPr/>
        </p:nvSpPr>
        <p:spPr>
          <a:xfrm>
            <a:off x="14230350" y="3752850"/>
            <a:ext cx="2971800" cy="22860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230350" y="4457700"/>
            <a:ext cx="2971800" cy="876300"/>
          </a:xfrm>
          <a:prstGeom prst="rect">
            <a:avLst/>
          </a:prstGeom>
          <a:noFill/>
        </p:spPr>
        <p:txBody>
          <a:bodyPr wrap="square" lIns="0" rIns="0" tIns="0" bIns="0" anchor="t">
            <a:spAutoFit/>
            <a:spAutoFit/>
          </a:bodyPr>
          <a:lstStyle/>
          <a:p>
            <a:pPr algn="ctr">
              <a:lnSpc>
                <a:spcPct val="108000"/>
              </a:lnSpc>
            </a:pPr>
            <a:r>
              <a:rPr sz="5700" b="1" i="0">
                <a:solidFill>
                  <a:srgbClr val="C8BBB1"/>
                </a:solidFill>
                <a:latin typeface="Arial"/>
              </a:rPr>
              <a:t>?</a:t>
            </a:r>
          </a:p>
        </p:txBody>
      </p:sp>
      <p:sp>
        <p:nvSpPr>
          <p:cNvPr id="28" name="TextBox 27"/>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Forwards when you are building. Backwards when you are analysing — and backwards is the harder direction and the more useful one.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ANSWERS</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Discovery Chain · Zerodha</a:t>
            </a:r>
          </a:p>
        </p:txBody>
      </p:sp>
      <p:sp>
        <p:nvSpPr>
          <p:cNvPr id="4" name="Rectangle 3"/>
          <p:cNvSpPr/>
          <p:nvPr/>
        </p:nvSpPr>
        <p:spPr>
          <a:xfrm>
            <a:off x="1047750" y="2838450"/>
            <a:ext cx="29718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05150"/>
            <a:ext cx="29718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CUSTOMER INSIGHT</a:t>
            </a:r>
          </a:p>
        </p:txBody>
      </p:sp>
      <p:sp>
        <p:nvSpPr>
          <p:cNvPr id="6" name="Rectangle 5"/>
          <p:cNvSpPr/>
          <p:nvPr/>
        </p:nvSpPr>
        <p:spPr>
          <a:xfrm>
            <a:off x="1047750" y="3752850"/>
            <a:ext cx="2971800" cy="3048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57300" y="4019550"/>
            <a:ext cx="2552700" cy="2000250"/>
          </a:xfrm>
          <a:prstGeom prst="rect">
            <a:avLst/>
          </a:prstGeom>
          <a:noFill/>
        </p:spPr>
        <p:txBody>
          <a:bodyPr wrap="square" lIns="0" rIns="0" tIns="0" bIns="0" anchor="t">
            <a:spAutoFit/>
            <a:spAutoFit/>
          </a:bodyPr>
          <a:lstStyle/>
          <a:p>
            <a:pPr algn="l">
              <a:lnSpc>
                <a:spcPct val="115999"/>
              </a:lnSpc>
            </a:pPr>
            <a:r>
              <a:rPr sz="2200" b="0" i="0">
                <a:solidFill>
                  <a:srgbClr val="665B53"/>
                </a:solidFill>
                <a:latin typeface="Arial"/>
              </a:rPr>
              <a:t>A serious trader's largest cost is a percentage fee that grows with his own activity</a:t>
            </a:r>
          </a:p>
        </p:txBody>
      </p:sp>
      <p:sp>
        <p:nvSpPr>
          <p:cNvPr id="8" name="TextBox 7"/>
          <p:cNvSpPr txBox="1"/>
          <p:nvPr/>
        </p:nvSpPr>
        <p:spPr>
          <a:xfrm>
            <a:off x="4038600" y="5048250"/>
            <a:ext cx="323850" cy="419100"/>
          </a:xfrm>
          <a:prstGeom prst="rect">
            <a:avLst/>
          </a:prstGeom>
          <a:noFill/>
        </p:spPr>
        <p:txBody>
          <a:bodyPr wrap="square" lIns="0" rIns="0" tIns="0" bIns="0" anchor="t">
            <a:spAutoFit/>
            <a:spAutoFit/>
          </a:bodyPr>
          <a:lstStyle/>
          <a:p>
            <a:pPr algn="ctr">
              <a:lnSpc>
                <a:spcPct val="108000"/>
              </a:lnSpc>
            </a:pPr>
            <a:r>
              <a:rPr sz="2800" b="1" i="0">
                <a:solidFill>
                  <a:srgbClr val="C35141"/>
                </a:solidFill>
                <a:latin typeface="Arial"/>
              </a:rPr>
              <a:t>→</a:t>
            </a:r>
          </a:p>
        </p:txBody>
      </p:sp>
      <p:sp>
        <p:nvSpPr>
          <p:cNvPr id="9" name="Rectangle 8"/>
          <p:cNvSpPr/>
          <p:nvPr/>
        </p:nvSpPr>
        <p:spPr>
          <a:xfrm>
            <a:off x="4343400" y="2838450"/>
            <a:ext cx="29718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3105150"/>
            <a:ext cx="29718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PRODUCT DECISION</a:t>
            </a:r>
          </a:p>
        </p:txBody>
      </p:sp>
      <p:sp>
        <p:nvSpPr>
          <p:cNvPr id="11" name="Rectangle 10"/>
          <p:cNvSpPr/>
          <p:nvPr/>
        </p:nvSpPr>
        <p:spPr>
          <a:xfrm>
            <a:off x="4343400" y="3752850"/>
            <a:ext cx="2971800" cy="3048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2950" y="4019550"/>
            <a:ext cx="2552700" cy="1352550"/>
          </a:xfrm>
          <a:prstGeom prst="rect">
            <a:avLst/>
          </a:prstGeom>
          <a:noFill/>
        </p:spPr>
        <p:txBody>
          <a:bodyPr wrap="square" lIns="0" rIns="0" tIns="0" bIns="0" anchor="t">
            <a:spAutoFit/>
            <a:spAutoFit/>
          </a:bodyPr>
          <a:lstStyle/>
          <a:p>
            <a:pPr algn="l">
              <a:lnSpc>
                <a:spcPct val="115999"/>
              </a:lnSpc>
            </a:pPr>
            <a:r>
              <a:rPr sz="2200" b="0" i="0">
                <a:solidFill>
                  <a:srgbClr val="665B53"/>
                </a:solidFill>
                <a:latin typeface="Arial"/>
              </a:rPr>
              <a:t>Flat ₹20 per order, whatever the size. Equity delivery free.</a:t>
            </a:r>
          </a:p>
        </p:txBody>
      </p:sp>
      <p:sp>
        <p:nvSpPr>
          <p:cNvPr id="13" name="TextBox 12"/>
          <p:cNvSpPr txBox="1"/>
          <p:nvPr/>
        </p:nvSpPr>
        <p:spPr>
          <a:xfrm>
            <a:off x="7334250" y="5048250"/>
            <a:ext cx="323850" cy="419100"/>
          </a:xfrm>
          <a:prstGeom prst="rect">
            <a:avLst/>
          </a:prstGeom>
          <a:noFill/>
        </p:spPr>
        <p:txBody>
          <a:bodyPr wrap="square" lIns="0" rIns="0" tIns="0" bIns="0" anchor="t">
            <a:spAutoFit/>
            <a:spAutoFit/>
          </a:bodyPr>
          <a:lstStyle/>
          <a:p>
            <a:pPr algn="ctr">
              <a:lnSpc>
                <a:spcPct val="108000"/>
              </a:lnSpc>
            </a:pPr>
            <a:r>
              <a:rPr sz="2800" b="1" i="0">
                <a:solidFill>
                  <a:srgbClr val="C35141"/>
                </a:solidFill>
                <a:latin typeface="Arial"/>
              </a:rPr>
              <a:t>→</a:t>
            </a:r>
          </a:p>
        </p:txBody>
      </p:sp>
      <p:sp>
        <p:nvSpPr>
          <p:cNvPr id="14" name="Rectangle 13"/>
          <p:cNvSpPr/>
          <p:nvPr/>
        </p:nvSpPr>
        <p:spPr>
          <a:xfrm>
            <a:off x="7639050" y="2838450"/>
            <a:ext cx="29718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9050" y="3105150"/>
            <a:ext cx="29718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BUSINESS MODEL</a:t>
            </a:r>
          </a:p>
        </p:txBody>
      </p:sp>
      <p:sp>
        <p:nvSpPr>
          <p:cNvPr id="16" name="Rectangle 15"/>
          <p:cNvSpPr/>
          <p:nvPr/>
        </p:nvSpPr>
        <p:spPr>
          <a:xfrm>
            <a:off x="7639050" y="3752850"/>
            <a:ext cx="2971800" cy="3048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48600" y="4019550"/>
            <a:ext cx="2552700" cy="2324100"/>
          </a:xfrm>
          <a:prstGeom prst="rect">
            <a:avLst/>
          </a:prstGeom>
          <a:noFill/>
        </p:spPr>
        <p:txBody>
          <a:bodyPr wrap="square" lIns="0" rIns="0" tIns="0" bIns="0" anchor="t">
            <a:spAutoFit/>
            <a:spAutoFit/>
          </a:bodyPr>
          <a:lstStyle/>
          <a:p>
            <a:pPr algn="l">
              <a:lnSpc>
                <a:spcPct val="115999"/>
              </a:lnSpc>
            </a:pPr>
            <a:r>
              <a:rPr sz="2200" b="0" i="0">
                <a:solidFill>
                  <a:srgbClr val="665B53"/>
                </a:solidFill>
                <a:latin typeface="Arial"/>
              </a:rPr>
              <a:t>Revenue can only grow with order volume, so the company must obsess over how many customers are still active</a:t>
            </a:r>
          </a:p>
        </p:txBody>
      </p:sp>
      <p:sp>
        <p:nvSpPr>
          <p:cNvPr id="18" name="TextBox 17"/>
          <p:cNvSpPr txBox="1"/>
          <p:nvPr/>
        </p:nvSpPr>
        <p:spPr>
          <a:xfrm>
            <a:off x="10629900" y="5048250"/>
            <a:ext cx="323850" cy="419100"/>
          </a:xfrm>
          <a:prstGeom prst="rect">
            <a:avLst/>
          </a:prstGeom>
          <a:noFill/>
        </p:spPr>
        <p:txBody>
          <a:bodyPr wrap="square" lIns="0" rIns="0" tIns="0" bIns="0" anchor="t">
            <a:spAutoFit/>
            <a:spAutoFit/>
          </a:bodyPr>
          <a:lstStyle/>
          <a:p>
            <a:pPr algn="ctr">
              <a:lnSpc>
                <a:spcPct val="108000"/>
              </a:lnSpc>
            </a:pPr>
            <a:r>
              <a:rPr sz="2800" b="1" i="0">
                <a:solidFill>
                  <a:srgbClr val="C35141"/>
                </a:solidFill>
                <a:latin typeface="Arial"/>
              </a:rPr>
              <a:t>→</a:t>
            </a:r>
          </a:p>
        </p:txBody>
      </p:sp>
      <p:sp>
        <p:nvSpPr>
          <p:cNvPr id="19" name="Rectangle 18"/>
          <p:cNvSpPr/>
          <p:nvPr/>
        </p:nvSpPr>
        <p:spPr>
          <a:xfrm>
            <a:off x="10934700" y="2838450"/>
            <a:ext cx="29718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34700" y="3105150"/>
            <a:ext cx="29718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MOAT</a:t>
            </a:r>
          </a:p>
        </p:txBody>
      </p:sp>
      <p:sp>
        <p:nvSpPr>
          <p:cNvPr id="21" name="Rectangle 20"/>
          <p:cNvSpPr/>
          <p:nvPr/>
        </p:nvSpPr>
        <p:spPr>
          <a:xfrm>
            <a:off x="10934700" y="3752850"/>
            <a:ext cx="2971800" cy="3048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44250" y="4019550"/>
            <a:ext cx="2552700" cy="2000250"/>
          </a:xfrm>
          <a:prstGeom prst="rect">
            <a:avLst/>
          </a:prstGeom>
          <a:noFill/>
        </p:spPr>
        <p:txBody>
          <a:bodyPr wrap="square" lIns="0" rIns="0" tIns="0" bIns="0" anchor="t">
            <a:spAutoFit/>
            <a:spAutoFit/>
          </a:bodyPr>
          <a:lstStyle/>
          <a:p>
            <a:pPr algn="l">
              <a:lnSpc>
                <a:spcPct val="115999"/>
              </a:lnSpc>
            </a:pPr>
            <a:r>
              <a:rPr sz="2200" b="0" i="0">
                <a:solidFill>
                  <a:srgbClr val="665B53"/>
                </a:solidFill>
                <a:latin typeface="Arial"/>
              </a:rPr>
              <a:t>The cheapest and fastest platform for one specific customer, plus an education library he trusts</a:t>
            </a:r>
          </a:p>
        </p:txBody>
      </p:sp>
      <p:sp>
        <p:nvSpPr>
          <p:cNvPr id="23" name="TextBox 22"/>
          <p:cNvSpPr txBox="1"/>
          <p:nvPr/>
        </p:nvSpPr>
        <p:spPr>
          <a:xfrm>
            <a:off x="13925550" y="5048250"/>
            <a:ext cx="323850" cy="419100"/>
          </a:xfrm>
          <a:prstGeom prst="rect">
            <a:avLst/>
          </a:prstGeom>
          <a:noFill/>
        </p:spPr>
        <p:txBody>
          <a:bodyPr wrap="square" lIns="0" rIns="0" tIns="0" bIns="0" anchor="t">
            <a:spAutoFit/>
            <a:spAutoFit/>
          </a:bodyPr>
          <a:lstStyle/>
          <a:p>
            <a:pPr algn="ctr">
              <a:lnSpc>
                <a:spcPct val="108000"/>
              </a:lnSpc>
            </a:pPr>
            <a:r>
              <a:rPr sz="2800" b="1" i="0">
                <a:solidFill>
                  <a:srgbClr val="C35141"/>
                </a:solidFill>
                <a:latin typeface="Arial"/>
              </a:rPr>
              <a:t>→</a:t>
            </a:r>
          </a:p>
        </p:txBody>
      </p:sp>
      <p:sp>
        <p:nvSpPr>
          <p:cNvPr id="24" name="Rectangle 23"/>
          <p:cNvSpPr/>
          <p:nvPr/>
        </p:nvSpPr>
        <p:spPr>
          <a:xfrm>
            <a:off x="14230350" y="2838450"/>
            <a:ext cx="29718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230350" y="3105150"/>
            <a:ext cx="29718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FINANCIAL OUTCOME</a:t>
            </a:r>
          </a:p>
        </p:txBody>
      </p:sp>
      <p:sp>
        <p:nvSpPr>
          <p:cNvPr id="26" name="Rectangle 25"/>
          <p:cNvSpPr/>
          <p:nvPr/>
        </p:nvSpPr>
        <p:spPr>
          <a:xfrm>
            <a:off x="14230350" y="3752850"/>
            <a:ext cx="2971800" cy="3048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439900" y="4019550"/>
            <a:ext cx="2552700" cy="2324100"/>
          </a:xfrm>
          <a:prstGeom prst="rect">
            <a:avLst/>
          </a:prstGeom>
          <a:noFill/>
        </p:spPr>
        <p:txBody>
          <a:bodyPr wrap="square" lIns="0" rIns="0" tIns="0" bIns="0" anchor="t">
            <a:spAutoFit/>
            <a:spAutoFit/>
          </a:bodyPr>
          <a:lstStyle/>
          <a:p>
            <a:pPr algn="l">
              <a:lnSpc>
                <a:spcPct val="115999"/>
              </a:lnSpc>
            </a:pPr>
            <a:r>
              <a:rPr sz="2200" b="0" i="0">
                <a:solidFill>
                  <a:srgbClr val="665B53"/>
                </a:solidFill>
                <a:latin typeface="Arial"/>
              </a:rPr>
              <a:t>FY24 revenue about ₹8,320 crore, profit about ₹4,700 crore, no outside capital ever raised</a:t>
            </a:r>
          </a:p>
        </p:txBody>
      </p:sp>
      <p:sp>
        <p:nvSpPr>
          <p:cNvPr id="28" name="TextBox 27"/>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One link is always carrying the weight. Find it, because that is the only one a competitor has to break.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RUN IT BACKWARDS</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You are given what they do. Reconstruct what they believe.</a:t>
            </a:r>
          </a:p>
        </p:txBody>
      </p:sp>
      <p:sp>
        <p:nvSpPr>
          <p:cNvPr id="4" name="TextBox 3"/>
          <p:cNvSpPr txBox="1"/>
          <p:nvPr/>
        </p:nvSpPr>
        <p:spPr>
          <a:xfrm>
            <a:off x="1314450" y="3409950"/>
            <a:ext cx="76200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YOU ARE GIVEN</a:t>
            </a:r>
          </a:p>
        </p:txBody>
      </p:sp>
      <p:sp>
        <p:nvSpPr>
          <p:cNvPr id="5" name="TextBox 4"/>
          <p:cNvSpPr txBox="1"/>
          <p:nvPr/>
        </p:nvSpPr>
        <p:spPr>
          <a:xfrm>
            <a:off x="9182100" y="3409950"/>
            <a:ext cx="78105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THE CUSTOMER INSIGHT UNDERNEATH IT</a:t>
            </a:r>
          </a:p>
        </p:txBody>
      </p:sp>
      <p:sp>
        <p:nvSpPr>
          <p:cNvPr id="6" name="Rectangle 5"/>
          <p:cNvSpPr/>
          <p:nvPr/>
        </p:nvSpPr>
        <p:spPr>
          <a:xfrm>
            <a:off x="1047750" y="40005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4450" y="4695825"/>
            <a:ext cx="7620000" cy="657225"/>
          </a:xfrm>
          <a:prstGeom prst="rect">
            <a:avLst/>
          </a:prstGeom>
          <a:noFill/>
        </p:spPr>
        <p:txBody>
          <a:bodyPr wrap="square" lIns="0" rIns="0" tIns="0" bIns="0" anchor="t">
            <a:spAutoFit/>
            <a:spAutoFit/>
          </a:bodyPr>
          <a:lstStyle/>
          <a:p>
            <a:pPr algn="l">
              <a:lnSpc>
                <a:spcPct val="113999"/>
              </a:lnSpc>
            </a:pPr>
            <a:r>
              <a:rPr sz="2100" b="1" i="0">
                <a:solidFill>
                  <a:srgbClr val="201914"/>
                </a:solidFill>
                <a:latin typeface="Arial"/>
              </a:rPr>
              <a:t>A company delivers groceries in ten minutes and runs dark stores in dense neighbourhoods</a:t>
            </a:r>
          </a:p>
        </p:txBody>
      </p:sp>
      <p:sp>
        <p:nvSpPr>
          <p:cNvPr id="8" name="TextBox 7"/>
          <p:cNvSpPr txBox="1"/>
          <p:nvPr/>
        </p:nvSpPr>
        <p:spPr>
          <a:xfrm>
            <a:off x="9182100" y="4695825"/>
            <a:ext cx="7810500" cy="352425"/>
          </a:xfrm>
          <a:prstGeom prst="rect">
            <a:avLst/>
          </a:prstGeom>
          <a:noFill/>
        </p:spPr>
        <p:txBody>
          <a:bodyPr wrap="square" lIns="0" rIns="0" tIns="0" bIns="0" anchor="t">
            <a:spAutoFit/>
            <a:spAutoFit/>
          </a:bodyPr>
          <a:lstStyle/>
          <a:p>
            <a:pPr algn="l">
              <a:lnSpc>
                <a:spcPct val="113999"/>
              </a:lnSpc>
            </a:pPr>
            <a:r>
              <a:rPr sz="2100" b="0" i="0">
                <a:solidFill>
                  <a:srgbClr val="665B53"/>
                </a:solidFill>
                <a:latin typeface="Arial"/>
              </a:rPr>
              <a:t>?</a:t>
            </a:r>
          </a:p>
        </p:txBody>
      </p:sp>
      <p:sp>
        <p:nvSpPr>
          <p:cNvPr id="9" name="Rectangle 8"/>
          <p:cNvSpPr/>
          <p:nvPr/>
        </p:nvSpPr>
        <p:spPr>
          <a:xfrm>
            <a:off x="1047750" y="59436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7750" y="5943600"/>
            <a:ext cx="16192500" cy="183832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450" y="6534150"/>
            <a:ext cx="7620000" cy="657225"/>
          </a:xfrm>
          <a:prstGeom prst="rect">
            <a:avLst/>
          </a:prstGeom>
          <a:noFill/>
        </p:spPr>
        <p:txBody>
          <a:bodyPr wrap="square" lIns="0" rIns="0" tIns="0" bIns="0" anchor="t">
            <a:spAutoFit/>
            <a:spAutoFit/>
          </a:bodyPr>
          <a:lstStyle/>
          <a:p>
            <a:pPr algn="l">
              <a:lnSpc>
                <a:spcPct val="113999"/>
              </a:lnSpc>
            </a:pPr>
            <a:r>
              <a:rPr sz="2100" b="1" i="0">
                <a:solidFill>
                  <a:srgbClr val="201914"/>
                </a:solidFill>
                <a:latin typeface="Arial"/>
              </a:rPr>
              <a:t>A brokerage charges nothing for delivery and ₹20 for everything else</a:t>
            </a:r>
          </a:p>
        </p:txBody>
      </p:sp>
      <p:sp>
        <p:nvSpPr>
          <p:cNvPr id="12" name="TextBox 11"/>
          <p:cNvSpPr txBox="1"/>
          <p:nvPr/>
        </p:nvSpPr>
        <p:spPr>
          <a:xfrm>
            <a:off x="9182100" y="6534150"/>
            <a:ext cx="7810500" cy="352425"/>
          </a:xfrm>
          <a:prstGeom prst="rect">
            <a:avLst/>
          </a:prstGeom>
          <a:noFill/>
        </p:spPr>
        <p:txBody>
          <a:bodyPr wrap="square" lIns="0" rIns="0" tIns="0" bIns="0" anchor="t">
            <a:spAutoFit/>
            <a:spAutoFit/>
          </a:bodyPr>
          <a:lstStyle/>
          <a:p>
            <a:pPr algn="l">
              <a:lnSpc>
                <a:spcPct val="113999"/>
              </a:lnSpc>
            </a:pPr>
            <a:r>
              <a:rPr sz="2100" b="0" i="0">
                <a:solidFill>
                  <a:srgbClr val="665B53"/>
                </a:solidFill>
                <a:latin typeface="Arial"/>
              </a:rPr>
              <a:t>?</a:t>
            </a:r>
          </a:p>
        </p:txBody>
      </p:sp>
      <p:sp>
        <p:nvSpPr>
          <p:cNvPr id="13" name="Rectangle 12"/>
          <p:cNvSpPr/>
          <p:nvPr/>
        </p:nvSpPr>
        <p:spPr>
          <a:xfrm>
            <a:off x="1047750" y="77819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4450" y="8372475"/>
            <a:ext cx="7620000" cy="657225"/>
          </a:xfrm>
          <a:prstGeom prst="rect">
            <a:avLst/>
          </a:prstGeom>
          <a:noFill/>
        </p:spPr>
        <p:txBody>
          <a:bodyPr wrap="square" lIns="0" rIns="0" tIns="0" bIns="0" anchor="t">
            <a:spAutoFit/>
            <a:spAutoFit/>
          </a:bodyPr>
          <a:lstStyle/>
          <a:p>
            <a:pPr algn="l">
              <a:lnSpc>
                <a:spcPct val="113999"/>
              </a:lnSpc>
            </a:pPr>
            <a:r>
              <a:rPr sz="2100" b="1" i="0">
                <a:solidFill>
                  <a:srgbClr val="201914"/>
                </a:solidFill>
                <a:latin typeface="Arial"/>
              </a:rPr>
              <a:t>A motorcycle company deliberately keeps its engine loud and its machine heavy</a:t>
            </a:r>
          </a:p>
        </p:txBody>
      </p:sp>
      <p:sp>
        <p:nvSpPr>
          <p:cNvPr id="15" name="TextBox 14"/>
          <p:cNvSpPr txBox="1"/>
          <p:nvPr/>
        </p:nvSpPr>
        <p:spPr>
          <a:xfrm>
            <a:off x="9182100" y="8372475"/>
            <a:ext cx="7810500" cy="352425"/>
          </a:xfrm>
          <a:prstGeom prst="rect">
            <a:avLst/>
          </a:prstGeom>
          <a:noFill/>
        </p:spPr>
        <p:txBody>
          <a:bodyPr wrap="square" lIns="0" rIns="0" tIns="0" bIns="0" anchor="t">
            <a:spAutoFit/>
            <a:spAutoFit/>
          </a:bodyPr>
          <a:lstStyle/>
          <a:p>
            <a:pPr algn="l">
              <a:lnSpc>
                <a:spcPct val="113999"/>
              </a:lnSpc>
            </a:pPr>
            <a:r>
              <a:rPr sz="2100" b="0" i="0">
                <a:solidFill>
                  <a:srgbClr val="665B53"/>
                </a:solidFill>
                <a:latin typeface="Arial"/>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ANSWERS</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You are given what they do. Reconstruct what they believe.</a:t>
            </a:r>
          </a:p>
        </p:txBody>
      </p:sp>
      <p:sp>
        <p:nvSpPr>
          <p:cNvPr id="4" name="TextBox 3"/>
          <p:cNvSpPr txBox="1"/>
          <p:nvPr/>
        </p:nvSpPr>
        <p:spPr>
          <a:xfrm>
            <a:off x="1314450" y="3409950"/>
            <a:ext cx="76200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YOU ARE GIVEN</a:t>
            </a:r>
          </a:p>
        </p:txBody>
      </p:sp>
      <p:sp>
        <p:nvSpPr>
          <p:cNvPr id="5" name="TextBox 4"/>
          <p:cNvSpPr txBox="1"/>
          <p:nvPr/>
        </p:nvSpPr>
        <p:spPr>
          <a:xfrm>
            <a:off x="9182100" y="3409950"/>
            <a:ext cx="78105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THE CUSTOMER INSIGHT UNDERNEATH IT</a:t>
            </a:r>
          </a:p>
        </p:txBody>
      </p:sp>
      <p:sp>
        <p:nvSpPr>
          <p:cNvPr id="6" name="Rectangle 5"/>
          <p:cNvSpPr/>
          <p:nvPr/>
        </p:nvSpPr>
        <p:spPr>
          <a:xfrm>
            <a:off x="1047750" y="40005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4450" y="4648200"/>
            <a:ext cx="7620000" cy="657225"/>
          </a:xfrm>
          <a:prstGeom prst="rect">
            <a:avLst/>
          </a:prstGeom>
          <a:noFill/>
        </p:spPr>
        <p:txBody>
          <a:bodyPr wrap="square" lIns="0" rIns="0" tIns="0" bIns="0" anchor="t">
            <a:spAutoFit/>
            <a:spAutoFit/>
          </a:bodyPr>
          <a:lstStyle/>
          <a:p>
            <a:pPr algn="l">
              <a:lnSpc>
                <a:spcPct val="113999"/>
              </a:lnSpc>
            </a:pPr>
            <a:r>
              <a:rPr sz="2100" b="1" i="0">
                <a:solidFill>
                  <a:srgbClr val="201914"/>
                </a:solidFill>
                <a:latin typeface="Arial"/>
              </a:rPr>
              <a:t>A company delivers groceries in ten minutes and runs dark stores in dense neighbourhoods</a:t>
            </a:r>
          </a:p>
        </p:txBody>
      </p:sp>
      <p:sp>
        <p:nvSpPr>
          <p:cNvPr id="8" name="TextBox 7"/>
          <p:cNvSpPr txBox="1"/>
          <p:nvPr/>
        </p:nvSpPr>
        <p:spPr>
          <a:xfrm>
            <a:off x="9182100" y="4648200"/>
            <a:ext cx="7810500" cy="962025"/>
          </a:xfrm>
          <a:prstGeom prst="rect">
            <a:avLst/>
          </a:prstGeom>
          <a:noFill/>
        </p:spPr>
        <p:txBody>
          <a:bodyPr wrap="square" lIns="0" rIns="0" tIns="0" bIns="0" anchor="t">
            <a:spAutoFit/>
            <a:spAutoFit/>
          </a:bodyPr>
          <a:lstStyle/>
          <a:p>
            <a:pPr algn="l">
              <a:lnSpc>
                <a:spcPct val="113999"/>
              </a:lnSpc>
            </a:pPr>
            <a:r>
              <a:rPr sz="2100" b="0" i="0">
                <a:solidFill>
                  <a:srgbClr val="665B53"/>
                </a:solidFill>
                <a:latin typeface="Arial"/>
              </a:rPr>
              <a:t>The insight is not 'people want groceries fast'. It is that the cost of a forgotten item is a ruined evening, not ten minutes.</a:t>
            </a:r>
          </a:p>
        </p:txBody>
      </p:sp>
      <p:sp>
        <p:nvSpPr>
          <p:cNvPr id="9" name="Rectangle 8"/>
          <p:cNvSpPr/>
          <p:nvPr/>
        </p:nvSpPr>
        <p:spPr>
          <a:xfrm>
            <a:off x="1047750" y="61531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7750" y="6153150"/>
            <a:ext cx="16192500" cy="17430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450" y="6696075"/>
            <a:ext cx="7620000" cy="657225"/>
          </a:xfrm>
          <a:prstGeom prst="rect">
            <a:avLst/>
          </a:prstGeom>
          <a:noFill/>
        </p:spPr>
        <p:txBody>
          <a:bodyPr wrap="square" lIns="0" rIns="0" tIns="0" bIns="0" anchor="t">
            <a:spAutoFit/>
            <a:spAutoFit/>
          </a:bodyPr>
          <a:lstStyle/>
          <a:p>
            <a:pPr algn="l">
              <a:lnSpc>
                <a:spcPct val="113999"/>
              </a:lnSpc>
            </a:pPr>
            <a:r>
              <a:rPr sz="2100" b="1" i="0">
                <a:solidFill>
                  <a:srgbClr val="201914"/>
                </a:solidFill>
                <a:latin typeface="Arial"/>
              </a:rPr>
              <a:t>A brokerage charges nothing for delivery and ₹20 for everything else</a:t>
            </a:r>
          </a:p>
        </p:txBody>
      </p:sp>
      <p:sp>
        <p:nvSpPr>
          <p:cNvPr id="12" name="TextBox 11"/>
          <p:cNvSpPr txBox="1"/>
          <p:nvPr/>
        </p:nvSpPr>
        <p:spPr>
          <a:xfrm>
            <a:off x="9182100" y="6696075"/>
            <a:ext cx="7810500" cy="657225"/>
          </a:xfrm>
          <a:prstGeom prst="rect">
            <a:avLst/>
          </a:prstGeom>
          <a:noFill/>
        </p:spPr>
        <p:txBody>
          <a:bodyPr wrap="square" lIns="0" rIns="0" tIns="0" bIns="0" anchor="t">
            <a:spAutoFit/>
            <a:spAutoFit/>
          </a:bodyPr>
          <a:lstStyle/>
          <a:p>
            <a:pPr algn="l">
              <a:lnSpc>
                <a:spcPct val="113999"/>
              </a:lnSpc>
            </a:pPr>
            <a:r>
              <a:rPr sz="2100" b="0" i="0">
                <a:solidFill>
                  <a:srgbClr val="665B53"/>
                </a:solidFill>
                <a:latin typeface="Arial"/>
              </a:rPr>
              <a:t>The insight that a percentage fee punishes exactly the customer who uses you most.</a:t>
            </a:r>
          </a:p>
        </p:txBody>
      </p:sp>
      <p:sp>
        <p:nvSpPr>
          <p:cNvPr id="13" name="Rectangle 12"/>
          <p:cNvSpPr/>
          <p:nvPr/>
        </p:nvSpPr>
        <p:spPr>
          <a:xfrm>
            <a:off x="1047750" y="78962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4450" y="8439150"/>
            <a:ext cx="7620000" cy="657225"/>
          </a:xfrm>
          <a:prstGeom prst="rect">
            <a:avLst/>
          </a:prstGeom>
          <a:noFill/>
        </p:spPr>
        <p:txBody>
          <a:bodyPr wrap="square" lIns="0" rIns="0" tIns="0" bIns="0" anchor="t">
            <a:spAutoFit/>
            <a:spAutoFit/>
          </a:bodyPr>
          <a:lstStyle/>
          <a:p>
            <a:pPr algn="l">
              <a:lnSpc>
                <a:spcPct val="113999"/>
              </a:lnSpc>
            </a:pPr>
            <a:r>
              <a:rPr sz="2100" b="1" i="0">
                <a:solidFill>
                  <a:srgbClr val="201914"/>
                </a:solidFill>
                <a:latin typeface="Arial"/>
              </a:rPr>
              <a:t>A motorcycle company deliberately keeps its engine loud and its machine heavy</a:t>
            </a:r>
          </a:p>
        </p:txBody>
      </p:sp>
      <p:sp>
        <p:nvSpPr>
          <p:cNvPr id="15" name="TextBox 14"/>
          <p:cNvSpPr txBox="1"/>
          <p:nvPr/>
        </p:nvSpPr>
        <p:spPr>
          <a:xfrm>
            <a:off x="9182100" y="8439150"/>
            <a:ext cx="7810500" cy="657225"/>
          </a:xfrm>
          <a:prstGeom prst="rect">
            <a:avLst/>
          </a:prstGeom>
          <a:noFill/>
        </p:spPr>
        <p:txBody>
          <a:bodyPr wrap="square" lIns="0" rIns="0" tIns="0" bIns="0" anchor="t">
            <a:spAutoFit/>
            <a:spAutoFit/>
          </a:bodyPr>
          <a:lstStyle/>
          <a:p>
            <a:pPr algn="l">
              <a:lnSpc>
                <a:spcPct val="113999"/>
              </a:lnSpc>
            </a:pPr>
            <a:r>
              <a:rPr sz="2100" b="0" i="0">
                <a:solidFill>
                  <a:srgbClr val="665B53"/>
                </a:solidFill>
                <a:latin typeface="Arial"/>
              </a:rPr>
              <a:t>The insight that the product is a statement to strangers, so the imperfections are the signal.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BREAK THE LOAD-BEARING LINK</a:t>
            </a:r>
          </a:p>
        </p:txBody>
      </p:sp>
      <p:sp>
        <p:nvSpPr>
          <p:cNvPr id="3" name="TextBox 2"/>
          <p:cNvSpPr txBox="1"/>
          <p:nvPr/>
        </p:nvSpPr>
        <p:spPr>
          <a:xfrm>
            <a:off x="1714500" y="3943350"/>
            <a:ext cx="14859000" cy="2781300"/>
          </a:xfrm>
          <a:prstGeom prst="rect">
            <a:avLst/>
          </a:prstGeom>
          <a:noFill/>
        </p:spPr>
        <p:txBody>
          <a:bodyPr wrap="square" lIns="0" rIns="0" tIns="0" bIns="0" anchor="t">
            <a:spAutoFit/>
            <a:spAutoFit/>
          </a:bodyPr>
          <a:lstStyle/>
          <a:p>
            <a:pPr algn="l">
              <a:lnSpc>
                <a:spcPct val="112000"/>
              </a:lnSpc>
            </a:pPr>
            <a:r>
              <a:rPr sz="4800" b="1" i="0" spc="-120">
                <a:solidFill>
                  <a:srgbClr val="F5F1E9"/>
                </a:solidFill>
                <a:latin typeface="Arial"/>
              </a:rPr>
              <a:t>Every broker in India copies the ₹20 flat fee tomorrow morning.</a:t>
            </a:r>
          </a:p>
          <a:p>
            <a:pPr algn="l">
              <a:lnSpc>
                <a:spcPct val="112000"/>
              </a:lnSpc>
            </a:pPr>
            <a:r>
              <a:rPr sz="4800" b="1" i="0" spc="-120">
                <a:solidFill>
                  <a:srgbClr val="F5F1E9"/>
                </a:solidFill>
                <a:latin typeface="Arial"/>
              </a:rPr>
              <a:t/>
            </a:r>
          </a:p>
          <a:p>
            <a:pPr algn="l">
              <a:lnSpc>
                <a:spcPct val="112000"/>
              </a:lnSpc>
            </a:pPr>
            <a:r>
              <a:rPr sz="4800" b="1" i="0" spc="-120">
                <a:solidFill>
                  <a:srgbClr val="F5F1E9"/>
                </a:solidFill>
                <a:latin typeface="Arial"/>
              </a:rPr>
              <a:t>What is left holding the customer?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WHAT SURVIVED, AND WHY</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price was matched. The cost base was not.</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The platform and the habit</a:t>
            </a:r>
          </a:p>
        </p:txBody>
      </p:sp>
      <p:sp>
        <p:nvSpPr>
          <p:cNvPr id="6" name="TextBox 5"/>
          <p:cNvSpPr txBox="1"/>
          <p:nvPr/>
        </p:nvSpPr>
        <p:spPr>
          <a:xfrm>
            <a:off x="10477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The behavioural link. Leaving means relearning the four keystrokes you make two hundred times a day.</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Varsity and the trust</a:t>
            </a:r>
          </a:p>
        </p:txBody>
      </p:sp>
      <p:sp>
        <p:nvSpPr>
          <p:cNvPr id="9" name="TextBox 8"/>
          <p:cNvSpPr txBox="1"/>
          <p:nvPr/>
        </p:nvSpPr>
        <p:spPr>
          <a:xfrm>
            <a:off x="65722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The aspiration link. A trader who learned his craft from your material does not casually leave you.</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The cost base</a:t>
            </a:r>
          </a:p>
        </p:txBody>
      </p:sp>
      <p:sp>
        <p:nvSpPr>
          <p:cNvPr id="12" name="TextBox 11"/>
          <p:cNvSpPr txBox="1"/>
          <p:nvPr/>
        </p:nvSpPr>
        <p:spPr>
          <a:xfrm>
            <a:off x="12096750" y="4724400"/>
            <a:ext cx="5143500" cy="16573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The structural one. A company with no relationship managers, no branches and no sales force can sustain a low price far longer than one that has them.</a:t>
            </a:r>
          </a:p>
        </p:txBody>
      </p:sp>
      <p:sp>
        <p:nvSpPr>
          <p:cNvPr id="13" name="TextBox 12"/>
          <p:cNvSpPr txBox="1"/>
          <p:nvPr/>
        </p:nvSpPr>
        <p:spPr>
          <a:xfrm>
            <a:off x="1047750" y="8181975"/>
            <a:ext cx="16192500" cy="1400175"/>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A pain-based advantage is copied within a year. What decides whether you survive the copying is whether you spent that year building something behavioural or aspirational underneath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BOUNDARY · WHAT DEEP CUSTOMER UNDERSTANDING DOES NOT BUY YOU</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Three things it does not protect you from</a:t>
            </a:r>
          </a:p>
        </p:txBody>
      </p:sp>
      <p:sp>
        <p:nvSpPr>
          <p:cNvPr id="4" name="TextBox 3"/>
          <p:cNvSpPr txBox="1"/>
          <p:nvPr/>
        </p:nvSpPr>
        <p:spPr>
          <a:xfrm>
            <a:off x="1314450" y="3409950"/>
            <a:ext cx="383857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THE FAILURE</a:t>
            </a:r>
          </a:p>
        </p:txBody>
      </p:sp>
      <p:sp>
        <p:nvSpPr>
          <p:cNvPr id="5" name="TextBox 4"/>
          <p:cNvSpPr txBox="1"/>
          <p:nvPr/>
        </p:nvSpPr>
        <p:spPr>
          <a:xfrm>
            <a:off x="5400675" y="3409950"/>
            <a:ext cx="64103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GOES WRONG</a:t>
            </a:r>
          </a:p>
        </p:txBody>
      </p:sp>
      <p:sp>
        <p:nvSpPr>
          <p:cNvPr id="6" name="TextBox 5"/>
          <p:cNvSpPr txBox="1"/>
          <p:nvPr/>
        </p:nvSpPr>
        <p:spPr>
          <a:xfrm>
            <a:off x="12058650" y="3409950"/>
            <a:ext cx="51244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THE EARLIEST SIGNAL</a:t>
            </a:r>
          </a:p>
        </p:txBody>
      </p:sp>
      <p:sp>
        <p:nvSpPr>
          <p:cNvPr id="7" name="Rectangle 6"/>
          <p:cNvSpPr/>
          <p:nvPr/>
        </p:nvSpPr>
        <p:spPr>
          <a:xfrm>
            <a:off x="1047750" y="40005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14450" y="4476750"/>
            <a:ext cx="3838575"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1 · A regulator</a:t>
            </a:r>
          </a:p>
        </p:txBody>
      </p:sp>
      <p:sp>
        <p:nvSpPr>
          <p:cNvPr id="9" name="TextBox 8"/>
          <p:cNvSpPr txBox="1"/>
          <p:nvPr/>
        </p:nvSpPr>
        <p:spPr>
          <a:xfrm>
            <a:off x="5400675" y="4476750"/>
            <a:ext cx="6410325" cy="109537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SEBI's measures on index derivatives, transaction taxes and how brokers may charge took FY25 profit down to roughly ₹4,240 crore. Not a competitor and not a failure of customer understanding.</a:t>
            </a:r>
          </a:p>
        </p:txBody>
      </p:sp>
      <p:sp>
        <p:nvSpPr>
          <p:cNvPr id="10" name="TextBox 9"/>
          <p:cNvSpPr txBox="1"/>
          <p:nvPr/>
        </p:nvSpPr>
        <p:spPr>
          <a:xfrm>
            <a:off x="12058650" y="4476750"/>
            <a:ext cx="5124450"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Rule-making consultations published long before they bite. Kamath warned for over a year.</a:t>
            </a:r>
          </a:p>
        </p:txBody>
      </p:sp>
      <p:sp>
        <p:nvSpPr>
          <p:cNvPr id="11" name="Rectangle 10"/>
          <p:cNvSpPr/>
          <p:nvPr/>
        </p:nvSpPr>
        <p:spPr>
          <a:xfrm>
            <a:off x="1047750" y="59436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47750" y="5943600"/>
            <a:ext cx="16192500" cy="183832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14450" y="6315075"/>
            <a:ext cx="3838575"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2 · A saturated segment</a:t>
            </a:r>
          </a:p>
        </p:txBody>
      </p:sp>
      <p:sp>
        <p:nvSpPr>
          <p:cNvPr id="14" name="TextBox 13"/>
          <p:cNvSpPr txBox="1"/>
          <p:nvPr/>
        </p:nvSpPr>
        <p:spPr>
          <a:xfrm>
            <a:off x="5400675" y="6315075"/>
            <a:ext cx="6410325" cy="109537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 beachhead is chosen because it is small enough to win completely, and the second half of that arithmetic is that once you have won it, there is nobody left in it.</a:t>
            </a:r>
          </a:p>
        </p:txBody>
      </p:sp>
      <p:sp>
        <p:nvSpPr>
          <p:cNvPr id="15" name="TextBox 14"/>
          <p:cNvSpPr txBox="1"/>
          <p:nvPr/>
        </p:nvSpPr>
        <p:spPr>
          <a:xfrm>
            <a:off x="12058650" y="6315075"/>
            <a:ext cx="5124450"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Growth that depends entirely on more activity per customer, which is outside your control.</a:t>
            </a:r>
          </a:p>
        </p:txBody>
      </p:sp>
      <p:sp>
        <p:nvSpPr>
          <p:cNvPr id="16" name="Rectangle 15"/>
          <p:cNvSpPr/>
          <p:nvPr/>
        </p:nvSpPr>
        <p:spPr>
          <a:xfrm>
            <a:off x="1047750" y="77819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4450" y="8153400"/>
            <a:ext cx="3838575" cy="571500"/>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3 · Your own instinct about a customer you have never been</a:t>
            </a:r>
          </a:p>
        </p:txBody>
      </p:sp>
      <p:sp>
        <p:nvSpPr>
          <p:cNvPr id="18" name="TextBox 17"/>
          <p:cNvSpPr txBox="1"/>
          <p:nvPr/>
        </p:nvSpPr>
        <p:spPr>
          <a:xfrm>
            <a:off x="5400675" y="8153400"/>
            <a:ext cx="6410325" cy="109537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Kamath understood the serious trader because he had been one for ten years. That is exactly why his instinct is unreliable about a 23-year-old opening her first account.</a:t>
            </a:r>
          </a:p>
        </p:txBody>
      </p:sp>
      <p:sp>
        <p:nvSpPr>
          <p:cNvPr id="19" name="TextBox 18"/>
          <p:cNvSpPr txBox="1"/>
          <p:nvPr/>
        </p:nvSpPr>
        <p:spPr>
          <a:xfrm>
            <a:off x="12058650" y="8153400"/>
            <a:ext cx="5124450"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Confidence that arrives faster than evidence, in a segment nobody in the building belongs to.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FOUNDER-AS-CUSTOMER TRAP</a:t>
            </a:r>
          </a:p>
        </p:txBody>
      </p:sp>
      <p:sp>
        <p:nvSpPr>
          <p:cNvPr id="3" name="TextBox 2"/>
          <p:cNvSpPr txBox="1"/>
          <p:nvPr/>
        </p:nvSpPr>
        <p:spPr>
          <a:xfrm>
            <a:off x="1047750" y="1504950"/>
            <a:ext cx="16192500" cy="1095375"/>
          </a:xfrm>
          <a:prstGeom prst="rect">
            <a:avLst/>
          </a:prstGeom>
          <a:noFill/>
        </p:spPr>
        <p:txBody>
          <a:bodyPr wrap="square" lIns="0" rIns="0" tIns="0" bIns="0" anchor="t">
            <a:spAutoFit/>
            <a:spAutoFit/>
          </a:bodyPr>
          <a:lstStyle/>
          <a:p>
            <a:pPr algn="l">
              <a:lnSpc>
                <a:spcPct val="98000"/>
              </a:lnSpc>
            </a:pPr>
            <a:r>
              <a:rPr sz="4200" b="1" i="0" spc="-120">
                <a:solidFill>
                  <a:srgbClr val="201914"/>
                </a:solidFill>
                <a:latin typeface="Arial"/>
              </a:rPr>
              <a:t>Everything that made his instinct trustworthy about one customer makes it untrustworthy about the other</a:t>
            </a:r>
          </a:p>
        </p:txBody>
      </p:sp>
      <p:sp>
        <p:nvSpPr>
          <p:cNvPr id="4" name="Rectangle 3"/>
          <p:cNvSpPr/>
          <p:nvPr/>
        </p:nvSpPr>
        <p:spPr>
          <a:xfrm>
            <a:off x="1047750" y="3038475"/>
            <a:ext cx="7810500" cy="4762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28750" y="3362325"/>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C35141"/>
                </a:solidFill>
                <a:latin typeface="Arial"/>
              </a:rPr>
              <a:t>WHAT HE KNOWS FOR CERTAIN</a:t>
            </a:r>
          </a:p>
        </p:txBody>
      </p:sp>
      <p:sp>
        <p:nvSpPr>
          <p:cNvPr id="6" name="TextBox 5"/>
          <p:cNvSpPr txBox="1"/>
          <p:nvPr/>
        </p:nvSpPr>
        <p:spPr>
          <a:xfrm>
            <a:off x="1428750" y="385762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A flat ₹20 fee is transformative. He has lived it.</a:t>
            </a:r>
          </a:p>
        </p:txBody>
      </p:sp>
      <p:sp>
        <p:nvSpPr>
          <p:cNvPr id="7" name="TextBox 6"/>
          <p:cNvSpPr txBox="1"/>
          <p:nvPr/>
        </p:nvSpPr>
        <p:spPr>
          <a:xfrm>
            <a:off x="1428750" y="475297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A trader wants to execute, not to be advised.</a:t>
            </a:r>
          </a:p>
        </p:txBody>
      </p:sp>
      <p:sp>
        <p:nvSpPr>
          <p:cNvPr id="8" name="TextBox 7"/>
          <p:cNvSpPr txBox="1"/>
          <p:nvPr/>
        </p:nvSpPr>
        <p:spPr>
          <a:xfrm>
            <a:off x="1428750" y="5648325"/>
            <a:ext cx="7048500" cy="4000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Plainness on a screen is focus.</a:t>
            </a:r>
          </a:p>
        </p:txBody>
      </p:sp>
      <p:sp>
        <p:nvSpPr>
          <p:cNvPr id="9" name="TextBox 8"/>
          <p:cNvSpPr txBox="1"/>
          <p:nvPr/>
        </p:nvSpPr>
        <p:spPr>
          <a:xfrm>
            <a:off x="1428750" y="620077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Every one of these is true, and he learned it by being the customer for ten years.</a:t>
            </a:r>
          </a:p>
        </p:txBody>
      </p:sp>
      <p:sp>
        <p:nvSpPr>
          <p:cNvPr id="10" name="Rectangle 9"/>
          <p:cNvSpPr/>
          <p:nvPr/>
        </p:nvSpPr>
        <p:spPr>
          <a:xfrm>
            <a:off x="9429750" y="3038475"/>
            <a:ext cx="7810500" cy="47625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10750" y="3362325"/>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EF806F"/>
                </a:solidFill>
                <a:latin typeface="Arial"/>
              </a:rPr>
              <a:t>WHAT SHE IS</a:t>
            </a:r>
          </a:p>
        </p:txBody>
      </p:sp>
      <p:sp>
        <p:nvSpPr>
          <p:cNvPr id="12" name="TextBox 11"/>
          <p:cNvSpPr txBox="1"/>
          <p:nvPr/>
        </p:nvSpPr>
        <p:spPr>
          <a:xfrm>
            <a:off x="9810750" y="3857625"/>
            <a:ext cx="7048500" cy="4000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23, opening her first account with ₹5,000.</a:t>
            </a:r>
          </a:p>
        </p:txBody>
      </p:sp>
      <p:sp>
        <p:nvSpPr>
          <p:cNvPr id="13" name="TextBox 12"/>
          <p:cNvSpPr txBox="1"/>
          <p:nvPr/>
        </p:nvSpPr>
        <p:spPr>
          <a:xfrm>
            <a:off x="9810750" y="441007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The ₹20 fee is worth ₹25 a month to her, which is nothing.</a:t>
            </a:r>
          </a:p>
        </p:txBody>
      </p:sp>
      <p:sp>
        <p:nvSpPr>
          <p:cNvPr id="14" name="TextBox 13"/>
          <p:cNvSpPr txBox="1"/>
          <p:nvPr/>
        </p:nvSpPr>
        <p:spPr>
          <a:xfrm>
            <a:off x="9810750" y="530542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Plainness reads as emptiness, because she does not yet know what she is looking at.</a:t>
            </a:r>
          </a:p>
        </p:txBody>
      </p:sp>
      <p:sp>
        <p:nvSpPr>
          <p:cNvPr id="15" name="TextBox 14"/>
          <p:cNvSpPr txBox="1"/>
          <p:nvPr/>
        </p:nvSpPr>
        <p:spPr>
          <a:xfrm>
            <a:off x="9810750" y="620077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He has never been her, and his experience actively misleads him.</a:t>
            </a:r>
          </a:p>
        </p:txBody>
      </p:sp>
      <p:sp>
        <p:nvSpPr>
          <p:cNvPr id="16" name="TextBox 15"/>
          <p:cNvSpPr txBox="1"/>
          <p:nvPr/>
        </p:nvSpPr>
        <p:spPr>
          <a:xfrm>
            <a:off x="1047750" y="8181975"/>
            <a:ext cx="16192500" cy="1400175"/>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Take your single most important product decision and compute what it is worth to the new customer. If the answer is a small number, the decision is not weaker for them. It is invisible.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BE HONEST WITH YOURSELF</a:t>
            </a:r>
          </a:p>
        </p:txBody>
      </p:sp>
      <p:sp>
        <p:nvSpPr>
          <p:cNvPr id="3" name="TextBox 2"/>
          <p:cNvSpPr txBox="1"/>
          <p:nvPr/>
        </p:nvSpPr>
        <p:spPr>
          <a:xfrm>
            <a:off x="1714500" y="3943350"/>
            <a:ext cx="14859000" cy="2781300"/>
          </a:xfrm>
          <a:prstGeom prst="rect">
            <a:avLst/>
          </a:prstGeom>
          <a:noFill/>
        </p:spPr>
        <p:txBody>
          <a:bodyPr wrap="square" lIns="0" rIns="0" tIns="0" bIns="0" anchor="t">
            <a:spAutoFit/>
            <a:spAutoFit/>
          </a:bodyPr>
          <a:lstStyle/>
          <a:p>
            <a:pPr algn="l">
              <a:lnSpc>
                <a:spcPct val="112000"/>
              </a:lnSpc>
            </a:pPr>
            <a:r>
              <a:rPr sz="4800" b="1" i="0" spc="-120">
                <a:solidFill>
                  <a:srgbClr val="F5F1E9"/>
                </a:solidFill>
                <a:latin typeface="Arial"/>
              </a:rPr>
              <a:t>For a 22-to-28-year-old opening her first investment account:</a:t>
            </a:r>
          </a:p>
          <a:p>
            <a:pPr algn="l">
              <a:lnSpc>
                <a:spcPct val="112000"/>
              </a:lnSpc>
            </a:pPr>
            <a:r>
              <a:rPr sz="4800" b="1" i="0" spc="-120">
                <a:solidFill>
                  <a:srgbClr val="F5F1E9"/>
                </a:solidFill>
                <a:latin typeface="Arial"/>
              </a:rPr>
              <a:t/>
            </a:r>
          </a:p>
          <a:p>
            <a:pPr algn="l">
              <a:lnSpc>
                <a:spcPct val="112000"/>
              </a:lnSpc>
            </a:pPr>
            <a:r>
              <a:rPr sz="4800" b="1" i="0" spc="-120">
                <a:solidFill>
                  <a:srgbClr val="F5F1E9"/>
                </a:solidFill>
                <a:latin typeface="Arial"/>
              </a:rPr>
              <a:t>what is the pain — and is there one at all?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USUAL ANSWERS, AND WHAT IS UNDERNEATH THEM</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signal that built Zerodha is empty for this customer.</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'The fee'</a:t>
            </a:r>
          </a:p>
        </p:txBody>
      </p:sp>
      <p:sp>
        <p:nvSpPr>
          <p:cNvPr id="6" name="TextBox 5"/>
          <p:cNvSpPr txBox="1"/>
          <p:nvPr/>
        </p:nvSpPr>
        <p:spPr>
          <a:xfrm>
            <a:off x="10477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It is ₹25 a month to her. That is not a pain, it is a rounding error in a week where she spent ₹300 on one evening out.</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'She is afraid of losing money'</a:t>
            </a:r>
          </a:p>
        </p:txBody>
      </p:sp>
      <p:sp>
        <p:nvSpPr>
          <p:cNvPr id="9" name="TextBox 8"/>
          <p:cNvSpPr txBox="1"/>
          <p:nvPr/>
        </p:nvSpPr>
        <p:spPr>
          <a:xfrm>
            <a:off x="6572250" y="4724400"/>
            <a:ext cx="5143500" cy="1019175"/>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Closer. And also of looking foolish in front of people who seem to know more than she does.</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'She does not know where to start'</a:t>
            </a:r>
          </a:p>
        </p:txBody>
      </p:sp>
      <p:sp>
        <p:nvSpPr>
          <p:cNvPr id="12" name="TextBox 11"/>
          <p:cNvSpPr txBox="1"/>
          <p:nvPr/>
        </p:nvSpPr>
        <p:spPr>
          <a:xfrm>
            <a:off x="12096750" y="4724400"/>
            <a:ext cx="5143500" cy="1019175"/>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Closest. She cannot tell good advice from a scam, and nothing in the product helps her.</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If the fastest signal is empty, how long does the new segment take to pay for itself — and could a company with impatient investors afford to wait?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ACTIVITY · THE NEW CUSTOMER</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New Customer</a:t>
            </a:r>
          </a:p>
        </p:txBody>
      </p:sp>
      <p:sp>
        <p:nvSpPr>
          <p:cNvPr id="4" name="TextBox 3"/>
          <p:cNvSpPr txBox="1"/>
          <p:nvPr/>
        </p:nvSpPr>
        <p:spPr>
          <a:xfrm>
            <a:off x="1047750" y="2838450"/>
            <a:ext cx="16192500" cy="1266825"/>
          </a:xfrm>
          <a:prstGeom prst="rect">
            <a:avLst/>
          </a:prstGeom>
          <a:noFill/>
        </p:spPr>
        <p:txBody>
          <a:bodyPr wrap="square" lIns="0" rIns="0" tIns="0" bIns="0" anchor="t">
            <a:spAutoFit/>
            <a:spAutoFit/>
          </a:bodyPr>
          <a:lstStyle/>
          <a:p>
            <a:pPr algn="l">
              <a:lnSpc>
                <a:spcPct val="112000"/>
              </a:lnSpc>
            </a:pPr>
            <a:r>
              <a:rPr sz="2850" b="1" i="0">
                <a:solidFill>
                  <a:srgbClr val="201914"/>
                </a:solidFill>
                <a:latin typeface="Arial"/>
              </a:rPr>
              <a:t>Zerodha is considering a product for first-time investors aged 22 to 28 who have never bought a share and will probably never become traders. Your group decides whether and how to build it.</a:t>
            </a:r>
          </a:p>
        </p:txBody>
      </p:sp>
      <p:sp>
        <p:nvSpPr>
          <p:cNvPr id="5" name="TextBox 4"/>
          <p:cNvSpPr txBox="1"/>
          <p:nvPr/>
        </p:nvSpPr>
        <p:spPr>
          <a:xfrm>
            <a:off x="1047750" y="4486275"/>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1</a:t>
            </a:r>
          </a:p>
        </p:txBody>
      </p:sp>
      <p:sp>
        <p:nvSpPr>
          <p:cNvPr id="6" name="TextBox 5"/>
          <p:cNvSpPr txBox="1"/>
          <p:nvPr/>
        </p:nvSpPr>
        <p:spPr>
          <a:xfrm>
            <a:off x="1485900" y="4486275"/>
            <a:ext cx="6953250" cy="1076325"/>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Build a persona using Lecture 10's seven slots. The trigger event that would make her open an investing app is the slot most groups skip and the one you will be judged on.</a:t>
            </a:r>
          </a:p>
        </p:txBody>
      </p:sp>
      <p:sp>
        <p:nvSpPr>
          <p:cNvPr id="7" name="TextBox 6"/>
          <p:cNvSpPr txBox="1"/>
          <p:nvPr/>
        </p:nvSpPr>
        <p:spPr>
          <a:xfrm>
            <a:off x="1047750" y="5734050"/>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2</a:t>
            </a:r>
          </a:p>
        </p:txBody>
      </p:sp>
      <p:sp>
        <p:nvSpPr>
          <p:cNvPr id="8" name="TextBox 7"/>
          <p:cNvSpPr txBox="1"/>
          <p:nvPr/>
        </p:nvSpPr>
        <p:spPr>
          <a:xfrm>
            <a:off x="1485900" y="5734050"/>
            <a:ext cx="6953250" cy="819150"/>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Map her pains and gains from Lecture 13, ranked by severity and frequency. Then answer honestly: is any pain sharp enough to make her act this month?</a:t>
            </a:r>
          </a:p>
        </p:txBody>
      </p:sp>
      <p:sp>
        <p:nvSpPr>
          <p:cNvPr id="9" name="TextBox 8"/>
          <p:cNvSpPr txBox="1"/>
          <p:nvPr/>
        </p:nvSpPr>
        <p:spPr>
          <a:xfrm>
            <a:off x="1047750" y="6724650"/>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3</a:t>
            </a:r>
          </a:p>
        </p:txBody>
      </p:sp>
      <p:sp>
        <p:nvSpPr>
          <p:cNvPr id="10" name="TextBox 9"/>
          <p:cNvSpPr txBox="1"/>
          <p:nvPr/>
        </p:nvSpPr>
        <p:spPr>
          <a:xfrm>
            <a:off x="1485900" y="6724650"/>
            <a:ext cx="6953250" cy="1076325"/>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Write the Job to Be Done in Lecture 8's form, and name the real competitive set — doing nothing, a fixed deposit, gold, and a cousin who says he knows about stocks.</a:t>
            </a:r>
          </a:p>
        </p:txBody>
      </p:sp>
      <p:sp>
        <p:nvSpPr>
          <p:cNvPr id="11" name="TextBox 10"/>
          <p:cNvSpPr txBox="1"/>
          <p:nvPr/>
        </p:nvSpPr>
        <p:spPr>
          <a:xfrm>
            <a:off x="1047750" y="7972425"/>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4</a:t>
            </a:r>
          </a:p>
        </p:txBody>
      </p:sp>
      <p:sp>
        <p:nvSpPr>
          <p:cNvPr id="12" name="TextBox 11"/>
          <p:cNvSpPr txBox="1"/>
          <p:nvPr/>
        </p:nvSpPr>
        <p:spPr>
          <a:xfrm>
            <a:off x="1485900" y="7972425"/>
            <a:ext cx="6953250" cy="819150"/>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Name two product decisions Zerodha should make differently for her, and the signal each one comes from. If both of yours are blue, look again.</a:t>
            </a:r>
          </a:p>
        </p:txBody>
      </p:sp>
      <p:sp>
        <p:nvSpPr>
          <p:cNvPr id="13" name="TextBox 12"/>
          <p:cNvSpPr txBox="1"/>
          <p:nvPr/>
        </p:nvSpPr>
        <p:spPr>
          <a:xfrm>
            <a:off x="9429750" y="4486275"/>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5</a:t>
            </a:r>
          </a:p>
        </p:txBody>
      </p:sp>
      <p:sp>
        <p:nvSpPr>
          <p:cNvPr id="14" name="TextBox 13"/>
          <p:cNvSpPr txBox="1"/>
          <p:nvPr/>
        </p:nvSpPr>
        <p:spPr>
          <a:xfrm>
            <a:off x="9867900" y="4486275"/>
            <a:ext cx="6953250" cy="561975"/>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Name one risk: not a missing feature, a belief the company holds that would have to change.</a:t>
            </a:r>
          </a:p>
        </p:txBody>
      </p:sp>
      <p:sp>
        <p:nvSpPr>
          <p:cNvPr id="15" name="TextBox 14"/>
          <p:cNvSpPr txBox="1"/>
          <p:nvPr/>
        </p:nvSpPr>
        <p:spPr>
          <a:xfrm>
            <a:off x="9429750" y="5219700"/>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6</a:t>
            </a:r>
          </a:p>
        </p:txBody>
      </p:sp>
      <p:sp>
        <p:nvSpPr>
          <p:cNvPr id="16" name="TextBox 15"/>
          <p:cNvSpPr txBox="1"/>
          <p:nvPr/>
        </p:nvSpPr>
        <p:spPr>
          <a:xfrm>
            <a:off x="9867900" y="5219700"/>
            <a:ext cx="6953250" cy="819150"/>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Decide in one sentence whether Zerodha should build this at all. A well-argued no is worth as much as a yes and is much rarer.</a:t>
            </a:r>
          </a:p>
        </p:txBody>
      </p:sp>
      <p:sp>
        <p:nvSpPr>
          <p:cNvPr id="17" name="TextBox 16"/>
          <p:cNvSpPr txBox="1"/>
          <p:nvPr/>
        </p:nvSpPr>
        <p:spPr>
          <a:xfrm>
            <a:off x="9429750" y="6210300"/>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7</a:t>
            </a:r>
          </a:p>
        </p:txBody>
      </p:sp>
      <p:sp>
        <p:nvSpPr>
          <p:cNvPr id="18" name="TextBox 17"/>
          <p:cNvSpPr txBox="1"/>
          <p:nvPr/>
        </p:nvSpPr>
        <p:spPr>
          <a:xfrm>
            <a:off x="9867900" y="6210300"/>
            <a:ext cx="6953250" cy="819150"/>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Overnight — find one real person who fits your persona and ask her a single question: tell me about the last time you thought about investing money and did not.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YOUR TEMPLATE</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Five rows. The last column is the one that gets marked.</a:t>
            </a:r>
          </a:p>
        </p:txBody>
      </p:sp>
      <p:sp>
        <p:nvSpPr>
          <p:cNvPr id="4" name="TextBox 3"/>
          <p:cNvSpPr txBox="1"/>
          <p:nvPr/>
        </p:nvSpPr>
        <p:spPr>
          <a:xfrm>
            <a:off x="1314450" y="3409950"/>
            <a:ext cx="6286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a:t>
            </a:r>
          </a:p>
        </p:txBody>
      </p:sp>
      <p:sp>
        <p:nvSpPr>
          <p:cNvPr id="5" name="TextBox 4"/>
          <p:cNvSpPr txBox="1"/>
          <p:nvPr/>
        </p:nvSpPr>
        <p:spPr>
          <a:xfrm>
            <a:off x="2190750" y="3409950"/>
            <a:ext cx="296227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DELIVERABLE</a:t>
            </a:r>
          </a:p>
        </p:txBody>
      </p:sp>
      <p:sp>
        <p:nvSpPr>
          <p:cNvPr id="6" name="TextBox 5"/>
          <p:cNvSpPr txBox="1"/>
          <p:nvPr/>
        </p:nvSpPr>
        <p:spPr>
          <a:xfrm>
            <a:off x="5400675" y="3409950"/>
            <a:ext cx="44958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OUR ANSWER</a:t>
            </a:r>
          </a:p>
        </p:txBody>
      </p:sp>
      <p:sp>
        <p:nvSpPr>
          <p:cNvPr id="7" name="TextBox 6"/>
          <p:cNvSpPr txBox="1"/>
          <p:nvPr/>
        </p:nvSpPr>
        <p:spPr>
          <a:xfrm>
            <a:off x="10144125" y="3409950"/>
            <a:ext cx="35909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WHICH LECTURE IT COMES FROM</a:t>
            </a:r>
          </a:p>
        </p:txBody>
      </p:sp>
      <p:sp>
        <p:nvSpPr>
          <p:cNvPr id="8" name="TextBox 7"/>
          <p:cNvSpPr txBox="1"/>
          <p:nvPr/>
        </p:nvSpPr>
        <p:spPr>
          <a:xfrm>
            <a:off x="13982700" y="3409950"/>
            <a:ext cx="32385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WE ARE LEAST SURE ABOUT</a:t>
            </a:r>
          </a:p>
        </p:txBody>
      </p:sp>
      <p:sp>
        <p:nvSpPr>
          <p:cNvPr id="9" name="Rectangle 8"/>
          <p:cNvSpPr/>
          <p:nvPr/>
        </p:nvSpPr>
        <p:spPr>
          <a:xfrm>
            <a:off x="1047750" y="401955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4450" y="4191000"/>
            <a:ext cx="628650" cy="381000"/>
          </a:xfrm>
          <a:prstGeom prst="rect">
            <a:avLst/>
          </a:prstGeom>
          <a:noFill/>
        </p:spPr>
        <p:txBody>
          <a:bodyPr wrap="square" lIns="0" rIns="0" tIns="0" bIns="0" anchor="t">
            <a:spAutoFit/>
            <a:spAutoFit/>
          </a:bodyPr>
          <a:lstStyle/>
          <a:p>
            <a:pPr algn="l">
              <a:lnSpc>
                <a:spcPct val="108000"/>
              </a:lnSpc>
            </a:pPr>
            <a:r>
              <a:rPr sz="2100" b="1" i="0">
                <a:solidFill>
                  <a:srgbClr val="201914"/>
                </a:solidFill>
                <a:latin typeface="Arial"/>
              </a:rPr>
              <a:t>1</a:t>
            </a:r>
          </a:p>
        </p:txBody>
      </p:sp>
      <p:sp>
        <p:nvSpPr>
          <p:cNvPr id="11" name="Rectangle 10"/>
          <p:cNvSpPr/>
          <p:nvPr/>
        </p:nvSpPr>
        <p:spPr>
          <a:xfrm>
            <a:off x="1047750" y="49339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47750" y="4962525"/>
            <a:ext cx="16192500" cy="9144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14450" y="5105400"/>
            <a:ext cx="628650" cy="381000"/>
          </a:xfrm>
          <a:prstGeom prst="rect">
            <a:avLst/>
          </a:prstGeom>
          <a:noFill/>
        </p:spPr>
        <p:txBody>
          <a:bodyPr wrap="square" lIns="0" rIns="0" tIns="0" bIns="0" anchor="t">
            <a:spAutoFit/>
            <a:spAutoFit/>
          </a:bodyPr>
          <a:lstStyle/>
          <a:p>
            <a:pPr algn="l">
              <a:lnSpc>
                <a:spcPct val="108000"/>
              </a:lnSpc>
            </a:pPr>
            <a:r>
              <a:rPr sz="2100" b="1" i="0">
                <a:solidFill>
                  <a:srgbClr val="201914"/>
                </a:solidFill>
                <a:latin typeface="Arial"/>
              </a:rPr>
              <a:t>2</a:t>
            </a:r>
          </a:p>
        </p:txBody>
      </p:sp>
      <p:sp>
        <p:nvSpPr>
          <p:cNvPr id="14" name="Rectangle 13"/>
          <p:cNvSpPr/>
          <p:nvPr/>
        </p:nvSpPr>
        <p:spPr>
          <a:xfrm>
            <a:off x="1047750" y="58483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14450" y="6019800"/>
            <a:ext cx="628650" cy="381000"/>
          </a:xfrm>
          <a:prstGeom prst="rect">
            <a:avLst/>
          </a:prstGeom>
          <a:noFill/>
        </p:spPr>
        <p:txBody>
          <a:bodyPr wrap="square" lIns="0" rIns="0" tIns="0" bIns="0" anchor="t">
            <a:spAutoFit/>
            <a:spAutoFit/>
          </a:bodyPr>
          <a:lstStyle/>
          <a:p>
            <a:pPr algn="l">
              <a:lnSpc>
                <a:spcPct val="108000"/>
              </a:lnSpc>
            </a:pPr>
            <a:r>
              <a:rPr sz="2100" b="1" i="0">
                <a:solidFill>
                  <a:srgbClr val="201914"/>
                </a:solidFill>
                <a:latin typeface="Arial"/>
              </a:rPr>
              <a:t>3</a:t>
            </a:r>
          </a:p>
        </p:txBody>
      </p:sp>
      <p:sp>
        <p:nvSpPr>
          <p:cNvPr id="16" name="Rectangle 15"/>
          <p:cNvSpPr/>
          <p:nvPr/>
        </p:nvSpPr>
        <p:spPr>
          <a:xfrm>
            <a:off x="1047750" y="67627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47750" y="6791325"/>
            <a:ext cx="16192500" cy="9144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14450" y="6934200"/>
            <a:ext cx="628650" cy="381000"/>
          </a:xfrm>
          <a:prstGeom prst="rect">
            <a:avLst/>
          </a:prstGeom>
          <a:noFill/>
        </p:spPr>
        <p:txBody>
          <a:bodyPr wrap="square" lIns="0" rIns="0" tIns="0" bIns="0" anchor="t">
            <a:spAutoFit/>
            <a:spAutoFit/>
          </a:bodyPr>
          <a:lstStyle/>
          <a:p>
            <a:pPr algn="l">
              <a:lnSpc>
                <a:spcPct val="108000"/>
              </a:lnSpc>
            </a:pPr>
            <a:r>
              <a:rPr sz="2100" b="1" i="0">
                <a:solidFill>
                  <a:srgbClr val="201914"/>
                </a:solidFill>
                <a:latin typeface="Arial"/>
              </a:rPr>
              <a:t>4</a:t>
            </a:r>
          </a:p>
        </p:txBody>
      </p:sp>
      <p:sp>
        <p:nvSpPr>
          <p:cNvPr id="19" name="Rectangle 18"/>
          <p:cNvSpPr/>
          <p:nvPr/>
        </p:nvSpPr>
        <p:spPr>
          <a:xfrm>
            <a:off x="1047750" y="76771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14450" y="7848600"/>
            <a:ext cx="628650" cy="381000"/>
          </a:xfrm>
          <a:prstGeom prst="rect">
            <a:avLst/>
          </a:prstGeom>
          <a:noFill/>
        </p:spPr>
        <p:txBody>
          <a:bodyPr wrap="square" lIns="0" rIns="0" tIns="0" bIns="0" anchor="t">
            <a:spAutoFit/>
            <a:spAutoFit/>
          </a:bodyPr>
          <a:lstStyle/>
          <a:p>
            <a:pPr algn="l">
              <a:lnSpc>
                <a:spcPct val="108000"/>
              </a:lnSpc>
            </a:pPr>
            <a:r>
              <a:rPr sz="2100" b="1" i="0">
                <a:solidFill>
                  <a:srgbClr val="201914"/>
                </a:solidFill>
                <a:latin typeface="Arial"/>
              </a:rPr>
              <a:t>5</a:t>
            </a:r>
          </a:p>
        </p:txBody>
      </p:sp>
      <p:sp>
        <p:nvSpPr>
          <p:cNvPr id="21" name="Rectangle 20"/>
          <p:cNvSpPr/>
          <p:nvPr/>
        </p:nvSpPr>
        <p:spPr>
          <a:xfrm>
            <a:off x="1047750" y="85915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THREE WORKED EXAMPLES · TWELVE MORE IN THE LECTURE</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One company, three signals, three completely different advantages</a:t>
            </a:r>
          </a:p>
        </p:txBody>
      </p:sp>
      <p:sp>
        <p:nvSpPr>
          <p:cNvPr id="4" name="Rectangle 3"/>
          <p:cNvSpPr/>
          <p:nvPr/>
        </p:nvSpPr>
        <p:spPr>
          <a:xfrm>
            <a:off x="1047750" y="34099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695700"/>
            <a:ext cx="5143500" cy="809625"/>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₹20 flat per order</a:t>
            </a:r>
          </a:p>
        </p:txBody>
      </p:sp>
      <p:sp>
        <p:nvSpPr>
          <p:cNvPr id="6" name="TextBox 5"/>
          <p:cNvSpPr txBox="1"/>
          <p:nvPr/>
        </p:nvSpPr>
        <p:spPr>
          <a:xfrm>
            <a:off x="1047750" y="47339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THE CUSTOMER TRUTH UNDERNEATH IT</a:t>
            </a:r>
          </a:p>
        </p:txBody>
      </p:sp>
      <p:sp>
        <p:nvSpPr>
          <p:cNvPr id="7" name="TextBox 6"/>
          <p:cNvSpPr txBox="1"/>
          <p:nvPr/>
        </p:nvSpPr>
        <p:spPr>
          <a:xfrm>
            <a:off x="1047750" y="5076825"/>
            <a:ext cx="5143500" cy="504825"/>
          </a:xfrm>
          <a:prstGeom prst="rect">
            <a:avLst/>
          </a:prstGeom>
          <a:noFill/>
        </p:spPr>
        <p:txBody>
          <a:bodyPr wrap="square" lIns="0" rIns="0" tIns="0" bIns="0" anchor="t">
            <a:spAutoFit/>
            <a:spAutoFit/>
          </a:bodyPr>
          <a:lstStyle/>
          <a:p>
            <a:pPr algn="l">
              <a:lnSpc>
                <a:spcPct val="112000"/>
              </a:lnSpc>
            </a:pPr>
            <a:r>
              <a:rPr sz="1600" b="0" i="0">
                <a:solidFill>
                  <a:srgbClr val="665B53"/>
                </a:solidFill>
                <a:latin typeface="Arial"/>
              </a:rPr>
              <a:t>A percentage fee punishes precisely the customer who uses you most.</a:t>
            </a:r>
          </a:p>
        </p:txBody>
      </p:sp>
      <p:sp>
        <p:nvSpPr>
          <p:cNvPr id="8" name="TextBox 7"/>
          <p:cNvSpPr txBox="1"/>
          <p:nvPr/>
        </p:nvSpPr>
        <p:spPr>
          <a:xfrm>
            <a:off x="1047750" y="5753100"/>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WHAT THEY GAVE UP</a:t>
            </a:r>
          </a:p>
        </p:txBody>
      </p:sp>
      <p:sp>
        <p:nvSpPr>
          <p:cNvPr id="9" name="TextBox 8"/>
          <p:cNvSpPr txBox="1"/>
          <p:nvPr/>
        </p:nvSpPr>
        <p:spPr>
          <a:xfrm>
            <a:off x="1047750" y="6096000"/>
            <a:ext cx="5143500" cy="733425"/>
          </a:xfrm>
          <a:prstGeom prst="rect">
            <a:avLst/>
          </a:prstGeom>
          <a:noFill/>
        </p:spPr>
        <p:txBody>
          <a:bodyPr wrap="square" lIns="0" rIns="0" tIns="0" bIns="0" anchor="t">
            <a:spAutoFit/>
            <a:spAutoFit/>
          </a:bodyPr>
          <a:lstStyle/>
          <a:p>
            <a:pPr algn="l">
              <a:lnSpc>
                <a:spcPct val="112000"/>
              </a:lnSpc>
            </a:pPr>
            <a:r>
              <a:rPr sz="1600" b="0" i="0">
                <a:solidFill>
                  <a:srgbClr val="665B53"/>
                </a:solidFill>
                <a:latin typeface="Arial"/>
              </a:rPr>
              <a:t>All the revenue upside from large trades, permanently. A customer trading ₹50 lakh a day pays the same ₹20 as a student.</a:t>
            </a:r>
          </a:p>
        </p:txBody>
      </p:sp>
      <p:sp>
        <p:nvSpPr>
          <p:cNvPr id="10" name="TextBox 9"/>
          <p:cNvSpPr txBox="1"/>
          <p:nvPr/>
        </p:nvSpPr>
        <p:spPr>
          <a:xfrm>
            <a:off x="1047750" y="700087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SURVIVES A NEW SEGMENT?</a:t>
            </a:r>
          </a:p>
        </p:txBody>
      </p:sp>
      <p:sp>
        <p:nvSpPr>
          <p:cNvPr id="11" name="TextBox 10"/>
          <p:cNvSpPr txBox="1"/>
          <p:nvPr/>
        </p:nvSpPr>
        <p:spPr>
          <a:xfrm>
            <a:off x="1047750" y="7343775"/>
            <a:ext cx="5143500" cy="733425"/>
          </a:xfrm>
          <a:prstGeom prst="rect">
            <a:avLst/>
          </a:prstGeom>
          <a:noFill/>
        </p:spPr>
        <p:txBody>
          <a:bodyPr wrap="square" lIns="0" rIns="0" tIns="0" bIns="0" anchor="t">
            <a:spAutoFit/>
            <a:spAutoFit/>
          </a:bodyPr>
          <a:lstStyle/>
          <a:p>
            <a:pPr algn="l">
              <a:lnSpc>
                <a:spcPct val="112000"/>
              </a:lnSpc>
            </a:pPr>
            <a:r>
              <a:rPr sz="1600" b="0" i="0">
                <a:solidFill>
                  <a:srgbClr val="665B53"/>
                </a:solidFill>
                <a:latin typeface="Arial"/>
              </a:rPr>
              <a:t>No. For a monthly investor the saving is about ₹25. The decision is not weaker for her, it is invisible.</a:t>
            </a:r>
          </a:p>
        </p:txBody>
      </p:sp>
      <p:sp>
        <p:nvSpPr>
          <p:cNvPr id="12" name="TextBox 11"/>
          <p:cNvSpPr txBox="1"/>
          <p:nvPr/>
        </p:nvSpPr>
        <p:spPr>
          <a:xfrm>
            <a:off x="1047750" y="8162925"/>
            <a:ext cx="5143500" cy="37147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PAIN — blue</a:t>
            </a:r>
          </a:p>
        </p:txBody>
      </p:sp>
      <p:sp>
        <p:nvSpPr>
          <p:cNvPr id="13" name="Rectangle 12"/>
          <p:cNvSpPr/>
          <p:nvPr/>
        </p:nvSpPr>
        <p:spPr>
          <a:xfrm>
            <a:off x="6572250" y="34099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72250" y="3695700"/>
            <a:ext cx="5143500" cy="809625"/>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Kite, built by subtraction</a:t>
            </a:r>
          </a:p>
        </p:txBody>
      </p:sp>
      <p:sp>
        <p:nvSpPr>
          <p:cNvPr id="15" name="TextBox 14"/>
          <p:cNvSpPr txBox="1"/>
          <p:nvPr/>
        </p:nvSpPr>
        <p:spPr>
          <a:xfrm>
            <a:off x="6572250" y="47339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THE CUSTOMER TRUTH UNDERNEATH IT</a:t>
            </a:r>
          </a:p>
        </p:txBody>
      </p:sp>
      <p:sp>
        <p:nvSpPr>
          <p:cNvPr id="16" name="TextBox 15"/>
          <p:cNvSpPr txBox="1"/>
          <p:nvPr/>
        </p:nvSpPr>
        <p:spPr>
          <a:xfrm>
            <a:off x="6572250" y="5076825"/>
            <a:ext cx="5143500" cy="733425"/>
          </a:xfrm>
          <a:prstGeom prst="rect">
            <a:avLst/>
          </a:prstGeom>
          <a:noFill/>
        </p:spPr>
        <p:txBody>
          <a:bodyPr wrap="square" lIns="0" rIns="0" tIns="0" bIns="0" anchor="t">
            <a:spAutoFit/>
            <a:spAutoFit/>
          </a:bodyPr>
          <a:lstStyle/>
          <a:p>
            <a:pPr algn="l">
              <a:lnSpc>
                <a:spcPct val="112000"/>
              </a:lnSpc>
            </a:pPr>
            <a:r>
              <a:rPr sz="1600" b="0" i="0">
                <a:solidFill>
                  <a:srgbClr val="665B53"/>
                </a:solidFill>
                <a:latin typeface="Arial"/>
              </a:rPr>
              <a:t>A trader repeats the same four actions dozens of times an hour. Everything else on screen is an obstacle between him and a keystroke.</a:t>
            </a:r>
          </a:p>
        </p:txBody>
      </p:sp>
      <p:sp>
        <p:nvSpPr>
          <p:cNvPr id="17" name="TextBox 16"/>
          <p:cNvSpPr txBox="1"/>
          <p:nvPr/>
        </p:nvSpPr>
        <p:spPr>
          <a:xfrm>
            <a:off x="6572250" y="5981700"/>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WHAT THEY GAVE UP</a:t>
            </a:r>
          </a:p>
        </p:txBody>
      </p:sp>
      <p:sp>
        <p:nvSpPr>
          <p:cNvPr id="18" name="TextBox 17"/>
          <p:cNvSpPr txBox="1"/>
          <p:nvPr/>
        </p:nvSpPr>
        <p:spPr>
          <a:xfrm>
            <a:off x="6572250" y="6324600"/>
            <a:ext cx="5143500" cy="733425"/>
          </a:xfrm>
          <a:prstGeom prst="rect">
            <a:avLst/>
          </a:prstGeom>
          <a:noFill/>
        </p:spPr>
        <p:txBody>
          <a:bodyPr wrap="square" lIns="0" rIns="0" tIns="0" bIns="0" anchor="t">
            <a:spAutoFit/>
            <a:spAutoFit/>
          </a:bodyPr>
          <a:lstStyle/>
          <a:p>
            <a:pPr algn="l">
              <a:lnSpc>
                <a:spcPct val="112000"/>
              </a:lnSpc>
            </a:pPr>
            <a:r>
              <a:rPr sz="1600" b="0" i="0">
                <a:solidFill>
                  <a:srgbClr val="665B53"/>
                </a:solidFill>
                <a:latin typeface="Arial"/>
              </a:rPr>
              <a:t>Every revenue line that lives on screen real estate, and the ability to look impressive in a feature comparison.</a:t>
            </a:r>
          </a:p>
        </p:txBody>
      </p:sp>
      <p:sp>
        <p:nvSpPr>
          <p:cNvPr id="19" name="TextBox 18"/>
          <p:cNvSpPr txBox="1"/>
          <p:nvPr/>
        </p:nvSpPr>
        <p:spPr>
          <a:xfrm>
            <a:off x="6572250" y="722947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SURVIVES A NEW SEGMENT?</a:t>
            </a:r>
          </a:p>
        </p:txBody>
      </p:sp>
      <p:sp>
        <p:nvSpPr>
          <p:cNvPr id="20" name="TextBox 19"/>
          <p:cNvSpPr txBox="1"/>
          <p:nvPr/>
        </p:nvSpPr>
        <p:spPr>
          <a:xfrm>
            <a:off x="6572250" y="7572375"/>
            <a:ext cx="5143500" cy="504825"/>
          </a:xfrm>
          <a:prstGeom prst="rect">
            <a:avLst/>
          </a:prstGeom>
          <a:noFill/>
        </p:spPr>
        <p:txBody>
          <a:bodyPr wrap="square" lIns="0" rIns="0" tIns="0" bIns="0" anchor="t">
            <a:spAutoFit/>
            <a:spAutoFit/>
          </a:bodyPr>
          <a:lstStyle/>
          <a:p>
            <a:pPr algn="l">
              <a:lnSpc>
                <a:spcPct val="112000"/>
              </a:lnSpc>
            </a:pPr>
            <a:r>
              <a:rPr sz="1600" b="0" i="0">
                <a:solidFill>
                  <a:srgbClr val="665B53"/>
                </a:solidFill>
                <a:latin typeface="Arial"/>
              </a:rPr>
              <a:t>Partly. She benefits from speed, but plainness reads to her as emptiness rather than focus.</a:t>
            </a:r>
          </a:p>
        </p:txBody>
      </p:sp>
      <p:sp>
        <p:nvSpPr>
          <p:cNvPr id="21" name="TextBox 20"/>
          <p:cNvSpPr txBox="1"/>
          <p:nvPr/>
        </p:nvSpPr>
        <p:spPr>
          <a:xfrm>
            <a:off x="6572250" y="8162925"/>
            <a:ext cx="5143500" cy="37147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BEHAVIOUR — green</a:t>
            </a:r>
          </a:p>
        </p:txBody>
      </p:sp>
      <p:sp>
        <p:nvSpPr>
          <p:cNvPr id="22" name="Rectangle 21"/>
          <p:cNvSpPr/>
          <p:nvPr/>
        </p:nvSpPr>
        <p:spPr>
          <a:xfrm>
            <a:off x="12096750" y="34099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96750" y="3695700"/>
            <a:ext cx="5143500" cy="809625"/>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Varsity, free and ungated</a:t>
            </a:r>
          </a:p>
        </p:txBody>
      </p:sp>
      <p:sp>
        <p:nvSpPr>
          <p:cNvPr id="24" name="TextBox 23"/>
          <p:cNvSpPr txBox="1"/>
          <p:nvPr/>
        </p:nvSpPr>
        <p:spPr>
          <a:xfrm>
            <a:off x="12096750" y="47339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THE CUSTOMER TRUTH UNDERNEATH IT</a:t>
            </a:r>
          </a:p>
        </p:txBody>
      </p:sp>
      <p:sp>
        <p:nvSpPr>
          <p:cNvPr id="25" name="TextBox 24"/>
          <p:cNvSpPr txBox="1"/>
          <p:nvPr/>
        </p:nvSpPr>
        <p:spPr>
          <a:xfrm>
            <a:off x="12096750" y="5076825"/>
            <a:ext cx="5143500" cy="504825"/>
          </a:xfrm>
          <a:prstGeom prst="rect">
            <a:avLst/>
          </a:prstGeom>
          <a:noFill/>
        </p:spPr>
        <p:txBody>
          <a:bodyPr wrap="square" lIns="0" rIns="0" tIns="0" bIns="0" anchor="t">
            <a:spAutoFit/>
            <a:spAutoFit/>
          </a:bodyPr>
          <a:lstStyle/>
          <a:p>
            <a:pPr algn="l">
              <a:lnSpc>
                <a:spcPct val="112000"/>
              </a:lnSpc>
            </a:pPr>
            <a:r>
              <a:rPr sz="1600" b="0" i="0">
                <a:solidFill>
                  <a:srgbClr val="665B53"/>
                </a:solidFill>
                <a:latin typeface="Arial"/>
              </a:rPr>
              <a:t>The target customer wants to become a better trader, not merely a richer one.</a:t>
            </a:r>
          </a:p>
        </p:txBody>
      </p:sp>
      <p:sp>
        <p:nvSpPr>
          <p:cNvPr id="26" name="TextBox 25"/>
          <p:cNvSpPr txBox="1"/>
          <p:nvPr/>
        </p:nvSpPr>
        <p:spPr>
          <a:xfrm>
            <a:off x="12096750" y="5753100"/>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WHAT THEY GAVE UP</a:t>
            </a:r>
          </a:p>
        </p:txBody>
      </p:sp>
      <p:sp>
        <p:nvSpPr>
          <p:cNvPr id="27" name="TextBox 26"/>
          <p:cNvSpPr txBox="1"/>
          <p:nvPr/>
        </p:nvSpPr>
        <p:spPr>
          <a:xfrm>
            <a:off x="12096750" y="6096000"/>
            <a:ext cx="5143500" cy="733425"/>
          </a:xfrm>
          <a:prstGeom prst="rect">
            <a:avLst/>
          </a:prstGeom>
          <a:noFill/>
        </p:spPr>
        <p:txBody>
          <a:bodyPr wrap="square" lIns="0" rIns="0" tIns="0" bIns="0" anchor="t">
            <a:spAutoFit/>
            <a:spAutoFit/>
          </a:bodyPr>
          <a:lstStyle/>
          <a:p>
            <a:pPr algn="l">
              <a:lnSpc>
                <a:spcPct val="112000"/>
              </a:lnSpc>
            </a:pPr>
            <a:r>
              <a:rPr sz="1600" b="0" i="0">
                <a:solidFill>
                  <a:srgbClr val="665B53"/>
                </a:solidFill>
                <a:latin typeface="Arial"/>
              </a:rPr>
              <a:t>Years of writing with no attributable conversions, plus the entire paid-education revenue line competitors were charging for.</a:t>
            </a:r>
          </a:p>
        </p:txBody>
      </p:sp>
      <p:sp>
        <p:nvSpPr>
          <p:cNvPr id="28" name="TextBox 27"/>
          <p:cNvSpPr txBox="1"/>
          <p:nvPr/>
        </p:nvSpPr>
        <p:spPr>
          <a:xfrm>
            <a:off x="12096750" y="700087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SURVIVES A NEW SEGMENT?</a:t>
            </a:r>
          </a:p>
        </p:txBody>
      </p:sp>
      <p:sp>
        <p:nvSpPr>
          <p:cNvPr id="29" name="TextBox 28"/>
          <p:cNvSpPr txBox="1"/>
          <p:nvPr/>
        </p:nvSpPr>
        <p:spPr>
          <a:xfrm>
            <a:off x="12096750" y="7343775"/>
            <a:ext cx="5143500" cy="733425"/>
          </a:xfrm>
          <a:prstGeom prst="rect">
            <a:avLst/>
          </a:prstGeom>
          <a:noFill/>
        </p:spPr>
        <p:txBody>
          <a:bodyPr wrap="square" lIns="0" rIns="0" tIns="0" bIns="0" anchor="t">
            <a:spAutoFit/>
            <a:spAutoFit/>
          </a:bodyPr>
          <a:lstStyle/>
          <a:p>
            <a:pPr algn="l">
              <a:lnSpc>
                <a:spcPct val="112000"/>
              </a:lnSpc>
            </a:pPr>
            <a:r>
              <a:rPr sz="1600" b="0" i="0">
                <a:solidFill>
                  <a:srgbClr val="665B53"/>
                </a:solidFill>
                <a:latin typeface="Arial"/>
              </a:rPr>
              <a:t>Yes — and this is the important one. A first-time investor also wants to stop feeling ignorant.</a:t>
            </a:r>
          </a:p>
        </p:txBody>
      </p:sp>
      <p:sp>
        <p:nvSpPr>
          <p:cNvPr id="30" name="TextBox 29"/>
          <p:cNvSpPr txBox="1"/>
          <p:nvPr/>
        </p:nvSpPr>
        <p:spPr>
          <a:xfrm>
            <a:off x="12096750" y="8162925"/>
            <a:ext cx="5143500" cy="37147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ASPIRATION — amber</a:t>
            </a:r>
          </a:p>
        </p:txBody>
      </p:sp>
      <p:sp>
        <p:nvSpPr>
          <p:cNvPr id="31" name="TextBox 30"/>
          <p:cNvSpPr txBox="1"/>
          <p:nvPr/>
        </p:nvSpPr>
        <p:spPr>
          <a:xfrm>
            <a:off x="1047750" y="8724900"/>
            <a:ext cx="16192500" cy="857250"/>
          </a:xfrm>
          <a:prstGeom prst="rect">
            <a:avLst/>
          </a:prstGeom>
          <a:noFill/>
        </p:spPr>
        <p:txBody>
          <a:bodyPr wrap="square" lIns="0" rIns="0" tIns="0" bIns="0" anchor="t">
            <a:spAutoFit/>
            <a:spAutoFit/>
          </a:bodyPr>
          <a:lstStyle/>
          <a:p>
            <a:pPr algn="l">
              <a:lnSpc>
                <a:spcPct val="118000"/>
              </a:lnSpc>
            </a:pPr>
            <a:r>
              <a:rPr sz="2700" b="0" i="1">
                <a:solidFill>
                  <a:srgbClr val="362C24"/>
                </a:solidFill>
                <a:latin typeface="Georgia"/>
              </a:rPr>
              <a:t>Of the three signals, aspiration is the slowest to pay back and the only one that reliably survives a change of customer.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THREE YOU ALREADY KNOW, SEEN THROUGH THE NEW FRAME</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same sorting instinct, on companies from earlier in the course</a:t>
            </a:r>
          </a:p>
        </p:txBody>
      </p:sp>
      <p:sp>
        <p:nvSpPr>
          <p:cNvPr id="4" name="Rectangle 3"/>
          <p:cNvSpPr/>
          <p:nvPr/>
        </p:nvSpPr>
        <p:spPr>
          <a:xfrm>
            <a:off x="1047750" y="34099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695700"/>
            <a:ext cx="5143500" cy="809625"/>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Jio · free voice calls, permanently</a:t>
            </a:r>
          </a:p>
        </p:txBody>
      </p:sp>
      <p:sp>
        <p:nvSpPr>
          <p:cNvPr id="6" name="TextBox 5"/>
          <p:cNvSpPr txBox="1"/>
          <p:nvPr/>
        </p:nvSpPr>
        <p:spPr>
          <a:xfrm>
            <a:off x="1047750" y="47339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THE CUSTOMER TRUTH UNDERNEATH IT</a:t>
            </a:r>
          </a:p>
        </p:txBody>
      </p:sp>
      <p:sp>
        <p:nvSpPr>
          <p:cNvPr id="7" name="TextBox 6"/>
          <p:cNvSpPr txBox="1"/>
          <p:nvPr/>
        </p:nvSpPr>
        <p:spPr>
          <a:xfrm>
            <a:off x="1047750" y="5076825"/>
            <a:ext cx="5143500" cy="1543050"/>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Indians were rationing conversations by the second — ending calls early, calling back on a cheaper network, giving missed calls as a signalling system.</a:t>
            </a:r>
          </a:p>
        </p:txBody>
      </p:sp>
      <p:sp>
        <p:nvSpPr>
          <p:cNvPr id="8" name="TextBox 7"/>
          <p:cNvSpPr txBox="1"/>
          <p:nvPr/>
        </p:nvSpPr>
        <p:spPr>
          <a:xfrm>
            <a:off x="1047750" y="67913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WHY THIS SIGNAL</a:t>
            </a:r>
          </a:p>
        </p:txBody>
      </p:sp>
      <p:sp>
        <p:nvSpPr>
          <p:cNvPr id="9" name="TextBox 8"/>
          <p:cNvSpPr txBox="1"/>
          <p:nvPr/>
        </p:nvSpPr>
        <p:spPr>
          <a:xfrm>
            <a:off x="1047750" y="7134225"/>
            <a:ext cx="5143500" cy="1247775"/>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A pain that had gone invisible through familiarity. The evidence was not in what people said but in the workarounds they had built.</a:t>
            </a:r>
          </a:p>
        </p:txBody>
      </p:sp>
      <p:sp>
        <p:nvSpPr>
          <p:cNvPr id="10" name="TextBox 9"/>
          <p:cNvSpPr txBox="1"/>
          <p:nvPr/>
        </p:nvSpPr>
        <p:spPr>
          <a:xfrm>
            <a:off x="1047750" y="9267825"/>
            <a:ext cx="5143500" cy="37147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PAIN — blue</a:t>
            </a:r>
          </a:p>
        </p:txBody>
      </p:sp>
      <p:sp>
        <p:nvSpPr>
          <p:cNvPr id="11" name="Rectangle 10"/>
          <p:cNvSpPr/>
          <p:nvPr/>
        </p:nvSpPr>
        <p:spPr>
          <a:xfrm>
            <a:off x="6572250" y="34099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2250" y="3695700"/>
            <a:ext cx="5143500" cy="809625"/>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Cult.fit · a booked slot, not unlimited entry</a:t>
            </a:r>
          </a:p>
        </p:txBody>
      </p:sp>
      <p:sp>
        <p:nvSpPr>
          <p:cNvPr id="13" name="TextBox 12"/>
          <p:cNvSpPr txBox="1"/>
          <p:nvPr/>
        </p:nvSpPr>
        <p:spPr>
          <a:xfrm>
            <a:off x="6572250" y="47339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THE CUSTOMER TRUTH UNDERNEATH IT</a:t>
            </a:r>
          </a:p>
        </p:txBody>
      </p:sp>
      <p:sp>
        <p:nvSpPr>
          <p:cNvPr id="14" name="TextBox 13"/>
          <p:cNvSpPr txBox="1"/>
          <p:nvPr/>
        </p:nvSpPr>
        <p:spPr>
          <a:xfrm>
            <a:off x="6572250" y="5076825"/>
            <a:ext cx="5143500" cy="952500"/>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People do not fail to exercise because they lack access. Every customer says he intends to go.</a:t>
            </a:r>
          </a:p>
        </p:txBody>
      </p:sp>
      <p:sp>
        <p:nvSpPr>
          <p:cNvPr id="15" name="TextBox 14"/>
          <p:cNvSpPr txBox="1"/>
          <p:nvPr/>
        </p:nvSpPr>
        <p:spPr>
          <a:xfrm>
            <a:off x="6572250" y="620077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WHY THIS SIGNAL</a:t>
            </a:r>
          </a:p>
        </p:txBody>
      </p:sp>
      <p:sp>
        <p:nvSpPr>
          <p:cNvPr id="16" name="TextBox 15"/>
          <p:cNvSpPr txBox="1"/>
          <p:nvPr/>
        </p:nvSpPr>
        <p:spPr>
          <a:xfrm>
            <a:off x="6572250" y="6543675"/>
            <a:ext cx="5143500" cy="1247775"/>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It comes from watching attendance across a year rather than from anything a customer says about himself.</a:t>
            </a:r>
          </a:p>
        </p:txBody>
      </p:sp>
      <p:sp>
        <p:nvSpPr>
          <p:cNvPr id="17" name="TextBox 16"/>
          <p:cNvSpPr txBox="1"/>
          <p:nvPr/>
        </p:nvSpPr>
        <p:spPr>
          <a:xfrm>
            <a:off x="6572250" y="9267825"/>
            <a:ext cx="5143500" cy="37147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BEHAVIOUR — green</a:t>
            </a:r>
          </a:p>
        </p:txBody>
      </p:sp>
      <p:sp>
        <p:nvSpPr>
          <p:cNvPr id="18" name="Rectangle 17"/>
          <p:cNvSpPr/>
          <p:nvPr/>
        </p:nvSpPr>
        <p:spPr>
          <a:xfrm>
            <a:off x="12096750" y="34099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096750" y="3695700"/>
            <a:ext cx="5143500" cy="809625"/>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boAt · readable from four metres</a:t>
            </a:r>
          </a:p>
        </p:txBody>
      </p:sp>
      <p:sp>
        <p:nvSpPr>
          <p:cNvPr id="20" name="TextBox 19"/>
          <p:cNvSpPr txBox="1"/>
          <p:nvPr/>
        </p:nvSpPr>
        <p:spPr>
          <a:xfrm>
            <a:off x="12096750" y="47339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THE CUSTOMER TRUTH UNDERNEATH IT</a:t>
            </a:r>
          </a:p>
        </p:txBody>
      </p:sp>
      <p:sp>
        <p:nvSpPr>
          <p:cNvPr id="21" name="TextBox 20"/>
          <p:cNvSpPr txBox="1"/>
          <p:nvPr/>
        </p:nvSpPr>
        <p:spPr>
          <a:xfrm>
            <a:off x="12096750" y="5076825"/>
            <a:ext cx="5143500" cy="1247775"/>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Loud colours, aggressive shapes and a logo you can read across a room, on a product whose function is entirely about sound.</a:t>
            </a:r>
          </a:p>
        </p:txBody>
      </p:sp>
      <p:sp>
        <p:nvSpPr>
          <p:cNvPr id="22" name="TextBox 21"/>
          <p:cNvSpPr txBox="1"/>
          <p:nvPr/>
        </p:nvSpPr>
        <p:spPr>
          <a:xfrm>
            <a:off x="12096750" y="6496050"/>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WHY THIS SIGNAL</a:t>
            </a:r>
          </a:p>
        </p:txBody>
      </p:sp>
      <p:sp>
        <p:nvSpPr>
          <p:cNvPr id="23" name="TextBox 22"/>
          <p:cNvSpPr txBox="1"/>
          <p:nvPr/>
        </p:nvSpPr>
        <p:spPr>
          <a:xfrm>
            <a:off x="12096750" y="6838950"/>
            <a:ext cx="5143500" cy="1247775"/>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Nothing here relieves a pain and nothing comes from observed usage. The decision is about how the object is read by others.</a:t>
            </a:r>
          </a:p>
        </p:txBody>
      </p:sp>
      <p:sp>
        <p:nvSpPr>
          <p:cNvPr id="24" name="TextBox 23"/>
          <p:cNvSpPr txBox="1"/>
          <p:nvPr/>
        </p:nvSpPr>
        <p:spPr>
          <a:xfrm>
            <a:off x="12096750" y="9267825"/>
            <a:ext cx="5143500" cy="37147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ASPIRATION — amber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READ AFTER CLASS · DO NOT MEMORISE</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Four terms, in plain English</a:t>
            </a:r>
          </a:p>
        </p:txBody>
      </p:sp>
      <p:sp>
        <p:nvSpPr>
          <p:cNvPr id="4" name="TextBox 3"/>
          <p:cNvSpPr txBox="1"/>
          <p:nvPr/>
        </p:nvSpPr>
        <p:spPr>
          <a:xfrm>
            <a:off x="1047750" y="2838450"/>
            <a:ext cx="5143500" cy="847725"/>
          </a:xfrm>
          <a:prstGeom prst="rect">
            <a:avLst/>
          </a:prstGeom>
          <a:noFill/>
        </p:spPr>
        <p:txBody>
          <a:bodyPr wrap="square" lIns="0" rIns="0" tIns="0" bIns="0" anchor="t">
            <a:spAutoFit/>
            <a:spAutoFit/>
          </a:bodyPr>
          <a:lstStyle/>
          <a:p>
            <a:pPr algn="l">
              <a:lnSpc>
                <a:spcPct val="104000"/>
              </a:lnSpc>
            </a:pPr>
            <a:r>
              <a:rPr sz="3000" b="1" i="0">
                <a:solidFill>
                  <a:srgbClr val="201914"/>
                </a:solidFill>
                <a:latin typeface="Arial"/>
              </a:rPr>
              <a:t>Customer discovery as advantage</a:t>
            </a:r>
          </a:p>
        </p:txBody>
      </p:sp>
      <p:sp>
        <p:nvSpPr>
          <p:cNvPr id="5" name="Rectangle 4"/>
          <p:cNvSpPr/>
          <p:nvPr/>
        </p:nvSpPr>
        <p:spPr>
          <a:xfrm>
            <a:off x="1047750" y="3819525"/>
            <a:ext cx="37719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4105275"/>
            <a:ext cx="5143500" cy="1847850"/>
          </a:xfrm>
          <a:prstGeom prst="rect">
            <a:avLst/>
          </a:prstGeom>
          <a:noFill/>
        </p:spPr>
        <p:txBody>
          <a:bodyPr wrap="square" lIns="0" rIns="0" tIns="0" bIns="0" anchor="t">
            <a:spAutoFit/>
            <a:spAutoFit/>
          </a:bodyPr>
          <a:lstStyle/>
          <a:p>
            <a:pPr algn="l">
              <a:lnSpc>
                <a:spcPct val="112000"/>
              </a:lnSpc>
            </a:pPr>
            <a:r>
              <a:rPr sz="2100" b="0" i="0">
                <a:solidFill>
                  <a:srgbClr val="201914"/>
                </a:solidFill>
                <a:latin typeface="Arial"/>
              </a:rPr>
              <a:t>Understanding one customer more deeply than anybody else is the only competitive advantage available to a company with no money. Every other one requires resources. This one requires attention.</a:t>
            </a:r>
          </a:p>
        </p:txBody>
      </p:sp>
      <p:sp>
        <p:nvSpPr>
          <p:cNvPr id="7" name="TextBox 6"/>
          <p:cNvSpPr txBox="1"/>
          <p:nvPr/>
        </p:nvSpPr>
        <p:spPr>
          <a:xfrm>
            <a:off x="6572250" y="2838450"/>
            <a:ext cx="5143500" cy="847725"/>
          </a:xfrm>
          <a:prstGeom prst="rect">
            <a:avLst/>
          </a:prstGeom>
          <a:noFill/>
        </p:spPr>
        <p:txBody>
          <a:bodyPr wrap="square" lIns="0" rIns="0" tIns="0" bIns="0" anchor="t">
            <a:spAutoFit/>
            <a:spAutoFit/>
          </a:bodyPr>
          <a:lstStyle/>
          <a:p>
            <a:pPr algn="l">
              <a:lnSpc>
                <a:spcPct val="104000"/>
              </a:lnSpc>
            </a:pPr>
            <a:r>
              <a:rPr sz="3000" b="1" i="0">
                <a:solidFill>
                  <a:srgbClr val="201914"/>
                </a:solidFill>
                <a:latin typeface="Arial"/>
              </a:rPr>
              <a:t>The Discovery Chain</a:t>
            </a:r>
          </a:p>
        </p:txBody>
      </p:sp>
      <p:sp>
        <p:nvSpPr>
          <p:cNvPr id="8" name="Rectangle 7"/>
          <p:cNvSpPr/>
          <p:nvPr/>
        </p:nvSpPr>
        <p:spPr>
          <a:xfrm>
            <a:off x="6572250" y="3819525"/>
            <a:ext cx="37719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2250" y="4105275"/>
            <a:ext cx="5143500" cy="1543050"/>
          </a:xfrm>
          <a:prstGeom prst="rect">
            <a:avLst/>
          </a:prstGeom>
          <a:noFill/>
        </p:spPr>
        <p:txBody>
          <a:bodyPr wrap="square" lIns="0" rIns="0" tIns="0" bIns="0" anchor="t">
            <a:spAutoFit/>
            <a:spAutoFit/>
          </a:bodyPr>
          <a:lstStyle/>
          <a:p>
            <a:pPr algn="l">
              <a:lnSpc>
                <a:spcPct val="112000"/>
              </a:lnSpc>
            </a:pPr>
            <a:r>
              <a:rPr sz="2100" b="0" i="0">
                <a:solidFill>
                  <a:srgbClr val="201914"/>
                </a:solidFill>
                <a:latin typeface="Arial"/>
              </a:rPr>
              <a:t>Insight leads to a product decision, which forces a business model, which builds a moat, which produces the financial outcome. Remove a link in your head and see what collapses.</a:t>
            </a:r>
          </a:p>
        </p:txBody>
      </p:sp>
      <p:sp>
        <p:nvSpPr>
          <p:cNvPr id="10" name="TextBox 9"/>
          <p:cNvSpPr txBox="1"/>
          <p:nvPr/>
        </p:nvSpPr>
        <p:spPr>
          <a:xfrm>
            <a:off x="12096750" y="2838450"/>
            <a:ext cx="5143500" cy="847725"/>
          </a:xfrm>
          <a:prstGeom prst="rect">
            <a:avLst/>
          </a:prstGeom>
          <a:noFill/>
        </p:spPr>
        <p:txBody>
          <a:bodyPr wrap="square" lIns="0" rIns="0" tIns="0" bIns="0" anchor="t">
            <a:spAutoFit/>
            <a:spAutoFit/>
          </a:bodyPr>
          <a:lstStyle/>
          <a:p>
            <a:pPr algn="l">
              <a:lnSpc>
                <a:spcPct val="104000"/>
              </a:lnSpc>
            </a:pPr>
            <a:r>
              <a:rPr sz="3000" b="1" i="0">
                <a:solidFill>
                  <a:srgbClr val="201914"/>
                </a:solidFill>
                <a:latin typeface="Arial"/>
              </a:rPr>
              <a:t>The Three Signals</a:t>
            </a:r>
          </a:p>
        </p:txBody>
      </p:sp>
      <p:sp>
        <p:nvSpPr>
          <p:cNvPr id="11" name="Rectangle 10"/>
          <p:cNvSpPr/>
          <p:nvPr/>
        </p:nvSpPr>
        <p:spPr>
          <a:xfrm>
            <a:off x="12096750" y="3819525"/>
            <a:ext cx="37719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96750" y="4105275"/>
            <a:ext cx="5143500" cy="1543050"/>
          </a:xfrm>
          <a:prstGeom prst="rect">
            <a:avLst/>
          </a:prstGeom>
          <a:noFill/>
        </p:spPr>
        <p:txBody>
          <a:bodyPr wrap="square" lIns="0" rIns="0" tIns="0" bIns="0" anchor="t">
            <a:spAutoFit/>
            <a:spAutoFit/>
          </a:bodyPr>
          <a:lstStyle/>
          <a:p>
            <a:pPr algn="l">
              <a:lnSpc>
                <a:spcPct val="112000"/>
              </a:lnSpc>
            </a:pPr>
            <a:r>
              <a:rPr sz="2100" b="0" i="0">
                <a:solidFill>
                  <a:srgbClr val="201914"/>
                </a:solidFill>
                <a:latin typeface="Arial"/>
              </a:rPr>
              <a:t>Every product decision comes from a pain, a behaviour or an aspiration. Each is found by a different method and buys a different kind of advantage.</a:t>
            </a:r>
          </a:p>
        </p:txBody>
      </p:sp>
      <p:sp>
        <p:nvSpPr>
          <p:cNvPr id="13" name="TextBox 12"/>
          <p:cNvSpPr txBox="1"/>
          <p:nvPr/>
        </p:nvSpPr>
        <p:spPr>
          <a:xfrm>
            <a:off x="1047750" y="6238875"/>
            <a:ext cx="5143500" cy="847725"/>
          </a:xfrm>
          <a:prstGeom prst="rect">
            <a:avLst/>
          </a:prstGeom>
          <a:noFill/>
        </p:spPr>
        <p:txBody>
          <a:bodyPr wrap="square" lIns="0" rIns="0" tIns="0" bIns="0" anchor="t">
            <a:spAutoFit/>
            <a:spAutoFit/>
          </a:bodyPr>
          <a:lstStyle/>
          <a:p>
            <a:pPr algn="l">
              <a:lnSpc>
                <a:spcPct val="104000"/>
              </a:lnSpc>
            </a:pPr>
            <a:r>
              <a:rPr sz="3000" b="1" i="0">
                <a:solidFill>
                  <a:srgbClr val="201914"/>
                </a:solidFill>
                <a:latin typeface="Arial"/>
              </a:rPr>
              <a:t>Segment non-transferability</a:t>
            </a:r>
          </a:p>
        </p:txBody>
      </p:sp>
      <p:sp>
        <p:nvSpPr>
          <p:cNvPr id="14" name="Rectangle 13"/>
          <p:cNvSpPr/>
          <p:nvPr/>
        </p:nvSpPr>
        <p:spPr>
          <a:xfrm>
            <a:off x="1047750" y="7219950"/>
            <a:ext cx="37719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7750" y="7505700"/>
            <a:ext cx="5143500" cy="1543050"/>
          </a:xfrm>
          <a:prstGeom prst="rect">
            <a:avLst/>
          </a:prstGeom>
          <a:noFill/>
        </p:spPr>
        <p:txBody>
          <a:bodyPr wrap="square" lIns="0" rIns="0" tIns="0" bIns="0" anchor="t">
            <a:spAutoFit/>
            <a:spAutoFit/>
          </a:bodyPr>
          <a:lstStyle/>
          <a:p>
            <a:pPr algn="l">
              <a:lnSpc>
                <a:spcPct val="112000"/>
              </a:lnSpc>
            </a:pPr>
            <a:r>
              <a:rPr sz="2100" b="0" i="0">
                <a:solidFill>
                  <a:srgbClr val="201914"/>
                </a:solidFill>
                <a:latin typeface="Arial"/>
              </a:rPr>
              <a:t>Deep understanding of one customer does not carry to the next, and a founder who was the original customer is the person most likely to get it wrong.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NEXT SESSION · MODULE 3 BEGINS</a:t>
            </a:r>
          </a:p>
        </p:txBody>
      </p:sp>
      <p:sp>
        <p:nvSpPr>
          <p:cNvPr id="3" name="TextBox 2"/>
          <p:cNvSpPr txBox="1"/>
          <p:nvPr/>
        </p:nvSpPr>
        <p:spPr>
          <a:xfrm>
            <a:off x="1714500" y="3143250"/>
            <a:ext cx="14859000" cy="4391025"/>
          </a:xfrm>
          <a:prstGeom prst="rect">
            <a:avLst/>
          </a:prstGeom>
          <a:noFill/>
        </p:spPr>
        <p:txBody>
          <a:bodyPr wrap="square" lIns="0" rIns="0" tIns="0" bIns="0" anchor="t">
            <a:spAutoFit/>
            <a:spAutoFit/>
          </a:bodyPr>
          <a:lstStyle/>
          <a:p>
            <a:pPr algn="l">
              <a:lnSpc>
                <a:spcPct val="113999"/>
              </a:lnSpc>
            </a:pPr>
            <a:r>
              <a:rPr sz="5000" b="1" i="0" spc="-120">
                <a:solidFill>
                  <a:srgbClr val="F5F1E9"/>
                </a:solidFill>
                <a:latin typeface="Arial"/>
              </a:rPr>
              <a:t>Nokia held 40% of the world and ran excellent customer research.</a:t>
            </a:r>
          </a:p>
          <a:p>
            <a:pPr algn="l">
              <a:lnSpc>
                <a:spcPct val="113999"/>
              </a:lnSpc>
            </a:pPr>
            <a:r>
              <a:rPr sz="5000" b="1" i="0" spc="-120">
                <a:solidFill>
                  <a:srgbClr val="F5F1E9"/>
                </a:solidFill>
                <a:latin typeface="Arial"/>
              </a:rPr>
              <a:t/>
            </a:r>
          </a:p>
          <a:p>
            <a:pPr algn="l">
              <a:lnSpc>
                <a:spcPct val="113999"/>
              </a:lnSpc>
            </a:pPr>
            <a:r>
              <a:rPr sz="5000" b="1" i="0" spc="-120">
                <a:solidFill>
                  <a:srgbClr val="F5F1E9"/>
                </a:solidFill>
                <a:latin typeface="Arial"/>
              </a:rPr>
              <a:t>It asked its customers what to improve, got accurate answers, believed them, and was gone within five years.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