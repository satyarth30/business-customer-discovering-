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ZENITH SCHOOL OF AI · CUSTOMER DISCOVERY · CLASS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574256"/>
            <a:ext cx="1781175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05"/>
              </a:lnSpc>
              <a:buNone/>
            </a:pPr>
            <a:r>
              <a:rPr lang="en-US" sz="11250" b="1" spc="-225" kern="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Lens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1047750" y="5422106"/>
            <a:ext cx="16678275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size without a mechanism is a wish with a rupee sign in front of it.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8882063"/>
            <a:ext cx="16192500" cy="9525"/>
          </a:xfrm>
          <a:prstGeom prst="rect">
            <a:avLst/>
          </a:prstGeom>
          <a:solidFill>
            <a:srgbClr val="564B4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7750" y="9215438"/>
            <a:ext cx="27170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TAM, SAM and SOM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27376" y="9215438"/>
            <a:ext cx="22827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Sizing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12161" y="9215438"/>
            <a:ext cx="394666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Load-Bearing Assumption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009635" y="9215438"/>
            <a:ext cx="18421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Timing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LEFT OFF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lectures, five tools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2964135" cy="3085951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14450" y="3293715"/>
            <a:ext cx="267380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GAP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14450" y="3708053"/>
            <a:ext cx="2506935" cy="183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pay for the distance between where they are and where they want to be.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354785" y="2988915"/>
            <a:ext cx="2964210" cy="3085951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21485" y="3293715"/>
            <a:ext cx="25070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WILLINGNESS TO PAY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21485" y="3969990"/>
            <a:ext cx="2507010" cy="183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 somebody has actually paid is evidence. Everything else is an opinion.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661895" y="2988915"/>
            <a:ext cx="2964135" cy="3085951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28595" y="3293715"/>
            <a:ext cx="25069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VITAMIN OR PAINKILLER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28595" y="3969990"/>
            <a:ext cx="2506935" cy="183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problem shows up as a workaround somebody already pays for.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968930" y="2988915"/>
            <a:ext cx="2964210" cy="3085951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235630" y="3293715"/>
            <a:ext cx="25070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· CUSTOMER TRUTH STACK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235630" y="3969990"/>
            <a:ext cx="2507010" cy="183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Constraints, behaviours, aspirations. Every feature is a fact about one life.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4276040" y="2988915"/>
            <a:ext cx="2964210" cy="3085951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542740" y="3293715"/>
            <a:ext cx="250701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· FOUR LENSES AND THE ICP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542740" y="3969990"/>
            <a:ext cx="250701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with behaviour and job. Win one beachhead completely.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a customer and you have chosen a segment. Today, the uncomfortable question — how many of her are there?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MINUTES · PAPER ONLY · SHOW YOUR WORKING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872954"/>
            <a:ext cx="14912340" cy="3055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566"/>
              </a:lnSpc>
              <a:buNone/>
            </a:pPr>
            <a:r>
              <a:rPr lang="en-US" sz="72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 tapris outside this building. How much do they earn in a year — all of them together?</a:t>
            </a:r>
            <a:endParaRPr lang="en-US" sz="7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ANSWERS FROM THIS ROOM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building, same tapris, ten times apart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160365"/>
            <a:ext cx="4138612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₹6L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047750" y="4570065"/>
            <a:ext cx="413861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tapris, 150 cups a day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191125" y="3160365"/>
            <a:ext cx="4138612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₹14L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5191125" y="4570065"/>
            <a:ext cx="387524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tapris, 200 cups, thin margin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34500" y="3160365"/>
            <a:ext cx="4138612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₹28L</a:t>
            </a:r>
            <a:endParaRPr lang="en-US" sz="9900" dirty="0"/>
          </a:p>
        </p:txBody>
      </p:sp>
      <p:sp>
        <p:nvSpPr>
          <p:cNvPr id="9" name="Text 7"/>
          <p:cNvSpPr/>
          <p:nvPr/>
        </p:nvSpPr>
        <p:spPr>
          <a:xfrm>
            <a:off x="9334500" y="4570065"/>
            <a:ext cx="4138612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tapris, 300 cups, ₹7 a cup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477875" y="3160365"/>
            <a:ext cx="4138612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₹61L</a:t>
            </a:r>
            <a:endParaRPr lang="en-US" sz="9900" dirty="0"/>
          </a:p>
        </p:txBody>
      </p:sp>
      <p:sp>
        <p:nvSpPr>
          <p:cNvPr id="11" name="Text 9"/>
          <p:cNvSpPr/>
          <p:nvPr/>
        </p:nvSpPr>
        <p:spPr>
          <a:xfrm>
            <a:off x="13477875" y="4570065"/>
            <a:ext cx="3875246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tapris, 600 cups at peak hour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here did the arithmetic wrong. They assumed different things and never said so out loud.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CHAIN · FIVE LINES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each number come from?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646140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988915"/>
            <a:ext cx="493220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79195" y="2988915"/>
            <a:ext cx="247047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REASONABLE VALUE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16367" y="2988915"/>
            <a:ext cx="411016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COMES FROM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49721" y="2988915"/>
            <a:ext cx="411016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WRONG COULD IT BE?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59864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7750" y="3779490"/>
            <a:ext cx="493220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Tapris within five minutes of the gate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79195" y="3779490"/>
            <a:ext cx="247047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916367" y="3779490"/>
            <a:ext cx="41101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49721" y="3779490"/>
            <a:ext cx="41101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47750" y="4608165"/>
            <a:ext cx="16192500" cy="5905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47750" y="518919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7750" y="4722465"/>
            <a:ext cx="52673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sold per tapri per day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79195" y="4722465"/>
            <a:ext cx="26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16367" y="4722465"/>
            <a:ext cx="4389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49721" y="4722465"/>
            <a:ext cx="4389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47750" y="577974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47750" y="5313015"/>
            <a:ext cx="52673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cup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79195" y="5313015"/>
            <a:ext cx="26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16367" y="5313015"/>
            <a:ext cx="4389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249721" y="5313015"/>
            <a:ext cx="4389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47750" y="5789265"/>
            <a:ext cx="16192500" cy="5905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7750" y="637029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7750" y="5903565"/>
            <a:ext cx="52673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open per year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79195" y="5903565"/>
            <a:ext cx="26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16367" y="5903565"/>
            <a:ext cx="4389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249721" y="5903565"/>
            <a:ext cx="4389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047750" y="726564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47750" y="6494115"/>
            <a:ext cx="493220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per cup after milk, tea, gas, cups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6179195" y="6494115"/>
            <a:ext cx="247047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916367" y="6494115"/>
            <a:ext cx="411016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249721" y="6494115"/>
            <a:ext cx="411016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· ESTIMATED · GUESSED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each number come from?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646140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988915"/>
            <a:ext cx="493220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79195" y="2988915"/>
            <a:ext cx="2470472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REASONABLE VALUE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16367" y="2988915"/>
            <a:ext cx="411016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COMES FROM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49721" y="2988915"/>
            <a:ext cx="4110168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WRONG COULD IT BE?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59864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7750" y="3779490"/>
            <a:ext cx="493220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Tapris within five minutes of the gate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79195" y="3779490"/>
            <a:ext cx="247047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916367" y="3779490"/>
            <a:ext cx="41101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— walk out and check in ten minutes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249721" y="3779490"/>
            <a:ext cx="41101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Barely. The safest line in the model.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47750" y="4608165"/>
            <a:ext cx="16192500" cy="93151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47750" y="5530155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7750" y="4722465"/>
            <a:ext cx="493220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sold per tapri per day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79195" y="4722465"/>
            <a:ext cx="247047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16367" y="4722465"/>
            <a:ext cx="411016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— from watching one for fifteen minutes at 11am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249721" y="4722465"/>
            <a:ext cx="411016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Very. Could be 150 or 600. This line carries the answer.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" y="6120705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47750" y="5653980"/>
            <a:ext cx="52673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cup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79195" y="5653980"/>
            <a:ext cx="2633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16367" y="5653980"/>
            <a:ext cx="4389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— ask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249721" y="5653980"/>
            <a:ext cx="43895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at all.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47750" y="6130230"/>
            <a:ext cx="16192500" cy="93151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7750" y="7052221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7750" y="6244530"/>
            <a:ext cx="4932201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open per year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79195" y="6244530"/>
            <a:ext cx="247047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16367" y="6244530"/>
            <a:ext cx="411016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3249721" y="6244530"/>
            <a:ext cx="411016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little. 300 or 360 changes nothing much.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047750" y="7995196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047750" y="7176046"/>
            <a:ext cx="493220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per cup after milk, tea, gas, cups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179195" y="7176046"/>
            <a:ext cx="247047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916367" y="7176046"/>
            <a:ext cx="41101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— from Lecture 2's tapri economics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3249721" y="7176046"/>
            <a:ext cx="41101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Moderately. ₹5 to ₹8 is the plausible band.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047750" y="8004721"/>
            <a:ext cx="16192500" cy="9334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47750" y="8119021"/>
            <a:ext cx="4932201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gross profit, all four tapris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179195" y="8119021"/>
            <a:ext cx="247047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₹28.5L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916367" y="8119021"/>
            <a:ext cx="41101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300 × 340 × ₹7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3249721" y="8119021"/>
            <a:ext cx="411016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Entirely dependent on line two.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SPREAD WAS ACTUALLY ABOUT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agreed on four lines and disagreed on one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065115"/>
            <a:ext cx="7905750" cy="292499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3484215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WRONG RESPONSE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3936653"/>
            <a:ext cx="7358063" cy="1127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7"/>
              </a:lnSpc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estimate might be wrong, so let me refine everything.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34500" y="3065115"/>
            <a:ext cx="7905750" cy="2924994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15500" y="3484215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RESPONSE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15500" y="3936653"/>
            <a:ext cx="7358063" cy="1672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157"/>
              </a:lnSpc>
              <a:buNone/>
            </a:pPr>
            <a:r>
              <a:rPr lang="en-US" sz="33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single line moves the answer most, and how do I check that one line by Friday?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Standing outside a tapri for twenty minutes at three times of day removes ninety percent of the uncertainty. That is the whole research project.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· 2015 TO 2024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793331"/>
            <a:ext cx="17811750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7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1047750" y="5412581"/>
            <a:ext cx="13735050" cy="1595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2016 almost every rupee in India moved as cash. Three men left the best job in Indian e-commerce to bet that this was about to change.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· 2015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country that ran on cash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065115"/>
            <a:ext cx="41386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4341465"/>
            <a:ext cx="38752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CONSUMER TRANSACTIONS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979640"/>
            <a:ext cx="387524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cash. Not most — almost all of them.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91125" y="3065115"/>
            <a:ext cx="41386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600mn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5191125" y="4341465"/>
            <a:ext cx="4138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DEBIT CARDS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91125" y="4717703"/>
            <a:ext cx="387524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overwhelmingly for one thing — taking cash out of an ATM.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34500" y="3065115"/>
            <a:ext cx="41386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1.5mn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334500" y="4341465"/>
            <a:ext cx="4138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MACHINES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34500" y="4717703"/>
            <a:ext cx="387524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some 60 million small businesses, each paying rental plus a percentage.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477875" y="3065115"/>
            <a:ext cx="3875246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₹17L cr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3477875" y="5484465"/>
            <a:ext cx="4138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IN CIRCULATION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477875" y="5860703"/>
            <a:ext cx="387524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currency moving through hands every day.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Depending on how you looked at it, this was either the least attractive market in Indian technology or the largest one.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· AIRTEL MONEY, MCHEK, OXIGEN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wallets were right about everything except when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5143500" cy="27649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FEW PHONES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525268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100 million smartphones in the country, against roughly 200 million by 2015 and rising fast.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3748980"/>
            <a:ext cx="5143500" cy="27649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TOO EXPENSIVE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4525268"/>
            <a:ext cx="4630674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switched mobile data off between uses. A payment app you turn off is not a habit.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3748980"/>
            <a:ext cx="5143500" cy="2764929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WALLET A CLOSED LOOP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20600" y="4525268"/>
            <a:ext cx="4630674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inside Airtel Money could not reach a person on Oxigen.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payment network where you can only pay people on the same network is not a network. It is a club.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2016 · THE UNIFIED PAYMENTS INTERFACE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rail, not an app — and four properties that mattered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3762375" cy="32004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4091880"/>
            <a:ext cx="34680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52550" y="4672905"/>
            <a:ext cx="3247358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bank to any bank, through any app either person happens to use.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5191125" y="3748980"/>
            <a:ext cx="3762375" cy="32004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95925" y="4091880"/>
            <a:ext cx="324735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time, always on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95925" y="5063430"/>
            <a:ext cx="324735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Sunday at 2am, which is when a great deal of Indian money actually moves.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0" y="3748980"/>
            <a:ext cx="3762375" cy="320040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39300" y="4091880"/>
            <a:ext cx="34680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address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639300" y="4672905"/>
            <a:ext cx="3247358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number instead of an account number and an IFSC code — the most error-prone step, deleted.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477875" y="3748980"/>
            <a:ext cx="3762375" cy="3200400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782675" y="4091880"/>
            <a:ext cx="346805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782675" y="4672905"/>
            <a:ext cx="3247358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charge to the user for a person-to-person transfer. A gift, and a trap.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free rail is the fastest way to make a country adopt something — and a rail on which the payment earns nobody anything.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MONTHS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quit before the rail existed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160365"/>
            <a:ext cx="32605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593753"/>
            <a:ext cx="3053059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Nigam, Chari and Engineer resign from Flipkart — the most valuable private company in India.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354785" y="3160365"/>
            <a:ext cx="32606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2016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54785" y="3593753"/>
            <a:ext cx="3053136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launches. In the same month Flipkart acquires PhonePe, before it has shipped anything.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61895" y="3160365"/>
            <a:ext cx="32605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61895" y="3593753"/>
            <a:ext cx="3053059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 launches publicly as one of the first UPI consumer apps in the country.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68930" y="3160365"/>
            <a:ext cx="32606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NOV 2016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68930" y="3593753"/>
            <a:ext cx="3053136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Demonetisation removes about 86% of currency by value. A decade of forecast adoption in weeks.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276040" y="3160365"/>
            <a:ext cx="32606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276040" y="3593753"/>
            <a:ext cx="3053136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Separated from Walmart's Flipkart, redomiciled to India, raised at around $12 billion.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did not invent digital payments, or UPI, or any technology the other apps lacked. They read a moment.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2015 · THREE RESIGNATIONS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left the best job in Indian e-commerce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065115"/>
            <a:ext cx="5143500" cy="2809875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408015"/>
            <a:ext cx="49453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Sameer Nigam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71600" y="3989040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Vice President of Engineering at Flipkart, and already the founder of a company Flipkart had bought.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72250" y="3065115"/>
            <a:ext cx="5143500" cy="2809875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3408015"/>
            <a:ext cx="49453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 Chari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896100" y="3989040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engineering teams at Flipkart, and before that in the United States.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96750" y="3065115"/>
            <a:ext cx="5143500" cy="2809875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3408015"/>
            <a:ext cx="494538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Burzin Engineer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420600" y="3989040"/>
            <a:ext cx="46306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spent on the reliability of large-scale systems — the unglamorous half of a payments company.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did not have a product idea. They had a reading of a market at a specific moment, and the conviction to act before the evidence arrived.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CONVICTION, BEFORE THE EVIDENCE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payment becomes free, the value moves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7905750" cy="199734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091880"/>
            <a:ext cx="7475792" cy="134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rail is about to exist, and it will be free, open and interoperable — so the payment itself becomes a commodity.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34500" y="3748980"/>
            <a:ext cx="7905750" cy="199734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58350" y="4091880"/>
            <a:ext cx="7475792" cy="134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becomes a commodity, the value moves to whoever owns the customer relationship on top of it.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47750" y="6127328"/>
            <a:ext cx="7905750" cy="199734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6470228"/>
            <a:ext cx="7475792" cy="134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growth and collapsing data prices will roughly double the number of people who can use it in three years.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0" y="6127328"/>
            <a:ext cx="7905750" cy="199734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58350" y="6470228"/>
            <a:ext cx="7475792" cy="1349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country where almost every transaction is cash has, by definition, the largest unconverted payments market on earth.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not a spreadsheet. It is a sentence — and a sentence is a reason to start looking, not a reason to spend money.</a:t>
            </a:r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YOURSELF · ONE, TWO OR THREE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market were they actually sizing?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5143500" cy="34430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90650" y="3369915"/>
            <a:ext cx="49034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payments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90650" y="3993803"/>
            <a:ext cx="4591431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e-commerce was doing perhaps ₹1.5 lakh crore a year, and most of that was cash on delivery.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2988915"/>
            <a:ext cx="5143500" cy="34430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915150" y="3369915"/>
            <a:ext cx="490347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payments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15150" y="3993803"/>
            <a:ext cx="4591431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Cards, net banking and wallet top-ups added together. Larger, and growing at the pace those instruments had grown for a decade.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2988915"/>
            <a:ext cx="5143500" cy="34430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39650" y="3369915"/>
            <a:ext cx="459143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transaction in the economy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439650" y="4408140"/>
            <a:ext cx="4591431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₹40 to the auto driver, the ₹7,000 to the landlord, the ₹200 to the chemist.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one produces a wildly different number, and only one of them produced this company.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· AND THE GENERAL MOVE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was not people who pay digitally. It was people who pay.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7905750" cy="303936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4168080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THIRD ANSWER WAS LEGITIMATE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4620518"/>
            <a:ext cx="7358063" cy="178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rail was free, instant, worked on a cheap phone and needed nothing but a bank account. There was no structural reason any of those payments had to stay in cash.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0" y="3748980"/>
            <a:ext cx="7905750" cy="3039368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15500" y="4168080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THIS OF ANY MARKET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15500" y="4620518"/>
            <a:ext cx="7358063" cy="178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total volume of the underlying human behaviour, and what fraction of it is currently going somewhere else because no acceptable alternative exists?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reframing is where a sizing starts. The next slide is what happens when somebody makes you defend it with arithmetic.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· 2016, ONE CUSTOMER UPWARD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sentences, then multiply slowly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384203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988915"/>
            <a:ext cx="47738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68578" y="2988915"/>
            <a:ext cx="848677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ASSUMPTION, WRITTEN AS A SENTENCE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64828" y="2988915"/>
            <a:ext cx="37129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4489103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47750" y="3574703"/>
            <a:ext cx="447002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could use it at all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8578" y="3574703"/>
            <a:ext cx="794670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 both an active bank account and a smartphone with data.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864828" y="3574703"/>
            <a:ext cx="347668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4498628"/>
            <a:ext cx="16192500" cy="14668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47750" y="5955953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4670078"/>
            <a:ext cx="447002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transacts regularly by 2019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768578" y="4670078"/>
            <a:ext cx="794670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 three of the eligible population becomes a monthly-or-more user. This is a judgement, and it is what an investor attacks first.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3864828" y="4670078"/>
            <a:ext cx="347668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100mn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047750" y="705132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50" y="6136928"/>
            <a:ext cx="447002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one of them transacts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768578" y="6136928"/>
            <a:ext cx="794670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transactions a month at an average of ₹700, mixing small merchant payments with larger transfers.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864828" y="6136928"/>
            <a:ext cx="347668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₹7,000/mo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047750" y="7060853"/>
            <a:ext cx="16192500" cy="72866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47750" y="777999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47750" y="7232303"/>
            <a:ext cx="477381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across the rail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768578" y="7232303"/>
            <a:ext cx="848677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million users × ₹7,000 a month = ₹70,000 crore a month.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3864828" y="7232303"/>
            <a:ext cx="371296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₹8.4L cr/yr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047750" y="7789515"/>
            <a:ext cx="16192500" cy="10858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47750" y="7960965"/>
            <a:ext cx="447002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share of it — the SOM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768578" y="7960965"/>
            <a:ext cx="794670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Thirty percent for a first mover against three or four serious players. Aggressive, not absurd.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3864828" y="7960965"/>
            <a:ext cx="347668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₹2.5L cr/yr</a:t>
            </a:r>
            <a:endParaRPr lang="en-US" sz="2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THAT KILLS MOST SIZINGS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all that volume worth in revenue?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160365"/>
            <a:ext cx="56578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₹2.5L cr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4436715"/>
            <a:ext cx="56578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VOLUME A YEAR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812953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SOM from the model on the previous slide.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572250" y="3160365"/>
            <a:ext cx="565785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6572250" y="4436715"/>
            <a:ext cx="56578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ON THE MERCHANT HALF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72250" y="4812953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could charge anything at all, which turned out to be the question.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096750" y="3160365"/>
            <a:ext cx="529780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₹300-400cr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12096750" y="5579715"/>
            <a:ext cx="56578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96750" y="5955953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business — and nothing like enough to buy a hundred million users.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volume is enormous and the revenue is not obviously there. Hold that thought — it is the most important thing today.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· CHECKING THE ESTIMATE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assumption was defensible, and all of them were low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825180"/>
            <a:ext cx="41386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131bn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047750" y="5101530"/>
            <a:ext cx="38752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TRANSACTIONS IN ONE YEAR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5739705"/>
            <a:ext cx="387524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 model built on ten a month per user.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91125" y="3825180"/>
            <a:ext cx="3875246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₹20L cr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5191125" y="6244530"/>
            <a:ext cx="4138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PER MONTH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91125" y="6620768"/>
            <a:ext cx="387524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Annualised, in the region of ₹200 lakh crore.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34500" y="3825180"/>
            <a:ext cx="41386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20×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9334500" y="5101530"/>
            <a:ext cx="387524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CAREFUL 2016 ESTIMATE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34500" y="5739705"/>
            <a:ext cx="3875246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users, far more transactions each, and a collapse in the size of a typical one.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477875" y="3825180"/>
            <a:ext cx="413861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957"/>
              </a:lnSpc>
              <a:buNone/>
            </a:pPr>
            <a:r>
              <a:rPr lang="en-US" sz="9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13477875" y="5101530"/>
            <a:ext cx="413861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PHONEPE'S SHARE, 2024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477875" y="5477768"/>
            <a:ext cx="387524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to half of a market twenty times larger than the sober forecast.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UPI went from a way to send money to a friend to a way to buy a ₹20 packet of biscuits. No 2016 model could hold that.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2020 · ZERO MERCHANT DISCOUNT RATE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908995"/>
            <a:ext cx="15304770" cy="406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11"/>
              </a:lnSpc>
              <a:buNone/>
            </a:pPr>
            <a:r>
              <a:rPr lang="en-US" sz="69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can own half of the largest payment network on the planet and earn nothing from the payments.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047750" y="7358955"/>
            <a:ext cx="178117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2016 revenue line was already too thin. Now it goes to approximately zero.</a:t>
            </a:r>
            <a:endParaRPr lang="en-US" sz="3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TOOK SEVEN YEARS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the payment as distribution, not as product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8936906" cy="312896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90650" y="4129980"/>
            <a:ext cx="907621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 ON TOP OF THE TRAFFIC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90650" y="4601468"/>
            <a:ext cx="8498639" cy="1398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distribution. Lending partnerships. Mutual funds and stockbroking. Merchant services, including the soundbox that announces payments aloud. Advertising.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0365656" y="3748980"/>
            <a:ext cx="6874594" cy="3128963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708556" y="4129980"/>
            <a:ext cx="680767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EARNS NOW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08556" y="4601468"/>
            <a:ext cx="680767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52"/>
              </a:lnSpc>
              <a:buNone/>
            </a:pPr>
            <a:r>
              <a:rPr lang="en-US" sz="45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₹5,064cr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0708556" y="5382518"/>
            <a:ext cx="6374458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FY24 revenue, up from about ₹2,914 crore in FY23 — with an adjusted profit reported for the first time.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size tells you how much activity there is. It does not tell you how much of it you can charge for.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COUNTER-CASE · PAYTM MALL, 2017 TO 2023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was real. The share was close to zero.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5143500" cy="31763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525268"/>
            <a:ext cx="4630674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retail — many lakh crore, unarguably enormous, and correctly measured.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3748980"/>
            <a:ext cx="5143500" cy="31763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BROUGHT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4525268"/>
            <a:ext cx="4630674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 capital including Alibaba, and one of the most recognised consumer brands in the country.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3748980"/>
            <a:ext cx="5143500" cy="3176364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20600" y="4525268"/>
            <a:ext cx="4630674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entrenched competitors already holding the supplier relationships, the logistics and the habit. GMV fell rather than grew.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 TAM is an invitation to a fight, not a promise of a prize.</a:t>
            </a:r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1 · APPLIED TO PHONEPE, 2016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numbers, three different jobs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308003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016225" y="2912715"/>
            <a:ext cx="36601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48450" y="2912715"/>
            <a:ext cx="40261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 2016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13380" y="2912715"/>
            <a:ext cx="32941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12825" y="2912715"/>
            <a:ext cx="366016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WARNING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8624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47750" y="3574703"/>
            <a:ext cx="173987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16225" y="3574703"/>
            <a:ext cx="342724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Everything, if every possible user used you and nobody competed.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48450" y="3574703"/>
            <a:ext cx="3769934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made in India — many tens of lakh crore a year.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613380" y="3574703"/>
            <a:ext cx="3084484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investor deciding whether the category deserves a decade.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912825" y="3574703"/>
            <a:ext cx="3427248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decision follows from it. Easiest to inflate, least useful to own.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47750" y="4871963"/>
            <a:ext cx="16192500" cy="189160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47750" y="6754044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5119613"/>
            <a:ext cx="173987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016225" y="5119613"/>
            <a:ext cx="3427248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you could reach with your actual model, geography, language and price.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48450" y="5119613"/>
            <a:ext cx="3769934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by people with a smartphone, an active account and the confidence to try — about 200 million.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613380" y="5119613"/>
            <a:ext cx="3084484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You, deciding whether this specific plan is worth executing.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912825" y="5119613"/>
            <a:ext cx="3427248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quietly define SAM as TAM by assuming away every constraint.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47750" y="6763569"/>
            <a:ext cx="16192500" cy="188208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47750" y="7011219"/>
            <a:ext cx="173987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016225" y="7011219"/>
            <a:ext cx="3427248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share you can realistically hold in three to five years against real competitors.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648450" y="7011219"/>
            <a:ext cx="3769934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₹2.5 lakh crore a year of payment volume, at a 30% share.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613380" y="7011219"/>
            <a:ext cx="3084484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You, for hiring, budgeting and promising. The only one you plan against.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3912825" y="7011219"/>
            <a:ext cx="3427248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and least flattering number, which is why it goes missing from decks.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2 · TWO WAYS TO COUNT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can be attacked. The other cannot.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7905750" cy="422143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4168080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· AMBER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4639568"/>
            <a:ext cx="7358063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63"/>
              </a:lnSpc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fashion market is ₹9 lakh crore. We only need one percent.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28750" y="5790158"/>
            <a:ext cx="78581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seconds to produce. Sounds authoritative.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28750" y="6309271"/>
            <a:ext cx="735806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the sentence describes how one customer is won, so no part of it can be checked — including by you.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34500" y="3748980"/>
            <a:ext cx="7905750" cy="4221435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715500" y="4168080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· BLUE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15500" y="4639568"/>
            <a:ext cx="7358063" cy="1449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63"/>
              </a:lnSpc>
              <a:buNone/>
            </a:pPr>
            <a:r>
              <a:rPr lang="en-US" sz="28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students in the building, 40% would pay rather than wash, three loads a month, ₹120 a load.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715500" y="6260678"/>
            <a:ext cx="78581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minutes to produce. Every line can be attacked.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15500" y="6779791"/>
            <a:ext cx="735806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why it can be believed — and why you can check the weak lines in an afternoon.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hostile listener cannot point at one line and say that one is wrong, you have not made an argument.</a:t>
            </a:r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METHOD · ANALOGUE, GREEN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line cannot be counted here, borrow it from somewhere it can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5143500" cy="31763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AT-HOME SALON, ONE CITY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525268"/>
            <a:ext cx="4630674" cy="2095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percent of households have used one in the past year — reasoned across from cities where the behaviour is established.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72250" y="3748980"/>
            <a:ext cx="5143500" cy="3176364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4091880"/>
            <a:ext cx="463067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SCOOTERS, ONE TIER-2 CITY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96100" y="4787205"/>
            <a:ext cx="4630674" cy="1683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Registrations are counted; the eight percent electric share in three years is borrowed from the national adoption curve.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096750" y="3748980"/>
            <a:ext cx="5143500" cy="3176364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4091880"/>
            <a:ext cx="463067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HAVE ACTUALLY DONE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20600" y="4787205"/>
            <a:ext cx="4630674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a timing bet. Say which pieces of infrastructure have to arrive, and by when.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borrowed penetration rate is the classic way an analogue model goes quietly wrong.</a:t>
            </a:r>
            <a:endParaRPr lang="en-US" sz="3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YOURSELF · AMBER OR BLUE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market numbers. Which of them can be checked?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3762375" cy="279060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4091880"/>
            <a:ext cx="3247358" cy="17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fashion market is ₹9 lakh crore. We only need one percent.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191125" y="3748980"/>
            <a:ext cx="3762375" cy="279060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95925" y="4091880"/>
            <a:ext cx="3247358" cy="17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students in this building, 40% of them, three loads a month at ₹120.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34500" y="3748980"/>
            <a:ext cx="3762375" cy="279060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39300" y="4091880"/>
            <a:ext cx="3247358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pet care market is growing at 25% a year.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3477875" y="3748980"/>
            <a:ext cx="3762375" cy="279060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82675" y="4091880"/>
            <a:ext cx="3247358" cy="214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has 63 million MSMEs, so our ₹500-a-month billing software has a huge market.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one of these four statements is true. Decide anyway.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YOURSELF · THE ANSWERS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market numbers. Which of them can be checked?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3762375" cy="384408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4091880"/>
            <a:ext cx="324735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 lakh crore, one percent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52550" y="5055691"/>
            <a:ext cx="34680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· amber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52550" y="5517654"/>
            <a:ext cx="324735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percent is ₹9,000 crore of clothing — one of the largest apparel businesses in India.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191125" y="3748980"/>
            <a:ext cx="3762375" cy="384408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95925" y="4091880"/>
            <a:ext cx="324735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campus laundry chain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95925" y="5055691"/>
            <a:ext cx="34680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· blue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495925" y="5517654"/>
            <a:ext cx="324735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₹5.2 lakh a year, with two guessed lines, both settled in a corridor this afternoon.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34500" y="3748980"/>
            <a:ext cx="3762375" cy="384408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39300" y="4091880"/>
            <a:ext cx="324735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at 25% a year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39300" y="5055691"/>
            <a:ext cx="346805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trend, not a size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39300" y="5517654"/>
            <a:ext cx="324735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from what to what, and who is capturing it? A growth rate has no size inside it.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3477875" y="3748980"/>
            <a:ext cx="3762375" cy="3844082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782675" y="4091880"/>
            <a:ext cx="346805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million MSMEs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82675" y="4659511"/>
            <a:ext cx="3247358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count mistaken for a market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782675" y="5450086"/>
            <a:ext cx="3247358" cy="1838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308"/>
              </a:lnSpc>
              <a:buNone/>
            </a:pPr>
            <a:r>
              <a:rPr lang="en-US" sz="210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have no computer and no intention of paying — and you cannot reach them. Amber pretending to be blue.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number is only useful when it is attached to a mechanism — a described chain by which one person becomes your customer.</a:t>
            </a:r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THIS DOWN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566145"/>
            <a:ext cx="17811750" cy="746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decides whether to </a:t>
            </a:r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</a:t>
            </a:r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4560540"/>
            <a:ext cx="17811750" cy="746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decides whether to </a:t>
            </a:r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047750" y="5554935"/>
            <a:ext cx="17811750" cy="746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is the only number you </a:t>
            </a:r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against</a:t>
            </a:r>
            <a:pPr algn="l" indent="0" marL="0">
              <a:lnSpc>
                <a:spcPct val="104789"/>
              </a:lnSpc>
              <a:buNone/>
            </a:pPr>
            <a:r>
              <a:rPr lang="en-US" sz="46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047750" y="6720780"/>
            <a:ext cx="178117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 market size without a mechanism is a wish with a rupee sign in front of it.</a:t>
            </a:r>
            <a:endParaRPr lang="en-US" sz="3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 · BASE CASE ₹5.2 LAKH A YEAR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Halve each line, then double it. Which ones move?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4144268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3748980"/>
            <a:ext cx="431370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74097" y="3748980"/>
            <a:ext cx="19607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61411" y="3748980"/>
            <a:ext cx="23529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HALVED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05243" y="3748980"/>
            <a:ext cx="23529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DOUBLED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49076" y="3748980"/>
            <a:ext cx="54902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4820543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50" y="4315718"/>
            <a:ext cx="43137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 the building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74097" y="4315718"/>
            <a:ext cx="19607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61411" y="4315718"/>
            <a:ext cx="23529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05243" y="4315718"/>
            <a:ext cx="23529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₹10.4L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249076" y="4315718"/>
            <a:ext cx="54902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4830068"/>
            <a:ext cx="16192500" cy="10191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47750" y="583971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50" y="4982468"/>
            <a:ext cx="40391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who would pay rather than wash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74097" y="4982468"/>
            <a:ext cx="185871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61411" y="4982468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05243" y="4982468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₹10.4L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249076" y="4982468"/>
            <a:ext cx="514083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47750" y="6858893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7750" y="6001643"/>
            <a:ext cx="40391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per student per month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74097" y="6001643"/>
            <a:ext cx="185871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61411" y="6001643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805243" y="6001643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₹10.4L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249076" y="6001643"/>
            <a:ext cx="514083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047750" y="6868418"/>
            <a:ext cx="16192500" cy="666750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7750" y="7525643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47750" y="7020818"/>
            <a:ext cx="43137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load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274097" y="7020818"/>
            <a:ext cx="196076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361411" y="7020818"/>
            <a:ext cx="23529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05243" y="7020818"/>
            <a:ext cx="235293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₹10.4L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2249076" y="7020818"/>
            <a:ext cx="54902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047750" y="854481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47750" y="7687568"/>
            <a:ext cx="40391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in the academic year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274097" y="7687568"/>
            <a:ext cx="185871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361411" y="7687568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805243" y="7687568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possible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2249076" y="7687568"/>
            <a:ext cx="514083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LINES THAT ARE YOUR WHOLE RESEARCH PLAN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Halve each line, then double it. Which ones move?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4144268"/>
            <a:ext cx="16192500" cy="19050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3748980"/>
            <a:ext cx="431370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274097" y="3748980"/>
            <a:ext cx="19607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61411" y="3748980"/>
            <a:ext cx="23529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HALVED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05243" y="3748980"/>
            <a:ext cx="235293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DOUBLED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49076" y="3748980"/>
            <a:ext cx="54902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512340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50" y="4296668"/>
            <a:ext cx="4039193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in the building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74097" y="4296668"/>
            <a:ext cx="185871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61411" y="4296668"/>
            <a:ext cx="221523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05243" y="4296668"/>
            <a:ext cx="221523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₹10.4L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249076" y="4296668"/>
            <a:ext cx="5140833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Counted, so the risk is near zero. Go and ask the office.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5132933"/>
            <a:ext cx="16192500" cy="9810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47750" y="6104483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47750" y="5266283"/>
            <a:ext cx="40391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who would pay rather than wash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74097" y="5266283"/>
            <a:ext cx="185871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61411" y="5266283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05243" y="5266283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₹10.4L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249076" y="5266283"/>
            <a:ext cx="514083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and guessed. Thirty corridor conversations settle it.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47750" y="708555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7750" y="6247358"/>
            <a:ext cx="40391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per student per month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74097" y="6247358"/>
            <a:ext cx="185871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61411" y="6247358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805243" y="6247358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₹10.4L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249076" y="6247358"/>
            <a:ext cx="514083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and guessed. Check it in the same thirty conversations.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1047750" y="7095083"/>
            <a:ext cx="16192500" cy="96961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7750" y="8055173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47750" y="7228433"/>
            <a:ext cx="4039193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 load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274097" y="7228433"/>
            <a:ext cx="1858714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361411" y="7228433"/>
            <a:ext cx="221523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05243" y="7228433"/>
            <a:ext cx="221523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₹10.4L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2249076" y="7228433"/>
            <a:ext cx="5140833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Bounded. Nobody pays ₹240 and you cannot survive at ₹60.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1047750" y="903624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47750" y="8198048"/>
            <a:ext cx="403919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in the academic year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274097" y="8198048"/>
            <a:ext cx="185871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361411" y="8198048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₹2.6L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805243" y="8198048"/>
            <a:ext cx="2215232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possible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2249076" y="8198048"/>
            <a:ext cx="514083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only be 8, 9 or 10. Stop thinking about it.</a:t>
            </a:r>
            <a:endParaRPr lang="en-US" sz="2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· TWO MINUTES, WRITTEN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line carried the PhonePe model?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5143500" cy="240506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million eligible users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71600" y="3893790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Estimable from published data on accounts and smartphones. Not the risk.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572250" y="2988915"/>
            <a:ext cx="5143500" cy="240506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961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30% share of the rail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96100" y="3893790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judgement, not a research question. You cannot count your way to it.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096750" y="2988915"/>
            <a:ext cx="5143500" cy="2405063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4206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transactions a month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420600" y="3893790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load-bearing line, and the one that turned out wrong by an order of magnitude.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depended on a behaviour that did not yet exist anywhere in India. So what do you do?</a:t>
            </a:r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LOAD-BEARING LINE CANNOT BE RESEARCHED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legitimate moves, and the one everybody makes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5143500" cy="3937546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525268"/>
            <a:ext cx="4630674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the closest analogue market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71600" y="5538639"/>
            <a:ext cx="46306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2016 that meant looking at what happened to transaction frequency in China once mobile payments became free and interoperable.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72250" y="3748980"/>
            <a:ext cx="5143500" cy="3937546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96100" y="4091880"/>
            <a:ext cx="49453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96100" y="4525268"/>
            <a:ext cx="4630674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first year so the number reveals itself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896100" y="5538639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city, cheaply, before committing to the rest. Swiggy did this with one neighbourhood.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96750" y="3748980"/>
            <a:ext cx="5143500" cy="3937546"/>
          </a:xfrm>
          <a:prstGeom prst="rect">
            <a:avLst/>
          </a:prstGeom>
          <a:solidFill>
            <a:srgbClr val="20191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420600" y="4091880"/>
            <a:ext cx="463067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ILLEGITIMATE, AND EXTREMELY COMMON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20600" y="4787205"/>
            <a:ext cx="4630674" cy="880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comfortable value and move on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420600" y="5800576"/>
            <a:ext cx="46306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C8B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the model and let the beauty of the spreadsheet hide the fact that the whole thing rests on a guess.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is not for refining everything. It is for closing the two lines that carry the answer.</a:t>
            </a:r>
            <a:endParaRPr lang="en-US" sz="3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QUESTIONS · IN THIS ORDER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first one is about size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3762375" cy="2803029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3331815"/>
            <a:ext cx="34680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2550" y="3765203"/>
            <a:ext cx="3247358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large is the underlying behaviour?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191125" y="2988915"/>
            <a:ext cx="3762375" cy="28030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95925" y="3331815"/>
            <a:ext cx="34680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95925" y="3765203"/>
            <a:ext cx="3247358" cy="17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somebody charge for it, and will they be permitted to?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34500" y="2988915"/>
            <a:ext cx="3762375" cy="28030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39300" y="3331815"/>
            <a:ext cx="34680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39300" y="3765203"/>
            <a:ext cx="3247358" cy="1721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reach these people for less than they are worth to me?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477875" y="2988915"/>
            <a:ext cx="3762375" cy="2803029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782675" y="3331815"/>
            <a:ext cx="34680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82675" y="3765203"/>
            <a:ext cx="3247358" cy="130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infrastructure my plan depends on already here?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 the first and you build something trivial. Miss the second and you are early. Miss the third and you are one of the losers in a big market.</a:t>
            </a:r>
            <a:endParaRPr lang="en-US" sz="3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CONDITIONS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a correct market size misleads you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2988915"/>
            <a:ext cx="5143500" cy="3919537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Huge and unmonetisable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71600" y="3893790"/>
            <a:ext cx="4630674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is not revenue. Ask of any market: who currently pays for this, and will they still be allowed to?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71600" y="5222528"/>
            <a:ext cx="49453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CASE · ZERO MDR, 2020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72250" y="2988915"/>
            <a:ext cx="5143500" cy="3919537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961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Huge and out of reach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896100" y="3893790"/>
            <a:ext cx="4630674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finding one customer costs more than that customer will ever pay you, market size is irrelevant. Distribution cost is the binding constraint.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896100" y="5994053"/>
            <a:ext cx="46306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MILLION MSMES AT ₹500 A MONTH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096750" y="2988915"/>
            <a:ext cx="5143500" cy="3919537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420600" y="3331815"/>
            <a:ext cx="49453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Right number, wrong year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420600" y="3893790"/>
            <a:ext cx="463067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years early is indistinguishable from wrong, because you spend the money before the market arrives.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420600" y="5608290"/>
            <a:ext cx="46306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CASE · THE 2012 WALLETS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8758238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9091613"/>
            <a:ext cx="178117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 that needs three things to arrive before it works is a bet on all three arriving on time.</a:t>
            </a:r>
            <a:endParaRPr 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AND ANSWER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935760"/>
            <a:ext cx="14912340" cy="2929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198"/>
              </a:lnSpc>
              <a:buNone/>
            </a:pPr>
            <a:r>
              <a:rPr lang="en-US" sz="66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those three is most likely to catch somebody in this room in the next two years?</a:t>
            </a:r>
            <a:endParaRPr lang="en-US" sz="6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— because you cannot afford to be found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7905750" cy="3039368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28750" y="4168080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4620518"/>
            <a:ext cx="7358063" cy="178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founder has almost no capital, so the cost of reaching one customer binds long before market size does. Every other failure mode arrives later.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0" y="3748980"/>
            <a:ext cx="7905750" cy="3039368"/>
          </a:xfrm>
          <a:prstGeom prst="rect">
            <a:avLst/>
          </a:prstGeom>
          <a:solidFill>
            <a:srgbClr val="C3514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15500" y="4168080"/>
            <a:ext cx="785812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A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15500" y="4620518"/>
            <a:ext cx="7358063" cy="1786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92"/>
              </a:lnSpc>
              <a:buNone/>
            </a:pPr>
            <a:r>
              <a:rPr lang="en-US" sz="2550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first market where distribution is free — a hostel, a campus, a building, a WhatsApp group you are already in. You can reach every customer in it at zero cost.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not a compromise version of a real business. It is how a person with no money is supposed to start.</a:t>
            </a:r>
            <a:endParaRPr lang="en-US" sz="3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· SIZE IT FROM THE BOTTOM UP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the campus fitness subscription from the bottom up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3672780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customer precisely — which year, which city tier, living where, with how much monthly spending money.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429750" y="3672780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upward for the geography you can actually serve. That is your SAM.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47750" y="5249987"/>
            <a:ext cx="804481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how many of that exact person exist, starting from something you can count in this building.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29750" y="5249987"/>
            <a:ext cx="8044815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your realistic share in year three, as one person with no money. That is your SOM.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47750" y="6415757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what fraction would actually pay, what one pays a month, and for how many months. Academic years are not twelve months.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29750" y="6415757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757"/>
              </a:lnSpc>
              <a:buNone/>
            </a:pPr>
            <a:r>
              <a:rPr lang="en-US" sz="24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pPr algn="l" indent="0" marL="0">
              <a:lnSpc>
                <a:spcPct val="116757"/>
              </a:lnSpc>
              <a:buNone/>
            </a:pPr>
            <a:r>
              <a:rPr lang="en-US" sz="24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Halve and double each line. Circle the load-bearing one and write how you would check it before Friday, for free.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" y="8243888"/>
            <a:ext cx="16192500" cy="1281113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1600" y="8491538"/>
            <a:ext cx="2428875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10025" y="8491538"/>
            <a:ext cx="2428875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NUMBER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48450" y="8491538"/>
            <a:ext cx="2428875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JUSTIFYING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86875" y="8491538"/>
            <a:ext cx="2428875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/ ESTIMATED / GUESSED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25300" y="8491538"/>
            <a:ext cx="2428875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HALVED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563725" y="8491538"/>
            <a:ext cx="2428875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DOUBLED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EXAMPLES · THREE YOU COULD CHECK YOURSELF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chain, the number, and the line that carries it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672780"/>
            <a:ext cx="5143500" cy="5283473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52550" y="3996630"/>
            <a:ext cx="466991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laundry, one hostel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52550" y="4987230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52550" y="5344418"/>
            <a:ext cx="4669917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residents × 40% × 3 loads × ₹120 × 9 months.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6228308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2550" y="6585496"/>
            <a:ext cx="498729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₹5.2 lakh a year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352550" y="7261771"/>
            <a:ext cx="4669917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40%, then the three loads. Thirty corridor conversations.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572250" y="3672780"/>
            <a:ext cx="5143500" cy="5283473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77050" y="3996630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tiffin, one locality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877050" y="4596705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77050" y="4953893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beds × 25% subscribing × ₹33,000 a year, then a 20% share against four local providers.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877050" y="6184478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77050" y="6541666"/>
            <a:ext cx="466991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₹1.65cr · SOM ₹33L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877050" y="7703716"/>
            <a:ext cx="4669917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factor of five between the two. Quoting the first is the classic casualty.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2096750" y="3672780"/>
            <a:ext cx="5143500" cy="5283473"/>
          </a:xfrm>
          <a:prstGeom prst="rect">
            <a:avLst/>
          </a:prstGeom>
          <a:solidFill>
            <a:srgbClr val="F9F5E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2401550" y="3996630"/>
            <a:ext cx="49872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Gym, a 3km catchment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2401550" y="4596705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01550" y="4953893"/>
            <a:ext cx="4669917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people aged 18-45 × 3% who hold a membership × ₹1,200 a month for about eight paid months.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401550" y="6184478"/>
            <a:ext cx="49872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7B6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401550" y="6541666"/>
            <a:ext cx="498729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₹22-26L a year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2401550" y="7217941"/>
            <a:ext cx="4669917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3% penetration. Count shoes at the door of the two existing gyms at 7pm.</a:t>
            </a:r>
            <a:endParaRPr lang="en-US" sz="2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ANTI-EXAMPLES · WHAT AN UNCHECKABLE NUMBER LOOKS LIKE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6678275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numbers nobody can attack, including their author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3748980"/>
            <a:ext cx="7905750" cy="34956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90650" y="4129980"/>
            <a:ext cx="743654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fashion market is ₹9 lakh crore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90650" y="5168205"/>
            <a:ext cx="743654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customer is named — the figure aggregates a ₹150 kurta in a weekly market and a ₹2 lakh lehenga.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90650" y="6092130"/>
            <a:ext cx="743654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percent is ₹9,000 crore, produced in four seconds, defensible by nobody.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34500" y="3748980"/>
            <a:ext cx="7905750" cy="3495675"/>
          </a:xfrm>
          <a:prstGeom prst="rect">
            <a:avLst/>
          </a:prstGeom>
          <a:solidFill>
            <a:srgbClr val="F0EAE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77400" y="4129980"/>
            <a:ext cx="743654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healthcare market is worth $370 billion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77400" y="5168205"/>
            <a:ext cx="743654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Hospitals, pharmaceuticals, devices, diagnostics, insurance and government spending in one number.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677400" y="6092130"/>
            <a:ext cx="743654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building a clinic-appointment app is quoting drug manufacturing and hospital construction.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832485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8658225"/>
            <a:ext cx="166782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564B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quoting an industry aggregate, ask what is inside it. If most of it is activity you could never be paid for, quoting it is a mistake a reader will catch.</a:t>
            </a:r>
            <a:endParaRPr lang="en-US" sz="3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C35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AFTER CLASS · DO NOT MEMORISE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733550"/>
            <a:ext cx="178117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terms from today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047750" y="4341465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3331815"/>
            <a:ext cx="42382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TAM, SAM and SOM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543550" y="3331815"/>
            <a:ext cx="63573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Everything, what you could reach, and what you will actually hold.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96750" y="3331815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for three audiences. Only the third is for planning.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5998815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47750" y="4617690"/>
            <a:ext cx="423824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sizing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543550" y="4617690"/>
            <a:ext cx="635736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upward from one customer, so every line can be attacked.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096750" y="4617690"/>
            <a:ext cx="529780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each line counted, estimated or guessed. The guesses are your research plan.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7284690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7750" y="6275040"/>
            <a:ext cx="42382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load-bearing assumption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543550" y="6275040"/>
            <a:ext cx="63573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input whose error changes the answer more than all the others combined.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096750" y="6275040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transactions a month, in the PhonePe model.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" y="8570565"/>
            <a:ext cx="16192500" cy="9525"/>
          </a:xfrm>
          <a:prstGeom prst="rect">
            <a:avLst/>
          </a:prstGeom>
          <a:solidFill>
            <a:srgbClr val="C8BBB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7750" y="7560915"/>
            <a:ext cx="423824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timing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5543550" y="7560915"/>
            <a:ext cx="635736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201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infrastructure your plan depends on already exists, or is being assumed.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096750" y="7560915"/>
            <a:ext cx="529780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564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market, same logic, four years apart, opposite outcomes.</a:t>
            </a:r>
            <a:endParaRPr lang="en-US" sz="2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0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34" kern="0" dirty="0">
                <a:solidFill>
                  <a:srgbClr val="EF8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2876252"/>
            <a:ext cx="15304770" cy="4134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303"/>
              </a:lnSpc>
              <a:buNone/>
            </a:pPr>
            <a:r>
              <a:rPr lang="en-US" sz="7200" b="1" dirty="0">
                <a:solidFill>
                  <a:srgbClr val="F5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size a market. Who else wants the same one, and what will they do when you arrive?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47750" y="7391698"/>
            <a:ext cx="178117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i="1" dirty="0">
                <a:solidFill>
                  <a:srgbClr val="C8BB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sizing is one quarter of market analysis — and the easiest quarter.</a:t>
            </a:r>
            <a:endParaRPr lang="en-US" sz="3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2026-08-22T12:29:44Z</dcterms:created>
  <dcterms:modified xsi:type="dcterms:W3CDTF">2026-08-22T12:29:44Z</dcterms:modified>
</cp:coreProperties>
</file>